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8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69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61" Type="http://schemas.openxmlformats.org/officeDocument/2006/relationships/slide" Target="slides/slide59.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Beyond Web Page</a:t>
            </a:r>
          </a:p>
          <a:p>
            <a:endParaRPr/>
          </a:p>
          <a:p>
            <a:r>
              <a:t>Welcome the audience. Follow the supplied topic flow and practical teaching approach, using the revised PocketDesk project requested for this presentation. PocketDesk combines a personal TODO list with useful key/value notes exposed through a REST API. Audience: diploma-level learners with basic Python and HTML familiarity. Teaching baseline: Python 3.13 and Django 5.2 LTS. The application examples use fictional accounts and notes. Useful notes can include a library location, a project URL or an assignment reference. PocketDesk is not a password manager and this workshop does not implement encryption for note values.</a:t>
            </a:r>
          </a:p>
          <a:p>
            <a:endParaRPr/>
          </a:p>
          <a:p>
            <a:r>
              <a:t>Revision mapping: original slide 1.</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User-provided presenter profile</a:t>
            </a:r>
          </a:p>
          <a:p>
            <a:r>
              <a:t>Topic Flow.jpg</a:t>
            </a:r>
          </a:p>
          <a:p>
            <a:r>
              <a:t>Session Content Document.docx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Bhavya Shah</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Topics we’ll cover</a:t>
            </a:r>
          </a:p>
          <a:p>
            <a:endParaRPr/>
          </a:p>
          <a:p>
            <a:r>
              <a:t>Follow the ordering in Topic Flow.jpg. The session document provides the detailed practical approach. This is a modular teaching deck, not a claim that the full sequence fits in a single hour. Before starting, ask who has used Python functions, HTML forms and a terminal. Official GTU claims are not independently verified because the original syllabus is not attached. GitHub, Vercel and production practices are recommended industry extensions in the supplied teaching plan.</a:t>
            </a:r>
          </a:p>
          <a:p>
            <a:endParaRPr/>
          </a:p>
          <a:p>
            <a:r>
              <a:t>Revision mapping: original slide 4.</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Topic Flow.jpg</a:t>
            </a:r>
          </a:p>
          <a:p>
            <a:r>
              <a:t>Session Content Document.docx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happens after Login?</a:t>
            </a:r>
          </a:p>
          <a:p>
            <a:endParaRPr/>
          </a:p>
          <a:p>
            <a:r>
              <a:t>Ask learners to predict the work behind the Login button. The login screen is an illustrative PocketDesk interface. The browser displays HTML and submits form data. Django checks credentials using the authentication system and establishes a session. An authenticated task view then filters records with owner=request.user. Successful authentication and permission to read a particular record are separate checks. Only fictional credentials should appear in the demo.</a:t>
            </a:r>
          </a:p>
          <a:p>
            <a:endParaRPr/>
          </a:p>
          <a:p>
            <a:r>
              <a:t>Revision mapping: original slide 5.</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https://docs.djangoproject.com/en/5.2/topics/auth/default/</a:t>
            </a:r>
          </a:p>
          <a:p>
            <a:r>
              <a:t>https://docs.djangoproject.com/en/5.2/topics/security/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login page becomes an application</a:t>
            </a:r>
          </a:p>
          <a:p>
            <a:endParaRPr/>
          </a:p>
          <a:p>
            <a:r>
              <a:t>Compare a styled login form with the complete working login flow. HTML, CSS and JavaScript provide the interface. They do not independently validate a user against the application database. A static prototype may look the same as the real app. Sessions, persistence and access checks supply the application behavior. Websites can mix static pages and application features.</a:t>
            </a:r>
          </a:p>
          <a:p>
            <a:endParaRPr/>
          </a:p>
          <a:p>
            <a:r>
              <a:t>Revision mapping: original slide 6.</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https://docs.djangoproject.com/en/5.2/topics/auth/default/</a:t>
            </a:r>
          </a:p>
          <a:p>
            <a:r>
              <a:t>https://docs.djangoproject.com/en/5.2/intro/tutorial01/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web request and its response</a:t>
            </a:r>
          </a:p>
          <a:p>
            <a:endParaRPr/>
          </a:p>
          <a:p>
            <a:r>
              <a:t>Trace a request from left to right, then trace the response back. An HTTP request contains a method, path, headers and sometimes a body. A response includes a status, headers and a body. Database access is common but not required for every request. Generated conceptual illustration. Sources: Django request/response tutorial.</a:t>
            </a:r>
          </a:p>
          <a:p>
            <a:endParaRPr/>
          </a:p>
          <a:p>
            <a:r>
              <a:t>Revision mapping: original slide 7.</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https://docs.djangoproject.com/en/5.2/intro/tutorial01/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little Python behind My Tasks</a:t>
            </a:r>
          </a:p>
          <a:p>
            <a:endParaRPr/>
          </a:p>
          <a:p>
            <a:r>
              <a:t>The output is the exact Python dictionary representation for the shown two-item list. Boolean True counts as 1 and False as 0 in this small example. Change completed and predict the total. The function does not depend on Django. Later a view can compute equivalent counts from an owner-filtered QuerySet.</a:t>
            </a:r>
          </a:p>
          <a:p>
            <a:endParaRPr/>
          </a:p>
          <a:p>
            <a:r>
              <a:t>Complete code excerpt:</a:t>
            </a:r>
          </a:p>
          <a:p>
            <a:r>
              <a:t>def progress(tasks):</a:t>
            </a:r>
          </a:p>
          <a:p>
            <a:r>
              <a:t>    total = len(tasks)</a:t>
            </a:r>
          </a:p>
          <a:p>
            <a:r>
              <a:t>    done = sum(task["completed"] for task in tasks)</a:t>
            </a:r>
          </a:p>
          <a:p>
            <a:r>
              <a:t>    return {"done": done, "total": total}</a:t>
            </a:r>
          </a:p>
          <a:p>
            <a:endParaRPr/>
          </a:p>
          <a:p>
            <a:r>
              <a:t>tasks = [</a:t>
            </a:r>
          </a:p>
          <a:p>
            <a:r>
              <a:t>    {"title": "Prepare Django demo", "completed": False},</a:t>
            </a:r>
          </a:p>
          <a:p>
            <a:r>
              <a:t>    {"title": "Read ORM notes", "completed": True},</a:t>
            </a:r>
          </a:p>
          <a:p>
            <a:r>
              <a:t>]</a:t>
            </a:r>
          </a:p>
          <a:p>
            <a:r>
              <a:t>print(progress(tasks))</a:t>
            </a:r>
          </a:p>
          <a:p>
            <a:endParaRPr/>
          </a:p>
          <a:p>
            <a:r>
              <a:t>Revision mapping: original slide 8.</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https://docs.python.org/3/tutorial/controlflow.html#defining-functions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framework supplies the common parts</a:t>
            </a:r>
          </a:p>
          <a:p>
            <a:endParaRPr/>
          </a:p>
          <a:p>
            <a:r>
              <a:t>A framework handles recurring web-development tasks while developers implement product rules. Django supplies an ORM, forms, authentication and admin. Flask has a smaller core and composes additional capabilities through integrations and extensions. Neither is universally better. Both support applications of different sizes. Explain the tradeoff through PocketDesk requirements rather than an abstract feature competition.</a:t>
            </a:r>
          </a:p>
          <a:p>
            <a:endParaRPr/>
          </a:p>
          <a:p>
            <a:r>
              <a:t>Revision mapping: original slide 9.</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https://docs.djangoproject.com/en/5.2/intro/tutorial01/</a:t>
            </a:r>
          </a:p>
          <a:p>
            <a:r>
              <a:t>https://docs.djangoproject.com/en/5.2/topics/forms/modelforms/</a:t>
            </a:r>
          </a:p>
          <a:p>
            <a:r>
              <a:t>https://flask.palletsprojects.com/en/stable/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PocketDesk: tasks and useful notes</a:t>
            </a:r>
          </a:p>
          <a:p>
            <a:endParaRPr/>
          </a:p>
          <a:p>
            <a:r>
              <a:t>PocketDesk is a small personal productivity application. Task has title, completed and owner. Entry stores key, value and owner, with one key per owner. Asha and Bob can each have an entry called course_link without seeing one another’s data. The browser TODO workflow is the first complete feature. The REST section adds API access to tasks and useful notes. The illustrated entry screen communicates the product idea; the supplied Entry implementation focuses on the API. Use fictional notes, not passwords, API secrets or sensitive records. This workshop does not provide a password manager or encryption for values.</a:t>
            </a:r>
          </a:p>
          <a:p>
            <a:endParaRPr/>
          </a:p>
          <a:p>
            <a:r>
              <a:t>Revision mapping: original slide 11.</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User-requested revised PocketDesk example</a:t>
            </a:r>
          </a:p>
          <a:p>
            <a:r>
              <a:t>https://docs.djangoproject.com/en/5.2/topics/db/models/</a:t>
            </a:r>
          </a:p>
          <a:p>
            <a:r>
              <a:t>https://www.django-rest-framework.org/api-guide/permissions/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Django project setup, step by step</a:t>
            </a:r>
          </a:p>
          <a:p>
            <a:endParaRPr/>
          </a:p>
          <a:p>
            <a:r>
              <a:t>Before the workshop install Python, an editor, Git and Postman. Node.js/npm is needed only for the later Vercel CLI commands. A project supplies configuration; an app groups a domain’s code. Register tasks.apps.TasksConfig in the generated INSTALLED_APPS list. Built-in auth and session migrations come before the Task model. runserver serves local development only. Stop the server with Ctrl+C before entering another management command, or use a second terminal with the same environment.</a:t>
            </a:r>
          </a:p>
          <a:p>
            <a:endParaRPr/>
          </a:p>
          <a:p>
            <a:r>
              <a:t>Complete code excerpt:</a:t>
            </a:r>
          </a:p>
          <a:p>
            <a:r>
              <a:t>python -m venv .venv</a:t>
            </a:r>
          </a:p>
          <a:p>
            <a:r>
              <a:t># macOS / Linux</a:t>
            </a:r>
          </a:p>
          <a:p>
            <a:r>
              <a:t>source .venv/bin/activate</a:t>
            </a:r>
          </a:p>
          <a:p>
            <a:r>
              <a:t># Windows PowerShell alternative</a:t>
            </a:r>
          </a:p>
          <a:p>
            <a:r>
              <a:t># .venv\Scripts\Activate.ps1</a:t>
            </a:r>
          </a:p>
          <a:p>
            <a:endParaRPr/>
          </a:p>
          <a:p>
            <a:r>
              <a:t>python -m pip install "Django&gt;=5.2,&lt;5.3"</a:t>
            </a:r>
          </a:p>
          <a:p>
            <a:r>
              <a:t>django-admin startproject config .</a:t>
            </a:r>
          </a:p>
          <a:p>
            <a:r>
              <a:t>python manage.py startapp tasks</a:t>
            </a:r>
          </a:p>
          <a:p>
            <a:r>
              <a:t>python manage.py migrate</a:t>
            </a:r>
          </a:p>
          <a:p>
            <a:r>
              <a:t>python manage.py runserver</a:t>
            </a:r>
          </a:p>
          <a:p>
            <a:endParaRPr/>
          </a:p>
          <a:p>
            <a:r>
              <a:t>Revision mapping: original slide 13.</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https://docs.djangoproject.com/en/5.2/intro/tutorial01/</a:t>
            </a:r>
          </a:p>
          <a:p>
            <a:r>
              <a:t>https://docs.djangoproject.com/en/5.2/faq/install/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Setup commands and the first page</a:t>
            </a:r>
          </a:p>
          <a:p>
            <a:endParaRPr/>
          </a:p>
          <a:p>
            <a:r>
              <a:t>Before the workshop install Python, an editor, Git and Postman. Node.js/npm is needed only for the later Vercel CLI commands. A project supplies configuration; an app groups a domain’s code. Register tasks.apps.TasksConfig in the generated INSTALLED_APPS list. Built-in auth and session migrations come before the Task model. runserver serves local development only. Stop the server with Ctrl+C before entering another management command, or use a second terminal with the same environment. The on-slide activation example uses macOS/Linux. In Windows PowerShell use .venv\Scripts\Activate.ps1. If python is unavailable, use python3 to create the environment. App registration is a settings.py edit, not a terminal command. Freeze the tested environment in requirements.txt before deployment.</a:t>
            </a:r>
          </a:p>
          <a:p>
            <a:endParaRPr/>
          </a:p>
          <a:p>
            <a:r>
              <a:t>Complete code excerpt:</a:t>
            </a:r>
          </a:p>
          <a:p>
            <a:r>
              <a:t>python -m venv .venv</a:t>
            </a:r>
          </a:p>
          <a:p>
            <a:r>
              <a:t># macOS / Linux</a:t>
            </a:r>
          </a:p>
          <a:p>
            <a:r>
              <a:t>source .venv/bin/activate</a:t>
            </a:r>
          </a:p>
          <a:p>
            <a:r>
              <a:t># Windows PowerShell: .venv\Scripts\Activate.ps1</a:t>
            </a:r>
          </a:p>
          <a:p>
            <a:r>
              <a:t>python -m pip install "Django&gt;=5.2,&lt;5.3"</a:t>
            </a:r>
          </a:p>
          <a:p>
            <a:r>
              <a:t>django-admin startproject config .</a:t>
            </a:r>
          </a:p>
          <a:p>
            <a:r>
              <a:t>python manage.py startapp tasks</a:t>
            </a:r>
          </a:p>
          <a:p>
            <a:r>
              <a:t># In settings.py, append "tasks.apps.TasksConfig"</a:t>
            </a:r>
          </a:p>
          <a:p>
            <a:r>
              <a:t># to INSTALLED_APPS. Keep the generated apps.</a:t>
            </a:r>
          </a:p>
          <a:p>
            <a:r>
              <a:t>python manage.py migrate</a:t>
            </a:r>
          </a:p>
          <a:p>
            <a:r>
              <a:t>python manage.py runserver</a:t>
            </a:r>
          </a:p>
          <a:p>
            <a:endParaRPr/>
          </a:p>
          <a:p>
            <a:r>
              <a:t>The visible code is a teaching excerpt. The complete version above includes surrounding imports and context.</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https://docs.djangoproject.com/en/5.2/intro/tutorial01/</a:t>
            </a:r>
          </a:p>
          <a:p>
            <a:r>
              <a:t>https://docs.djangoproject.com/en/5.2/faq/install/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and app structure</a:t>
            </a:r>
          </a:p>
          <a:p>
            <a:endParaRPr/>
          </a:p>
          <a:p>
            <a:r>
              <a:t>Create tasks/urls.py and tasks/forms.py as the application grows. The generated config/wsgi.py and config/asgi.py are deployment entrypoints. Keep the generated Django apps and middleware. In settings.py, append "tasks.apps.TasksConfig" to INSTALLED_APPS. Later append rest_framework. Do not replace the generated list with only these names.</a:t>
            </a:r>
          </a:p>
          <a:p>
            <a:endParaRPr/>
          </a:p>
          <a:p>
            <a:r>
              <a:t>Revision mapping: original slide 14.</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https://docs.djangoproject.com/en/5.2/intro/tutorial01/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route</a:t>
            </a:r>
          </a:p>
          <a:p>
            <a:endParaRPr/>
          </a:p>
          <a:p>
            <a:r>
              <a:t>In config/urls.py retain admin and path imports, add from tasks.views import home, and add the shown home route inside urlpatterns. The complete excerpt retains the admin route. The route string does not start with a slash. This first response shows routing before introducing the database. Later add include() for tasks and authentication routes. Expected browser output: PocketDesk is running.</a:t>
            </a:r>
          </a:p>
          <a:p>
            <a:endParaRPr/>
          </a:p>
          <a:p>
            <a:r>
              <a:t>Complete code excerpt:</a:t>
            </a:r>
          </a:p>
          <a:p>
            <a:r>
              <a:t># tasks/views.py</a:t>
            </a:r>
          </a:p>
          <a:p>
            <a:r>
              <a:t>from django.http import HttpResponse</a:t>
            </a:r>
          </a:p>
          <a:p>
            <a:endParaRPr/>
          </a:p>
          <a:p>
            <a:r>
              <a:t>def home(request):</a:t>
            </a:r>
          </a:p>
          <a:p>
            <a:r>
              <a:t>    return HttpResponse("PocketDesk is running")</a:t>
            </a:r>
          </a:p>
          <a:p>
            <a:endParaRPr/>
          </a:p>
          <a:p>
            <a:r>
              <a:t># config/urls.py: add to the generated routes</a:t>
            </a:r>
          </a:p>
          <a:p>
            <a:r>
              <a:t>from tasks.views import home</a:t>
            </a:r>
          </a:p>
          <a:p>
            <a:endParaRPr/>
          </a:p>
          <a:p>
            <a:r>
              <a:t>urlpatterns = [</a:t>
            </a:r>
          </a:p>
          <a:p>
            <a:r>
              <a:t>    path("", home, name="home"),</a:t>
            </a:r>
          </a:p>
          <a:p>
            <a:r>
              <a:t>    path("admin/", admin.site.urls),</a:t>
            </a:r>
          </a:p>
          <a:p>
            <a:r>
              <a:t>]</a:t>
            </a:r>
          </a:p>
          <a:p>
            <a:endParaRPr/>
          </a:p>
          <a:p>
            <a:r>
              <a:t>The visible code is a teaching excerpt. The complete version above includes surrounding imports and context.</a:t>
            </a:r>
          </a:p>
          <a:p>
            <a:endParaRPr/>
          </a:p>
          <a:p>
            <a:r>
              <a:t>Revision mapping: original slide 15.</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https://docs.djangoproject.com/en/5.2/intro/tutorial01/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Django’s Model, View and Template</a:t>
            </a:r>
          </a:p>
          <a:p>
            <a:endParaRPr/>
          </a:p>
          <a:p>
            <a:r>
              <a:t>URLconf selects a view. The view may query models through the ORM and render a template with context. The template produces HTML that the view returns in an HTTP response. A Django view is request-handling Python code. It is not synonymous with the HTML user interface. An API view can return JSON without a template. Generated conceptual diagram.</a:t>
            </a:r>
          </a:p>
          <a:p>
            <a:endParaRPr/>
          </a:p>
          <a:p>
            <a:r>
              <a:t>Revision mapping: original slide 16.</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https://docs.djangoproject.com/en/5.2/intro/tutorial01/</a:t>
            </a:r>
          </a:p>
          <a:p>
            <a:r>
              <a:t>https://docs.djangoproject.com/en/5.2/ref/templates/language/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MTV: data, display and decisions</a:t>
            </a:r>
          </a:p>
          <a:p>
            <a:endParaRPr/>
          </a:p>
          <a:p>
            <a:r>
              <a:t>Django documentation commonly uses MTV: Model, Template, View. MVT names the same three components in a different order. This memory aid describes responsibilities, not the execution order. URLconf selects a view. The view may ask models for data, then render a template. The model is more than a table definition and the view can return JSON without a template. Ask learners to identify which file changes for a new data field, new page layout and an access rule.</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https://docs.djangoproject.com/en/5.2/intro/tutorial01/</a:t>
            </a:r>
          </a:p>
          <a:p>
            <a:r>
              <a:t>https://docs.djangoproject.com/en/5.2/topics/db/models/</a:t>
            </a:r>
          </a:p>
          <a:p>
            <a:r>
              <a:t>https://docs.djangoproject.com/en/5.2/ref/templates/language/</a:t>
            </a:r>
          </a:p>
          <a:p>
            <a:r>
              <a:t>MTV logo: MTV/Paramount; asset via https://github.com/picons/redundant-logos/blob/main/mtv-stawahicle.default.svg . Educational mnemonic; no affiliation.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Task: the data behind one TODO</a:t>
            </a:r>
          </a:p>
          <a:p>
            <a:endParaRPr/>
          </a:p>
          <a:p>
            <a:r>
              <a:t>Place this class in tasks/models.py with imports from django.conf and django.db shown in the complete code. Django adds an id primary key. completed defaults to False. owner links to settings.AUTH_USER_MODEL. CASCADE deletes the tasks if their owner is deleted, so real applications must deliberately choose an appropriate deletion policy. The result describes the schema after applying migrations, not an automatic database change when the Python file is saved. The form and API later require at least three non-whitespace title characters.</a:t>
            </a:r>
          </a:p>
          <a:p>
            <a:endParaRPr/>
          </a:p>
          <a:p>
            <a:r>
              <a:t>Complete code excerpt:</a:t>
            </a:r>
          </a:p>
          <a:p>
            <a:r>
              <a:t>from django.conf import settings</a:t>
            </a:r>
          </a:p>
          <a:p>
            <a:r>
              <a:t>from django.db import models</a:t>
            </a:r>
          </a:p>
          <a:p>
            <a:endParaRPr/>
          </a:p>
          <a:p>
            <a:r>
              <a:t>class Task(models.Model):</a:t>
            </a:r>
          </a:p>
          <a:p>
            <a:r>
              <a:t>    title = models.CharField(max_length=200)</a:t>
            </a:r>
          </a:p>
          <a:p>
            <a:r>
              <a:t>    completed = models.BooleanField(default=False)</a:t>
            </a:r>
          </a:p>
          <a:p>
            <a:r>
              <a:t>    owner = models.ForeignKey(</a:t>
            </a:r>
          </a:p>
          <a:p>
            <a:r>
              <a:t>        settings.AUTH_USER_MODEL,</a:t>
            </a:r>
          </a:p>
          <a:p>
            <a:r>
              <a:t>        on_delete=models.CASCADE,</a:t>
            </a:r>
          </a:p>
          <a:p>
            <a:r>
              <a:t>    )</a:t>
            </a:r>
          </a:p>
          <a:p>
            <a:endParaRPr/>
          </a:p>
          <a:p>
            <a:r>
              <a:t>    def __str__(self):</a:t>
            </a:r>
          </a:p>
          <a:p>
            <a:r>
              <a:t>        return self.title</a:t>
            </a:r>
          </a:p>
          <a:p>
            <a:endParaRPr/>
          </a:p>
          <a:p>
            <a:r>
              <a:t>The visible code is a teaching excerpt. The complete version above includes surrounding imports and context.</a:t>
            </a:r>
          </a:p>
          <a:p>
            <a:endParaRPr/>
          </a:p>
          <a:p>
            <a:r>
              <a:t>Revision mapping: original slide 17.</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https://docs.djangoproject.com/en/5.2/topics/db/models/</a:t>
            </a:r>
          </a:p>
          <a:p>
            <a:r>
              <a:t>https://docs.djangoproject.com/en/5.2/topics/migrations/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Migrations record schema changes</a:t>
            </a:r>
          </a:p>
          <a:p>
            <a:endParaRPr/>
          </a:p>
          <a:p>
            <a:r>
              <a:t>Add tasks.apps.TasksConfig to INSTALLED_APPS before creating migrations. Run makemigrations tasks and migrate after defining Task. The shown output is a representative initial migration; the exact filename and operations depend on the project state. Use showmigrations and sqlmigrate to inspect the plan. Commit models and migration files together. SQLite is the initial local database. Migrations do not replace backups.</a:t>
            </a:r>
          </a:p>
          <a:p>
            <a:endParaRPr/>
          </a:p>
          <a:p>
            <a:r>
              <a:t>Complete code excerpt:</a:t>
            </a:r>
          </a:p>
          <a:p>
            <a:r>
              <a:t># After adding tasks to INSTALLED_APPS</a:t>
            </a:r>
          </a:p>
          <a:p>
            <a:r>
              <a:t>python manage.py makemigrations tasks</a:t>
            </a:r>
          </a:p>
          <a:p>
            <a:r>
              <a:t>python manage.py migrate</a:t>
            </a:r>
          </a:p>
          <a:p>
            <a:endParaRPr/>
          </a:p>
          <a:p>
            <a:r>
              <a:t># Useful inspection commands</a:t>
            </a:r>
          </a:p>
          <a:p>
            <a:r>
              <a:t>python manage.py showmigrations tasks</a:t>
            </a:r>
          </a:p>
          <a:p>
            <a:r>
              <a:t>python manage.py sqlmigrate tasks 0001</a:t>
            </a:r>
          </a:p>
          <a:p>
            <a:r>
              <a:t>python manage.py check</a:t>
            </a:r>
          </a:p>
          <a:p>
            <a:endParaRPr/>
          </a:p>
          <a:p>
            <a:r>
              <a:t>Revision mapping: original slide 18.</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ORM: create, query and update a task</a:t>
            </a:r>
          </a:p>
          <a:p>
            <a:endParaRPr/>
          </a:p>
          <a:p>
            <a:r>
              <a:t>Before the shell demo run python manage.py createsuperuser --username asha and complete the prompts. Then run python manage.py shell. The create call inserts a task with completed=False. The filter finds Asha’s unfinished tasks. save updates the same row and delete removes it. These displayed states explain the database effect, not literal console output. QuerySets are lazy. Model.save does not automatically call full_clean. Use disposable local records and retain ownership filters in request-handling code. The admin demo that follows creates fresh records for the browser examples.</a:t>
            </a:r>
          </a:p>
          <a:p>
            <a:endParaRPr/>
          </a:p>
          <a:p>
            <a:r>
              <a:t>Complete code excerpt:</a:t>
            </a:r>
          </a:p>
          <a:p>
            <a:r>
              <a:t>from django.contrib.auth import get_user_model</a:t>
            </a:r>
          </a:p>
          <a:p>
            <a:r>
              <a:t>from tasks.models import Task</a:t>
            </a:r>
          </a:p>
          <a:p>
            <a:endParaRPr/>
          </a:p>
          <a:p>
            <a:r>
              <a:t>owner = get_user_model().objects.get(username="asha")</a:t>
            </a:r>
          </a:p>
          <a:p>
            <a:r>
              <a:t>task = Task.objects.create(</a:t>
            </a:r>
          </a:p>
          <a:p>
            <a:r>
              <a:t>    title="Prepare Django demo", owner=owner,</a:t>
            </a:r>
          </a:p>
          <a:p>
            <a:r>
              <a:t>)</a:t>
            </a:r>
          </a:p>
          <a:p>
            <a:r>
              <a:t>Task.objects.filter(owner=owner, completed=False)</a:t>
            </a:r>
          </a:p>
          <a:p>
            <a:r>
              <a:t>task.completed = True</a:t>
            </a:r>
          </a:p>
          <a:p>
            <a:r>
              <a:t>task.save()</a:t>
            </a:r>
          </a:p>
          <a:p>
            <a:r>
              <a:t>task.delete()</a:t>
            </a:r>
          </a:p>
          <a:p>
            <a:endParaRPr/>
          </a:p>
          <a:p>
            <a:r>
              <a:t>Revision mapping: original slide 19.</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https://docs.djangoproject.com/en/5.2/topics/db/queries/</a:t>
            </a:r>
          </a:p>
          <a:p>
            <a:r>
              <a:t>https://docs.djangoproject.com/en/5.2/ref/models/instances/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ORM still talks SQL</a:t>
            </a:r>
          </a:p>
          <a:p>
            <a:endParaRPr/>
          </a:p>
          <a:p>
            <a:r>
              <a:t>This is representative SQL from Django’s SQLite backend for the shown values query. Aliases, predicate order and exact SQL may vary with version and backend. Django’s SQL compiler uses %s placeholders; the SQLite adapter binds them using its underlying driver convention. params=(1,) contains the owner id. QuerySet.query is useful for inspecting the query object; str(qs.query) is a debugging representation and should not be copied as safe executable SQL. query.sql_with_params() separates SQL and parameter values for inspection. It is an internal query API, useful for teaching/debugging rather than a stable public application interface. Inspecting the query does not execute it. Evaluating the QuerySet does. The example row assumes Asha has created that task again after the earlier delete demonstration. SQLite Boolean expressions may appear as NOT completed rather than a bound False parameter. This is not a promise of production-identical SQL.</a:t>
            </a:r>
          </a:p>
          <a:p>
            <a:endParaRPr/>
          </a:p>
          <a:p>
            <a:r>
              <a:t>Complete code excerpt:</a:t>
            </a:r>
          </a:p>
          <a:p>
            <a:r>
              <a:t>qs = Task.objects.filter(</a:t>
            </a:r>
          </a:p>
          <a:p>
            <a:r>
              <a:t>    owner_id=1, completed=False</a:t>
            </a:r>
          </a:p>
          <a:p>
            <a:r>
              <a:t>).values("id", "title")</a:t>
            </a:r>
          </a:p>
          <a:p>
            <a:r>
              <a:t>sql, params = qs.query.sql_with_params()</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https://docs.djangoproject.com/en/5.2/topics/db/queries/</a:t>
            </a:r>
          </a:p>
          <a:p>
            <a:r>
              <a:t>https://docs.djangoproject.com/en/5.2/topics/db/sql/</a:t>
            </a:r>
          </a:p>
          <a:p>
            <a:r>
              <a:t>https://docs.djangoproject.com/en/5.2/topics/security/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Django admin</a:t>
            </a:r>
          </a:p>
          <a:p>
            <a:endParaRPr/>
          </a:p>
          <a:p>
            <a:r>
              <a:t>At this point import and register Task only. Create the asha superuser before entering /admin/. Add Prepare Django demo with completed=False and Read ORM notes with completed=True, both owned by asha. After the later Entry model exists, add from .models import Entry and admin.site.register(Entry). The admin is an internal management interface. Superusers can see every account’s records. Owner-scoped portal views do not automatically restrict Django admin querysets, so grant admin permissions deliberately. Also create Submit workshop exercise with completed=False, owned by asha. The result table summarizes the three records; the public list sorts open tasks before completed tasks.</a:t>
            </a:r>
          </a:p>
          <a:p>
            <a:endParaRPr/>
          </a:p>
          <a:p>
            <a:r>
              <a:t>Complete code excerpt:</a:t>
            </a:r>
          </a:p>
          <a:p>
            <a:r>
              <a:t>from django.contrib import admin</a:t>
            </a:r>
          </a:p>
          <a:p>
            <a:r>
              <a:t>from .models import Task</a:t>
            </a:r>
          </a:p>
          <a:p>
            <a:endParaRPr/>
          </a:p>
          <a:p>
            <a:r>
              <a:t>@admin.register(Task)</a:t>
            </a:r>
          </a:p>
          <a:p>
            <a:r>
              <a:t>class TaskAdmin(admin.ModelAdmin):</a:t>
            </a:r>
          </a:p>
          <a:p>
            <a:r>
              <a:t>    list_display = ("title", "completed", "owner")</a:t>
            </a:r>
          </a:p>
          <a:p>
            <a:r>
              <a:t>    search_fields = ("title",)</a:t>
            </a:r>
          </a:p>
          <a:p>
            <a:r>
              <a:t>    list_filter = ("completed",)</a:t>
            </a:r>
          </a:p>
          <a:p>
            <a:endParaRPr/>
          </a:p>
          <a:p>
            <a:r>
              <a:t>Revision mapping: original slide 20.</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https://docs.djangoproject.com/en/5.2/ref/contrib/admin/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view retrieves My Tasks</a:t>
            </a:r>
          </a:p>
          <a:p>
            <a:endParaRPr/>
          </a:p>
          <a:p>
            <a:r>
              <a:t>This view requires a signed-in user. For the early demo sign in through /admin/ as asha. The browser session is shared with the portal. Later the identity chapter adds the public login template. Without login, login_required redirects to the configured login route; that route is added later. The next slide wires /tasks/ to this view. The table shows representative records created in the admin. Keep the owner filter even if the page looks empty. Check the record’s owner instead.</a:t>
            </a:r>
          </a:p>
          <a:p>
            <a:endParaRPr/>
          </a:p>
          <a:p>
            <a:r>
              <a:t>Complete code excerpt:</a:t>
            </a:r>
          </a:p>
          <a:p>
            <a:r>
              <a:t>from django.contrib.auth.decorators import login_required</a:t>
            </a:r>
          </a:p>
          <a:p>
            <a:r>
              <a:t>from django.shortcuts import render</a:t>
            </a:r>
          </a:p>
          <a:p>
            <a:r>
              <a:t>from .models import Task</a:t>
            </a:r>
          </a:p>
          <a:p>
            <a:endParaRPr/>
          </a:p>
          <a:p>
            <a:r>
              <a:t>@login_required</a:t>
            </a:r>
          </a:p>
          <a:p>
            <a:r>
              <a:t>def task_list(request):</a:t>
            </a:r>
          </a:p>
          <a:p>
            <a:r>
              <a:t>    tasks = Task.objects.filter(</a:t>
            </a:r>
          </a:p>
          <a:p>
            <a:r>
              <a:t>        owner=request.user</a:t>
            </a:r>
          </a:p>
          <a:p>
            <a:r>
              <a:t>    ).order_by("completed", "id")</a:t>
            </a:r>
          </a:p>
          <a:p>
            <a:r>
              <a:t>    return render(request, "tasks/list.html", {</a:t>
            </a:r>
          </a:p>
          <a:p>
            <a:r>
              <a:t>        "tasks": tasks,</a:t>
            </a:r>
          </a:p>
          <a:p>
            <a:r>
              <a:t>    })</a:t>
            </a:r>
          </a:p>
          <a:p>
            <a:endParaRPr/>
          </a:p>
          <a:p>
            <a:r>
              <a:t>Revision mapping: original slide 21.</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https://docs.djangoproject.com/en/5.2/topics/auth/default/</a:t>
            </a:r>
          </a:p>
          <a:p>
            <a:r>
              <a:t>https://docs.djangoproject.com/en/5.2/topics/http/shortcuts/</a:t>
            </a:r>
          </a:p>
          <a:p>
            <a:r>
              <a:t>https://docs.djangoproject.com/en/5.2/topics/db/queries/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template displays My Tasks</a:t>
            </a:r>
          </a:p>
          <a:p>
            <a:endParaRPr/>
          </a:p>
          <a:p>
            <a:r>
              <a:t>Create tasks/urls.py with from django.urls import path; from . import views; app_name="tasks"; urlpatterns=[path("",views.task_list,name="list")]. Add path("tasks/",include("tasks.urls")) in config/urls.py after importing include. Visit /tasks/ with the asha admin session. The illustrated screen includes later styling and actions; this excerpt supplies the list contents. Django templates autoescape normal variable output. Do not mark untrusted task titles safe.</a:t>
            </a:r>
          </a:p>
          <a:p>
            <a:endParaRPr/>
          </a:p>
          <a:p>
            <a:r>
              <a:t>Complete code excerpt:</a:t>
            </a:r>
          </a:p>
          <a:p>
            <a:r>
              <a:t>&lt;h1&gt;My tasks&lt;/h1&gt;</a:t>
            </a:r>
          </a:p>
          <a:p>
            <a:r>
              <a:t>&lt;ul&gt;</a:t>
            </a:r>
          </a:p>
          <a:p>
            <a:r>
              <a:t>  {% for task in tasks %}</a:t>
            </a:r>
          </a:p>
          <a:p>
            <a:r>
              <a:t>    &lt;li&gt;</a:t>
            </a:r>
          </a:p>
          <a:p>
            <a:r>
              <a:t>      {{ task.title }}</a:t>
            </a:r>
          </a:p>
          <a:p>
            <a:r>
              <a:t>      {% if task.completed %}Done{% else %}Open{% endif %}</a:t>
            </a:r>
          </a:p>
          <a:p>
            <a:r>
              <a:t>    &lt;/li&gt;</a:t>
            </a:r>
          </a:p>
          <a:p>
            <a:r>
              <a:t>  {% empty %}</a:t>
            </a:r>
          </a:p>
          <a:p>
            <a:r>
              <a:t>    &lt;li&gt;No tasks yet.&lt;/li&gt;</a:t>
            </a:r>
          </a:p>
          <a:p>
            <a:r>
              <a:t>  {% endfor %}</a:t>
            </a:r>
          </a:p>
          <a:p>
            <a:r>
              <a:t>&lt;/ul&gt;</a:t>
            </a:r>
          </a:p>
          <a:p>
            <a:endParaRPr/>
          </a:p>
          <a:p>
            <a:r>
              <a:t>Revision mapping: original slide 22.</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https://docs.djangoproject.com/en/5.2/ref/templates/language/</a:t>
            </a:r>
          </a:p>
          <a:p>
            <a:r>
              <a:t>https://docs.djangoproject.com/en/5.2/intro/tutorial01/</a:t>
            </a:r>
          </a:p>
          <a:p>
            <a:r>
              <a:t>https://docs.djangoproject.com/en/5.2/topics/security/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shared layout and stylesheet</a:t>
            </a:r>
          </a:p>
          <a:p>
            <a:endParaRPr/>
          </a:p>
          <a:p>
            <a:r>
              <a:t>These excerpts belong in separate files. Place CSS in tasks/static/tasks/app.css. The complete base template also needs doctype, html lang, head, charset, viewport, title and body. extends must be the first template tag in a child template. Keep APP_DIRS=True and tasks registered in INSTALLED_APPS. The screenshot illustrates a possible stylesheet, not CSS generated automatically by Django. Static files and uploaded media have different production storage needs.</a:t>
            </a:r>
          </a:p>
          <a:p>
            <a:endParaRPr/>
          </a:p>
          <a:p>
            <a:r>
              <a:t>Complete code excerpt:</a:t>
            </a:r>
          </a:p>
          <a:p>
            <a:r>
              <a:t>&lt;!-- tasks/templates/base.html --&gt;</a:t>
            </a:r>
          </a:p>
          <a:p>
            <a:r>
              <a:t>{% load static %}</a:t>
            </a:r>
          </a:p>
          <a:p>
            <a:r>
              <a:t>&lt;link rel="stylesheet" href="{% static 'tasks/app.css' %}"&gt;</a:t>
            </a:r>
          </a:p>
          <a:p>
            <a:r>
              <a:t>&lt;header&gt;PocketDesk&lt;/header&gt;</a:t>
            </a:r>
          </a:p>
          <a:p>
            <a:r>
              <a:t>&lt;main&gt;{% block content %}{% endblock %}&lt;/main&gt;</a:t>
            </a:r>
          </a:p>
          <a:p>
            <a:endParaRPr/>
          </a:p>
          <a:p>
            <a:r>
              <a:t>&lt;!-- tasks/templates/tasks/list.html --&gt;</a:t>
            </a:r>
          </a:p>
          <a:p>
            <a:r>
              <a:t>{% extends "base.html" %}</a:t>
            </a:r>
          </a:p>
          <a:p>
            <a:r>
              <a:t>{% block content %}</a:t>
            </a:r>
          </a:p>
          <a:p>
            <a:r>
              <a:t>  &lt;h1&gt;My tasks&lt;/h1&gt;</a:t>
            </a:r>
          </a:p>
          <a:p>
            <a:r>
              <a:t>  &lt;!-- Place the task loop here --&gt;</a:t>
            </a:r>
          </a:p>
          <a:p>
            <a:r>
              <a:t>{% endblock %}</a:t>
            </a:r>
          </a:p>
          <a:p>
            <a:endParaRPr/>
          </a:p>
          <a:p>
            <a:r>
              <a:t>Revision mapping: original slide 23.</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https://docs.djangoproject.com/en/5.2/ref/templates/language/</a:t>
            </a:r>
          </a:p>
          <a:p>
            <a:r>
              <a:t>https://docs.djangoproject.com/en/5.2/howto/static-files/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Checkpoint: your first task list</a:t>
            </a:r>
          </a:p>
          <a:p>
            <a:endParaRPr/>
          </a:p>
          <a:p>
            <a:r>
              <a:t>Give learners time to reproduce the first working list. Ask for a narration of browser request, URL, view, QuerySet, template and response. Challenge: show an empty state for an account with no tasks. Troubleshoot app registration, migrations, URL patterns, template paths and record owner. Source: supplied practical teaching approach applied to the revised PocketDesk example.</a:t>
            </a:r>
          </a:p>
          <a:p>
            <a:endParaRPr/>
          </a:p>
          <a:p>
            <a:r>
              <a:t>Revision mapping: original slide 24.</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https://docs.djangoproject.com/en/5.2/intro/tutorial01/</a:t>
            </a:r>
          </a:p>
          <a:p>
            <a:r>
              <a:t>Session Content Document.docx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Entry: a key and the note it identifies</a:t>
            </a:r>
          </a:p>
          <a:p>
            <a:endParaRPr/>
          </a:p>
          <a:p>
            <a:r>
              <a:t>Place Entry below Task using the existing settings and models imports. Run makemigrations tasks and migrate again, then import/register Entry in admin if needed. The uniqueness constraint is the pair owner/key, not key globally. The UI example stores course_link with a useful note. Exact key comparison and case sensitivity follow the configured database collation; do not promise a universal case-insensitive key policy. The later serializer validates duplicates for useful feedback, while the database constraint protects integrity. This workshop stores ordinary note text and does not implement encryption or a password vault.</a:t>
            </a:r>
          </a:p>
          <a:p>
            <a:endParaRPr/>
          </a:p>
          <a:p>
            <a:r>
              <a:t>Complete code excerpt:</a:t>
            </a:r>
          </a:p>
          <a:p>
            <a:r>
              <a:t>class Entry(models.Model):</a:t>
            </a:r>
          </a:p>
          <a:p>
            <a:r>
              <a:t>    key = models.CharField(max_length=80)</a:t>
            </a:r>
          </a:p>
          <a:p>
            <a:r>
              <a:t>    value = models.TextField()</a:t>
            </a:r>
          </a:p>
          <a:p>
            <a:r>
              <a:t>    owner = models.ForeignKey(</a:t>
            </a:r>
          </a:p>
          <a:p>
            <a:r>
              <a:t>        settings.AUTH_USER_MODEL,</a:t>
            </a:r>
          </a:p>
          <a:p>
            <a:r>
              <a:t>        on_delete=models.CASCADE,</a:t>
            </a:r>
          </a:p>
          <a:p>
            <a:r>
              <a:t>    )</a:t>
            </a:r>
          </a:p>
          <a:p>
            <a:endParaRPr/>
          </a:p>
          <a:p>
            <a:r>
              <a:t>    class Meta:</a:t>
            </a:r>
          </a:p>
          <a:p>
            <a:r>
              <a:t>        constraints = [</a:t>
            </a:r>
          </a:p>
          <a:p>
            <a:r>
              <a:t>            models.UniqueConstraint(</a:t>
            </a:r>
          </a:p>
          <a:p>
            <a:r>
              <a:t>                fields=["owner", "key"],</a:t>
            </a:r>
          </a:p>
          <a:p>
            <a:r>
              <a:t>                name="unique_owner_entry_key",</a:t>
            </a:r>
          </a:p>
          <a:p>
            <a:r>
              <a:t>            )</a:t>
            </a:r>
          </a:p>
          <a:p>
            <a:r>
              <a:t>        ]</a:t>
            </a:r>
          </a:p>
          <a:p>
            <a:endParaRPr/>
          </a:p>
          <a:p>
            <a:r>
              <a:t>    def __str__(self):</a:t>
            </a:r>
          </a:p>
          <a:p>
            <a:r>
              <a:t>        return self.key</a:t>
            </a:r>
          </a:p>
          <a:p>
            <a:endParaRPr/>
          </a:p>
          <a:p>
            <a:r>
              <a:t>The visible code is a teaching excerpt. The complete version above includes surrounding imports and context.</a:t>
            </a:r>
          </a:p>
          <a:p>
            <a:endParaRPr/>
          </a:p>
          <a:p>
            <a:r>
              <a:t>Revision mapping: original slide 63.</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https://docs.djangoproject.com/en/5.2/topics/db/models/</a:t>
            </a:r>
          </a:p>
          <a:p>
            <a:r>
              <a:t>https://docs.djangoproject.com/en/5.2/ref/models/constraints/</a:t>
            </a:r>
          </a:p>
          <a:p>
            <a:r>
              <a:t>https://docs.djangoproject.com/en/5.2/topics/migrations/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form validates a task title</a:t>
            </a:r>
          </a:p>
          <a:p>
            <a:endParaRPr/>
          </a:p>
          <a:p>
            <a:r>
              <a:t>Imports: from django import forms; from .models import Task. ModelForm supplies a required title field limited to 200 characters and a completed checkbox. Django strips ordinary CharField whitespace and rejects a blank title before clean_title. The custom hook also rejects one- or two-character titles. Use Go for the illustrated error. Extra submitted owner fields do not become model form fields. Server code assigns owner. Browser validation can be bypassed, so demonstrate the server response.</a:t>
            </a:r>
          </a:p>
          <a:p>
            <a:endParaRPr/>
          </a:p>
          <a:p>
            <a:r>
              <a:t>Complete code excerpt:</a:t>
            </a:r>
          </a:p>
          <a:p>
            <a:r>
              <a:t>from django import forms</a:t>
            </a:r>
          </a:p>
          <a:p>
            <a:r>
              <a:t>from .models import Task</a:t>
            </a:r>
          </a:p>
          <a:p>
            <a:endParaRPr/>
          </a:p>
          <a:p>
            <a:r>
              <a:t>class TaskForm(forms.ModelForm):</a:t>
            </a:r>
          </a:p>
          <a:p>
            <a:r>
              <a:t>    class Meta:</a:t>
            </a:r>
          </a:p>
          <a:p>
            <a:r>
              <a:t>        model = Task</a:t>
            </a:r>
          </a:p>
          <a:p>
            <a:r>
              <a:t>        fields = ["title", "completed"]</a:t>
            </a:r>
          </a:p>
          <a:p>
            <a:endParaRPr/>
          </a:p>
          <a:p>
            <a:r>
              <a:t>    def clean_title(self):</a:t>
            </a:r>
          </a:p>
          <a:p>
            <a:r>
              <a:t>        value = self.cleaned_data["title"].strip()</a:t>
            </a:r>
          </a:p>
          <a:p>
            <a:r>
              <a:t>        if len(value) &lt; 3:</a:t>
            </a:r>
          </a:p>
          <a:p>
            <a:r>
              <a:t>            raise forms.ValidationError("Use at least 3 characters.")</a:t>
            </a:r>
          </a:p>
          <a:p>
            <a:r>
              <a:t>        return value</a:t>
            </a:r>
          </a:p>
          <a:p>
            <a:endParaRPr/>
          </a:p>
          <a:p>
            <a:r>
              <a:t>The visible code is a teaching excerpt. The complete version above includes surrounding imports and context.</a:t>
            </a:r>
          </a:p>
          <a:p>
            <a:endParaRPr/>
          </a:p>
          <a:p>
            <a:r>
              <a:t>Revision mapping: original slide 25.</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https://docs.djangoproject.com/en/5.2/topics/forms/modelforms/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valid form creates a task</a:t>
            </a:r>
          </a:p>
          <a:p>
            <a:endParaRPr/>
          </a:p>
          <a:p>
            <a:r>
              <a:t>The display is the body of the complete @login_required task_create view in tasks/views.py. Imports: render and redirect from django.shortcuts, login_required from django.contrib.auth.decorators, and TaskForm from .forms. GET shows an empty form. Invalid POST redisplays values and errors. Valid POST sets the trusted owner and saves, then redirects using Post/Redirect/Get. Constraints and transaction handling remain necessary for concurrency-sensitive rules.</a:t>
            </a:r>
          </a:p>
          <a:p>
            <a:endParaRPr/>
          </a:p>
          <a:p>
            <a:r>
              <a:t>Complete code excerpt:</a:t>
            </a:r>
          </a:p>
          <a:p>
            <a:r>
              <a:t>@login_required</a:t>
            </a:r>
          </a:p>
          <a:p>
            <a:r>
              <a:t>def task_create(request):</a:t>
            </a:r>
          </a:p>
          <a:p>
            <a:r>
              <a:t>    form = TaskForm(</a:t>
            </a:r>
          </a:p>
          <a:p>
            <a:r>
              <a:t>        request.POST if request.method == "POST" else None</a:t>
            </a:r>
          </a:p>
          <a:p>
            <a:r>
              <a:t>    )</a:t>
            </a:r>
          </a:p>
          <a:p>
            <a:r>
              <a:t>    if request.method == "POST" and form.is_valid():</a:t>
            </a:r>
          </a:p>
          <a:p>
            <a:r>
              <a:t>        task = form.save(commit=False)</a:t>
            </a:r>
          </a:p>
          <a:p>
            <a:r>
              <a:t>        task.owner = request.user</a:t>
            </a:r>
          </a:p>
          <a:p>
            <a:r>
              <a:t>        task.save()</a:t>
            </a:r>
          </a:p>
          <a:p>
            <a:r>
              <a:t>        return redirect("tasks:list")</a:t>
            </a:r>
          </a:p>
          <a:p>
            <a:r>
              <a:t>    return render(request, "tasks/form.html", {</a:t>
            </a:r>
          </a:p>
          <a:p>
            <a:r>
              <a:t>        "form": form,</a:t>
            </a:r>
          </a:p>
          <a:p>
            <a:r>
              <a:t>    })</a:t>
            </a:r>
          </a:p>
          <a:p>
            <a:endParaRPr/>
          </a:p>
          <a:p>
            <a:r>
              <a:t>The visible code is a teaching excerpt. The complete version above includes surrounding imports and context.</a:t>
            </a:r>
          </a:p>
          <a:p>
            <a:endParaRPr/>
          </a:p>
          <a:p>
            <a:r>
              <a:t>Revision mapping: original slide 26.</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https://docs.djangoproject.com/en/5.2/topics/forms/modelforms/</a:t>
            </a:r>
          </a:p>
          <a:p>
            <a:r>
              <a:t>https://docs.djangoproject.com/en/5.2/topics/http/shortcuts/</a:t>
            </a:r>
          </a:p>
          <a:p>
            <a:r>
              <a:t>https://docs.djangoproject.com/en/5.2/topics/auth/default/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browser sends the form</a:t>
            </a:r>
          </a:p>
          <a:p>
            <a:endParaRPr/>
          </a:p>
          <a:p>
            <a:r>
              <a:t>The template uses the current URL as its form action, so create and edit can reuse it. form.as_p renders controls, labels and errors. Submit a blank title and then Go to observe different validation messages. The styled form screenshot illustrates one presentation of these controls. Keep labels associated with inputs and display server errors. Preserve CSRF middleware.</a:t>
            </a:r>
          </a:p>
          <a:p>
            <a:endParaRPr/>
          </a:p>
          <a:p>
            <a:r>
              <a:t>Complete code excerpt:</a:t>
            </a:r>
          </a:p>
          <a:p>
            <a:r>
              <a:t>{% extends "base.html" %}</a:t>
            </a:r>
          </a:p>
          <a:p>
            <a:r>
              <a:t>{% block content %}</a:t>
            </a:r>
          </a:p>
          <a:p>
            <a:r>
              <a:t>  &lt;h1&gt;Task details&lt;/h1&gt;</a:t>
            </a:r>
          </a:p>
          <a:p>
            <a:r>
              <a:t>  &lt;form method="post"&gt;</a:t>
            </a:r>
          </a:p>
          <a:p>
            <a:r>
              <a:t>    {% csrf_token %}</a:t>
            </a:r>
          </a:p>
          <a:p>
            <a:r>
              <a:t>    {{ form.as_p }}</a:t>
            </a:r>
          </a:p>
          <a:p>
            <a:r>
              <a:t>    &lt;button type="submit"&gt;Save task&lt;/button&gt;</a:t>
            </a:r>
          </a:p>
          <a:p>
            <a:r>
              <a:t>  &lt;/form&gt;</a:t>
            </a:r>
          </a:p>
          <a:p>
            <a:r>
              <a:t>  &lt;a href="{% url 'tasks:list' %}"&gt;Cancel&lt;/a&gt;</a:t>
            </a:r>
          </a:p>
          <a:p>
            <a:r>
              <a:t>{% endblock %}</a:t>
            </a:r>
          </a:p>
          <a:p>
            <a:endParaRPr/>
          </a:p>
          <a:p>
            <a:r>
              <a:t>Revision mapping: original slide 27.</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https://docs.djangoproject.com/en/5.2/topics/forms/modelforms/</a:t>
            </a:r>
          </a:p>
          <a:p>
            <a:r>
              <a:t>https://docs.djangoproject.com/en/5.2/ref/templates/language/</a:t>
            </a:r>
          </a:p>
          <a:p>
            <a:r>
              <a:t>https://docs.djangoproject.com/en/5.2/topics/security/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same form edits a task</a:t>
            </a:r>
          </a:p>
          <a:p>
            <a:endParaRPr/>
          </a:p>
          <a:p>
            <a:r>
              <a:t>In tasks/views.py retain TaskForm, Task, login_required, render and redirect imports and add get_object_or_404. The owner-filtered lookup returns 404 for absent or other-owner records. Pass instance=task to both bound and unbound forms so valid data updates that row. Without instance, a valid form would create a new row. Editing the completed checkbox uses the same form validation as creation.</a:t>
            </a:r>
          </a:p>
          <a:p>
            <a:endParaRPr/>
          </a:p>
          <a:p>
            <a:r>
              <a:t>Complete code excerpt:</a:t>
            </a:r>
          </a:p>
          <a:p>
            <a:r>
              <a:t>@login_required</a:t>
            </a:r>
          </a:p>
          <a:p>
            <a:r>
              <a:t>def task_edit(request, pk):</a:t>
            </a:r>
          </a:p>
          <a:p>
            <a:r>
              <a:t>    task = get_object_or_404(</a:t>
            </a:r>
          </a:p>
          <a:p>
            <a:r>
              <a:t>        Task, pk=pk, owner=request.user</a:t>
            </a:r>
          </a:p>
          <a:p>
            <a:r>
              <a:t>    )</a:t>
            </a:r>
          </a:p>
          <a:p>
            <a:r>
              <a:t>    form = TaskForm(</a:t>
            </a:r>
          </a:p>
          <a:p>
            <a:r>
              <a:t>        request.POST if request.method == "POST" else None,</a:t>
            </a:r>
          </a:p>
          <a:p>
            <a:r>
              <a:t>        instance=task,</a:t>
            </a:r>
          </a:p>
          <a:p>
            <a:r>
              <a:t>    )</a:t>
            </a:r>
          </a:p>
          <a:p>
            <a:r>
              <a:t>    if request.method == "POST" and form.is_valid():</a:t>
            </a:r>
          </a:p>
          <a:p>
            <a:r>
              <a:t>        form.save()</a:t>
            </a:r>
          </a:p>
          <a:p>
            <a:r>
              <a:t>        return redirect("tasks:list")</a:t>
            </a:r>
          </a:p>
          <a:p>
            <a:r>
              <a:t>    return render(request, "tasks/form.html", {"form": form})</a:t>
            </a:r>
          </a:p>
          <a:p>
            <a:endParaRPr/>
          </a:p>
          <a:p>
            <a:r>
              <a:t>The visible code is a teaching excerpt. The complete version above includes surrounding imports and context.</a:t>
            </a:r>
          </a:p>
          <a:p>
            <a:endParaRPr/>
          </a:p>
          <a:p>
            <a:r>
              <a:t>Revision mapping: original slide 28.</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https://docs.djangoproject.com/en/5.2/topics/forms/modelforms/</a:t>
            </a:r>
          </a:p>
          <a:p>
            <a:r>
              <a:t>https://docs.djangoproject.com/en/5.2/topics/http/shortcuts/</a:t>
            </a:r>
          </a:p>
          <a:p>
            <a:r>
              <a:t>https://docs.djangoproject.com/en/5.2/topics/auth/default/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Deletion requires a deliberate POST</a:t>
            </a:r>
          </a:p>
          <a:p>
            <a:endParaRPr/>
          </a:p>
          <a:p>
            <a:r>
              <a:t>Import require_POST from django.views.decorators.http. The Python excerpt is in tasks/views.py; the form belongs inside the task loop in tasks/list.html. For an authenticated user, GET returns 405. POST with a valid CSRF token deletes only the current user’s record and redirects. An anonymous request first redirects to login because login_required is the outer decorator. Use disposable demo data. A real UI should explain the consequence before deletion and may include a confirmation page.</a:t>
            </a:r>
          </a:p>
          <a:p>
            <a:endParaRPr/>
          </a:p>
          <a:p>
            <a:r>
              <a:t>Complete code excerpt:</a:t>
            </a:r>
          </a:p>
          <a:p>
            <a:r>
              <a:t>@login_required</a:t>
            </a:r>
          </a:p>
          <a:p>
            <a:r>
              <a:t>@require_POST</a:t>
            </a:r>
          </a:p>
          <a:p>
            <a:r>
              <a:t>def task_delete(request, pk):</a:t>
            </a:r>
          </a:p>
          <a:p>
            <a:r>
              <a:t>    task = get_object_or_404(</a:t>
            </a:r>
          </a:p>
          <a:p>
            <a:r>
              <a:t>        Task, pk=pk, owner=request.user</a:t>
            </a:r>
          </a:p>
          <a:p>
            <a:r>
              <a:t>    )</a:t>
            </a:r>
          </a:p>
          <a:p>
            <a:r>
              <a:t>    task.delete()</a:t>
            </a:r>
          </a:p>
          <a:p>
            <a:r>
              <a:t>    return redirect("tasks:list")</a:t>
            </a:r>
          </a:p>
          <a:p>
            <a:endParaRPr/>
          </a:p>
          <a:p>
            <a:r>
              <a:t>&lt;!-- Inside the task loop --&gt;</a:t>
            </a:r>
          </a:p>
          <a:p>
            <a:r>
              <a:t>&lt;form method="post" action="{% url 'tasks:delete' task.pk %}"&gt;</a:t>
            </a:r>
          </a:p>
          <a:p>
            <a:r>
              <a:t>  {% csrf_token %}</a:t>
            </a:r>
          </a:p>
          <a:p>
            <a:r>
              <a:t>  &lt;button type="submit"&gt;Delete&lt;/button&gt;</a:t>
            </a:r>
          </a:p>
          <a:p>
            <a:r>
              <a:t>&lt;/form&gt;</a:t>
            </a:r>
          </a:p>
          <a:p>
            <a:endParaRPr/>
          </a:p>
          <a:p>
            <a:r>
              <a:t>The visible code is a teaching excerpt. The complete version above includes surrounding imports and context.</a:t>
            </a:r>
          </a:p>
          <a:p>
            <a:endParaRPr/>
          </a:p>
          <a:p>
            <a:r>
              <a:t>Revision mapping: original slide 29.</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https://docs.djangoproject.com/en/5.2/topics/http/shortcuts/</a:t>
            </a:r>
          </a:p>
          <a:p>
            <a:r>
              <a:t>https://docs.djangoproject.com/en/5.2/topics/http/decorators/</a:t>
            </a:r>
          </a:p>
          <a:p>
            <a:r>
              <a:t>https://docs.djangoproject.com/en/5.2/topics/security/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URLs connect the task actions</a:t>
            </a:r>
          </a:p>
          <a:p>
            <a:endParaRPr/>
          </a:p>
          <a:p>
            <a:r>
              <a:t>In config/urls.py use from django.urls import path, include and retain admin and home routes. Add a Create link to tasks:create and an Edit link to tasks:edit with task.pk inside the list loop. Test /tasks/, /tasks/new/, /tasks/1/edit/ and a POST to the delete route using IDs that exist for the current owner.</a:t>
            </a:r>
          </a:p>
          <a:p>
            <a:endParaRPr/>
          </a:p>
          <a:p>
            <a:r>
              <a:t>Complete code excerpt:</a:t>
            </a:r>
          </a:p>
          <a:p>
            <a:r>
              <a:t>from django.urls import path</a:t>
            </a:r>
          </a:p>
          <a:p>
            <a:r>
              <a:t>from . import views</a:t>
            </a:r>
          </a:p>
          <a:p>
            <a:endParaRPr/>
          </a:p>
          <a:p>
            <a:r>
              <a:t>app_name = "tasks"</a:t>
            </a:r>
          </a:p>
          <a:p>
            <a:r>
              <a:t>urlpatterns = [</a:t>
            </a:r>
          </a:p>
          <a:p>
            <a:r>
              <a:t>    path("", views.task_list, name="list"),</a:t>
            </a:r>
          </a:p>
          <a:p>
            <a:r>
              <a:t>    path("new/", views.task_create, name="create"),</a:t>
            </a:r>
          </a:p>
          <a:p>
            <a:r>
              <a:t>    path("&lt;int:pk&gt;/edit/", views.task_edit, name="edit"),</a:t>
            </a:r>
          </a:p>
          <a:p>
            <a:r>
              <a:t>    path("&lt;int:pk&gt;/delete/", views.task_delete, name="delete"),</a:t>
            </a:r>
          </a:p>
          <a:p>
            <a:r>
              <a:t>]</a:t>
            </a:r>
          </a:p>
          <a:p>
            <a:endParaRPr/>
          </a:p>
          <a:p>
            <a:r>
              <a:t># config/urls.py: include in urlpatterns</a:t>
            </a:r>
          </a:p>
          <a:p>
            <a:r>
              <a:t># path("tasks/", include("tasks.urls")),</a:t>
            </a:r>
          </a:p>
          <a:p>
            <a:endParaRPr/>
          </a:p>
          <a:p>
            <a:r>
              <a:t>The visible code is a teaching excerpt. The complete version above includes surrounding imports and context.</a:t>
            </a:r>
          </a:p>
          <a:p>
            <a:endParaRPr/>
          </a:p>
          <a:p>
            <a:r>
              <a:t>Revision mapping: original slide 30.</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https://docs.djangoproject.com/en/5.2/intro/tutorial01/</a:t>
            </a:r>
          </a:p>
          <a:p>
            <a:r>
              <a:t>https://docs.djangoproject.com/en/5.2/topics/http/urls/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Search and pagination for My Tasks</a:t>
            </a:r>
          </a:p>
          <a:p>
            <a:endParaRPr/>
          </a:p>
          <a:p>
            <a:r>
              <a:t>Import Paginator from django.core.paginator and retain @login_required. Replace the earlier task_list body with this version. Add a GET search form with input name=q value="{{ q }}". Preserve q in page links using q|urlencode. For next_page_number first check page_obj.has_next, with the corresponding previous check for backward navigation. Completed status followed by id provides stable ordering. The UI illustration may contain more demo records; the query django returns only matching task titles. Challenge: add an Open/Done filter using an explicit allowlist of values.</a:t>
            </a:r>
          </a:p>
          <a:p>
            <a:endParaRPr/>
          </a:p>
          <a:p>
            <a:r>
              <a:t>Complete code excerpt:</a:t>
            </a:r>
          </a:p>
          <a:p>
            <a:r>
              <a:t>query = request.GET.get("q", "").strip()</a:t>
            </a:r>
          </a:p>
          <a:p>
            <a:r>
              <a:t>tasks = Task.objects.filter(owner=request.user)</a:t>
            </a:r>
          </a:p>
          <a:p>
            <a:r>
              <a:t>if query:</a:t>
            </a:r>
          </a:p>
          <a:p>
            <a:r>
              <a:t>    tasks = tasks.filter(title__icontains=query)</a:t>
            </a:r>
          </a:p>
          <a:p>
            <a:endParaRPr/>
          </a:p>
          <a:p>
            <a:r>
              <a:t>page = Paginator(tasks.order_by("completed", "id"), 10)</a:t>
            </a:r>
          </a:p>
          <a:p>
            <a:r>
              <a:t>page_obj = page.get_page(request.GET.get("page"))</a:t>
            </a:r>
          </a:p>
          <a:p>
            <a:r>
              <a:t>return render(request, "tasks/list.html", {</a:t>
            </a:r>
          </a:p>
          <a:p>
            <a:r>
              <a:t>    "tasks": page_obj,</a:t>
            </a:r>
          </a:p>
          <a:p>
            <a:r>
              <a:t>    "page_obj": page_obj,</a:t>
            </a:r>
          </a:p>
          <a:p>
            <a:r>
              <a:t>    "q": query,</a:t>
            </a:r>
          </a:p>
          <a:p>
            <a:r>
              <a:t>})</a:t>
            </a:r>
          </a:p>
          <a:p>
            <a:endParaRPr/>
          </a:p>
          <a:p>
            <a:r>
              <a:t>Revision mapping: original slide 31.</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https://docs.djangoproject.com/en/5.2/topics/db/queries/</a:t>
            </a:r>
          </a:p>
          <a:p>
            <a:r>
              <a:t>https://docs.djangoproject.com/en/5.2/topics/pagination/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Lab: a useful TODO workflow</a:t>
            </a:r>
          </a:p>
          <a:p>
            <a:endParaRPr/>
          </a:p>
          <a:p>
            <a:r>
              <a:t>Use a disposable task to practice the POST delete form. Expected evidence: a working list, edit flow, validation message and search result. Open/Done should map to True or False explicitly; do not treat arbitrary non-empty query strings as True. All queries must keep owner=request.user. Source: the supplied practical sequence adapted to PocketDesk.</a:t>
            </a:r>
          </a:p>
          <a:p>
            <a:endParaRPr/>
          </a:p>
          <a:p>
            <a:r>
              <a:t>Revision mapping: original slide 32.</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https://docs.djangoproject.com/en/5.2/topics/forms/modelforms/</a:t>
            </a:r>
          </a:p>
          <a:p>
            <a:r>
              <a:t>https://docs.djangoproject.com/en/5.2/topics/db/queries/</a:t>
            </a:r>
          </a:p>
          <a:p>
            <a:r>
              <a:t>Session Content Document.docx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Built-in login routes</a:t>
            </a:r>
          </a:p>
          <a:p>
            <a:endParaRPr/>
          </a:p>
          <a:p>
            <a:r>
              <a:t>The URL pattern is an addition inside urlpatterns, not a standalone file. Keep generated auth/session middleware and installed apps. The built-in auth URLs include login, logout and password management views, but Django does not create a public sign-up page automatically. Password reset flows also need templates and email configuration. Do not use the ellipsis body as a replacement for the existing list implementation.</a:t>
            </a:r>
          </a:p>
          <a:p>
            <a:endParaRPr/>
          </a:p>
          <a:p>
            <a:r>
              <a:t>Complete code excerpt:</a:t>
            </a:r>
          </a:p>
          <a:p>
            <a:r>
              <a:t># config/urls.py</a:t>
            </a:r>
          </a:p>
          <a:p>
            <a:r>
              <a:t>path("accounts/", include("django.contrib.auth.urls")),</a:t>
            </a:r>
          </a:p>
          <a:p>
            <a:endParaRPr/>
          </a:p>
          <a:p>
            <a:r>
              <a:t># config/settings.py</a:t>
            </a:r>
          </a:p>
          <a:p>
            <a:r>
              <a:t>LOGIN_URL = "login"</a:t>
            </a:r>
          </a:p>
          <a:p>
            <a:r>
              <a:t>LOGIN_REDIRECT_URL = "tasks:list"</a:t>
            </a:r>
          </a:p>
          <a:p>
            <a:r>
              <a:t>LOGOUT_REDIRECT_URL = "login"</a:t>
            </a:r>
          </a:p>
          <a:p>
            <a:endParaRPr/>
          </a:p>
          <a:p>
            <a:r>
              <a:t># Application view</a:t>
            </a:r>
          </a:p>
          <a:p>
            <a:r>
              <a:t>@login_required</a:t>
            </a:r>
          </a:p>
          <a:p>
            <a:r>
              <a:t>def task_list(request):</a:t>
            </a:r>
          </a:p>
          <a:p>
            <a:r>
              <a:t>    ...</a:t>
            </a:r>
          </a:p>
          <a:p>
            <a:endParaRPr/>
          </a:p>
          <a:p>
            <a:r>
              <a:t>Revision mapping: original slide 33.</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https://docs.djangoproject.com/en/5.2/topics/auth/default/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Login and logout templates</a:t>
            </a:r>
          </a:p>
          <a:p>
            <a:endParaRPr/>
          </a:p>
          <a:p>
            <a:r>
              <a:t>The login template can extend base.html and put this form in the content block. Wrap the logout form with {% if user.is_authenticated %} and offer a login link otherwise. Avoid hand-written password comparison or password storage. Demonstrate logout, a protected-page redirect and a successful login. The standard LoginView validates redirect destinations.</a:t>
            </a:r>
          </a:p>
          <a:p>
            <a:endParaRPr/>
          </a:p>
          <a:p>
            <a:r>
              <a:t>Complete code excerpt:</a:t>
            </a:r>
          </a:p>
          <a:p>
            <a:r>
              <a:t>&lt;!-- tasks/templates/registration/login.html --&gt;</a:t>
            </a:r>
          </a:p>
          <a:p>
            <a:r>
              <a:t>&lt;form method="post"&gt;</a:t>
            </a:r>
          </a:p>
          <a:p>
            <a:r>
              <a:t>  {% csrf_token %}</a:t>
            </a:r>
          </a:p>
          <a:p>
            <a:r>
              <a:t>  {{ form.as_p }}</a:t>
            </a:r>
          </a:p>
          <a:p>
            <a:r>
              <a:t>  &lt;input type="hidden" name="next" value="{{ next }}"&gt;</a:t>
            </a:r>
          </a:p>
          <a:p>
            <a:r>
              <a:t>  &lt;button type="submit"&gt;Log in&lt;/button&gt;</a:t>
            </a:r>
          </a:p>
          <a:p>
            <a:r>
              <a:t>&lt;/form&gt;</a:t>
            </a:r>
          </a:p>
          <a:p>
            <a:endParaRPr/>
          </a:p>
          <a:p>
            <a:r>
              <a:t>&lt;!-- base.html, when user.is_authenticated --&gt;</a:t>
            </a:r>
          </a:p>
          <a:p>
            <a:r>
              <a:t>&lt;form method="post" action="{% url 'logout' %}"&gt;</a:t>
            </a:r>
          </a:p>
          <a:p>
            <a:r>
              <a:t>  {% csrf_token %}</a:t>
            </a:r>
          </a:p>
          <a:p>
            <a:r>
              <a:t>  &lt;button type="submit"&gt;Log out&lt;/button&gt;</a:t>
            </a:r>
          </a:p>
          <a:p>
            <a:r>
              <a:t>&lt;/form&gt;</a:t>
            </a:r>
          </a:p>
          <a:p>
            <a:endParaRPr/>
          </a:p>
          <a:p>
            <a:r>
              <a:t>The visible code is a teaching excerpt. The complete version above includes surrounding imports and context.</a:t>
            </a:r>
          </a:p>
          <a:p>
            <a:endParaRPr/>
          </a:p>
          <a:p>
            <a:r>
              <a:t>Revision mapping: original slide 34.</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https://docs.djangoproject.com/en/5.2/topics/auth/default/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basic registration view</a:t>
            </a:r>
          </a:p>
          <a:p>
            <a:endParaRPr/>
          </a:p>
          <a:p>
            <a:r>
              <a:t>This example assumes Django’s default User model. Add path("signup/",views.signup,name="signup") to tasks/urls.py. Create tasks/templates/registration/signup.html with a POST form, csrf_token, form.as_p and a submit button. Keep the generated password validators. Signup redirects to the named login view. Public signup is reasonable for a personal learning demo, but real systems may need account verification, abuse controls or invitations. The example does not implement those features.</a:t>
            </a:r>
          </a:p>
          <a:p>
            <a:endParaRPr/>
          </a:p>
          <a:p>
            <a:r>
              <a:t>Complete code excerpt:</a:t>
            </a:r>
          </a:p>
          <a:p>
            <a:r>
              <a:t>from django.contrib.auth.forms import UserCreationForm</a:t>
            </a:r>
          </a:p>
          <a:p>
            <a:endParaRPr/>
          </a:p>
          <a:p>
            <a:r>
              <a:t>def signup(request):</a:t>
            </a:r>
          </a:p>
          <a:p>
            <a:r>
              <a:t>    form = UserCreationForm(</a:t>
            </a:r>
          </a:p>
          <a:p>
            <a:r>
              <a:t>        request.POST if request.method == "POST" else None</a:t>
            </a:r>
          </a:p>
          <a:p>
            <a:r>
              <a:t>    )</a:t>
            </a:r>
          </a:p>
          <a:p>
            <a:r>
              <a:t>    if request.method == "POST" and form.is_valid():</a:t>
            </a:r>
          </a:p>
          <a:p>
            <a:r>
              <a:t>        form.save()</a:t>
            </a:r>
          </a:p>
          <a:p>
            <a:r>
              <a:t>        return redirect("login")</a:t>
            </a:r>
          </a:p>
          <a:p>
            <a:r>
              <a:t>    return render(request, "registration/signup.html", {</a:t>
            </a:r>
          </a:p>
          <a:p>
            <a:r>
              <a:t>        "form": form,</a:t>
            </a:r>
          </a:p>
          <a:p>
            <a:r>
              <a:t>    })</a:t>
            </a:r>
          </a:p>
          <a:p>
            <a:endParaRPr/>
          </a:p>
          <a:p>
            <a:r>
              <a:t>Revision mapping: original slide 35.</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https://docs.djangoproject.com/en/5.2/topics/auth/default/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Login identifies you. Ownership limits your records.</a:t>
            </a:r>
          </a:p>
          <a:p>
            <a:endParaRPr/>
          </a:p>
          <a:p>
            <a:r>
              <a:t>Create a task with Asha, sign in as Bob and request its edit URL directly. Bob must not read or change the record. Hiding a button in HTML does not enforce permissions. The database lookup combines pk with owner. Lists, counts, edit/delete views and APIs must apply the same rule. Here 404 deliberately avoids confirming whether another account’s record exists.</a:t>
            </a:r>
          </a:p>
          <a:p>
            <a:endParaRPr/>
          </a:p>
          <a:p>
            <a:r>
              <a:t>Complete code excerpt:</a:t>
            </a:r>
          </a:p>
          <a:p>
            <a:r>
              <a:t># Authentication: is there a signed-in user?</a:t>
            </a:r>
          </a:p>
          <a:p>
            <a:r>
              <a:t>@login_required</a:t>
            </a:r>
          </a:p>
          <a:p>
            <a:r>
              <a:t>def task_edit(request, pk):</a:t>
            </a:r>
          </a:p>
          <a:p>
            <a:r>
              <a:t>    # Authorization: may this user access this record?</a:t>
            </a:r>
          </a:p>
          <a:p>
            <a:r>
              <a:t>    task = get_object_or_404(</a:t>
            </a:r>
          </a:p>
          <a:p>
            <a:r>
              <a:t>        Task, pk=pk, owner=request.user</a:t>
            </a:r>
          </a:p>
          <a:p>
            <a:r>
              <a:t>    )</a:t>
            </a:r>
          </a:p>
          <a:p>
            <a:r>
              <a:t>    ...</a:t>
            </a:r>
          </a:p>
          <a:p>
            <a:endParaRPr/>
          </a:p>
          <a:p>
            <a:r>
              <a:t># Collection visibility uses the same policy</a:t>
            </a:r>
          </a:p>
          <a:p>
            <a:r>
              <a:t>Task.objects.filter(owner=request.user)</a:t>
            </a:r>
          </a:p>
          <a:p>
            <a:endParaRPr/>
          </a:p>
          <a:p>
            <a:r>
              <a:t>Revision mapping: original slide 36.</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https://docs.djangoproject.com/en/5.2/topics/auth/default/</a:t>
            </a:r>
          </a:p>
          <a:p>
            <a:r>
              <a:t>https://www.django-rest-framework.org/api-guide/permissions/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different checks stop two different requests</a:t>
            </a:r>
          </a:p>
          <a:p>
            <a:endParaRPr/>
          </a:p>
          <a:p>
            <a:r>
              <a:t>Use a conceptual, controlled local demonstration with fictional records. Do not target a real service. A malicious page can cause a browser to attempt a cookie-authenticated request; a correctly used CSRF token helps reject unauthorized cross-site form submissions. CSRF protection does not establish record ownership. A legitimate signed-in Bob with a valid CSRF token still needs authorization, which our owner-scoped lookup enforces. Token-authenticated API clients use the configured token policy; do not claim that Django CSRF middleware covers every authentication scheme. Template autoescaping and ORM parameterization mitigate different risks, with limitations. Never turn off CSRF or mark user content safe merely to make a demo work.</a:t>
            </a:r>
          </a:p>
          <a:p>
            <a:endParaRPr/>
          </a:p>
          <a:p>
            <a:r>
              <a:t>Revision mapping: original slide 37.</a:t>
            </a:r>
          </a:p>
          <a:p>
            <a:endParaRPr/>
          </a:p>
          <a:p>
            <a:r>
              <a:t>ANIMATION: Click 1 sends the forged POST toward the CSRF check. Click 2 reveals 403 Forbidden: the request is rejected before the view changes data. Click 3 sends Bob’s validly authenticated request toward an owner-scoped lookup. Click 4 reveals 404: Asha’s task stays unchanged. A valid CSRF token does not replace object ownership checks.</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https://docs.djangoproject.com/en/5.2/topics/security/</a:t>
            </a:r>
          </a:p>
          <a:p>
            <a:r>
              <a:t>https://docs.djangoproject.com/en/5.2/topics/auth/default/</a:t>
            </a:r>
          </a:p>
          <a:p>
            <a:r>
              <a:t>https://www.django-rest-framework.org/api-guide/authentication/</a:t>
            </a:r>
          </a:p>
          <a:p>
            <a:r>
              <a:t>https://www.django-rest-framework.org/api-guide/permissions/</a:t>
            </a:r>
          </a:p>
          <a:p>
            <a:r>
              <a:t>Shield icon: Twemoji graphics, Twitter Inc. and contributors, CC BY 4.0. https://github.com/twitter/twemoji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session preference and a success message</a:t>
            </a:r>
          </a:p>
          <a:p>
            <a:endParaRPr/>
          </a:p>
          <a:p>
            <a:r>
              <a:t>These are Python and HTML excerpts in separate files. Put messages.success after saving and before redirecting. Keep generated SessionMiddleware, AuthenticationMiddleware and MessageMiddleware. Database-backed sessions usually store server-side data and a session-id cookie; other backends differ. Signed-cookie session data is signed, not encrypted. Store durable TODOs and Entry values in the database, not in session preferences. If using task_filter later, validate it against supported values.</a:t>
            </a:r>
          </a:p>
          <a:p>
            <a:endParaRPr/>
          </a:p>
          <a:p>
            <a:r>
              <a:t>Complete code excerpt:</a:t>
            </a:r>
          </a:p>
          <a:p>
            <a:r>
              <a:t># After a successful save, before redirect</a:t>
            </a:r>
          </a:p>
          <a:p>
            <a:r>
              <a:t>from django.contrib import messages</a:t>
            </a:r>
          </a:p>
          <a:p>
            <a:r>
              <a:t>messages.success(request, "Task saved.")</a:t>
            </a:r>
          </a:p>
          <a:p>
            <a:endParaRPr/>
          </a:p>
          <a:p>
            <a:r>
              <a:t># A non-sensitive interface preference</a:t>
            </a:r>
          </a:p>
          <a:p>
            <a:r>
              <a:t>request.session["task_filter"] = "open"</a:t>
            </a:r>
          </a:p>
          <a:p>
            <a:r>
              <a:t>task_filter = request.session.get("task_filter", "all")</a:t>
            </a:r>
          </a:p>
          <a:p>
            <a:endParaRPr/>
          </a:p>
          <a:p>
            <a:r>
              <a:t>&lt;!-- base.html --&gt;</a:t>
            </a:r>
          </a:p>
          <a:p>
            <a:r>
              <a:t>{% for message in messages %}</a:t>
            </a:r>
          </a:p>
          <a:p>
            <a:r>
              <a:t>  &lt;p&gt;{{ message }}&lt;/p&gt;</a:t>
            </a:r>
          </a:p>
          <a:p>
            <a:r>
              <a:t>{% endfor %}</a:t>
            </a:r>
          </a:p>
          <a:p>
            <a:endParaRPr/>
          </a:p>
          <a:p>
            <a:r>
              <a:t>Revision mapping: original slide 38.</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https://docs.djangoproject.com/en/5.2/topics/http/sessions/</a:t>
            </a:r>
          </a:p>
          <a:p>
            <a:r>
              <a:t>https://docs.djangoproject.com/en/5.2/ref/contrib/messages/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Middleware wraps the request</a:t>
            </a:r>
          </a:p>
          <a:p>
            <a:endParaRPr/>
          </a:p>
          <a:p>
            <a:r>
              <a:t>Use a harmless header to demonstrate the lifecycle. Request middleware runs in configured order and response processing unwinds in reverse. Placement matters for security, sessions and authentication. Keep built-in middleware in place. Cross-cutting logging should avoid credentials and personal data. This example does not implement authentication or security itself.</a:t>
            </a:r>
          </a:p>
          <a:p>
            <a:endParaRPr/>
          </a:p>
          <a:p>
            <a:r>
              <a:t>Complete code excerpt:</a:t>
            </a:r>
          </a:p>
          <a:p>
            <a:r>
              <a:t>class TrainingHeaderMiddleware:</a:t>
            </a:r>
          </a:p>
          <a:p>
            <a:r>
              <a:t>    def __init__(self, get_response):</a:t>
            </a:r>
          </a:p>
          <a:p>
            <a:r>
              <a:t>        self.get_response = get_response</a:t>
            </a:r>
          </a:p>
          <a:p>
            <a:endParaRPr/>
          </a:p>
          <a:p>
            <a:r>
              <a:t>    def __call__(self, request):</a:t>
            </a:r>
          </a:p>
          <a:p>
            <a:r>
              <a:t>        response = self.get_response(request)</a:t>
            </a:r>
          </a:p>
          <a:p>
            <a:r>
              <a:t>        response["X-Training-App"] = "PocketDesk"</a:t>
            </a:r>
          </a:p>
          <a:p>
            <a:r>
              <a:t>        return response</a:t>
            </a:r>
          </a:p>
          <a:p>
            <a:endParaRPr/>
          </a:p>
          <a:p>
            <a:r>
              <a:t># Append to MIDDLEWARE in config/settings.py</a:t>
            </a:r>
          </a:p>
          <a:p>
            <a:r>
              <a:t># "tasks.middleware.TrainingHeaderMiddleware",</a:t>
            </a:r>
          </a:p>
          <a:p>
            <a:endParaRPr/>
          </a:p>
          <a:p>
            <a:r>
              <a:t>Revision mapping: original slide 39.</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https://docs.djangoproject.com/en/5.2/topics/http/middleware/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test protects the ownership rule</a:t>
            </a:r>
          </a:p>
          <a:p>
            <a:endParaRPr/>
          </a:p>
          <a:p>
            <a:r>
              <a:t>Place the method in a django.test.TestCase subclass in tasks/tests.py. Import TestCase, reverse from django.urls, get_user_model, and Task. Set User=get_user_model(). In setUp create self.user=User.objects.create_user("asha"). The test runner creates a separate test database; these users do not appear in the development database. Add POST update/delete denial tests that also check unchanged stored values. Django TestClient does not enforce CSRF by default; use Client(enforce_csrf_checks=True) for that specific check. The output assumes this is the only test in the sample project.</a:t>
            </a:r>
          </a:p>
          <a:p>
            <a:endParaRPr/>
          </a:p>
          <a:p>
            <a:r>
              <a:t>Complete code excerpt:</a:t>
            </a:r>
          </a:p>
          <a:p>
            <a:r>
              <a:t>def test_other_owner_cannot_edit(self):</a:t>
            </a:r>
          </a:p>
          <a:p>
            <a:r>
              <a:t>    other = User.objects.create_user("bob")</a:t>
            </a:r>
          </a:p>
          <a:p>
            <a:r>
              <a:t>    task = Task.objects.create(</a:t>
            </a:r>
          </a:p>
          <a:p>
            <a:r>
              <a:t>        title="Prepare Django demo", owner=other,</a:t>
            </a:r>
          </a:p>
          <a:p>
            <a:r>
              <a:t>    )</a:t>
            </a:r>
          </a:p>
          <a:p>
            <a:r>
              <a:t>    self.client.force_login(self.user)</a:t>
            </a:r>
          </a:p>
          <a:p>
            <a:r>
              <a:t>    response = self.client.get(reverse(</a:t>
            </a:r>
          </a:p>
          <a:p>
            <a:r>
              <a:t>        "tasks:edit", args=[task.pk]</a:t>
            </a:r>
          </a:p>
          <a:p>
            <a:r>
              <a:t>    ))</a:t>
            </a:r>
          </a:p>
          <a:p>
            <a:r>
              <a:t>    self.assertEqual(response.status_code, 404)</a:t>
            </a:r>
          </a:p>
          <a:p>
            <a:endParaRPr/>
          </a:p>
          <a:p>
            <a:r>
              <a:t>Revision mapping: original slide 40.</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https://docs.djangoproject.com/en/5.2/topics/testing/tools/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Lab: two accounts, two task lists</a:t>
            </a:r>
          </a:p>
          <a:p>
            <a:endParaRPr/>
          </a:p>
          <a:p>
            <a:r>
              <a:t>Use fictional Asha and Bob accounts. Test through the interface and direct URLs. For deletion use a POST with the signed-in user’s own CSRF token so the ownership check is the behavior under test. Challenge: automate a rejected POST and assert that the title or completion state did not change. Source: supplied practical teaching approach.</a:t>
            </a:r>
          </a:p>
          <a:p>
            <a:endParaRPr/>
          </a:p>
          <a:p>
            <a:r>
              <a:t>Revision mapping: original slide 41.</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https://docs.djangoproject.com/en/5.2/topics/auth/default/</a:t>
            </a:r>
          </a:p>
          <a:p>
            <a:r>
              <a:t>https://docs.djangoproject.com/en/5.2/topics/testing/tools/</a:t>
            </a:r>
          </a:p>
          <a:p>
            <a:r>
              <a:t>Session Content Document.docx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HTTP methods for task records</a:t>
            </a:r>
          </a:p>
          <a:p>
            <a:endParaRPr/>
          </a:p>
          <a:p>
            <a:r>
              <a:t>HTTP semantics describe intent; endpoints must still validate inputs and enforce permissions. GET should not change server state. These examples reflect the DRF ModelViewSet used later. 400 indicates invalid input, 404 absent or deliberately inaccessible records, and 500 a server failure. Actual unauthorized responses depend on the authentication scheme.</a:t>
            </a:r>
          </a:p>
          <a:p>
            <a:endParaRPr/>
          </a:p>
          <a:p>
            <a:r>
              <a:t>Revision mapping: original slide 42.</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https://www.django-rest-framework.org/api-guide/viewsets/</a:t>
            </a:r>
          </a:p>
          <a:p>
            <a:r>
              <a:t>https://developer.mozilla.org/en-US/docs/Web/HTTP/Reference/Methods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serializer describes the task API</a:t>
            </a:r>
          </a:p>
          <a:p>
            <a:endParaRPr/>
          </a:p>
          <a:p>
            <a:r>
              <a:t>Install djangorestframework in the active environment and append rest_framework to the generated INSTALLED_APPS list. ModelSerializer turns Task objects into primitive values that the response renderer can encode as JSON, and validates incoming data. Python uses False; JSON uses false. The serializer and HTML ModelForm are separate input paths. Add the title-length validation shown later before treating the API as feature-complete.</a:t>
            </a:r>
          </a:p>
          <a:p>
            <a:endParaRPr/>
          </a:p>
          <a:p>
            <a:r>
              <a:t>Complete code excerpt:</a:t>
            </a:r>
          </a:p>
          <a:p>
            <a:r>
              <a:t>from rest_framework import serializers</a:t>
            </a:r>
          </a:p>
          <a:p>
            <a:r>
              <a:t>from .models import Task</a:t>
            </a:r>
          </a:p>
          <a:p>
            <a:endParaRPr/>
          </a:p>
          <a:p>
            <a:r>
              <a:t>class TaskSerializer(serializers.ModelSerializer):</a:t>
            </a:r>
          </a:p>
          <a:p>
            <a:r>
              <a:t>    class Meta:</a:t>
            </a:r>
          </a:p>
          <a:p>
            <a:r>
              <a:t>        model = Task</a:t>
            </a:r>
          </a:p>
          <a:p>
            <a:r>
              <a:t>        fields = ["id", "title", "completed"]</a:t>
            </a:r>
          </a:p>
          <a:p>
            <a:r>
              <a:t>        read_only_fields = ["id"]</a:t>
            </a:r>
          </a:p>
          <a:p>
            <a:endParaRPr/>
          </a:p>
          <a:p>
            <a:r>
              <a:t># python -m pip install djangorestframework</a:t>
            </a:r>
          </a:p>
          <a:p>
            <a:r>
              <a:t># Append "rest_framework" to INSTALLED_APPS</a:t>
            </a:r>
          </a:p>
          <a:p>
            <a:endParaRPr/>
          </a:p>
          <a:p>
            <a:r>
              <a:t>Revision mapping: original slide 43.</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https://www.django-rest-framework.org/api-guide/serializers/</a:t>
            </a:r>
          </a:p>
          <a:p>
            <a:r>
              <a:t>https://www.django-rest-framework.org/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API uses the same ownership rule</a:t>
            </a:r>
          </a:p>
          <a:p>
            <a:endParaRPr/>
          </a:p>
          <a:p>
            <a:r>
              <a:t>IsAuthenticated alone does not implement record ownership. The scoped queryset restricts retrieve/update/delete as well as list. perform_create ensures owner cannot come from client data. Keep serializer fields explicit. More complex object permission policies may require a dedicated permission class in addition to queryset filtering. This is a coherent minimal teaching policy.</a:t>
            </a:r>
          </a:p>
          <a:p>
            <a:endParaRPr/>
          </a:p>
          <a:p>
            <a:r>
              <a:t>Complete code excerpt:</a:t>
            </a:r>
          </a:p>
          <a:p>
            <a:r>
              <a:t>from rest_framework import permissions, viewsets</a:t>
            </a:r>
          </a:p>
          <a:p>
            <a:r>
              <a:t>from .models import Task</a:t>
            </a:r>
          </a:p>
          <a:p>
            <a:r>
              <a:t>from .serializers import TaskSerializer</a:t>
            </a:r>
          </a:p>
          <a:p>
            <a:endParaRPr/>
          </a:p>
          <a:p>
            <a:r>
              <a:t>class TaskViewSet(viewsets.ModelViewSet):</a:t>
            </a:r>
          </a:p>
          <a:p>
            <a:r>
              <a:t>    serializer_class = TaskSerializer</a:t>
            </a:r>
          </a:p>
          <a:p>
            <a:r>
              <a:t>    permission_classes = [permissions.IsAuthenticated]</a:t>
            </a:r>
          </a:p>
          <a:p>
            <a:endParaRPr/>
          </a:p>
          <a:p>
            <a:r>
              <a:t>    def get_queryset(self):</a:t>
            </a:r>
          </a:p>
          <a:p>
            <a:r>
              <a:t>        return Task.objects.filter(</a:t>
            </a:r>
          </a:p>
          <a:p>
            <a:r>
              <a:t>            owner=self.request.user</a:t>
            </a:r>
          </a:p>
          <a:p>
            <a:r>
              <a:t>        ).order_by("id")</a:t>
            </a:r>
          </a:p>
          <a:p>
            <a:endParaRPr/>
          </a:p>
          <a:p>
            <a:r>
              <a:t>    def perform_create(self, serializer):</a:t>
            </a:r>
          </a:p>
          <a:p>
            <a:r>
              <a:t>        serializer.save(owner=self.request.user)</a:t>
            </a:r>
          </a:p>
          <a:p>
            <a:endParaRPr/>
          </a:p>
          <a:p>
            <a:r>
              <a:t>The visible code is a teaching excerpt. The complete version above includes surrounding imports and context.</a:t>
            </a:r>
          </a:p>
          <a:p>
            <a:endParaRPr/>
          </a:p>
          <a:p>
            <a:r>
              <a:t>Revision mapping: original slide 44.</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https://www.django-rest-framework.org/api-guide/viewsets/</a:t>
            </a:r>
          </a:p>
          <a:p>
            <a:r>
              <a:t>https://www.django-rest-framework.org/api-guide/permissions/</a:t>
            </a:r>
          </a:p>
          <a:p>
            <a:r>
              <a:t>https://www.django-rest-framework.org/api-guide/generic-views/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router creates task endpoints</a:t>
            </a:r>
          </a:p>
          <a:p>
            <a:endParaRPr/>
          </a:p>
          <a:p>
            <a:r>
              <a:t>The explicit basename is needed because the ViewSet defines get_queryset instead of a class-level queryset. The browsable API login uses session authentication. Keep the existing tasks, admin and accounts routes. Import TaskViewSet from tasks.api before registering it. API clients must use the configured authentication method. The testing setup later adds local token authentication.</a:t>
            </a:r>
          </a:p>
          <a:p>
            <a:endParaRPr/>
          </a:p>
          <a:p>
            <a:r>
              <a:t>Complete code excerpt:</a:t>
            </a:r>
          </a:p>
          <a:p>
            <a:r>
              <a:t>from django.urls import include, path</a:t>
            </a:r>
          </a:p>
          <a:p>
            <a:r>
              <a:t>from rest_framework.routers import DefaultRouter</a:t>
            </a:r>
          </a:p>
          <a:p>
            <a:r>
              <a:t>from tasks.api import TaskViewSet</a:t>
            </a:r>
          </a:p>
          <a:p>
            <a:endParaRPr/>
          </a:p>
          <a:p>
            <a:r>
              <a:t>router = DefaultRouter()</a:t>
            </a:r>
          </a:p>
          <a:p>
            <a:r>
              <a:t>router.register(</a:t>
            </a:r>
          </a:p>
          <a:p>
            <a:r>
              <a:t>    "tasks", TaskViewSet, basename="task"</a:t>
            </a:r>
          </a:p>
          <a:p>
            <a:r>
              <a:t>)</a:t>
            </a:r>
          </a:p>
          <a:p>
            <a:endParaRPr/>
          </a:p>
          <a:p>
            <a:r>
              <a:t># Add to the existing urlpatterns</a:t>
            </a:r>
          </a:p>
          <a:p>
            <a:r>
              <a:t>urlpatterns += [</a:t>
            </a:r>
          </a:p>
          <a:p>
            <a:r>
              <a:t>    path("api/", include(router.urls)),</a:t>
            </a:r>
          </a:p>
          <a:p>
            <a:r>
              <a:t>    path("api-auth/", include("rest_framework.urls")),</a:t>
            </a:r>
          </a:p>
          <a:p>
            <a:r>
              <a:t>]</a:t>
            </a:r>
          </a:p>
          <a:p>
            <a:endParaRPr/>
          </a:p>
          <a:p>
            <a:r>
              <a:t>The visible code is a teaching excerpt. The complete version above includes surrounding imports and context.</a:t>
            </a:r>
          </a:p>
          <a:p>
            <a:endParaRPr/>
          </a:p>
          <a:p>
            <a:r>
              <a:t>Revision mapping: original slide 45.</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https://www.django-rest-framework.org/api-guide/routers/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Search and pages in the API</a:t>
            </a:r>
          </a:p>
          <a:p>
            <a:endParaRPr/>
          </a:p>
          <a:p>
            <a:r>
              <a:t>Define TaskPagination before TaskViewSet or import it. The three attributes shown after the comment belong inside TaskViewSet. Their indentation is omitted only to keep the excerpt focused. Keep the owner-scoped get_queryset. DRF SearchFilter uses search by default; the HTML page uses q. Pagination changes the response from a top-level list to an object with count, next, previous and results. The shown response assumes one matching task.</a:t>
            </a:r>
          </a:p>
          <a:p>
            <a:endParaRPr/>
          </a:p>
          <a:p>
            <a:r>
              <a:t>Complete code excerpt:</a:t>
            </a:r>
          </a:p>
          <a:p>
            <a:r>
              <a:t>from rest_framework import filters</a:t>
            </a:r>
          </a:p>
          <a:p>
            <a:r>
              <a:t>from rest_framework.pagination import PageNumberPagination</a:t>
            </a:r>
          </a:p>
          <a:p>
            <a:endParaRPr/>
          </a:p>
          <a:p>
            <a:r>
              <a:t>class TaskPagination(PageNumberPagination):</a:t>
            </a:r>
          </a:p>
          <a:p>
            <a:r>
              <a:t>    page_size = 10</a:t>
            </a:r>
          </a:p>
          <a:p>
            <a:endParaRPr/>
          </a:p>
          <a:p>
            <a:r>
              <a:t># Add inside TaskViewSet</a:t>
            </a:r>
          </a:p>
          <a:p>
            <a:r>
              <a:t>pagination_class = TaskPagination</a:t>
            </a:r>
          </a:p>
          <a:p>
            <a:r>
              <a:t>filter_backends = [filters.SearchFilter]</a:t>
            </a:r>
          </a:p>
          <a:p>
            <a:r>
              <a:t>search_fields = ["title"]</a:t>
            </a:r>
          </a:p>
          <a:p>
            <a:endParaRPr/>
          </a:p>
          <a:p>
            <a:r>
              <a:t># GET /api/tasks/?search=django&amp;page=1</a:t>
            </a:r>
          </a:p>
          <a:p>
            <a:endParaRPr/>
          </a:p>
          <a:p>
            <a:r>
              <a:t>Revision mapping: original slide 46.</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https://www.django-rest-framework.org/api-guide/filtering/</a:t>
            </a:r>
          </a:p>
          <a:p>
            <a:r>
              <a:t>https://www.django-rest-framework.org/api-guide/pagination/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API rejects the same invalid title</a:t>
            </a:r>
          </a:p>
          <a:p>
            <a:endParaRPr/>
          </a:p>
          <a:p>
            <a:r>
              <a:t>Indent validate_title inside TaskSerializer alongside Meta. The generated CharField already trims whitespace and rejects blank values; this hook adds the three-character minimum. A whitespace-only title can produce the standard blank-field error before this hook runs. The example Go produces the illustrated message. Test valid titles, blank titles, whitespace-only titles and two-character titles on both input paths. A shared model validator can reduce duplication as the project grows, with tests to confirm each entry point.</a:t>
            </a:r>
          </a:p>
          <a:p>
            <a:endParaRPr/>
          </a:p>
          <a:p>
            <a:r>
              <a:t>Complete code excerpt:</a:t>
            </a:r>
          </a:p>
          <a:p>
            <a:r>
              <a:t>def validate_title(self, value):</a:t>
            </a:r>
          </a:p>
          <a:p>
            <a:r>
              <a:t>    value = value.strip()</a:t>
            </a:r>
          </a:p>
          <a:p>
            <a:r>
              <a:t>    if len(value) &lt; 3:</a:t>
            </a:r>
          </a:p>
          <a:p>
            <a:r>
              <a:t>        raise serializers.ValidationError(</a:t>
            </a:r>
          </a:p>
          <a:p>
            <a:r>
              <a:t>            "Use at least 3 characters."</a:t>
            </a:r>
          </a:p>
          <a:p>
            <a:r>
              <a:t>        )</a:t>
            </a:r>
          </a:p>
          <a:p>
            <a:r>
              <a:t>    return value</a:t>
            </a:r>
          </a:p>
          <a:p>
            <a:endParaRPr/>
          </a:p>
          <a:p>
            <a:r>
              <a:t># POST body: {"title": "Go"}</a:t>
            </a:r>
          </a:p>
          <a:p>
            <a:r>
              <a:t># Response: 400 Bad Request</a:t>
            </a:r>
          </a:p>
          <a:p>
            <a:endParaRPr/>
          </a:p>
          <a:p>
            <a:r>
              <a:t>Revision mapping: original slide 47.</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https://www.django-rest-framework.org/api-guide/serializers/</a:t>
            </a:r>
          </a:p>
          <a:p>
            <a:r>
              <a:t>https://docs.djangoproject.com/en/5.2/topics/forms/modelforms/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Postman authentication for the lab</a:t>
            </a:r>
          </a:p>
          <a:p>
            <a:endParaRPr/>
          </a:p>
          <a:p>
            <a:r>
              <a:t>This slide combines shell and Python excerpts. Import TokenAuthentication and SessionAuthentication from rest_framework.authentication in tasks/api.py. Add authentication_classes inside the ViewSet. TokenAuthentication is first, so this configured API normally returns 401 for unauthenticated requests. SessionAuthentication alone often returns 403 and requires CSRF on unsafe authenticated requests. DRF tokens are a simple lab mechanism, not an automatic recommendation for every production identity architecture. Never commit or share the token.</a:t>
            </a:r>
          </a:p>
          <a:p>
            <a:endParaRPr/>
          </a:p>
          <a:p>
            <a:r>
              <a:t>Complete code excerpt:</a:t>
            </a:r>
          </a:p>
          <a:p>
            <a:r>
              <a:t># Add "rest_framework.authtoken" to INSTALLED_APPS</a:t>
            </a:r>
          </a:p>
          <a:p>
            <a:r>
              <a:t>python manage.py migrate</a:t>
            </a:r>
          </a:p>
          <a:p>
            <a:r>
              <a:t>python manage.py drf_create_token asha</a:t>
            </a:r>
          </a:p>
          <a:p>
            <a:endParaRPr/>
          </a:p>
          <a:p>
            <a:r>
              <a:t># TaskViewSet: add TokenAuthentication first</a:t>
            </a:r>
          </a:p>
          <a:p>
            <a:r>
              <a:t>authentication_classes = [</a:t>
            </a:r>
          </a:p>
          <a:p>
            <a:r>
              <a:t>    TokenAuthentication,</a:t>
            </a:r>
          </a:p>
          <a:p>
            <a:r>
              <a:t>    SessionAuthentication,</a:t>
            </a:r>
          </a:p>
          <a:p>
            <a:r>
              <a:t>]</a:t>
            </a:r>
          </a:p>
          <a:p>
            <a:endParaRPr/>
          </a:p>
          <a:p>
            <a:r>
              <a:t># Postman Authorization header</a:t>
            </a:r>
          </a:p>
          <a:p>
            <a:r>
              <a:t># Authorization: Token &lt;your-local-test-token&gt;</a:t>
            </a:r>
          </a:p>
          <a:p>
            <a:endParaRPr/>
          </a:p>
          <a:p>
            <a:r>
              <a:t>Revision mapping: original slide 48.</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https://www.django-rest-framework.org/api-guide/authentication/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Postman creates and checks a task</a:t>
            </a:r>
          </a:p>
          <a:p>
            <a:endParaRPr/>
          </a:p>
          <a:p>
            <a:r>
              <a:t>Set base_url to http://127.0.0.1:8000 and provide a private token variable. The request header is Authorization: Token {{token}}. Choose raw JSON with Content-Type: application/json. JSON and the JavaScript test go into separate Postman tabs. Do not paste // comments into the JSON body. The response id is generated by the database and may differ between runs. Follow with PATCH {"completed":true} and assert the returned status. Keep the token out of exported collections.</a:t>
            </a:r>
          </a:p>
          <a:p>
            <a:endParaRPr/>
          </a:p>
          <a:p>
            <a:r>
              <a:t>Complete code excerpt:</a:t>
            </a:r>
          </a:p>
          <a:p>
            <a:r>
              <a:t>// Body tab: paste only this JSON object</a:t>
            </a:r>
          </a:p>
          <a:p>
            <a:r>
              <a:t>{</a:t>
            </a:r>
          </a:p>
          <a:p>
            <a:r>
              <a:t>  "title": "Prepare Django demo",</a:t>
            </a:r>
          </a:p>
          <a:p>
            <a:r>
              <a:t>  "completed": false</a:t>
            </a:r>
          </a:p>
          <a:p>
            <a:r>
              <a:t>}</a:t>
            </a:r>
          </a:p>
          <a:p>
            <a:endParaRPr/>
          </a:p>
          <a:p>
            <a:r>
              <a:t>// Post-response script tab</a:t>
            </a:r>
          </a:p>
          <a:p>
            <a:r>
              <a:t>pm.test("Task created", () =&gt; {</a:t>
            </a:r>
          </a:p>
          <a:p>
            <a:r>
              <a:t>  pm.response.to.have.status(201);</a:t>
            </a:r>
          </a:p>
          <a:p>
            <a:r>
              <a:t>  const body = pm.response.json();</a:t>
            </a:r>
          </a:p>
          <a:p>
            <a:r>
              <a:t>  pm.expect(body.completed).to.eql(false);</a:t>
            </a:r>
          </a:p>
          <a:p>
            <a:r>
              <a:t>  pm.collectionVariables.set("task_id", body.id);</a:t>
            </a:r>
          </a:p>
          <a:p>
            <a:r>
              <a:t>});</a:t>
            </a:r>
          </a:p>
          <a:p>
            <a:endParaRPr/>
          </a:p>
          <a:p>
            <a:r>
              <a:t>The visible code is a teaching excerpt. The complete version above includes surrounding imports and context.</a:t>
            </a:r>
          </a:p>
          <a:p>
            <a:endParaRPr/>
          </a:p>
          <a:p>
            <a:r>
              <a:t>Revision mapping: original slide 49.</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https://learning.postman.com/docs/tests-and-scripts/write-scripts/test-scripts/</a:t>
            </a:r>
          </a:p>
          <a:p>
            <a:r>
              <a:t>https://www.django-rest-framework.org/api-guide/authentication/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API test matrix</a:t>
            </a:r>
          </a:p>
          <a:p>
            <a:endParaRPr/>
          </a:p>
          <a:p>
            <a:r>
              <a:t>The 401 expectation assumes TokenAuthentication is first and the request sends neither a token nor a valid session. A logged-in browsable API may authenticate through the fallback SessionAuthentication even without a token. Test with a clean Postman cookie jar. Other configurations can return 403. Also test title-only PATCH, status updates, search and pagination. Failed writes must leave records unchanged. Do not parse JSON from a 204 body.</a:t>
            </a:r>
          </a:p>
          <a:p>
            <a:endParaRPr/>
          </a:p>
          <a:p>
            <a:r>
              <a:t>Revision mapping: original slide 50.</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https://www.django-rest-framework.org/api-guide/authentication/</a:t>
            </a:r>
          </a:p>
          <a:p>
            <a:r>
              <a:t>https://www.django-rest-framework.org/api-guide/permissions/</a:t>
            </a:r>
          </a:p>
          <a:p>
            <a:r>
              <a:t>https://www.django-rest-framework.org/api-guide/viewsets/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Lab: TODOs through a second client</a:t>
            </a:r>
          </a:p>
          <a:p>
            <a:endParaRPr/>
          </a:p>
          <a:p>
            <a:r>
              <a:t>Use the same owner account for the browser and token. Create a collection with no real secrets embedded. Run create/read/update/delete twice using fresh disposable records. Ask a learner to distinguish model, serializer, ViewSet and router. Then introduce the Entry API as another resource using the same foundations.</a:t>
            </a:r>
          </a:p>
          <a:p>
            <a:endParaRPr/>
          </a:p>
          <a:p>
            <a:r>
              <a:t>Revision mapping: original slide 51.</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https://www.django-rest-framework.org/api-guide/viewsets/</a:t>
            </a:r>
          </a:p>
          <a:p>
            <a:r>
              <a:t>https://www.django-rest-framework.org/api-guide/permissions/</a:t>
            </a:r>
          </a:p>
          <a:p>
            <a:r>
              <a:t>Session Content Document.docx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Entry API protects each user’s keys</a:t>
            </a:r>
          </a:p>
          <a:p>
            <a:endParaRPr/>
          </a:p>
          <a:p>
            <a:r>
              <a:t>Retain the serializers import and add UniqueTogetherValidator from rest_framework.validators and Entry from .models. HiddenField supplies request.user through CurrentUserDefault and does not accept an owner chosen by the client or expose owner in the response. ViewSets provide the request context automatically. The generated key field limits input to 80 characters. The composite validator gives a validation error if the same account repeats a key, while another account may use the same key. Updates exclude the current instance during the uniqueness check. The database constraint remains necessary for concurrent requests; a production API should translate any race-time integrity failure into an appropriate client response. Ordinary key/value notes are not a secure secret vault.</a:t>
            </a:r>
          </a:p>
          <a:p>
            <a:endParaRPr/>
          </a:p>
          <a:p>
            <a:r>
              <a:t>Complete code excerpt:</a:t>
            </a:r>
          </a:p>
          <a:p>
            <a:r>
              <a:t>from rest_framework.validators import UniqueTogetherValidator</a:t>
            </a:r>
          </a:p>
          <a:p>
            <a:r>
              <a:t>from .models import Entry</a:t>
            </a:r>
          </a:p>
          <a:p>
            <a:endParaRPr/>
          </a:p>
          <a:p>
            <a:r>
              <a:t>class EntrySerializer(serializers.ModelSerializer):</a:t>
            </a:r>
          </a:p>
          <a:p>
            <a:r>
              <a:t>    owner = serializers.HiddenField(</a:t>
            </a:r>
          </a:p>
          <a:p>
            <a:r>
              <a:t>        default=serializers.CurrentUserDefault()</a:t>
            </a:r>
          </a:p>
          <a:p>
            <a:r>
              <a:t>    )</a:t>
            </a:r>
          </a:p>
          <a:p>
            <a:endParaRPr/>
          </a:p>
          <a:p>
            <a:r>
              <a:t>    class Meta:</a:t>
            </a:r>
          </a:p>
          <a:p>
            <a:r>
              <a:t>        model = Entry</a:t>
            </a:r>
          </a:p>
          <a:p>
            <a:r>
              <a:t>        fields = ["id", "key", "value", "owner"]</a:t>
            </a:r>
          </a:p>
          <a:p>
            <a:r>
              <a:t>        read_only_fields = ["id"]</a:t>
            </a:r>
          </a:p>
          <a:p>
            <a:r>
              <a:t>        validators = [UniqueTogetherValidator(</a:t>
            </a:r>
          </a:p>
          <a:p>
            <a:r>
              <a:t>            queryset=Entry.objects.all(),</a:t>
            </a:r>
          </a:p>
          <a:p>
            <a:r>
              <a:t>            fields=["owner", "key"],</a:t>
            </a:r>
          </a:p>
          <a:p>
            <a:r>
              <a:t>        )]</a:t>
            </a:r>
          </a:p>
          <a:p>
            <a:endParaRPr/>
          </a:p>
          <a:p>
            <a:r>
              <a:t>The visible code is a teaching excerpt. The complete version above includes surrounding imports and context.</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https://www.django-rest-framework.org/api-guide/serializers/</a:t>
            </a:r>
          </a:p>
          <a:p>
            <a:r>
              <a:t>https://www.django-rest-framework.org/api-guide/validators/</a:t>
            </a:r>
          </a:p>
          <a:p>
            <a:r>
              <a:t>https://docs.djangoproject.com/en/5.2/ref/models/constraints/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second REST resource: useful notes</a:t>
            </a:r>
          </a:p>
          <a:p>
            <a:endParaRPr/>
          </a:p>
          <a:p>
            <a:r>
              <a:t>Use the existing viewsets, permissions, TokenAuthentication and SessionAuthentication imports in tasks/api.py. The full code explicitly configures the same token-first authentication as tasks. Its display excerpt omits the attribute values for space. Register EntryViewSet in config/urls.py before accessing router.urls. Standard retrieve/update/delete actions also use the scoped queryset. POST accepts key and value, while the serializer receives owner from the request; perform_create makes that assignment explicit. The example collection is not paginated unless pagination is configured on EntryViewSet. In Postman test create, duplicate own key, another user with the same key, other-owner detail denial, and PATCH value. Use ordinary fictional notes. This is REST CRUD for Entry, not a claim that the illustrated HTML Entry screen has been fully implemented.</a:t>
            </a:r>
          </a:p>
          <a:p>
            <a:endParaRPr/>
          </a:p>
          <a:p>
            <a:r>
              <a:t>Complete code excerpt:</a:t>
            </a:r>
          </a:p>
          <a:p>
            <a:r>
              <a:t>from .models import Entry</a:t>
            </a:r>
          </a:p>
          <a:p>
            <a:r>
              <a:t>from .serializers import EntrySerializer</a:t>
            </a:r>
          </a:p>
          <a:p>
            <a:endParaRPr/>
          </a:p>
          <a:p>
            <a:r>
              <a:t>class EntryViewSet(viewsets.ModelViewSet):</a:t>
            </a:r>
          </a:p>
          <a:p>
            <a:r>
              <a:t>    serializer_class = EntrySerializer</a:t>
            </a:r>
          </a:p>
          <a:p>
            <a:r>
              <a:t>    permission_classes = [permissions.IsAuthenticated]</a:t>
            </a:r>
          </a:p>
          <a:p>
            <a:r>
              <a:t>    authentication_classes = [</a:t>
            </a:r>
          </a:p>
          <a:p>
            <a:r>
              <a:t>        TokenAuthentication, SessionAuthentication,</a:t>
            </a:r>
          </a:p>
          <a:p>
            <a:r>
              <a:t>    ]</a:t>
            </a:r>
          </a:p>
          <a:p>
            <a:endParaRPr/>
          </a:p>
          <a:p>
            <a:r>
              <a:t>    def get_queryset(self):</a:t>
            </a:r>
          </a:p>
          <a:p>
            <a:r>
              <a:t>        return Entry.objects.filter(</a:t>
            </a:r>
          </a:p>
          <a:p>
            <a:r>
              <a:t>            owner=self.request.user</a:t>
            </a:r>
          </a:p>
          <a:p>
            <a:r>
              <a:t>        ).order_by("key", "id")</a:t>
            </a:r>
          </a:p>
          <a:p>
            <a:endParaRPr/>
          </a:p>
          <a:p>
            <a:r>
              <a:t>    def perform_create(self, serializer):</a:t>
            </a:r>
          </a:p>
          <a:p>
            <a:r>
              <a:t>        serializer.save(owner=self.request.user)</a:t>
            </a:r>
          </a:p>
          <a:p>
            <a:endParaRPr/>
          </a:p>
          <a:p>
            <a:r>
              <a:t># config/urls.py: before include(router.urls)</a:t>
            </a:r>
          </a:p>
          <a:p>
            <a:r>
              <a:t># from tasks.api import EntryViewSet</a:t>
            </a:r>
          </a:p>
          <a:p>
            <a:r>
              <a:t>router.register("entries", EntryViewSet, basename="entry")</a:t>
            </a:r>
          </a:p>
          <a:p>
            <a:endParaRPr/>
          </a:p>
          <a:p>
            <a:r>
              <a:t>The visible code is a teaching excerpt. The complete version above includes surrounding imports and context.</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https://www.django-rest-framework.org/api-guide/viewsets/</a:t>
            </a:r>
          </a:p>
          <a:p>
            <a:r>
              <a:t>https://www.django-rest-framework.org/api-guide/routers/</a:t>
            </a:r>
          </a:p>
          <a:p>
            <a:r>
              <a:t>https://www.django-rest-framework.org/api-guide/permissions/</a:t>
            </a:r>
          </a:p>
          <a:p>
            <a:r>
              <a:t>https://www.django-rest-framework.org/api-guide/authentication/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repository without local secrets</a:t>
            </a:r>
          </a:p>
          <a:p>
            <a:endParaRPr/>
          </a:p>
          <a:p>
            <a:r>
              <a:t>Ignoring a file does not remove it from existing Git history. If a secret is committed, rotate the secret and follow the repository’s history-cleanup procedure. Do not demonstrate by exposing a real key. Static source CSS belongs in Git; collectstatic output does not. The user-facing sample data must not include real learner information.</a:t>
            </a:r>
          </a:p>
          <a:p>
            <a:endParaRPr/>
          </a:p>
          <a:p>
            <a:r>
              <a:t>Complete code excerpt:</a:t>
            </a:r>
          </a:p>
          <a:p>
            <a:r>
              <a:t>.venv/</a:t>
            </a:r>
          </a:p>
          <a:p>
            <a:r>
              <a:t>__pycache__/</a:t>
            </a:r>
          </a:p>
          <a:p>
            <a:r>
              <a:t>*.py[cod]</a:t>
            </a:r>
          </a:p>
          <a:p>
            <a:r>
              <a:t>.env</a:t>
            </a:r>
          </a:p>
          <a:p>
            <a:r>
              <a:t>.env.*</a:t>
            </a:r>
          </a:p>
          <a:p>
            <a:r>
              <a:t>!.env.example</a:t>
            </a:r>
          </a:p>
          <a:p>
            <a:r>
              <a:t>db.sqlite3</a:t>
            </a:r>
          </a:p>
          <a:p>
            <a:r>
              <a:t>staticfiles/</a:t>
            </a:r>
          </a:p>
          <a:p>
            <a:r>
              <a:t>.vercel/</a:t>
            </a:r>
          </a:p>
          <a:p>
            <a:endParaRPr/>
          </a:p>
          <a:p>
            <a:r>
              <a:t># Keep source and migration files in Git.</a:t>
            </a:r>
          </a:p>
          <a:p>
            <a:r>
              <a:t># .env.example contains names and placeholders only.</a:t>
            </a:r>
          </a:p>
          <a:p>
            <a:endParaRPr/>
          </a:p>
          <a:p>
            <a:r>
              <a:t>Revision mapping: original slide 52.</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https://git-scm.com/docs/gittutorial</a:t>
            </a:r>
          </a:p>
          <a:p>
            <a:r>
              <a:t>https://git-scm.com/docs/gitignore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Git and GitHub workflow</a:t>
            </a:r>
          </a:p>
          <a:p>
            <a:endParaRPr/>
          </a:p>
          <a:p>
            <a:r>
              <a:t>These commands describe the classroom workflow, not an instruction that an existing repository must be reinitialized or repointed. Replace the angle-bracket placeholder with the learner’s own empty repository URL, without the brackets. Authenticate through the current GitHub-supported method. Commit dependency files after testing the workshop environment. Do not commit credentials or local tokens.</a:t>
            </a:r>
          </a:p>
          <a:p>
            <a:endParaRPr/>
          </a:p>
          <a:p>
            <a:r>
              <a:t>Complete code excerpt:</a:t>
            </a:r>
          </a:p>
          <a:p>
            <a:r>
              <a:t>git init</a:t>
            </a:r>
          </a:p>
          <a:p>
            <a:r>
              <a:t>git status</a:t>
            </a:r>
          </a:p>
          <a:p>
            <a:r>
              <a:t>git add .</a:t>
            </a:r>
          </a:p>
          <a:p>
            <a:r>
              <a:t>git diff --staged</a:t>
            </a:r>
          </a:p>
          <a:p>
            <a:r>
              <a:t>git commit -m "Add validated task CRUD"</a:t>
            </a:r>
          </a:p>
          <a:p>
            <a:r>
              <a:t>git branch -M main</a:t>
            </a:r>
          </a:p>
          <a:p>
            <a:r>
              <a:t>git remote add origin &lt;YOUR_GITHUB_REPOSITORY_URL&gt;</a:t>
            </a:r>
          </a:p>
          <a:p>
            <a:r>
              <a:t>git push -u origin main</a:t>
            </a:r>
          </a:p>
          <a:p>
            <a:endParaRPr/>
          </a:p>
          <a:p>
            <a:r>
              <a:t>Revision mapping: original slide 53.</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https://git-scm.com/docs/gittutorial</a:t>
            </a:r>
          </a:p>
          <a:p>
            <a:r>
              <a:t>https://docs.github.com/en/get-started/importing-your-projects-to-github/adding-locally-hosted-code-to-github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small feature branch</a:t>
            </a:r>
          </a:p>
          <a:p>
            <a:endParaRPr/>
          </a:p>
          <a:p>
            <a:r>
              <a:t>Demonstrate a small diff rather than a huge final upload. Learners can use a pull request to explain a feature and its tests. Avoid destructive reset commands in introductory exercises. If working alone, the review habit still helps detect accidental secrets and unrelated changes.</a:t>
            </a:r>
          </a:p>
          <a:p>
            <a:endParaRPr/>
          </a:p>
          <a:p>
            <a:r>
              <a:t>Complete code excerpt:</a:t>
            </a:r>
          </a:p>
          <a:p>
            <a:r>
              <a:t>git switch -c feature/task-status-filter</a:t>
            </a:r>
          </a:p>
          <a:p>
            <a:endParaRPr/>
          </a:p>
          <a:p>
            <a:r>
              <a:t># Implement and test Open / Done filtering</a:t>
            </a:r>
          </a:p>
          <a:p>
            <a:r>
              <a:t>python manage.py test</a:t>
            </a:r>
          </a:p>
          <a:p>
            <a:r>
              <a:t>git add tasks/</a:t>
            </a:r>
          </a:p>
          <a:p>
            <a:r>
              <a:t>git diff --staged</a:t>
            </a:r>
          </a:p>
          <a:p>
            <a:r>
              <a:t>git commit -m "Add task status filter"</a:t>
            </a:r>
          </a:p>
          <a:p>
            <a:r>
              <a:t>git push -u origin feature/task-status-filter</a:t>
            </a:r>
          </a:p>
          <a:p>
            <a:endParaRPr/>
          </a:p>
          <a:p>
            <a:r>
              <a:t># Open a pull request on GitHub.</a:t>
            </a:r>
          </a:p>
          <a:p>
            <a:endParaRPr/>
          </a:p>
          <a:p>
            <a:r>
              <a:t>Revision mapping: original slide 54.</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https://git-scm.com/docs/gittutorial</a:t>
            </a:r>
          </a:p>
          <a:p>
            <a:r>
              <a:t>https://docs.github.com/en/pull-requests/collaborating-with-pull-requests/proposing-changes-to-your-work-with-pull-requests/about-pull-requests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Configuration for deployment</a:t>
            </a:r>
          </a:p>
          <a:p>
            <a:endParaRPr/>
          </a:p>
          <a:p>
            <a:r>
              <a:t>These are additions to the generated settings, not a full replacement. Once SECRET_KEY uses os.environ[], management commands require the variable. A .env file is not read automatically by Python or Django; export variables in the shell or use a deliberately configured loader. Set local DEBUG=True for HTTP development and local hosts localhost,127.0.0.1. Production uses DEBUG=False. ALLOWED_HOSTS contains hostnames without scheme. Configure CSRF_TRUSTED_ORIGINS with actual HTTPS origins only when required by the deployment. Verify proxy HTTPS behavior before adding SECURE_PROXY_SSL_HEADER or redirect settings.</a:t>
            </a:r>
          </a:p>
          <a:p>
            <a:endParaRPr/>
          </a:p>
          <a:p>
            <a:r>
              <a:t>Complete code excerpt:</a:t>
            </a:r>
          </a:p>
          <a:p>
            <a:r>
              <a:t>import os</a:t>
            </a:r>
          </a:p>
          <a:p>
            <a:endParaRPr/>
          </a:p>
          <a:p>
            <a:r>
              <a:t>SECRET_KEY = os.environ["DJANGO_SECRET_KEY"]</a:t>
            </a:r>
          </a:p>
          <a:p>
            <a:r>
              <a:t>DEBUG = os.environ.get("DEBUG", "False").lower() == "true"</a:t>
            </a:r>
          </a:p>
          <a:p>
            <a:r>
              <a:t>ALLOWED_HOSTS = [</a:t>
            </a:r>
          </a:p>
          <a:p>
            <a:r>
              <a:t>    h.strip() for h in</a:t>
            </a:r>
          </a:p>
          <a:p>
            <a:r>
              <a:t>    os.environ["DJANGO_ALLOWED_HOSTS"].split(",")</a:t>
            </a:r>
          </a:p>
          <a:p>
            <a:r>
              <a:t>    if h.strip()</a:t>
            </a:r>
          </a:p>
          <a:p>
            <a:r>
              <a:t>]</a:t>
            </a:r>
          </a:p>
          <a:p>
            <a:r>
              <a:t>STATIC_URL = "/static/"</a:t>
            </a:r>
          </a:p>
          <a:p>
            <a:r>
              <a:t>STATIC_ROOT = BASE_DIR / "staticfiles"</a:t>
            </a:r>
          </a:p>
          <a:p>
            <a:r>
              <a:t>SESSION_COOKIE_SECURE = not DEBUG</a:t>
            </a:r>
          </a:p>
          <a:p>
            <a:r>
              <a:t>CSRF_COOKIE_SECURE = not DEBUG</a:t>
            </a:r>
          </a:p>
          <a:p>
            <a:endParaRPr/>
          </a:p>
          <a:p>
            <a:r>
              <a:t>The visible code is a teaching excerpt. The complete version above includes surrounding imports and context.</a:t>
            </a:r>
          </a:p>
          <a:p>
            <a:endParaRPr/>
          </a:p>
          <a:p>
            <a:r>
              <a:t>Revision mapping: original slide 55.</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https://docs.djangoproject.com/en/5.2/howto/deployment/checklist/</a:t>
            </a:r>
          </a:p>
          <a:p>
            <a:r>
              <a:t>https://vercel.com/docs/frameworks/full-stack/django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Persistent PostgreSQL data</a:t>
            </a:r>
          </a:p>
          <a:p>
            <a:endParaRPr/>
          </a:p>
          <a:p>
            <a:r>
              <a:t>The production database excerpt replaces the default SQLite DATABASES configuration in production. Keep a documented local configuration or use a local PostgreSQL database when rehearsing deployment. Local SQLite data does not automatically move to PostgreSQL. Install a supported PostgreSQL driver and pin tested dependencies. conn_max_age=0 is a conservative workshop setting; pooling depends on provider/runtime behavior. Keep the connection string secret. Database migrations must target the intended environment.</a:t>
            </a:r>
          </a:p>
          <a:p>
            <a:endParaRPr/>
          </a:p>
          <a:p>
            <a:r>
              <a:t>Complete code excerpt:</a:t>
            </a:r>
          </a:p>
          <a:p>
            <a:r>
              <a:t>import dj_database_url</a:t>
            </a:r>
          </a:p>
          <a:p>
            <a:endParaRPr/>
          </a:p>
          <a:p>
            <a:r>
              <a:t>DATABASES = {</a:t>
            </a:r>
          </a:p>
          <a:p>
            <a:r>
              <a:t>    "default": dj_database_url.parse(</a:t>
            </a:r>
          </a:p>
          <a:p>
            <a:r>
              <a:t>        os.environ["DATABASE_URL"],</a:t>
            </a:r>
          </a:p>
          <a:p>
            <a:r>
              <a:t>        conn_max_age=0,</a:t>
            </a:r>
          </a:p>
          <a:p>
            <a:r>
              <a:t>    )</a:t>
            </a:r>
          </a:p>
          <a:p>
            <a:r>
              <a:t>}</a:t>
            </a:r>
          </a:p>
          <a:p>
            <a:endParaRPr/>
          </a:p>
          <a:p>
            <a:r>
              <a:t># Install into the active environment</a:t>
            </a:r>
          </a:p>
          <a:p>
            <a:r>
              <a:t># python -m pip install "psycopg[binary]" dj-database-url</a:t>
            </a:r>
          </a:p>
          <a:p>
            <a:r>
              <a:t># python -m pip freeze &gt; requirements.txt</a:t>
            </a:r>
          </a:p>
          <a:p>
            <a:endParaRPr/>
          </a:p>
          <a:p>
            <a:r>
              <a:t>Revision mapping: original slide 56.</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https://github.com/jazzband/dj-database-url</a:t>
            </a:r>
          </a:p>
          <a:p>
            <a:r>
              <a:t>https://docs.djangoproject.com/en/5.2/howto/deployment/checklist/</a:t>
            </a:r>
          </a:p>
          <a:p>
            <a:r>
              <a:t>https://vercel.com/kb/guide/is-sqlite-supported-in-vercel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Production application architecture</a:t>
            </a:r>
          </a:p>
          <a:p>
            <a:endParaRPr/>
          </a:p>
          <a:p>
            <a:r>
              <a:t>GitHub provides source code. Vercel hosts the Django application and serves collected static assets through its CDN. An external PostgreSQL service stores persistent records. Uploaded media needs suitable persistent object storage. This is a conceptual deployment diagram, not a live deployment or a statement of platform pricing. Generated illustration.</a:t>
            </a:r>
          </a:p>
          <a:p>
            <a:endParaRPr/>
          </a:p>
          <a:p>
            <a:r>
              <a:t>Revision mapping: original slide 57.</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https://vercel.com/docs/frameworks/full-stack/django</a:t>
            </a:r>
          </a:p>
          <a:p>
            <a:r>
              <a:t>https://vercel.com/kb/guide/is-sqlite-supported-in-vercel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Django deployment on Vercel</a:t>
            </a:r>
          </a:p>
          <a:p>
            <a:endParaRPr/>
          </a:p>
          <a:p>
            <a:r>
              <a:t>Current official Vercel documentation supports zero-configuration Django detection. It reads WSGI_APPLICATION or ASGI_APPLICATION and uses ASGI when both are configured. For a standard project retain WSGI_APPLICATION="config.wsgi.application". No legacy /api wrapper or redirect-based vercel.json boilerplate is needed. STATIC_ROOT enables automatic collectstatic and CDN serving. The chosen .python-version must be supported by Vercel and compatible with the project. This is an industry extension recommended by the supplied session plan, not an independently verified GTU requirement.</a:t>
            </a:r>
          </a:p>
          <a:p>
            <a:endParaRPr/>
          </a:p>
          <a:p>
            <a:r>
              <a:t>Revision mapping: original slide 58.</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https://vercel.com/docs/frameworks/full-stack/django</a:t>
            </a:r>
          </a:p>
          <a:p>
            <a:r>
              <a:t>https://vercel.com/docs/functions/runtimes/python</a:t>
            </a:r>
          </a:p>
          <a:p>
            <a:r>
              <a:t>https://vercel.com/changelog/zero-configuration-django-support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controlled database release step</a:t>
            </a:r>
          </a:p>
          <a:p>
            <a:endParaRPr/>
          </a:p>
          <a:p>
            <a:r>
              <a:t>Prerequisite: install a supported Node.js/npm version for the Vercel CLI. Commands use the current Vercel CLI. The multiline continuation syntax is for macOS/Linux shells; enter each command on one line in other shells. vercel env run injects the selected environment variables into the command. Run in the active Python environment with project dependencies installed and database network access. A fresh PostgreSQL database has no local users or API tokens. Create the intended production test account using a controlled command, such as vercel env run -e production -- python manage.py createsuperuser, then generate the appropriate test token if using TokenAuthentication. Local users and tokens do not transfer automatically. Production migrations require a backup/rollback and compatible release plan for established systems. The instructional sequence does not imply that arbitrary destructive migrations are safe. Do not run production migrations on every preview build.</a:t>
            </a:r>
          </a:p>
          <a:p>
            <a:endParaRPr/>
          </a:p>
          <a:p>
            <a:r>
              <a:t>Complete code excerpt:</a:t>
            </a:r>
          </a:p>
          <a:p>
            <a:r>
              <a:t>npm install --global vercel@latest</a:t>
            </a:r>
          </a:p>
          <a:p>
            <a:r>
              <a:t>vercel login</a:t>
            </a:r>
          </a:p>
          <a:p>
            <a:r>
              <a:t>vercel link</a:t>
            </a:r>
          </a:p>
          <a:p>
            <a:endParaRPr/>
          </a:p>
          <a:p>
            <a:r>
              <a:t>vercel env run -e production -- \</a:t>
            </a:r>
          </a:p>
          <a:p>
            <a:r>
              <a:t>  python manage.py migrate --noinput</a:t>
            </a:r>
          </a:p>
          <a:p>
            <a:endParaRPr/>
          </a:p>
          <a:p>
            <a:r>
              <a:t>vercel env run -e production -- \</a:t>
            </a:r>
          </a:p>
          <a:p>
            <a:r>
              <a:t>  python manage.py check --deploy</a:t>
            </a:r>
          </a:p>
          <a:p>
            <a:endParaRPr/>
          </a:p>
          <a:p>
            <a:r>
              <a:t># Deploy through Git integration or the CLI</a:t>
            </a:r>
          </a:p>
          <a:p>
            <a:r>
              <a:t>vercel --prod</a:t>
            </a:r>
          </a:p>
          <a:p>
            <a:endParaRPr/>
          </a:p>
          <a:p>
            <a:r>
              <a:t>Revision mapping: original slide 59.</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https://vercel.com/docs/cli/env</a:t>
            </a:r>
          </a:p>
          <a:p>
            <a:r>
              <a:t>https://docs.djangoproject.com/en/5.2/howto/deployment/checklist/</a:t>
            </a:r>
          </a:p>
          <a:p>
            <a:r>
              <a:t>https://vercel.com/docs/cli/link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Production smoke tests</a:t>
            </a:r>
          </a:p>
          <a:p>
            <a:endParaRPr/>
          </a:p>
          <a:p>
            <a:r>
              <a:t>Re-test the actual public URL, not only localhost. For Postman, change base_url and the environment-specific test token together. Fresh PostgreSQL has no local accounts or tokens, so create the intended test account there before checking login or API access. Confirm CSRF behavior, hostnames, database migrations and static assets. Inspect logs for an induced harmless 404 and for unexpected server errors. Do not expose detailed debug pages publicly. Keep uploaded media outside ephemeral function storage. Long-running jobs need an appropriate background-work design.</a:t>
            </a:r>
          </a:p>
          <a:p>
            <a:endParaRPr/>
          </a:p>
          <a:p>
            <a:r>
              <a:t>Revision mapping: original slide 60.</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https://docs.djangoproject.com/en/5.2/howto/deployment/checklist/</a:t>
            </a:r>
          </a:p>
          <a:p>
            <a:r>
              <a:t>https://vercel.com/docs/frameworks/full-stack/django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Common errors and the next check</a:t>
            </a:r>
          </a:p>
          <a:p>
            <a:endParaRPr/>
          </a:p>
          <a:p>
            <a:r>
              <a:t>Use this as an audience troubleshooting exercise. These are common starting points, not guaranteed diagnoses. Do not fix a CSRF error by globally disabling CSRF. Do not set DEBUG=True on the public deployment to investigate. Review controlled logs and reproduce safely. For module import errors verify dependencies, working directory and Python version.</a:t>
            </a:r>
          </a:p>
          <a:p>
            <a:endParaRPr/>
          </a:p>
          <a:p>
            <a:r>
              <a:t>Revision mapping: original slide 61.</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https://docs.djangoproject.com/en/5.2/howto/deployment/checklist/</a:t>
            </a:r>
          </a:p>
          <a:p>
            <a:r>
              <a:t>https://docs.djangoproject.com/en/5.2/ref/templates/language/</a:t>
            </a:r>
          </a:p>
          <a:p>
            <a:r>
              <a:t>https://docs.djangoproject.com/en/5.2/topics/security/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makes PocketDesk a web application</a:t>
            </a:r>
          </a:p>
          <a:p>
            <a:endParaRPr/>
          </a:p>
          <a:p>
            <a:r>
              <a:t>Modern does not require a particular JavaScript framework. Django templates can provide an effective web application. Add a separate frontend, asynchronous interactions, caching, background tasks or real-time features when a requirement justifies them. Measure performance before choosing optimizations. This is instructional synthesis based on the completed application.</a:t>
            </a:r>
          </a:p>
          <a:p>
            <a:endParaRPr/>
          </a:p>
          <a:p>
            <a:r>
              <a:t>Revision mapping: original slide 62.</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https://docs.djangoproject.com/en/5.2/howto/deployment/checklist/</a:t>
            </a:r>
          </a:p>
          <a:p>
            <a:r>
              <a:t>https://docs.djangoproject.com/en/5.2/topics/testing/tools/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lab: your own useful feature</a:t>
            </a:r>
          </a:p>
          <a:p>
            <a:endParaRPr/>
          </a:p>
          <a:p>
            <a:r>
              <a:t>Use the supplied practical evidence approach with PocketDesk. Ask learners to explain the request lifecycle, form/API validation and ownership checks. A minimal status filter accepts only open, done or all; it preserves existing search and pagination. For Entry test duplicate keys within one account, the same key across different accounts and another owner’s id. Commit the code and migrations, review the changes, deploy to the intended environment and verify persistence. Keep actual secrets out of the sample notes.</a:t>
            </a:r>
          </a:p>
          <a:p>
            <a:endParaRPr/>
          </a:p>
          <a:p>
            <a:r>
              <a:t>Revision mapping: original slide 64.</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Session Content Document.docx</a:t>
            </a:r>
          </a:p>
          <a:p>
            <a:r>
              <a:t>https://docs.djangoproject.com/en/5.2/topics/testing/tools/</a:t>
            </a:r>
          </a:p>
          <a:p>
            <a:r>
              <a:t>https://www.django-rest-framework.org/api-guide/permissions/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PocketDesk, end to end</a:t>
            </a:r>
          </a:p>
          <a:p>
            <a:endParaRPr/>
          </a:p>
          <a:p>
            <a:r>
              <a:t>Return to the login question and ask learners to explain why Asha sees Asha’s tasks. Ask which layer changes to add a field, restyle a page or protect a record. Invite one next feature: due dates, tags or a note-search endpoint. Add complexity only after the current workflow is working and tested. Source: the supplied practical teaching approach applied to PocketDesk.</a:t>
            </a:r>
          </a:p>
          <a:p>
            <a:endParaRPr/>
          </a:p>
          <a:p>
            <a:r>
              <a:t>Revision mapping: original slide 65.</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Session Content Document.docx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Documentation for the next practical</a:t>
            </a:r>
          </a:p>
          <a:p>
            <a:endParaRPr/>
          </a:p>
          <a:p>
            <a:r>
              <a:t>These links are official technical references, except where a package maintainer source is cited separately in relevant notes. Consult the version matching the installed framework. Teaching baseline: Django 5.2 LTS, Python 3.13. Platform behavior checked against current official Vercel documentation in September 2026. Source URLs throughout the deck are in the corresponding speaker notes.</a:t>
            </a:r>
          </a:p>
          <a:p>
            <a:endParaRPr/>
          </a:p>
          <a:p>
            <a:r>
              <a:t>Revision mapping: original slide 66.</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https://docs.djangoproject.com/en/5.2/intro/tutorial01/</a:t>
            </a:r>
          </a:p>
          <a:p>
            <a:r>
              <a:t>https://docs.djangoproject.com/en/5.2/topics/db/models/</a:t>
            </a:r>
          </a:p>
          <a:p>
            <a:r>
              <a:t>https://docs.djangoproject.com/en/5.2/topics/forms/modelforms/</a:t>
            </a:r>
          </a:p>
          <a:p>
            <a:r>
              <a:t>https://www.django-rest-framework.org/</a:t>
            </a:r>
          </a:p>
          <a:p>
            <a:r>
              <a:t>https://docs.djangoproject.com/en/5.2/howto/deployment/checklist/</a:t>
            </a:r>
          </a:p>
          <a:p>
            <a:r>
              <a:t>https://vercel.com/docs/frameworks/full-stack/django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behind the teaching sequence</a:t>
            </a:r>
          </a:p>
          <a:p>
            <a:endParaRPr/>
          </a:p>
          <a:p>
            <a:r>
              <a:t>Supplied files: Topic Flow.jpg and Session Content Document.docx. The original GTU syllabus cited inside the session document was not attached, so the deck follows the supplied teaching plan without claiming independent syllabus verification. Presenter details are user supplied. Reference decks inform topic selection and historical context; technical examples are newly written with current Django syntax. Generated illustrations serve as conceptual teaching graphics, not product screenshots. The revised PocketDesk TODO and key/value notes domain follows the presenter’s later instructions while preserving the supplied topic sequence. Its screenshots are illustrative teaching interfaces. Technical behavior and complete code excerpts are explained in the relevant notes.</a:t>
            </a:r>
          </a:p>
          <a:p>
            <a:endParaRPr/>
          </a:p>
          <a:p>
            <a:r>
              <a:t>Revision mapping: original slide 67.</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Topic Flow.jpg</a:t>
            </a:r>
          </a:p>
          <a:p>
            <a:r>
              <a:t>Session Content Document.docx</a:t>
            </a:r>
          </a:p>
          <a:p>
            <a:r>
              <a:t>https://www.slideshare.net/slideshow/introduction-to-django-framework/250578492</a:t>
            </a:r>
          </a:p>
          <a:p>
            <a:r>
              <a:t>https://www.slideshare.net/slideshow/web-development-with-python-and-django/15979401</a:t>
            </a:r>
          </a:p>
          <a:p>
            <a:r>
              <a:t>https://www.slideshare.net/slideshow/introduction-to-django/2109905</a:t>
            </a:r>
          </a:p>
          <a:p>
            <a:r>
              <a:t>https://www.scribd.com/presentation/637335937/Django-powerpoint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will you build next?</a:t>
            </a:r>
          </a:p>
          <a:p>
            <a:endParaRPr/>
          </a:p>
          <a:p>
            <a:r>
              <a:t>Invite questions about concepts, implementation and deployment. Contact details supplied by Bhavya Shah: shahbhavya5800@gmail.com, 9106724858, https://www.linkedin.com/in/shahbhavyak/. Close by asking learners to explain one feature they would add to PocketDesk and which layer would change.</a:t>
            </a:r>
          </a:p>
          <a:p>
            <a:endParaRPr/>
          </a:p>
          <a:p>
            <a:r>
              <a:t>Revision mapping: original slide 68.</a:t>
            </a:r>
          </a:p>
          <a:p>
            <a:endParaRPr/>
          </a:p>
          <a:p>
            <a:r>
              <a:t>TEACHING: Ask learners to predict the result before revealing the next explanation. Use the click sequence where available.</a:t>
            </a:r>
          </a:p>
          <a:p>
            <a:endParaRPr/>
          </a:p>
          <a:p>
            <a:r>
              <a:t>SCREENSHOTS: PocketDesk screens are purpose-built teaching mockups using fictional Asha records; illustrative expected results, not captured live execution.</a:t>
            </a:r>
          </a:p>
          <a:p>
            <a:endParaRPr/>
          </a:p>
          <a:p>
            <a:r>
              <a:t>Sources</a:t>
            </a:r>
          </a:p>
          <a:p>
            <a:r>
              <a:t>User-provided contact information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companion turns the teaching examples into a runnable repository. Open pocketdesk/README.md first. The code adds a separate entries app, real saved-note pages, timestamps, uniform pagination, normalized keys and production safeguards. The core workshop remains a progression of small teaching excerpts. The project has not been deployed to a public Vercel account. Do not put secrets into note values.</a:t>
            </a:r>
          </a:p>
          <a:p>
            <a:endParaRPr/>
          </a:p>
          <a:p>
            <a:r>
              <a:t>Source of truth: pocketdesk/README.md and the Python project delivered with this presentation. Screenshots in this appendix are captured from the running local Django app with fictional demonstration data. They do not claim a live Vercel deployment. The earlier 70 slides retain their original teaching excerpts and illustrative screenshots.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Within tasks and entries, models.py defines persisted fields, forms.py validates HTML input, views.py handles browser requests, serializers.py validates JSON, api.py defines REST actions, urls.py defines HTML routes, migrations/ versions schema, and tests cover observable behavior. Entry lives in a separate app here instead of sharing tasks/models.py as in the minimal workshop excerpt. The actual project uses root-level templates/. See docs/TEACHING_MAP.md for slide-to-file mappings.</a:t>
            </a:r>
          </a:p>
          <a:p>
            <a:endParaRPr/>
          </a:p>
          <a:p>
            <a:r>
              <a:t>Source of truth: pocketdesk/README.md and the Python project delivered with this presentation. Screenshots in this appendix are captured from the running local Django app with fictional demonstration data. They do not claim a live Vercel deployment. The earlier 70 slides retain their original teaching excerpts and illustrative screenshots.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Prerequisite Python 3.13. On Windows use py -3.13 -m venv .venv and .venv\Scripts\Activate.ps1. The initializer creates a private local .env and preserves an existing file. The application starts empty. Optional seed_demo creates fictional local data only when DEBUG=True and needs an explicitly supplied password. Do not run startproject again inside the delivered repository. The repo already contains its models and migrations. SQLite is for local learning only. Never use runserver as the Vercel production entrypoint.</a:t>
            </a:r>
          </a:p>
          <a:p>
            <a:endParaRPr/>
          </a:p>
          <a:p>
            <a:r>
              <a:t>Source of truth: pocketdesk/README.md and the Python project delivered with this presentation. Screenshots in this appendix are captured from the running local Django app with fictional demonstration data. They do not claim a live Vercel deployment. The earlier 70 slides retain their original teaching excerpts and illustrative screenshots.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browser and API both store Entry rows. Each key is normalized to lowercase, with 1–80 ASCII letters, digits, underscores or hyphens. Values contain 1–5,000 characters after trimming. The composite owner/key uniqueness constraint protects integrity and concurrent duplicate writes return a validation error. Two users may both own course_link. To update a value use PATCH /api/entries/&lt;actual-id&gt;/. This is not a password manager and does not encrypt values end to end. The line break before ?key is for slide readability, not part of the actual URL.</a:t>
            </a:r>
          </a:p>
          <a:p>
            <a:endParaRPr/>
          </a:p>
          <a:p>
            <a:r>
              <a:t>Source of truth: pocketdesk/README.md and the Python project delivered with this presentation. Screenshots in this appendix are captured from the running local Django app with fictional demonstration data. They do not claim a live Vercel deployment. The earlier 70 slides retain their original teaching excerpts and illustrative screenshots.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TokenAuthentication followed by SessionAuthentication, as in the workshop. Tokens are provisioned through the management command rather than a public password-to-token endpoint. Never project or commit the token printed by the command. Use HTTPS outside localhost. Browser sessions require CSRF on unsafe requests. DRF simple tokens do not expire automatically; use drf_create_token --reset username to rotate, or remove a token in admin to revoke. README and docs/API.md describe the full contract. IDs and timestamps are assigned at runtime.</a:t>
            </a:r>
          </a:p>
          <a:p>
            <a:endParaRPr/>
          </a:p>
          <a:p>
            <a:r>
              <a:t>Source of truth: pocketdesk/README.md and the Python project delivered with this presentation. Screenshots in this appendix are captured from the running local Django app with fictional demonstration data. They do not claim a live Vercel deployment. The earlier 70 slides retain their original teaching excerpts and illustrative screenshots.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Set real values in Vercel environment settings, separately for Preview and Production. Do not put secrets into this slide or commit a .env file. Verify the exact names in .env.example and config/settings.py. Vercel discovers manage.py and the WSGI entrypoint and automatically runs collectstatic when STATIC_ROOT is set. Do not store production state in SQLite, local files or process memory. Use separate preview and production databases and a provider pooled URL for runtime traffic. Sources: https://vercel.com/docs/frameworks/full-stack/django and https://vercel.com/docs/functions/runtimes/python . Checked 30 September 2026.</a:t>
            </a:r>
          </a:p>
          <a:p>
            <a:endParaRPr/>
          </a:p>
          <a:p>
            <a:r>
              <a:t>Source of truth: pocketdesk/README.md and the Python project delivered with this presentation. Screenshots in this appendix are captured from the running local Django app with fictional demonstration data. They do not claim a live Vercel deployment. The earlier 70 slides retain their original teaching excerpts and illustrative screenshots.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docs/VERCEL.md, not a screenshot of another account. For a first launch, configure the project and database, run migrate deliberately through vercel env run -e production -- python manage.py migrate, then deploy production and provision an intended account. For updates, take backups and use backward-compatible schema changes so existing workers remain valid during rollout. Use a direct database endpoint for DDL if required by your provider. Vercel CLI login, project creation, DB provisioning and publication require your account and decisions; this delivered project does not perform them. Source: https://vercel.com/docs/cli/env .</a:t>
            </a:r>
          </a:p>
          <a:p>
            <a:endParaRPr/>
          </a:p>
          <a:p>
            <a:r>
              <a:t>Source of truth: pocketdesk/README.md and the Python project delivered with this presentation. Screenshots in this appendix are captured from the running local Django app with fictional demonstration data. They do not claim a live Vercel deployment. The earlier 70 slides retain their original teaching excerpts and illustrative screenshots.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disposable local demo records and two separate accounts. Show an invalid title such as Go returning a validation error without creating a task. Then create a valid task, obtain a local test token privately, change completed with the API, and refresh the browser. Attempt to fetch the task as another user and observe 404. Run local tests and repeat the staging smoke checklist against PostgreSQL before production use. Automated local checks do not prove a successful public deployment. See docs/VERIFICATION.md for actual completed checks and environmental limits.</a:t>
            </a:r>
          </a:p>
          <a:p>
            <a:endParaRPr/>
          </a:p>
          <a:p>
            <a:r>
              <a:t>Source of truth: pocketdesk/README.md and the Python project delivered with this presentation. Screenshots in this appendix are captured from the running local Django app with fictional demonstration data. They do not claim a live Vercel deployment. The earlier 70 slides retain their original teaching excerpts and illustrative screenshots.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8" Type="http://schemas.openxmlformats.org/officeDocument/2006/relationships/hyperlink" Target="https://vercel.com/docs/frameworks/full-stack/django" TargetMode="External"/><Relationship Id="rId3" Type="http://schemas.openxmlformats.org/officeDocument/2006/relationships/hyperlink" Target="https://docs.djangoproject.com/en/5.2/intro/tutorial01/" TargetMode="External"/><Relationship Id="rId7" Type="http://schemas.openxmlformats.org/officeDocument/2006/relationships/hyperlink" Target="https://docs.djangoproject.com/en/5.2/howto/deployment/checklist/" TargetMode="External"/><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hyperlink" Target="https://www.django-rest-framework.org/" TargetMode="External"/><Relationship Id="rId5" Type="http://schemas.openxmlformats.org/officeDocument/2006/relationships/hyperlink" Target="https://docs.djangoproject.com/en/5.2/topics/forms/modelforms/" TargetMode="External"/><Relationship Id="rId4" Type="http://schemas.openxmlformats.org/officeDocument/2006/relationships/hyperlink" Target="https://docs.djangoproject.com/en/5.2/topics/db/models/" TargetMode="Externa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hyperlink" Target="mailto:shahbhavya5800@gmail.com" TargetMode="External"/><Relationship Id="rId2" Type="http://schemas.openxmlformats.org/officeDocument/2006/relationships/notesSlide" Target="../notesSlides/notesSlide70.xml"/><Relationship Id="rId1" Type="http://schemas.openxmlformats.org/officeDocument/2006/relationships/slideLayout" Target="../slideLayouts/slideLayout1.xml"/><Relationship Id="rId5" Type="http://schemas.openxmlformats.org/officeDocument/2006/relationships/hyperlink" Target="https://www.linkedin.com/in/shahbhavyak/" TargetMode="External"/><Relationship Id="rId4" Type="http://schemas.openxmlformats.org/officeDocument/2006/relationships/hyperlink" Target="tel:9106724858" TargetMode="External"/></Relationships>
</file>

<file path=ppt/slides/_rels/slide7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FCEC9034-25C7-4790-B74D-37388A902615}"/>
              </a:ext>
            </a:extLst>
          </p:cNvPr>
          <p:cNvSpPr>
            <a:spLocks noGrp="1"/>
          </p:cNvSpPr>
          <p:nvPr/>
        </p:nvSpPr>
        <p:spPr>
          <a:xfrm>
            <a:off x="685800" y="609600"/>
            <a:ext cx="11430000" cy="400050"/>
          </a:xfrm>
          <a:prstGeom prst="rect">
            <a:avLst/>
          </a:prstGeom>
          <a:noFill/>
          <a:ln w="0">
            <a:noFill/>
          </a:ln>
        </p:spPr>
        <p:txBody>
          <a:bodyPr wrap="none" lIns="0" tIns="0" rIns="0" bIns="0" anchor="t">
            <a:noAutofit/>
          </a:bodyPr>
          <a:lstStyle/>
          <a:p>
            <a:pPr algn="l">
              <a:defRPr sz="1650" b="1">
                <a:solidFill>
                  <a:srgbClr val="315BCD"/>
                </a:solidFill>
                <a:latin typeface="Helvetica Neue"/>
                <a:ea typeface="Helvetica Neue"/>
                <a:cs typeface="Helvetica Neue"/>
              </a:defRPr>
            </a:pPr>
            <a:r>
              <a:rPr sz="1650" b="1">
                <a:solidFill>
                  <a:srgbClr val="315BCD"/>
                </a:solidFill>
                <a:latin typeface="Helvetica Neue"/>
                <a:ea typeface="Helvetica Neue"/>
                <a:cs typeface="Helvetica Neue"/>
              </a:rPr>
              <a:t>A HANDS-ON DJANGO WORKSHOP</a:t>
            </a:r>
          </a:p>
        </p:txBody>
      </p:sp>
      <p:sp>
        <p:nvSpPr>
          <p:cNvPr id="2" name="text-1">
            <a:extLst>
              <a:ext uri="{FF2B5EF4-FFF2-40B4-BE49-F238E27FC236}">
                <a16:creationId xmlns:a16="http://schemas.microsoft.com/office/drawing/2014/main" id="{2DD47BEB-E6BF-402E-A96B-8534D02768AB}"/>
              </a:ext>
            </a:extLst>
          </p:cNvPr>
          <p:cNvSpPr>
            <a:spLocks noGrp="1"/>
          </p:cNvSpPr>
          <p:nvPr/>
        </p:nvSpPr>
        <p:spPr>
          <a:xfrm>
            <a:off x="685800" y="1657350"/>
            <a:ext cx="7429500" cy="2438400"/>
          </a:xfrm>
          <a:prstGeom prst="rect">
            <a:avLst/>
          </a:prstGeom>
          <a:noFill/>
          <a:ln w="0">
            <a:noFill/>
          </a:ln>
        </p:spPr>
        <p:txBody>
          <a:bodyPr wrap="none" lIns="0" tIns="0" rIns="0" bIns="0" anchor="t">
            <a:noAutofit/>
          </a:bodyPr>
          <a:lstStyle/>
          <a:p>
            <a:pPr algn="l">
              <a:defRPr sz="6750" b="0">
                <a:solidFill>
                  <a:srgbClr val="242C35"/>
                </a:solidFill>
                <a:latin typeface="Georgia"/>
                <a:ea typeface="Georgia"/>
                <a:cs typeface="Georgia"/>
              </a:defRPr>
            </a:pPr>
            <a:r>
              <a:rPr sz="6750" b="0">
                <a:solidFill>
                  <a:srgbClr val="242C35"/>
                </a:solidFill>
                <a:latin typeface="Georgia"/>
                <a:ea typeface="Georgia"/>
                <a:cs typeface="Georgia"/>
              </a:rPr>
              <a:t>Beyond</a:t>
            </a:r>
          </a:p>
          <a:p>
            <a:pPr algn="l">
              <a:defRPr sz="6750" b="0">
                <a:solidFill>
                  <a:srgbClr val="242C35"/>
                </a:solidFill>
                <a:latin typeface="Georgia"/>
                <a:ea typeface="Georgia"/>
                <a:cs typeface="Georgia"/>
              </a:defRPr>
            </a:pPr>
            <a:r>
              <a:rPr sz="6750" b="0">
                <a:solidFill>
                  <a:srgbClr val="242C35"/>
                </a:solidFill>
                <a:latin typeface="Georgia"/>
                <a:ea typeface="Georgia"/>
                <a:cs typeface="Georgia"/>
              </a:rPr>
              <a:t>Web Page</a:t>
            </a:r>
          </a:p>
        </p:txBody>
      </p:sp>
      <p:sp>
        <p:nvSpPr>
          <p:cNvPr id="3" name="text-2">
            <a:extLst>
              <a:ext uri="{FF2B5EF4-FFF2-40B4-BE49-F238E27FC236}">
                <a16:creationId xmlns:a16="http://schemas.microsoft.com/office/drawing/2014/main" id="{0A178969-0844-410D-BFF4-2D098545730A}"/>
              </a:ext>
            </a:extLst>
          </p:cNvPr>
          <p:cNvSpPr>
            <a:spLocks noGrp="1"/>
          </p:cNvSpPr>
          <p:nvPr/>
        </p:nvSpPr>
        <p:spPr>
          <a:xfrm>
            <a:off x="685800" y="4572000"/>
            <a:ext cx="7429500" cy="1381125"/>
          </a:xfrm>
          <a:prstGeom prst="rect">
            <a:avLst/>
          </a:prstGeom>
          <a:noFill/>
          <a:ln w="0">
            <a:noFill/>
          </a:ln>
        </p:spPr>
        <p:txBody>
          <a:bodyPr wrap="none" lIns="0" tIns="0" rIns="0" bIns="0" anchor="t">
            <a:noAutofit/>
          </a:bodyPr>
          <a:lstStyle/>
          <a:p>
            <a:pPr algn="l">
              <a:defRPr sz="3300" b="0">
                <a:solidFill>
                  <a:srgbClr val="65717A"/>
                </a:solidFill>
                <a:latin typeface="Helvetica Neue"/>
                <a:ea typeface="Helvetica Neue"/>
                <a:cs typeface="Helvetica Neue"/>
              </a:defRPr>
            </a:pPr>
            <a:r>
              <a:rPr sz="3300" b="0">
                <a:solidFill>
                  <a:srgbClr val="65717A"/>
                </a:solidFill>
                <a:latin typeface="Helvetica Neue"/>
                <a:ea typeface="Helvetica Neue"/>
                <a:cs typeface="Helvetica Neue"/>
              </a:rPr>
              <a:t>Build Modern Web</a:t>
            </a:r>
          </a:p>
          <a:p>
            <a:pPr algn="l">
              <a:defRPr sz="3300" b="0">
                <a:solidFill>
                  <a:srgbClr val="65717A"/>
                </a:solidFill>
                <a:latin typeface="Helvetica Neue"/>
                <a:ea typeface="Helvetica Neue"/>
                <a:cs typeface="Helvetica Neue"/>
              </a:defRPr>
            </a:pPr>
            <a:r>
              <a:rPr sz="3300" b="0">
                <a:solidFill>
                  <a:srgbClr val="65717A"/>
                </a:solidFill>
                <a:latin typeface="Helvetica Neue"/>
                <a:ea typeface="Helvetica Neue"/>
                <a:cs typeface="Helvetica Neue"/>
              </a:rPr>
              <a:t>Application with Django</a:t>
            </a:r>
          </a:p>
        </p:txBody>
      </p:sp>
      <p:pic>
        <p:nvPicPr>
          <p:cNvPr id="11" name="Picture 10"/>
          <p:cNvPicPr>
            <a:picLocks noChangeAspect="1"/>
          </p:cNvPicPr>
          <p:nvPr/>
        </p:nvPicPr>
        <p:blipFill>
          <a:blip r:embed="rId3"/>
          <a:stretch/>
        </p:blipFill>
        <p:spPr>
          <a:xfrm>
            <a:off x="8286750" y="2117494"/>
            <a:ext cx="6248400" cy="4089862"/>
          </a:xfrm>
          <a:prstGeom prst="rect">
            <a:avLst/>
          </a:prstGeom>
        </p:spPr>
      </p:pic>
      <p:sp>
        <p:nvSpPr>
          <p:cNvPr id="5" name="text-3">
            <a:extLst>
              <a:ext uri="{FF2B5EF4-FFF2-40B4-BE49-F238E27FC236}">
                <a16:creationId xmlns:a16="http://schemas.microsoft.com/office/drawing/2014/main" id="{E59340B4-F528-45C6-B526-69B2B9350BEF}"/>
              </a:ext>
            </a:extLst>
          </p:cNvPr>
          <p:cNvSpPr>
            <a:spLocks noGrp="1"/>
          </p:cNvSpPr>
          <p:nvPr/>
        </p:nvSpPr>
        <p:spPr>
          <a:xfrm>
            <a:off x="8420100" y="6477000"/>
            <a:ext cx="5905500" cy="866775"/>
          </a:xfrm>
          <a:prstGeom prst="rect">
            <a:avLst/>
          </a:prstGeom>
          <a:noFill/>
          <a:ln w="0">
            <a:noFill/>
          </a:ln>
        </p:spPr>
        <p:txBody>
          <a:bodyPr wrap="none" lIns="0" tIns="0" rIns="0" bIns="0" anchor="t">
            <a:noAutofit/>
          </a:bodyPr>
          <a:lstStyle/>
          <a:p>
            <a:pPr algn="l">
              <a:defRPr sz="2025" b="0">
                <a:solidFill>
                  <a:srgbClr val="D8663D"/>
                </a:solidFill>
                <a:latin typeface="Helvetica Neue"/>
                <a:ea typeface="Helvetica Neue"/>
                <a:cs typeface="Helvetica Neue"/>
              </a:defRPr>
            </a:pPr>
            <a:r>
              <a:rPr sz="2025" b="0">
                <a:solidFill>
                  <a:srgbClr val="D8663D"/>
                </a:solidFill>
                <a:latin typeface="Helvetica Neue"/>
                <a:ea typeface="Helvetica Neue"/>
                <a:cs typeface="Helvetica Neue"/>
              </a:rPr>
              <a:t>A personal TODO list. Saved notes. One REST API.</a:t>
            </a:r>
          </a:p>
        </p:txBody>
      </p:sp>
      <p:sp>
        <p:nvSpPr>
          <p:cNvPr id="6" name="text-4">
            <a:extLst>
              <a:ext uri="{FF2B5EF4-FFF2-40B4-BE49-F238E27FC236}">
                <a16:creationId xmlns:a16="http://schemas.microsoft.com/office/drawing/2014/main" id="{703A909E-873E-4B67-8919-C29AEED5A9AD}"/>
              </a:ext>
            </a:extLst>
          </p:cNvPr>
          <p:cNvSpPr>
            <a:spLocks noGrp="1"/>
          </p:cNvSpPr>
          <p:nvPr/>
        </p:nvSpPr>
        <p:spPr>
          <a:xfrm>
            <a:off x="685800" y="7200900"/>
            <a:ext cx="7143750" cy="457200"/>
          </a:xfrm>
          <a:prstGeom prst="rect">
            <a:avLst/>
          </a:prstGeom>
          <a:noFill/>
          <a:ln w="0">
            <a:noFill/>
          </a:ln>
        </p:spPr>
        <p:txBody>
          <a:bodyPr wrap="none" lIns="0" tIns="0" rIns="0" bIns="0" anchor="t">
            <a:noAutofit/>
          </a:bodyPr>
          <a:lstStyle/>
          <a:p>
            <a:pPr algn="l">
              <a:defRPr sz="2550" b="1">
                <a:solidFill>
                  <a:srgbClr val="242C35"/>
                </a:solidFill>
                <a:latin typeface="Helvetica Neue"/>
                <a:ea typeface="Helvetica Neue"/>
                <a:cs typeface="Helvetica Neue"/>
              </a:defRPr>
            </a:pPr>
            <a:r>
              <a:rPr sz="2550" b="1" dirty="0">
                <a:solidFill>
                  <a:srgbClr val="242C35"/>
                </a:solidFill>
                <a:latin typeface="Helvetica Neue"/>
                <a:ea typeface="Helvetica Neue"/>
                <a:cs typeface="Helvetica Neue"/>
              </a:rPr>
              <a:t>Bhavya Shah</a:t>
            </a:r>
          </a:p>
        </p:txBody>
      </p:sp>
    </p:spTree>
    <p:extLst>
      <p:ext uri="{BB962C8B-B14F-4D97-AF65-F5344CB8AC3E}">
        <p14:creationId xmlns:p14="http://schemas.microsoft.com/office/powerpoint/2010/main" val="27222669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3" name="text-6">
            <a:extLst>
              <a:ext uri="{FF2B5EF4-FFF2-40B4-BE49-F238E27FC236}">
                <a16:creationId xmlns:a16="http://schemas.microsoft.com/office/drawing/2014/main" id="{1B060D8D-FF00-4079-B722-47888A0F51FF}"/>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Your presenter</a:t>
            </a:r>
          </a:p>
        </p:txBody>
      </p:sp>
      <p:sp>
        <p:nvSpPr>
          <p:cNvPr id="2" name="text-7">
            <a:extLst>
              <a:ext uri="{FF2B5EF4-FFF2-40B4-BE49-F238E27FC236}">
                <a16:creationId xmlns:a16="http://schemas.microsoft.com/office/drawing/2014/main" id="{A70BE50F-97B3-4B2E-91B3-4701FB5E44C7}"/>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Bhavya Shah</a:t>
            </a:r>
          </a:p>
        </p:txBody>
      </p:sp>
      <p:sp>
        <p:nvSpPr>
          <p:cNvPr id="3" name="text-8">
            <a:extLst>
              <a:ext uri="{FF2B5EF4-FFF2-40B4-BE49-F238E27FC236}">
                <a16:creationId xmlns:a16="http://schemas.microsoft.com/office/drawing/2014/main" id="{EEDF1C23-F256-449B-A548-F62188C8A5D1}"/>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9">
            <a:extLst>
              <a:ext uri="{FF2B5EF4-FFF2-40B4-BE49-F238E27FC236}">
                <a16:creationId xmlns:a16="http://schemas.microsoft.com/office/drawing/2014/main" id="{DD72E705-1E5E-4398-9C37-41D4E4918CA0}"/>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02</a:t>
            </a:r>
          </a:p>
        </p:txBody>
      </p:sp>
      <p:sp>
        <p:nvSpPr>
          <p:cNvPr id="5" name="text-10">
            <a:extLst>
              <a:ext uri="{FF2B5EF4-FFF2-40B4-BE49-F238E27FC236}">
                <a16:creationId xmlns:a16="http://schemas.microsoft.com/office/drawing/2014/main" id="{5C3D27DD-1A52-4F8A-A213-1C29D4EE5260}"/>
              </a:ext>
            </a:extLst>
          </p:cNvPr>
          <p:cNvSpPr>
            <a:spLocks noGrp="1"/>
          </p:cNvSpPr>
          <p:nvPr/>
        </p:nvSpPr>
        <p:spPr>
          <a:xfrm>
            <a:off x="685800" y="2419350"/>
            <a:ext cx="3714750" cy="1666875"/>
          </a:xfrm>
          <a:prstGeom prst="rect">
            <a:avLst/>
          </a:prstGeom>
          <a:noFill/>
          <a:ln w="0">
            <a:noFill/>
          </a:ln>
        </p:spPr>
        <p:txBody>
          <a:bodyPr wrap="none" lIns="0" tIns="0" rIns="0" bIns="0" anchor="t">
            <a:noAutofit/>
          </a:bodyPr>
          <a:lstStyle/>
          <a:p>
            <a:pPr algn="l">
              <a:defRPr sz="10725" b="0">
                <a:solidFill>
                  <a:srgbClr val="D8663D"/>
                </a:solidFill>
                <a:latin typeface="Georgia"/>
                <a:ea typeface="Georgia"/>
                <a:cs typeface="Georgia"/>
              </a:defRPr>
            </a:pPr>
            <a:r>
              <a:rPr sz="10725" b="0">
                <a:solidFill>
                  <a:srgbClr val="D8663D"/>
                </a:solidFill>
                <a:latin typeface="Georgia"/>
                <a:ea typeface="Georgia"/>
                <a:cs typeface="Georgia"/>
              </a:rPr>
              <a:t>7+</a:t>
            </a:r>
          </a:p>
        </p:txBody>
      </p:sp>
      <p:sp>
        <p:nvSpPr>
          <p:cNvPr id="6" name="text-11">
            <a:extLst>
              <a:ext uri="{FF2B5EF4-FFF2-40B4-BE49-F238E27FC236}">
                <a16:creationId xmlns:a16="http://schemas.microsoft.com/office/drawing/2014/main" id="{2D544C00-B36D-4EC1-B600-0FC112A05BD2}"/>
              </a:ext>
            </a:extLst>
          </p:cNvPr>
          <p:cNvSpPr>
            <a:spLocks noGrp="1"/>
          </p:cNvSpPr>
          <p:nvPr/>
        </p:nvSpPr>
        <p:spPr>
          <a:xfrm>
            <a:off x="781050" y="4238625"/>
            <a:ext cx="3619500" cy="1238250"/>
          </a:xfrm>
          <a:prstGeom prst="rect">
            <a:avLst/>
          </a:prstGeom>
          <a:noFill/>
          <a:ln w="0">
            <a:noFill/>
          </a:ln>
        </p:spPr>
        <p:txBody>
          <a:bodyPr wrap="none" lIns="0" tIns="0" rIns="0" bIns="0" anchor="t">
            <a:noAutofit/>
          </a:bodyPr>
          <a:lstStyle/>
          <a:p>
            <a:pPr algn="l">
              <a:defRPr sz="2100" b="0">
                <a:solidFill>
                  <a:srgbClr val="65717A"/>
                </a:solidFill>
                <a:latin typeface="Helvetica Neue"/>
                <a:ea typeface="Helvetica Neue"/>
                <a:cs typeface="Helvetica Neue"/>
              </a:defRPr>
            </a:pPr>
            <a:r>
              <a:rPr sz="2100" b="0">
                <a:solidFill>
                  <a:srgbClr val="65717A"/>
                </a:solidFill>
                <a:latin typeface="Helvetica Neue"/>
                <a:ea typeface="Helvetica Neue"/>
                <a:cs typeface="Helvetica Neue"/>
              </a:rPr>
              <a:t>years building enterprise</a:t>
            </a:r>
          </a:p>
          <a:p>
            <a:pPr algn="l">
              <a:defRPr sz="2100" b="0">
                <a:solidFill>
                  <a:srgbClr val="65717A"/>
                </a:solidFill>
                <a:latin typeface="Helvetica Neue"/>
                <a:ea typeface="Helvetica Neue"/>
                <a:cs typeface="Helvetica Neue"/>
              </a:defRPr>
            </a:pPr>
            <a:r>
              <a:rPr sz="2100" b="0">
                <a:solidFill>
                  <a:srgbClr val="65717A"/>
                </a:solidFill>
                <a:latin typeface="Helvetica Neue"/>
                <a:ea typeface="Helvetica Neue"/>
                <a:cs typeface="Helvetica Neue"/>
              </a:rPr>
              <a:t>applications</a:t>
            </a:r>
          </a:p>
        </p:txBody>
      </p:sp>
      <p:sp>
        <p:nvSpPr>
          <p:cNvPr id="9" name="text-14">
            <a:extLst>
              <a:ext uri="{FF2B5EF4-FFF2-40B4-BE49-F238E27FC236}">
                <a16:creationId xmlns:a16="http://schemas.microsoft.com/office/drawing/2014/main" id="{EFD6710E-B35E-4D09-A3F3-F3A96B1DC480}"/>
              </a:ext>
            </a:extLst>
          </p:cNvPr>
          <p:cNvSpPr>
            <a:spLocks noGrp="1"/>
          </p:cNvSpPr>
          <p:nvPr/>
        </p:nvSpPr>
        <p:spPr>
          <a:xfrm>
            <a:off x="5238750" y="3819525"/>
            <a:ext cx="9144000" cy="542925"/>
          </a:xfrm>
          <a:prstGeom prst="rect">
            <a:avLst/>
          </a:prstGeom>
          <a:noFill/>
          <a:ln w="0">
            <a:noFill/>
          </a:ln>
        </p:spPr>
        <p:txBody>
          <a:bodyPr wrap="none" lIns="0" tIns="0" rIns="0" bIns="0" anchor="t">
            <a:noAutofit/>
          </a:bodyPr>
          <a:lstStyle/>
          <a:p>
            <a:pPr algn="l">
              <a:defRPr sz="2550" b="0">
                <a:solidFill>
                  <a:srgbClr val="315BCD"/>
                </a:solidFill>
                <a:latin typeface="Helvetica Neue"/>
                <a:ea typeface="Helvetica Neue"/>
                <a:cs typeface="Helvetica Neue"/>
              </a:defRPr>
            </a:pPr>
            <a:r>
              <a:rPr sz="2550" b="0">
                <a:solidFill>
                  <a:srgbClr val="315BCD"/>
                </a:solidFill>
                <a:latin typeface="Helvetica Neue"/>
                <a:ea typeface="Helvetica Neue"/>
                <a:cs typeface="Helvetica Neue"/>
              </a:rPr>
              <a:t>Python, Django &amp; secure REST APIs</a:t>
            </a:r>
          </a:p>
        </p:txBody>
      </p:sp>
      <p:sp>
        <p:nvSpPr>
          <p:cNvPr id="10" name="text-15">
            <a:extLst>
              <a:ext uri="{FF2B5EF4-FFF2-40B4-BE49-F238E27FC236}">
                <a16:creationId xmlns:a16="http://schemas.microsoft.com/office/drawing/2014/main" id="{06D65B3B-EE77-4D3E-AC8B-0FA7036DA616}"/>
              </a:ext>
            </a:extLst>
          </p:cNvPr>
          <p:cNvSpPr>
            <a:spLocks noGrp="1"/>
          </p:cNvSpPr>
          <p:nvPr/>
        </p:nvSpPr>
        <p:spPr>
          <a:xfrm>
            <a:off x="5238750" y="4610100"/>
            <a:ext cx="9239250" cy="1000125"/>
          </a:xfrm>
          <a:prstGeom prst="rect">
            <a:avLst/>
          </a:prstGeom>
          <a:noFill/>
          <a:ln w="0">
            <a:noFill/>
          </a:ln>
        </p:spPr>
        <p:txBody>
          <a:bodyPr wrap="none" lIns="0" tIns="0" rIns="0" bIns="0" anchor="t">
            <a:noAutofit/>
          </a:bodyPr>
          <a:lstStyle/>
          <a:p>
            <a:pPr algn="l">
              <a:defRPr sz="2175" b="0">
                <a:solidFill>
                  <a:srgbClr val="242C35"/>
                </a:solidFill>
                <a:latin typeface="Helvetica Neue"/>
                <a:ea typeface="Helvetica Neue"/>
                <a:cs typeface="Helvetica Neue"/>
              </a:defRPr>
            </a:pPr>
            <a:r>
              <a:rPr sz="2175" b="0">
                <a:solidFill>
                  <a:srgbClr val="242C35"/>
                </a:solidFill>
                <a:latin typeface="Helvetica Neue"/>
                <a:ea typeface="Helvetica Neue"/>
                <a:cs typeface="Helvetica Neue"/>
              </a:rPr>
              <a:t>MCA · Government MCA College, Ahmedabad</a:t>
            </a:r>
          </a:p>
          <a:p>
            <a:pPr algn="l">
              <a:defRPr sz="2175" b="0">
                <a:solidFill>
                  <a:srgbClr val="242C35"/>
                </a:solidFill>
                <a:latin typeface="Helvetica Neue"/>
                <a:ea typeface="Helvetica Neue"/>
                <a:cs typeface="Helvetica Neue"/>
              </a:defRPr>
            </a:pPr>
            <a:r>
              <a:rPr sz="2175" b="0">
                <a:solidFill>
                  <a:srgbClr val="242C35"/>
                </a:solidFill>
                <a:latin typeface="Helvetica Neue"/>
                <a:ea typeface="Helvetica Neue"/>
                <a:cs typeface="Helvetica Neue"/>
              </a:rPr>
              <a:t>Master’s score: 9.5</a:t>
            </a:r>
          </a:p>
        </p:txBody>
      </p:sp>
      <p:sp>
        <p:nvSpPr>
          <p:cNvPr id="11" name="text-16">
            <a:extLst>
              <a:ext uri="{FF2B5EF4-FFF2-40B4-BE49-F238E27FC236}">
                <a16:creationId xmlns:a16="http://schemas.microsoft.com/office/drawing/2014/main" id="{C8536781-9EC2-4329-B6AB-50AA6C97473A}"/>
              </a:ext>
            </a:extLst>
          </p:cNvPr>
          <p:cNvSpPr>
            <a:spLocks noGrp="1"/>
          </p:cNvSpPr>
          <p:nvPr/>
        </p:nvSpPr>
        <p:spPr>
          <a:xfrm>
            <a:off x="5238750" y="5924550"/>
            <a:ext cx="9144000" cy="1066800"/>
          </a:xfrm>
          <a:prstGeom prst="rect">
            <a:avLst/>
          </a:prstGeom>
          <a:noFill/>
          <a:ln w="0">
            <a:noFill/>
          </a:ln>
        </p:spPr>
        <p:txBody>
          <a:bodyPr wrap="none" lIns="0" tIns="0" rIns="0" bIns="0" anchor="t">
            <a:noAutofit/>
          </a:bodyPr>
          <a:lstStyle/>
          <a:p>
            <a:pPr algn="l">
              <a:defRPr sz="2175" b="0">
                <a:solidFill>
                  <a:srgbClr val="65717A"/>
                </a:solidFill>
                <a:latin typeface="Helvetica Neue"/>
                <a:ea typeface="Helvetica Neue"/>
                <a:cs typeface="Helvetica Neue"/>
              </a:defRPr>
            </a:pPr>
            <a:r>
              <a:rPr sz="2175" b="0">
                <a:solidFill>
                  <a:srgbClr val="65717A"/>
                </a:solidFill>
                <a:latin typeface="Helvetica Neue"/>
                <a:ea typeface="Helvetica Neue"/>
                <a:cs typeface="Helvetica Neue"/>
              </a:rPr>
              <a:t>NAMO e-TAB / Mobile Attendance System</a:t>
            </a:r>
          </a:p>
          <a:p>
            <a:pPr algn="l">
              <a:defRPr sz="2175" b="0">
                <a:solidFill>
                  <a:srgbClr val="65717A"/>
                </a:solidFill>
                <a:latin typeface="Helvetica Neue"/>
                <a:ea typeface="Helvetica Neue"/>
                <a:cs typeface="Helvetica Neue"/>
              </a:defRPr>
            </a:pPr>
            <a:r>
              <a:rPr sz="2175" b="0">
                <a:solidFill>
                  <a:srgbClr val="65717A"/>
                </a:solidFill>
                <a:latin typeface="Helvetica Neue"/>
                <a:ea typeface="Helvetica Neue"/>
                <a:cs typeface="Helvetica Neue"/>
              </a:rPr>
              <a:t>COGENT Fees Collection under KCG</a:t>
            </a:r>
          </a:p>
        </p:txBody>
      </p:sp>
      <p:sp>
        <p:nvSpPr>
          <p:cNvPr id="12" name="text-17">
            <a:extLst>
              <a:ext uri="{FF2B5EF4-FFF2-40B4-BE49-F238E27FC236}">
                <a16:creationId xmlns:a16="http://schemas.microsoft.com/office/drawing/2014/main" id="{64C9FC66-2223-4FCE-80A1-F854A6F61464}"/>
              </a:ext>
            </a:extLst>
          </p:cNvPr>
          <p:cNvSpPr>
            <a:spLocks noGrp="1"/>
          </p:cNvSpPr>
          <p:nvPr/>
        </p:nvSpPr>
        <p:spPr>
          <a:xfrm>
            <a:off x="685800" y="7343775"/>
            <a:ext cx="13868400" cy="619125"/>
          </a:xfrm>
          <a:prstGeom prst="rect">
            <a:avLst/>
          </a:prstGeom>
          <a:noFill/>
          <a:ln w="0">
            <a:noFill/>
          </a:ln>
        </p:spPr>
        <p:txBody>
          <a:bodyPr wrap="none" lIns="0" tIns="0" rIns="0" bIns="0" anchor="t">
            <a:noAutofit/>
          </a:bodyPr>
          <a:lstStyle/>
          <a:p>
            <a:pPr algn="l">
              <a:defRPr sz="1875" b="0">
                <a:solidFill>
                  <a:srgbClr val="65717A"/>
                </a:solidFill>
                <a:latin typeface="Helvetica Neue"/>
                <a:ea typeface="Helvetica Neue"/>
                <a:cs typeface="Helvetica Neue"/>
              </a:defRPr>
            </a:pPr>
            <a:r>
              <a:rPr sz="1875" b="0">
                <a:solidFill>
                  <a:srgbClr val="65717A"/>
                </a:solidFill>
                <a:latin typeface="Helvetica Neue"/>
                <a:ea typeface="Helvetica Neue"/>
                <a:cs typeface="Helvetica Neue"/>
              </a:rPr>
              <a:t>Experience with SQL optimization, cloud, ERP delivery and full-stack integration.</a:t>
            </a:r>
          </a:p>
        </p:txBody>
      </p:sp>
    </p:spTree>
    <p:extLst>
      <p:ext uri="{BB962C8B-B14F-4D97-AF65-F5344CB8AC3E}">
        <p14:creationId xmlns:p14="http://schemas.microsoft.com/office/powerpoint/2010/main" val="144129746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3" name="text-18">
            <a:extLst>
              <a:ext uri="{FF2B5EF4-FFF2-40B4-BE49-F238E27FC236}">
                <a16:creationId xmlns:a16="http://schemas.microsoft.com/office/drawing/2014/main" id="{B4E685D2-9044-4157-947F-054BC04E5FB5}"/>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Learning path</a:t>
            </a:r>
          </a:p>
        </p:txBody>
      </p:sp>
      <p:sp>
        <p:nvSpPr>
          <p:cNvPr id="2" name="text-19">
            <a:extLst>
              <a:ext uri="{FF2B5EF4-FFF2-40B4-BE49-F238E27FC236}">
                <a16:creationId xmlns:a16="http://schemas.microsoft.com/office/drawing/2014/main" id="{BAF393EB-D912-4B39-99ED-3DEB69BA0511}"/>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Topics we’ll cover</a:t>
            </a:r>
          </a:p>
        </p:txBody>
      </p:sp>
      <p:sp>
        <p:nvSpPr>
          <p:cNvPr id="3" name="text-20">
            <a:extLst>
              <a:ext uri="{FF2B5EF4-FFF2-40B4-BE49-F238E27FC236}">
                <a16:creationId xmlns:a16="http://schemas.microsoft.com/office/drawing/2014/main" id="{836375D9-AAE4-4B2B-94A2-B62D1888C470}"/>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21">
            <a:extLst>
              <a:ext uri="{FF2B5EF4-FFF2-40B4-BE49-F238E27FC236}">
                <a16:creationId xmlns:a16="http://schemas.microsoft.com/office/drawing/2014/main" id="{6528C1A3-771C-4183-B318-EA31E56A25E1}"/>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03</a:t>
            </a:r>
          </a:p>
        </p:txBody>
      </p:sp>
      <p:sp>
        <p:nvSpPr>
          <p:cNvPr id="5" name="text-22">
            <a:extLst>
              <a:ext uri="{FF2B5EF4-FFF2-40B4-BE49-F238E27FC236}">
                <a16:creationId xmlns:a16="http://schemas.microsoft.com/office/drawing/2014/main" id="{0501E961-23F0-4001-8BA0-4D2DBE4F8023}"/>
              </a:ext>
            </a:extLst>
          </p:cNvPr>
          <p:cNvSpPr>
            <a:spLocks noGrp="1"/>
          </p:cNvSpPr>
          <p:nvPr/>
        </p:nvSpPr>
        <p:spPr>
          <a:xfrm>
            <a:off x="685800" y="2352675"/>
            <a:ext cx="742950" cy="571500"/>
          </a:xfrm>
          <a:prstGeom prst="rect">
            <a:avLst/>
          </a:prstGeom>
          <a:noFill/>
          <a:ln w="0">
            <a:noFill/>
          </a:ln>
        </p:spPr>
        <p:txBody>
          <a:bodyPr wrap="none" lIns="0" tIns="0" rIns="0" bIns="0" anchor="t">
            <a:noAutofit/>
          </a:bodyPr>
          <a:lstStyle/>
          <a:p>
            <a:pPr algn="l">
              <a:defRPr sz="2775" b="0">
                <a:solidFill>
                  <a:srgbClr val="D8663D"/>
                </a:solidFill>
                <a:latin typeface="Georgia"/>
                <a:ea typeface="Georgia"/>
                <a:cs typeface="Georgia"/>
              </a:defRPr>
            </a:pPr>
            <a:r>
              <a:rPr sz="2775" b="0">
                <a:solidFill>
                  <a:srgbClr val="D8663D"/>
                </a:solidFill>
                <a:latin typeface="Georgia"/>
                <a:ea typeface="Georgia"/>
                <a:cs typeface="Georgia"/>
              </a:rPr>
              <a:t>01</a:t>
            </a:r>
          </a:p>
        </p:txBody>
      </p:sp>
      <p:sp>
        <p:nvSpPr>
          <p:cNvPr id="6" name="text-23">
            <a:extLst>
              <a:ext uri="{FF2B5EF4-FFF2-40B4-BE49-F238E27FC236}">
                <a16:creationId xmlns:a16="http://schemas.microsoft.com/office/drawing/2014/main" id="{F0D17EC5-6303-4F99-9955-2CAB198B0AB4}"/>
              </a:ext>
            </a:extLst>
          </p:cNvPr>
          <p:cNvSpPr>
            <a:spLocks noGrp="1"/>
          </p:cNvSpPr>
          <p:nvPr/>
        </p:nvSpPr>
        <p:spPr>
          <a:xfrm>
            <a:off x="1628775" y="2352675"/>
            <a:ext cx="5619750" cy="485775"/>
          </a:xfrm>
          <a:prstGeom prst="rect">
            <a:avLst/>
          </a:prstGeom>
          <a:noFill/>
          <a:ln w="0">
            <a:noFill/>
          </a:ln>
        </p:spPr>
        <p:txBody>
          <a:bodyPr wrap="none" lIns="0" tIns="0" rIns="0" bIns="0" anchor="t">
            <a:noAutofit/>
          </a:bodyPr>
          <a:lstStyle/>
          <a:p>
            <a:pPr algn="l">
              <a:defRPr sz="2400" b="1">
                <a:solidFill>
                  <a:srgbClr val="242C35"/>
                </a:solidFill>
                <a:latin typeface="Helvetica Neue"/>
                <a:ea typeface="Helvetica Neue"/>
                <a:cs typeface="Helvetica Neue"/>
              </a:defRPr>
            </a:pPr>
            <a:r>
              <a:rPr sz="2400" b="1">
                <a:solidFill>
                  <a:srgbClr val="242C35"/>
                </a:solidFill>
                <a:latin typeface="Helvetica Neue"/>
                <a:ea typeface="Helvetica Neue"/>
                <a:cs typeface="Helvetica Neue"/>
              </a:rPr>
              <a:t>How web applications work</a:t>
            </a:r>
          </a:p>
        </p:txBody>
      </p:sp>
      <p:sp>
        <p:nvSpPr>
          <p:cNvPr id="7" name="text-24">
            <a:extLst>
              <a:ext uri="{FF2B5EF4-FFF2-40B4-BE49-F238E27FC236}">
                <a16:creationId xmlns:a16="http://schemas.microsoft.com/office/drawing/2014/main" id="{6FB05882-B589-4153-8460-7012667081A5}"/>
              </a:ext>
            </a:extLst>
          </p:cNvPr>
          <p:cNvSpPr>
            <a:spLocks noGrp="1"/>
          </p:cNvSpPr>
          <p:nvPr/>
        </p:nvSpPr>
        <p:spPr>
          <a:xfrm>
            <a:off x="1628775" y="2933700"/>
            <a:ext cx="5619750" cy="97155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Browser, Python and the backend</a:t>
            </a:r>
          </a:p>
        </p:txBody>
      </p:sp>
      <p:sp>
        <p:nvSpPr>
          <p:cNvPr id="8" name="text-25">
            <a:extLst>
              <a:ext uri="{FF2B5EF4-FFF2-40B4-BE49-F238E27FC236}">
                <a16:creationId xmlns:a16="http://schemas.microsoft.com/office/drawing/2014/main" id="{7F8B4425-FAA0-45B0-9577-06CD3CB13D90}"/>
              </a:ext>
            </a:extLst>
          </p:cNvPr>
          <p:cNvSpPr>
            <a:spLocks noGrp="1"/>
          </p:cNvSpPr>
          <p:nvPr/>
        </p:nvSpPr>
        <p:spPr>
          <a:xfrm>
            <a:off x="7810500" y="2352675"/>
            <a:ext cx="742950" cy="571500"/>
          </a:xfrm>
          <a:prstGeom prst="rect">
            <a:avLst/>
          </a:prstGeom>
          <a:noFill/>
          <a:ln w="0">
            <a:noFill/>
          </a:ln>
        </p:spPr>
        <p:txBody>
          <a:bodyPr wrap="none" lIns="0" tIns="0" rIns="0" bIns="0" anchor="t">
            <a:noAutofit/>
          </a:bodyPr>
          <a:lstStyle/>
          <a:p>
            <a:pPr algn="l">
              <a:defRPr sz="2775" b="0">
                <a:solidFill>
                  <a:srgbClr val="D8663D"/>
                </a:solidFill>
                <a:latin typeface="Georgia"/>
                <a:ea typeface="Georgia"/>
                <a:cs typeface="Georgia"/>
              </a:defRPr>
            </a:pPr>
            <a:r>
              <a:rPr sz="2775" b="0">
                <a:solidFill>
                  <a:srgbClr val="D8663D"/>
                </a:solidFill>
                <a:latin typeface="Georgia"/>
                <a:ea typeface="Georgia"/>
                <a:cs typeface="Georgia"/>
              </a:rPr>
              <a:t>02</a:t>
            </a:r>
          </a:p>
        </p:txBody>
      </p:sp>
      <p:sp>
        <p:nvSpPr>
          <p:cNvPr id="9" name="text-26">
            <a:extLst>
              <a:ext uri="{FF2B5EF4-FFF2-40B4-BE49-F238E27FC236}">
                <a16:creationId xmlns:a16="http://schemas.microsoft.com/office/drawing/2014/main" id="{05980E81-39D0-4FAC-BF71-D01ECD8FEF94}"/>
              </a:ext>
            </a:extLst>
          </p:cNvPr>
          <p:cNvSpPr>
            <a:spLocks noGrp="1"/>
          </p:cNvSpPr>
          <p:nvPr/>
        </p:nvSpPr>
        <p:spPr>
          <a:xfrm>
            <a:off x="8753475" y="2352675"/>
            <a:ext cx="5619750" cy="485775"/>
          </a:xfrm>
          <a:prstGeom prst="rect">
            <a:avLst/>
          </a:prstGeom>
          <a:noFill/>
          <a:ln w="0">
            <a:noFill/>
          </a:ln>
        </p:spPr>
        <p:txBody>
          <a:bodyPr wrap="none" lIns="0" tIns="0" rIns="0" bIns="0" anchor="t">
            <a:noAutofit/>
          </a:bodyPr>
          <a:lstStyle/>
          <a:p>
            <a:pPr algn="l">
              <a:defRPr sz="2400" b="1">
                <a:solidFill>
                  <a:srgbClr val="242C35"/>
                </a:solidFill>
                <a:latin typeface="Helvetica Neue"/>
                <a:ea typeface="Helvetica Neue"/>
                <a:cs typeface="Helvetica Neue"/>
              </a:defRPr>
            </a:pPr>
            <a:r>
              <a:rPr sz="2400" b="1">
                <a:solidFill>
                  <a:srgbClr val="242C35"/>
                </a:solidFill>
                <a:latin typeface="Helvetica Neue"/>
                <a:ea typeface="Helvetica Neue"/>
                <a:cs typeface="Helvetica Neue"/>
              </a:rPr>
              <a:t>Django and data</a:t>
            </a:r>
          </a:p>
        </p:txBody>
      </p:sp>
      <p:sp>
        <p:nvSpPr>
          <p:cNvPr id="10" name="text-27">
            <a:extLst>
              <a:ext uri="{FF2B5EF4-FFF2-40B4-BE49-F238E27FC236}">
                <a16:creationId xmlns:a16="http://schemas.microsoft.com/office/drawing/2014/main" id="{F4BA1B8D-EBD3-433A-B8D6-17F633FFE300}"/>
              </a:ext>
            </a:extLst>
          </p:cNvPr>
          <p:cNvSpPr>
            <a:spLocks noGrp="1"/>
          </p:cNvSpPr>
          <p:nvPr/>
        </p:nvSpPr>
        <p:spPr>
          <a:xfrm>
            <a:off x="8753475" y="2933700"/>
            <a:ext cx="5619750" cy="97155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Setup, MTV, models and ORM</a:t>
            </a:r>
          </a:p>
        </p:txBody>
      </p:sp>
      <p:sp>
        <p:nvSpPr>
          <p:cNvPr id="11" name="text-28">
            <a:extLst>
              <a:ext uri="{FF2B5EF4-FFF2-40B4-BE49-F238E27FC236}">
                <a16:creationId xmlns:a16="http://schemas.microsoft.com/office/drawing/2014/main" id="{1E334B4D-211E-4792-91BC-B88C5D345D2A}"/>
              </a:ext>
            </a:extLst>
          </p:cNvPr>
          <p:cNvSpPr>
            <a:spLocks noGrp="1"/>
          </p:cNvSpPr>
          <p:nvPr/>
        </p:nvSpPr>
        <p:spPr>
          <a:xfrm>
            <a:off x="685800" y="4105275"/>
            <a:ext cx="742950" cy="571500"/>
          </a:xfrm>
          <a:prstGeom prst="rect">
            <a:avLst/>
          </a:prstGeom>
          <a:noFill/>
          <a:ln w="0">
            <a:noFill/>
          </a:ln>
        </p:spPr>
        <p:txBody>
          <a:bodyPr wrap="none" lIns="0" tIns="0" rIns="0" bIns="0" anchor="t">
            <a:noAutofit/>
          </a:bodyPr>
          <a:lstStyle/>
          <a:p>
            <a:pPr algn="l">
              <a:defRPr sz="2775" b="0">
                <a:solidFill>
                  <a:srgbClr val="D8663D"/>
                </a:solidFill>
                <a:latin typeface="Georgia"/>
                <a:ea typeface="Georgia"/>
                <a:cs typeface="Georgia"/>
              </a:defRPr>
            </a:pPr>
            <a:r>
              <a:rPr sz="2775" b="0">
                <a:solidFill>
                  <a:srgbClr val="D8663D"/>
                </a:solidFill>
                <a:latin typeface="Georgia"/>
                <a:ea typeface="Georgia"/>
                <a:cs typeface="Georgia"/>
              </a:rPr>
              <a:t>03</a:t>
            </a:r>
          </a:p>
        </p:txBody>
      </p:sp>
      <p:sp>
        <p:nvSpPr>
          <p:cNvPr id="12" name="text-29">
            <a:extLst>
              <a:ext uri="{FF2B5EF4-FFF2-40B4-BE49-F238E27FC236}">
                <a16:creationId xmlns:a16="http://schemas.microsoft.com/office/drawing/2014/main" id="{EF1A63EF-44F6-4DBD-9E6E-E5F475F47645}"/>
              </a:ext>
            </a:extLst>
          </p:cNvPr>
          <p:cNvSpPr>
            <a:spLocks noGrp="1"/>
          </p:cNvSpPr>
          <p:nvPr/>
        </p:nvSpPr>
        <p:spPr>
          <a:xfrm>
            <a:off x="1628775" y="4105275"/>
            <a:ext cx="5619750" cy="485775"/>
          </a:xfrm>
          <a:prstGeom prst="rect">
            <a:avLst/>
          </a:prstGeom>
          <a:noFill/>
          <a:ln w="0">
            <a:noFill/>
          </a:ln>
        </p:spPr>
        <p:txBody>
          <a:bodyPr wrap="none" lIns="0" tIns="0" rIns="0" bIns="0" anchor="t">
            <a:noAutofit/>
          </a:bodyPr>
          <a:lstStyle/>
          <a:p>
            <a:pPr algn="l">
              <a:defRPr sz="2400" b="1">
                <a:solidFill>
                  <a:srgbClr val="242C35"/>
                </a:solidFill>
                <a:latin typeface="Helvetica Neue"/>
                <a:ea typeface="Helvetica Neue"/>
                <a:cs typeface="Helvetica Neue"/>
              </a:defRPr>
            </a:pPr>
            <a:r>
              <a:rPr sz="2400" b="1" dirty="0">
                <a:solidFill>
                  <a:srgbClr val="242C35"/>
                </a:solidFill>
                <a:latin typeface="Helvetica Neue"/>
                <a:ea typeface="Helvetica Neue"/>
                <a:cs typeface="Helvetica Neue"/>
              </a:rPr>
              <a:t>A personal TODO application</a:t>
            </a:r>
          </a:p>
        </p:txBody>
      </p:sp>
      <p:sp>
        <p:nvSpPr>
          <p:cNvPr id="13" name="text-30">
            <a:extLst>
              <a:ext uri="{FF2B5EF4-FFF2-40B4-BE49-F238E27FC236}">
                <a16:creationId xmlns:a16="http://schemas.microsoft.com/office/drawing/2014/main" id="{7A2DBEC6-1523-464D-937B-835D6A7B1094}"/>
              </a:ext>
            </a:extLst>
          </p:cNvPr>
          <p:cNvSpPr>
            <a:spLocks noGrp="1"/>
          </p:cNvSpPr>
          <p:nvPr/>
        </p:nvSpPr>
        <p:spPr>
          <a:xfrm>
            <a:off x="1628775" y="4686300"/>
            <a:ext cx="5619750" cy="97155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Forms, validation and CRUD</a:t>
            </a:r>
          </a:p>
        </p:txBody>
      </p:sp>
      <p:sp>
        <p:nvSpPr>
          <p:cNvPr id="14" name="text-31">
            <a:extLst>
              <a:ext uri="{FF2B5EF4-FFF2-40B4-BE49-F238E27FC236}">
                <a16:creationId xmlns:a16="http://schemas.microsoft.com/office/drawing/2014/main" id="{BBE58122-479B-4975-9D97-C8C63F4D6821}"/>
              </a:ext>
            </a:extLst>
          </p:cNvPr>
          <p:cNvSpPr>
            <a:spLocks noGrp="1"/>
          </p:cNvSpPr>
          <p:nvPr/>
        </p:nvSpPr>
        <p:spPr>
          <a:xfrm>
            <a:off x="7810500" y="4105275"/>
            <a:ext cx="742950" cy="571500"/>
          </a:xfrm>
          <a:prstGeom prst="rect">
            <a:avLst/>
          </a:prstGeom>
          <a:noFill/>
          <a:ln w="0">
            <a:noFill/>
          </a:ln>
        </p:spPr>
        <p:txBody>
          <a:bodyPr wrap="none" lIns="0" tIns="0" rIns="0" bIns="0" anchor="t">
            <a:noAutofit/>
          </a:bodyPr>
          <a:lstStyle/>
          <a:p>
            <a:pPr algn="l">
              <a:defRPr sz="2775" b="0">
                <a:solidFill>
                  <a:srgbClr val="D8663D"/>
                </a:solidFill>
                <a:latin typeface="Georgia"/>
                <a:ea typeface="Georgia"/>
                <a:cs typeface="Georgia"/>
              </a:defRPr>
            </a:pPr>
            <a:r>
              <a:rPr sz="2775" b="0">
                <a:solidFill>
                  <a:srgbClr val="D8663D"/>
                </a:solidFill>
                <a:latin typeface="Georgia"/>
                <a:ea typeface="Georgia"/>
                <a:cs typeface="Georgia"/>
              </a:rPr>
              <a:t>04</a:t>
            </a:r>
          </a:p>
        </p:txBody>
      </p:sp>
      <p:sp>
        <p:nvSpPr>
          <p:cNvPr id="15" name="text-32">
            <a:extLst>
              <a:ext uri="{FF2B5EF4-FFF2-40B4-BE49-F238E27FC236}">
                <a16:creationId xmlns:a16="http://schemas.microsoft.com/office/drawing/2014/main" id="{224FD5A3-5736-4F37-9A1B-CB8D1882E360}"/>
              </a:ext>
            </a:extLst>
          </p:cNvPr>
          <p:cNvSpPr>
            <a:spLocks noGrp="1"/>
          </p:cNvSpPr>
          <p:nvPr/>
        </p:nvSpPr>
        <p:spPr>
          <a:xfrm>
            <a:off x="8753475" y="4105275"/>
            <a:ext cx="5619750" cy="485775"/>
          </a:xfrm>
          <a:prstGeom prst="rect">
            <a:avLst/>
          </a:prstGeom>
          <a:noFill/>
          <a:ln w="0">
            <a:noFill/>
          </a:ln>
        </p:spPr>
        <p:txBody>
          <a:bodyPr wrap="none" lIns="0" tIns="0" rIns="0" bIns="0" anchor="t">
            <a:noAutofit/>
          </a:bodyPr>
          <a:lstStyle/>
          <a:p>
            <a:pPr algn="l">
              <a:defRPr sz="2400" b="1">
                <a:solidFill>
                  <a:srgbClr val="242C35"/>
                </a:solidFill>
                <a:latin typeface="Helvetica Neue"/>
                <a:ea typeface="Helvetica Neue"/>
                <a:cs typeface="Helvetica Neue"/>
              </a:defRPr>
            </a:pPr>
            <a:r>
              <a:rPr sz="2400" b="1">
                <a:solidFill>
                  <a:srgbClr val="242C35"/>
                </a:solidFill>
                <a:latin typeface="Helvetica Neue"/>
                <a:ea typeface="Helvetica Neue"/>
                <a:cs typeface="Helvetica Neue"/>
              </a:rPr>
              <a:t>Identity and security</a:t>
            </a:r>
          </a:p>
        </p:txBody>
      </p:sp>
      <p:sp>
        <p:nvSpPr>
          <p:cNvPr id="16" name="text-33">
            <a:extLst>
              <a:ext uri="{FF2B5EF4-FFF2-40B4-BE49-F238E27FC236}">
                <a16:creationId xmlns:a16="http://schemas.microsoft.com/office/drawing/2014/main" id="{782EB86E-30F7-4C65-940A-2D7779FB9E63}"/>
              </a:ext>
            </a:extLst>
          </p:cNvPr>
          <p:cNvSpPr>
            <a:spLocks noGrp="1"/>
          </p:cNvSpPr>
          <p:nvPr/>
        </p:nvSpPr>
        <p:spPr>
          <a:xfrm>
            <a:off x="8753475" y="4686300"/>
            <a:ext cx="5619750" cy="97155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Login, ownership and protected requests</a:t>
            </a:r>
          </a:p>
        </p:txBody>
      </p:sp>
      <p:sp>
        <p:nvSpPr>
          <p:cNvPr id="17" name="text-34">
            <a:extLst>
              <a:ext uri="{FF2B5EF4-FFF2-40B4-BE49-F238E27FC236}">
                <a16:creationId xmlns:a16="http://schemas.microsoft.com/office/drawing/2014/main" id="{AF239A18-5226-427F-81B2-99354FEC4721}"/>
              </a:ext>
            </a:extLst>
          </p:cNvPr>
          <p:cNvSpPr>
            <a:spLocks noGrp="1"/>
          </p:cNvSpPr>
          <p:nvPr/>
        </p:nvSpPr>
        <p:spPr>
          <a:xfrm>
            <a:off x="685800" y="5857875"/>
            <a:ext cx="742950" cy="571500"/>
          </a:xfrm>
          <a:prstGeom prst="rect">
            <a:avLst/>
          </a:prstGeom>
          <a:noFill/>
          <a:ln w="0">
            <a:noFill/>
          </a:ln>
        </p:spPr>
        <p:txBody>
          <a:bodyPr wrap="none" lIns="0" tIns="0" rIns="0" bIns="0" anchor="t">
            <a:noAutofit/>
          </a:bodyPr>
          <a:lstStyle/>
          <a:p>
            <a:pPr algn="l">
              <a:defRPr sz="2775" b="0">
                <a:solidFill>
                  <a:srgbClr val="D8663D"/>
                </a:solidFill>
                <a:latin typeface="Georgia"/>
                <a:ea typeface="Georgia"/>
                <a:cs typeface="Georgia"/>
              </a:defRPr>
            </a:pPr>
            <a:r>
              <a:rPr sz="2775" b="0">
                <a:solidFill>
                  <a:srgbClr val="D8663D"/>
                </a:solidFill>
                <a:latin typeface="Georgia"/>
                <a:ea typeface="Georgia"/>
                <a:cs typeface="Georgia"/>
              </a:rPr>
              <a:t>05</a:t>
            </a:r>
          </a:p>
        </p:txBody>
      </p:sp>
      <p:sp>
        <p:nvSpPr>
          <p:cNvPr id="18" name="text-35">
            <a:extLst>
              <a:ext uri="{FF2B5EF4-FFF2-40B4-BE49-F238E27FC236}">
                <a16:creationId xmlns:a16="http://schemas.microsoft.com/office/drawing/2014/main" id="{4AC337D7-3102-4633-9561-E3AA802572AC}"/>
              </a:ext>
            </a:extLst>
          </p:cNvPr>
          <p:cNvSpPr>
            <a:spLocks noGrp="1"/>
          </p:cNvSpPr>
          <p:nvPr/>
        </p:nvSpPr>
        <p:spPr>
          <a:xfrm>
            <a:off x="1628775" y="5857875"/>
            <a:ext cx="5619750" cy="485775"/>
          </a:xfrm>
          <a:prstGeom prst="rect">
            <a:avLst/>
          </a:prstGeom>
          <a:noFill/>
          <a:ln w="0">
            <a:noFill/>
          </a:ln>
        </p:spPr>
        <p:txBody>
          <a:bodyPr wrap="none" lIns="0" tIns="0" rIns="0" bIns="0" anchor="t">
            <a:noAutofit/>
          </a:bodyPr>
          <a:lstStyle/>
          <a:p>
            <a:pPr algn="l">
              <a:defRPr sz="2400" b="1">
                <a:solidFill>
                  <a:srgbClr val="242C35"/>
                </a:solidFill>
                <a:latin typeface="Helvetica Neue"/>
                <a:ea typeface="Helvetica Neue"/>
                <a:cs typeface="Helvetica Neue"/>
              </a:defRPr>
            </a:pPr>
            <a:r>
              <a:rPr sz="2400" b="1">
                <a:solidFill>
                  <a:srgbClr val="242C35"/>
                </a:solidFill>
                <a:latin typeface="Helvetica Neue"/>
                <a:ea typeface="Helvetica Neue"/>
                <a:cs typeface="Helvetica Neue"/>
              </a:rPr>
              <a:t>Tasks and notes through REST</a:t>
            </a:r>
          </a:p>
        </p:txBody>
      </p:sp>
      <p:sp>
        <p:nvSpPr>
          <p:cNvPr id="19" name="text-36">
            <a:extLst>
              <a:ext uri="{FF2B5EF4-FFF2-40B4-BE49-F238E27FC236}">
                <a16:creationId xmlns:a16="http://schemas.microsoft.com/office/drawing/2014/main" id="{99B3314E-5259-45BB-B455-C2564B39E93C}"/>
              </a:ext>
            </a:extLst>
          </p:cNvPr>
          <p:cNvSpPr>
            <a:spLocks noGrp="1"/>
          </p:cNvSpPr>
          <p:nvPr/>
        </p:nvSpPr>
        <p:spPr>
          <a:xfrm>
            <a:off x="1628775" y="6438900"/>
            <a:ext cx="5619750" cy="97155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DRF, JSON and Postman</a:t>
            </a:r>
          </a:p>
        </p:txBody>
      </p:sp>
      <p:sp>
        <p:nvSpPr>
          <p:cNvPr id="20" name="text-37">
            <a:extLst>
              <a:ext uri="{FF2B5EF4-FFF2-40B4-BE49-F238E27FC236}">
                <a16:creationId xmlns:a16="http://schemas.microsoft.com/office/drawing/2014/main" id="{B03B40D5-C8EB-480C-9301-7114B6F4C200}"/>
              </a:ext>
            </a:extLst>
          </p:cNvPr>
          <p:cNvSpPr>
            <a:spLocks noGrp="1"/>
          </p:cNvSpPr>
          <p:nvPr/>
        </p:nvSpPr>
        <p:spPr>
          <a:xfrm>
            <a:off x="7810500" y="5857875"/>
            <a:ext cx="742950" cy="571500"/>
          </a:xfrm>
          <a:prstGeom prst="rect">
            <a:avLst/>
          </a:prstGeom>
          <a:noFill/>
          <a:ln w="0">
            <a:noFill/>
          </a:ln>
        </p:spPr>
        <p:txBody>
          <a:bodyPr wrap="none" lIns="0" tIns="0" rIns="0" bIns="0" anchor="t">
            <a:noAutofit/>
          </a:bodyPr>
          <a:lstStyle/>
          <a:p>
            <a:pPr algn="l">
              <a:defRPr sz="2775" b="0">
                <a:solidFill>
                  <a:srgbClr val="D8663D"/>
                </a:solidFill>
                <a:latin typeface="Georgia"/>
                <a:ea typeface="Georgia"/>
                <a:cs typeface="Georgia"/>
              </a:defRPr>
            </a:pPr>
            <a:r>
              <a:rPr sz="2775" b="0">
                <a:solidFill>
                  <a:srgbClr val="D8663D"/>
                </a:solidFill>
                <a:latin typeface="Georgia"/>
                <a:ea typeface="Georgia"/>
                <a:cs typeface="Georgia"/>
              </a:rPr>
              <a:t>06</a:t>
            </a:r>
          </a:p>
        </p:txBody>
      </p:sp>
      <p:sp>
        <p:nvSpPr>
          <p:cNvPr id="21" name="text-38">
            <a:extLst>
              <a:ext uri="{FF2B5EF4-FFF2-40B4-BE49-F238E27FC236}">
                <a16:creationId xmlns:a16="http://schemas.microsoft.com/office/drawing/2014/main" id="{F169C3B3-F276-486A-9355-A103A107D3F6}"/>
              </a:ext>
            </a:extLst>
          </p:cNvPr>
          <p:cNvSpPr>
            <a:spLocks noGrp="1"/>
          </p:cNvSpPr>
          <p:nvPr/>
        </p:nvSpPr>
        <p:spPr>
          <a:xfrm>
            <a:off x="8753475" y="5857875"/>
            <a:ext cx="5619750" cy="485775"/>
          </a:xfrm>
          <a:prstGeom prst="rect">
            <a:avLst/>
          </a:prstGeom>
          <a:noFill/>
          <a:ln w="0">
            <a:noFill/>
          </a:ln>
        </p:spPr>
        <p:txBody>
          <a:bodyPr wrap="none" lIns="0" tIns="0" rIns="0" bIns="0" anchor="t">
            <a:noAutofit/>
          </a:bodyPr>
          <a:lstStyle/>
          <a:p>
            <a:pPr algn="l">
              <a:defRPr sz="2400" b="1">
                <a:solidFill>
                  <a:srgbClr val="242C35"/>
                </a:solidFill>
                <a:latin typeface="Helvetica Neue"/>
                <a:ea typeface="Helvetica Neue"/>
                <a:cs typeface="Helvetica Neue"/>
              </a:defRPr>
            </a:pPr>
            <a:r>
              <a:rPr sz="2400" b="1">
                <a:solidFill>
                  <a:srgbClr val="242C35"/>
                </a:solidFill>
                <a:latin typeface="Helvetica Neue"/>
                <a:ea typeface="Helvetica Neue"/>
                <a:cs typeface="Helvetica Neue"/>
              </a:rPr>
              <a:t>Deployment</a:t>
            </a:r>
          </a:p>
        </p:txBody>
      </p:sp>
      <p:sp>
        <p:nvSpPr>
          <p:cNvPr id="22" name="text-39">
            <a:extLst>
              <a:ext uri="{FF2B5EF4-FFF2-40B4-BE49-F238E27FC236}">
                <a16:creationId xmlns:a16="http://schemas.microsoft.com/office/drawing/2014/main" id="{E12FA389-553F-4286-AA4D-64F9467F22D8}"/>
              </a:ext>
            </a:extLst>
          </p:cNvPr>
          <p:cNvSpPr>
            <a:spLocks noGrp="1"/>
          </p:cNvSpPr>
          <p:nvPr/>
        </p:nvSpPr>
        <p:spPr>
          <a:xfrm>
            <a:off x="8753475" y="6438900"/>
            <a:ext cx="5619750" cy="97155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GitHub, configuration and persistent data</a:t>
            </a:r>
          </a:p>
        </p:txBody>
      </p:sp>
    </p:spTree>
    <p:extLst>
      <p:ext uri="{BB962C8B-B14F-4D97-AF65-F5344CB8AC3E}">
        <p14:creationId xmlns:p14="http://schemas.microsoft.com/office/powerpoint/2010/main" val="59712762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3" name="text-40">
            <a:extLst>
              <a:ext uri="{FF2B5EF4-FFF2-40B4-BE49-F238E27FC236}">
                <a16:creationId xmlns:a16="http://schemas.microsoft.com/office/drawing/2014/main" id="{50D64F7D-42EF-4E2B-987D-E259C0718A45}"/>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01 / Web foundations</a:t>
            </a:r>
          </a:p>
        </p:txBody>
      </p:sp>
      <p:sp>
        <p:nvSpPr>
          <p:cNvPr id="2" name="text-41">
            <a:extLst>
              <a:ext uri="{FF2B5EF4-FFF2-40B4-BE49-F238E27FC236}">
                <a16:creationId xmlns:a16="http://schemas.microsoft.com/office/drawing/2014/main" id="{D4FE2805-815C-4B31-8568-8D7E88BC1DB5}"/>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What happens after Login?</a:t>
            </a:r>
          </a:p>
        </p:txBody>
      </p:sp>
      <p:sp>
        <p:nvSpPr>
          <p:cNvPr id="3" name="text-42">
            <a:extLst>
              <a:ext uri="{FF2B5EF4-FFF2-40B4-BE49-F238E27FC236}">
                <a16:creationId xmlns:a16="http://schemas.microsoft.com/office/drawing/2014/main" id="{AA82EA45-3383-43D9-9BDA-7533D656A40B}"/>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43">
            <a:extLst>
              <a:ext uri="{FF2B5EF4-FFF2-40B4-BE49-F238E27FC236}">
                <a16:creationId xmlns:a16="http://schemas.microsoft.com/office/drawing/2014/main" id="{8FF23263-6819-410F-B15B-E2820FBBA6F3}"/>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04</a:t>
            </a:r>
          </a:p>
        </p:txBody>
      </p:sp>
      <p:pic>
        <p:nvPicPr>
          <p:cNvPr id="17" name="Picture 16"/>
          <p:cNvPicPr>
            <a:picLocks noChangeAspect="1"/>
          </p:cNvPicPr>
          <p:nvPr/>
        </p:nvPicPr>
        <p:blipFill>
          <a:blip r:embed="rId3"/>
          <a:stretch/>
        </p:blipFill>
        <p:spPr>
          <a:xfrm>
            <a:off x="685800" y="2353974"/>
            <a:ext cx="8334375" cy="5455227"/>
          </a:xfrm>
          <a:prstGeom prst="rect">
            <a:avLst/>
          </a:prstGeom>
        </p:spPr>
      </p:pic>
      <p:sp>
        <p:nvSpPr>
          <p:cNvPr id="6" name="text-44">
            <a:extLst>
              <a:ext uri="{FF2B5EF4-FFF2-40B4-BE49-F238E27FC236}">
                <a16:creationId xmlns:a16="http://schemas.microsoft.com/office/drawing/2014/main" id="{CA73F54A-C95D-4B8B-AAA7-92B7B7313CA1}"/>
              </a:ext>
            </a:extLst>
          </p:cNvPr>
          <p:cNvSpPr>
            <a:spLocks noGrp="1"/>
          </p:cNvSpPr>
          <p:nvPr/>
        </p:nvSpPr>
        <p:spPr>
          <a:xfrm>
            <a:off x="9620250" y="2543175"/>
            <a:ext cx="4819650" cy="666750"/>
          </a:xfrm>
          <a:prstGeom prst="rect">
            <a:avLst/>
          </a:prstGeom>
          <a:noFill/>
          <a:ln w="0">
            <a:noFill/>
          </a:ln>
        </p:spPr>
        <p:txBody>
          <a:bodyPr wrap="none" lIns="0" tIns="0" rIns="0" bIns="0" anchor="t">
            <a:noAutofit/>
          </a:bodyPr>
          <a:lstStyle/>
          <a:p>
            <a:pPr algn="l">
              <a:defRPr sz="2700" b="0">
                <a:solidFill>
                  <a:srgbClr val="D8663D"/>
                </a:solidFill>
                <a:latin typeface="Georgia"/>
                <a:ea typeface="Georgia"/>
                <a:cs typeface="Georgia"/>
              </a:defRPr>
            </a:pPr>
            <a:r>
              <a:rPr sz="2700" b="0">
                <a:solidFill>
                  <a:srgbClr val="D8663D"/>
                </a:solidFill>
                <a:latin typeface="Georgia"/>
                <a:ea typeface="Georgia"/>
                <a:cs typeface="Georgia"/>
              </a:rPr>
              <a:t>Pause before clicking.</a:t>
            </a:r>
          </a:p>
        </p:txBody>
      </p:sp>
      <p:sp>
        <p:nvSpPr>
          <p:cNvPr id="7" name="reveal-1-label">
            <a:extLst>
              <a:ext uri="{FF2B5EF4-FFF2-40B4-BE49-F238E27FC236}">
                <a16:creationId xmlns:a16="http://schemas.microsoft.com/office/drawing/2014/main" id="{DF52785E-3547-44BC-89B2-0F50F0B9DE36}"/>
              </a:ext>
            </a:extLst>
          </p:cNvPr>
          <p:cNvSpPr>
            <a:spLocks noGrp="1"/>
          </p:cNvSpPr>
          <p:nvPr/>
        </p:nvSpPr>
        <p:spPr>
          <a:xfrm>
            <a:off x="9620250" y="3552825"/>
            <a:ext cx="4819650" cy="428625"/>
          </a:xfrm>
          <a:prstGeom prst="rect">
            <a:avLst/>
          </a:prstGeom>
          <a:noFill/>
          <a:ln w="0">
            <a:noFill/>
          </a:ln>
        </p:spPr>
        <p:txBody>
          <a:bodyPr wrap="none" lIns="0" tIns="0" rIns="0" bIns="0" anchor="t">
            <a:noAutofit/>
          </a:bodyPr>
          <a:lstStyle/>
          <a:p>
            <a:pPr algn="l">
              <a:defRPr sz="2175" b="1">
                <a:solidFill>
                  <a:srgbClr val="242C35"/>
                </a:solidFill>
                <a:latin typeface="Helvetica Neue"/>
                <a:ea typeface="Helvetica Neue"/>
                <a:cs typeface="Helvetica Neue"/>
              </a:defRPr>
            </a:pPr>
            <a:r>
              <a:rPr sz="2175" b="1">
                <a:solidFill>
                  <a:srgbClr val="242C35"/>
                </a:solidFill>
                <a:latin typeface="Helvetica Neue"/>
                <a:ea typeface="Helvetica Neue"/>
                <a:cs typeface="Helvetica Neue"/>
              </a:rPr>
              <a:t>Browser</a:t>
            </a:r>
          </a:p>
        </p:txBody>
      </p:sp>
      <p:sp>
        <p:nvSpPr>
          <p:cNvPr id="8" name="reveal-1-body">
            <a:extLst>
              <a:ext uri="{FF2B5EF4-FFF2-40B4-BE49-F238E27FC236}">
                <a16:creationId xmlns:a16="http://schemas.microsoft.com/office/drawing/2014/main" id="{462C39B9-DF8B-429A-9779-5A28BC8978CF}"/>
              </a:ext>
            </a:extLst>
          </p:cNvPr>
          <p:cNvSpPr>
            <a:spLocks noGrp="1"/>
          </p:cNvSpPr>
          <p:nvPr/>
        </p:nvSpPr>
        <p:spPr>
          <a:xfrm>
            <a:off x="9620250" y="4029075"/>
            <a:ext cx="4819650" cy="85725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Sends the login form over HTTPS.</a:t>
            </a:r>
          </a:p>
        </p:txBody>
      </p:sp>
      <p:sp>
        <p:nvSpPr>
          <p:cNvPr id="9" name="reveal-2-label">
            <a:extLst>
              <a:ext uri="{FF2B5EF4-FFF2-40B4-BE49-F238E27FC236}">
                <a16:creationId xmlns:a16="http://schemas.microsoft.com/office/drawing/2014/main" id="{633DC236-B2E3-4482-9AAC-CEFF462A9B8A}"/>
              </a:ext>
            </a:extLst>
          </p:cNvPr>
          <p:cNvSpPr>
            <a:spLocks noGrp="1"/>
          </p:cNvSpPr>
          <p:nvPr/>
        </p:nvSpPr>
        <p:spPr>
          <a:xfrm>
            <a:off x="9620250" y="4886325"/>
            <a:ext cx="4819650" cy="428625"/>
          </a:xfrm>
          <a:prstGeom prst="rect">
            <a:avLst/>
          </a:prstGeom>
          <a:noFill/>
          <a:ln w="0">
            <a:noFill/>
          </a:ln>
        </p:spPr>
        <p:txBody>
          <a:bodyPr wrap="none" lIns="0" tIns="0" rIns="0" bIns="0" anchor="t">
            <a:noAutofit/>
          </a:bodyPr>
          <a:lstStyle/>
          <a:p>
            <a:pPr algn="l">
              <a:defRPr sz="2175" b="1">
                <a:solidFill>
                  <a:srgbClr val="242C35"/>
                </a:solidFill>
                <a:latin typeface="Helvetica Neue"/>
                <a:ea typeface="Helvetica Neue"/>
                <a:cs typeface="Helvetica Neue"/>
              </a:defRPr>
            </a:pPr>
            <a:r>
              <a:rPr sz="2175" b="1">
                <a:solidFill>
                  <a:srgbClr val="242C35"/>
                </a:solidFill>
                <a:latin typeface="Helvetica Neue"/>
                <a:ea typeface="Helvetica Neue"/>
                <a:cs typeface="Helvetica Neue"/>
              </a:rPr>
              <a:t>Django</a:t>
            </a:r>
          </a:p>
        </p:txBody>
      </p:sp>
      <p:sp>
        <p:nvSpPr>
          <p:cNvPr id="10" name="reveal-2-body">
            <a:extLst>
              <a:ext uri="{FF2B5EF4-FFF2-40B4-BE49-F238E27FC236}">
                <a16:creationId xmlns:a16="http://schemas.microsoft.com/office/drawing/2014/main" id="{198E952D-E609-4EB0-BB40-032F97F57502}"/>
              </a:ext>
            </a:extLst>
          </p:cNvPr>
          <p:cNvSpPr>
            <a:spLocks noGrp="1"/>
          </p:cNvSpPr>
          <p:nvPr/>
        </p:nvSpPr>
        <p:spPr>
          <a:xfrm>
            <a:off x="9620250" y="5362575"/>
            <a:ext cx="4819650" cy="85725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Checks the credentials and establishes a</a:t>
            </a:r>
          </a:p>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session.</a:t>
            </a:r>
          </a:p>
        </p:txBody>
      </p:sp>
      <p:sp>
        <p:nvSpPr>
          <p:cNvPr id="11" name="reveal-3-label">
            <a:extLst>
              <a:ext uri="{FF2B5EF4-FFF2-40B4-BE49-F238E27FC236}">
                <a16:creationId xmlns:a16="http://schemas.microsoft.com/office/drawing/2014/main" id="{D7752F80-EFCB-4068-8B43-9CD40B2E81C3}"/>
              </a:ext>
            </a:extLst>
          </p:cNvPr>
          <p:cNvSpPr>
            <a:spLocks noGrp="1"/>
          </p:cNvSpPr>
          <p:nvPr/>
        </p:nvSpPr>
        <p:spPr>
          <a:xfrm>
            <a:off x="9620250" y="6219825"/>
            <a:ext cx="4819650" cy="428625"/>
          </a:xfrm>
          <a:prstGeom prst="rect">
            <a:avLst/>
          </a:prstGeom>
          <a:noFill/>
          <a:ln w="0">
            <a:noFill/>
          </a:ln>
        </p:spPr>
        <p:txBody>
          <a:bodyPr wrap="none" lIns="0" tIns="0" rIns="0" bIns="0" anchor="t">
            <a:noAutofit/>
          </a:bodyPr>
          <a:lstStyle/>
          <a:p>
            <a:pPr algn="l">
              <a:defRPr sz="2175" b="1">
                <a:solidFill>
                  <a:srgbClr val="242C35"/>
                </a:solidFill>
                <a:latin typeface="Helvetica Neue"/>
                <a:ea typeface="Helvetica Neue"/>
                <a:cs typeface="Helvetica Neue"/>
              </a:defRPr>
            </a:pPr>
            <a:r>
              <a:rPr sz="2175" b="1">
                <a:solidFill>
                  <a:srgbClr val="242C35"/>
                </a:solidFill>
                <a:latin typeface="Helvetica Neue"/>
                <a:ea typeface="Helvetica Neue"/>
                <a:cs typeface="Helvetica Neue"/>
              </a:rPr>
              <a:t>Your workspace</a:t>
            </a:r>
          </a:p>
        </p:txBody>
      </p:sp>
      <p:sp>
        <p:nvSpPr>
          <p:cNvPr id="12" name="reveal-3-body">
            <a:extLst>
              <a:ext uri="{FF2B5EF4-FFF2-40B4-BE49-F238E27FC236}">
                <a16:creationId xmlns:a16="http://schemas.microsoft.com/office/drawing/2014/main" id="{DA1435E2-8483-404A-945C-DA6133BF1DD6}"/>
              </a:ext>
            </a:extLst>
          </p:cNvPr>
          <p:cNvSpPr>
            <a:spLocks noGrp="1"/>
          </p:cNvSpPr>
          <p:nvPr/>
        </p:nvSpPr>
        <p:spPr>
          <a:xfrm>
            <a:off x="9620250" y="6696075"/>
            <a:ext cx="4819650" cy="85725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Queries records owned by your account.</a:t>
            </a:r>
          </a:p>
        </p:txBody>
      </p:sp>
    </p:spTree>
    <p:extLst>
      <p:ext uri="{BB962C8B-B14F-4D97-AF65-F5344CB8AC3E}">
        <p14:creationId xmlns:p14="http://schemas.microsoft.com/office/powerpoint/2010/main" val="11219513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1" name="text-45">
            <a:extLst>
              <a:ext uri="{FF2B5EF4-FFF2-40B4-BE49-F238E27FC236}">
                <a16:creationId xmlns:a16="http://schemas.microsoft.com/office/drawing/2014/main" id="{995F1C1E-1368-4389-A342-CC2874670E2C}"/>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01 / Web foundations</a:t>
            </a:r>
          </a:p>
        </p:txBody>
      </p:sp>
      <p:sp>
        <p:nvSpPr>
          <p:cNvPr id="2" name="text-46">
            <a:extLst>
              <a:ext uri="{FF2B5EF4-FFF2-40B4-BE49-F238E27FC236}">
                <a16:creationId xmlns:a16="http://schemas.microsoft.com/office/drawing/2014/main" id="{C7B566B4-BAE1-47F6-8FA7-7EA87C8F26AC}"/>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A login page becomes an application</a:t>
            </a:r>
          </a:p>
        </p:txBody>
      </p:sp>
      <p:sp>
        <p:nvSpPr>
          <p:cNvPr id="3" name="text-47">
            <a:extLst>
              <a:ext uri="{FF2B5EF4-FFF2-40B4-BE49-F238E27FC236}">
                <a16:creationId xmlns:a16="http://schemas.microsoft.com/office/drawing/2014/main" id="{30A0D10F-DADD-4508-803E-E91582AB2087}"/>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48">
            <a:extLst>
              <a:ext uri="{FF2B5EF4-FFF2-40B4-BE49-F238E27FC236}">
                <a16:creationId xmlns:a16="http://schemas.microsoft.com/office/drawing/2014/main" id="{B61407AB-8DE1-47E3-844A-7F076DD13D8C}"/>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05</a:t>
            </a:r>
          </a:p>
        </p:txBody>
      </p:sp>
      <p:pic>
        <p:nvPicPr>
          <p:cNvPr id="15" name="Picture 14"/>
          <p:cNvPicPr>
            <a:picLocks noChangeAspect="1"/>
          </p:cNvPicPr>
          <p:nvPr/>
        </p:nvPicPr>
        <p:blipFill>
          <a:blip r:embed="rId3"/>
          <a:stretch/>
        </p:blipFill>
        <p:spPr>
          <a:xfrm>
            <a:off x="685800" y="2344189"/>
            <a:ext cx="7505700" cy="4912822"/>
          </a:xfrm>
          <a:prstGeom prst="rect">
            <a:avLst/>
          </a:prstGeom>
        </p:spPr>
      </p:pic>
      <p:sp>
        <p:nvSpPr>
          <p:cNvPr id="6" name="text-49">
            <a:extLst>
              <a:ext uri="{FF2B5EF4-FFF2-40B4-BE49-F238E27FC236}">
                <a16:creationId xmlns:a16="http://schemas.microsoft.com/office/drawing/2014/main" id="{14B06181-708B-4B64-84BA-D6A3D84B9405}"/>
              </a:ext>
            </a:extLst>
          </p:cNvPr>
          <p:cNvSpPr>
            <a:spLocks noGrp="1"/>
          </p:cNvSpPr>
          <p:nvPr/>
        </p:nvSpPr>
        <p:spPr>
          <a:xfrm>
            <a:off x="8810625" y="2362200"/>
            <a:ext cx="5667375" cy="1143000"/>
          </a:xfrm>
          <a:prstGeom prst="rect">
            <a:avLst/>
          </a:prstGeom>
          <a:noFill/>
          <a:ln w="0">
            <a:noFill/>
          </a:ln>
        </p:spPr>
        <p:txBody>
          <a:bodyPr wrap="none" lIns="0" tIns="0" rIns="0" bIns="0" anchor="t">
            <a:noAutofit/>
          </a:bodyPr>
          <a:lstStyle/>
          <a:p>
            <a:pPr algn="l">
              <a:defRPr sz="3000" b="0">
                <a:solidFill>
                  <a:srgbClr val="242C35"/>
                </a:solidFill>
                <a:latin typeface="Georgia"/>
                <a:ea typeface="Georgia"/>
                <a:cs typeface="Georgia"/>
              </a:defRPr>
            </a:pPr>
            <a:r>
              <a:rPr sz="3000" b="0">
                <a:solidFill>
                  <a:srgbClr val="242C35"/>
                </a:solidFill>
                <a:latin typeface="Georgia"/>
                <a:ea typeface="Georgia"/>
                <a:cs typeface="Georgia"/>
              </a:rPr>
              <a:t>The screen is only the beginning.</a:t>
            </a:r>
          </a:p>
        </p:txBody>
      </p:sp>
      <p:sp>
        <p:nvSpPr>
          <p:cNvPr id="7" name="reveal-1-head">
            <a:extLst>
              <a:ext uri="{FF2B5EF4-FFF2-40B4-BE49-F238E27FC236}">
                <a16:creationId xmlns:a16="http://schemas.microsoft.com/office/drawing/2014/main" id="{B100CDEC-90FC-40A5-BC06-B5E4C80E2DCC}"/>
              </a:ext>
            </a:extLst>
          </p:cNvPr>
          <p:cNvSpPr>
            <a:spLocks noGrp="1"/>
          </p:cNvSpPr>
          <p:nvPr/>
        </p:nvSpPr>
        <p:spPr>
          <a:xfrm>
            <a:off x="8810625" y="4076700"/>
            <a:ext cx="5667375" cy="476250"/>
          </a:xfrm>
          <a:prstGeom prst="rect">
            <a:avLst/>
          </a:prstGeom>
          <a:noFill/>
          <a:ln w="0">
            <a:noFill/>
          </a:ln>
        </p:spPr>
        <p:txBody>
          <a:bodyPr wrap="none" lIns="0" tIns="0" rIns="0" bIns="0" anchor="t">
            <a:noAutofit/>
          </a:bodyPr>
          <a:lstStyle/>
          <a:p>
            <a:pPr algn="l">
              <a:defRPr sz="2250" b="1">
                <a:solidFill>
                  <a:srgbClr val="315BCD"/>
                </a:solidFill>
                <a:latin typeface="Helvetica Neue"/>
                <a:ea typeface="Helvetica Neue"/>
                <a:cs typeface="Helvetica Neue"/>
              </a:defRPr>
            </a:pPr>
            <a:r>
              <a:rPr sz="2250" b="1">
                <a:solidFill>
                  <a:srgbClr val="315BCD"/>
                </a:solidFill>
                <a:latin typeface="Helvetica Neue"/>
                <a:ea typeface="Helvetica Neue"/>
                <a:cs typeface="Helvetica Neue"/>
              </a:rPr>
              <a:t>A page</a:t>
            </a:r>
          </a:p>
        </p:txBody>
      </p:sp>
      <p:sp>
        <p:nvSpPr>
          <p:cNvPr id="8" name="reveal-1-body">
            <a:extLst>
              <a:ext uri="{FF2B5EF4-FFF2-40B4-BE49-F238E27FC236}">
                <a16:creationId xmlns:a16="http://schemas.microsoft.com/office/drawing/2014/main" id="{8F474776-3724-4602-B4C5-D62FF39817D2}"/>
              </a:ext>
            </a:extLst>
          </p:cNvPr>
          <p:cNvSpPr>
            <a:spLocks noGrp="1"/>
          </p:cNvSpPr>
          <p:nvPr/>
        </p:nvSpPr>
        <p:spPr>
          <a:xfrm>
            <a:off x="8810625" y="4629150"/>
            <a:ext cx="5667375" cy="1104900"/>
          </a:xfrm>
          <a:prstGeom prst="rect">
            <a:avLst/>
          </a:prstGeom>
          <a:noFill/>
          <a:ln w="0">
            <a:noFill/>
          </a:ln>
        </p:spPr>
        <p:txBody>
          <a:bodyPr wrap="none" lIns="0" tIns="0" rIns="0" bIns="0" anchor="t">
            <a:noAutofit/>
          </a:bodyPr>
          <a:lstStyle/>
          <a:p>
            <a:pPr algn="l">
              <a:defRPr sz="2100" b="0">
                <a:solidFill>
                  <a:srgbClr val="65717A"/>
                </a:solidFill>
                <a:latin typeface="Helvetica Neue"/>
                <a:ea typeface="Helvetica Neue"/>
                <a:cs typeface="Helvetica Neue"/>
              </a:defRPr>
            </a:pPr>
            <a:r>
              <a:rPr sz="2100" b="0">
                <a:solidFill>
                  <a:srgbClr val="65717A"/>
                </a:solidFill>
                <a:latin typeface="Helvetica Neue"/>
                <a:ea typeface="Helvetica Neue"/>
                <a:cs typeface="Helvetica Neue"/>
              </a:rPr>
              <a:t>Displays a form.</a:t>
            </a:r>
          </a:p>
        </p:txBody>
      </p:sp>
      <p:sp>
        <p:nvSpPr>
          <p:cNvPr id="9" name="reveal-2-head">
            <a:extLst>
              <a:ext uri="{FF2B5EF4-FFF2-40B4-BE49-F238E27FC236}">
                <a16:creationId xmlns:a16="http://schemas.microsoft.com/office/drawing/2014/main" id="{1D071033-806A-4436-9CFF-522B82B728DF}"/>
              </a:ext>
            </a:extLst>
          </p:cNvPr>
          <p:cNvSpPr>
            <a:spLocks noGrp="1"/>
          </p:cNvSpPr>
          <p:nvPr/>
        </p:nvSpPr>
        <p:spPr>
          <a:xfrm>
            <a:off x="8810625" y="5734050"/>
            <a:ext cx="5667375" cy="476250"/>
          </a:xfrm>
          <a:prstGeom prst="rect">
            <a:avLst/>
          </a:prstGeom>
          <a:noFill/>
          <a:ln w="0">
            <a:noFill/>
          </a:ln>
        </p:spPr>
        <p:txBody>
          <a:bodyPr wrap="none" lIns="0" tIns="0" rIns="0" bIns="0" anchor="t">
            <a:noAutofit/>
          </a:bodyPr>
          <a:lstStyle/>
          <a:p>
            <a:pPr algn="l">
              <a:defRPr sz="2250" b="1">
                <a:solidFill>
                  <a:srgbClr val="315BCD"/>
                </a:solidFill>
                <a:latin typeface="Helvetica Neue"/>
                <a:ea typeface="Helvetica Neue"/>
                <a:cs typeface="Helvetica Neue"/>
              </a:defRPr>
            </a:pPr>
            <a:r>
              <a:rPr sz="2250" b="1">
                <a:solidFill>
                  <a:srgbClr val="315BCD"/>
                </a:solidFill>
                <a:latin typeface="Helvetica Neue"/>
                <a:ea typeface="Helvetica Neue"/>
                <a:cs typeface="Helvetica Neue"/>
              </a:rPr>
              <a:t>An application</a:t>
            </a:r>
          </a:p>
        </p:txBody>
      </p:sp>
      <p:sp>
        <p:nvSpPr>
          <p:cNvPr id="10" name="reveal-2-body">
            <a:extLst>
              <a:ext uri="{FF2B5EF4-FFF2-40B4-BE49-F238E27FC236}">
                <a16:creationId xmlns:a16="http://schemas.microsoft.com/office/drawing/2014/main" id="{93979841-F749-4998-AA9E-D1097BF04259}"/>
              </a:ext>
            </a:extLst>
          </p:cNvPr>
          <p:cNvSpPr>
            <a:spLocks noGrp="1"/>
          </p:cNvSpPr>
          <p:nvPr/>
        </p:nvSpPr>
        <p:spPr>
          <a:xfrm>
            <a:off x="8810625" y="6286500"/>
            <a:ext cx="5667375" cy="1104900"/>
          </a:xfrm>
          <a:prstGeom prst="rect">
            <a:avLst/>
          </a:prstGeom>
          <a:noFill/>
          <a:ln w="0">
            <a:noFill/>
          </a:ln>
        </p:spPr>
        <p:txBody>
          <a:bodyPr wrap="none" lIns="0" tIns="0" rIns="0" bIns="0" anchor="t">
            <a:noAutofit/>
          </a:bodyPr>
          <a:lstStyle/>
          <a:p>
            <a:pPr algn="l">
              <a:defRPr sz="2100" b="0">
                <a:solidFill>
                  <a:srgbClr val="65717A"/>
                </a:solidFill>
                <a:latin typeface="Helvetica Neue"/>
                <a:ea typeface="Helvetica Neue"/>
                <a:cs typeface="Helvetica Neue"/>
              </a:defRPr>
            </a:pPr>
            <a:r>
              <a:rPr sz="2100" b="0">
                <a:solidFill>
                  <a:srgbClr val="65717A"/>
                </a:solidFill>
                <a:latin typeface="Helvetica Neue"/>
                <a:ea typeface="Helvetica Neue"/>
                <a:cs typeface="Helvetica Neue"/>
              </a:rPr>
              <a:t>Checks identity, remembers a session and</a:t>
            </a:r>
          </a:p>
          <a:p>
            <a:pPr algn="l">
              <a:defRPr sz="2100" b="0">
                <a:solidFill>
                  <a:srgbClr val="65717A"/>
                </a:solidFill>
                <a:latin typeface="Helvetica Neue"/>
                <a:ea typeface="Helvetica Neue"/>
                <a:cs typeface="Helvetica Neue"/>
              </a:defRPr>
            </a:pPr>
            <a:r>
              <a:rPr sz="2100" b="0">
                <a:solidFill>
                  <a:srgbClr val="65717A"/>
                </a:solidFill>
                <a:latin typeface="Helvetica Neue"/>
                <a:ea typeface="Helvetica Neue"/>
                <a:cs typeface="Helvetica Neue"/>
              </a:rPr>
              <a:t>retrieves your data.</a:t>
            </a:r>
          </a:p>
        </p:txBody>
      </p:sp>
    </p:spTree>
    <p:extLst>
      <p:ext uri="{BB962C8B-B14F-4D97-AF65-F5344CB8AC3E}">
        <p14:creationId xmlns:p14="http://schemas.microsoft.com/office/powerpoint/2010/main" val="10398819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7" name="text-50">
            <a:extLst>
              <a:ext uri="{FF2B5EF4-FFF2-40B4-BE49-F238E27FC236}">
                <a16:creationId xmlns:a16="http://schemas.microsoft.com/office/drawing/2014/main" id="{7B4729BB-18F6-4C3B-A5B2-769695D05B59}"/>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01 / Web foundations</a:t>
            </a:r>
          </a:p>
        </p:txBody>
      </p:sp>
      <p:sp>
        <p:nvSpPr>
          <p:cNvPr id="2" name="text-51">
            <a:extLst>
              <a:ext uri="{FF2B5EF4-FFF2-40B4-BE49-F238E27FC236}">
                <a16:creationId xmlns:a16="http://schemas.microsoft.com/office/drawing/2014/main" id="{809EAE80-8D90-4FA2-9EC2-611C866B450D}"/>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A web request and its response</a:t>
            </a:r>
          </a:p>
        </p:txBody>
      </p:sp>
      <p:sp>
        <p:nvSpPr>
          <p:cNvPr id="3" name="text-52">
            <a:extLst>
              <a:ext uri="{FF2B5EF4-FFF2-40B4-BE49-F238E27FC236}">
                <a16:creationId xmlns:a16="http://schemas.microsoft.com/office/drawing/2014/main" id="{EB7CDA60-8460-4BB3-996E-D9225645D336}"/>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53">
            <a:extLst>
              <a:ext uri="{FF2B5EF4-FFF2-40B4-BE49-F238E27FC236}">
                <a16:creationId xmlns:a16="http://schemas.microsoft.com/office/drawing/2014/main" id="{13816317-E3AA-4547-B80B-FC4F61576BC1}"/>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06</a:t>
            </a:r>
          </a:p>
        </p:txBody>
      </p:sp>
      <p:sp>
        <p:nvSpPr>
          <p:cNvPr id="5" name="reveal-1-flow-head">
            <a:extLst>
              <a:ext uri="{FF2B5EF4-FFF2-40B4-BE49-F238E27FC236}">
                <a16:creationId xmlns:a16="http://schemas.microsoft.com/office/drawing/2014/main" id="{8FA2BCC1-9A4E-4835-BFCC-3A459C769453}"/>
              </a:ext>
            </a:extLst>
          </p:cNvPr>
          <p:cNvSpPr>
            <a:spLocks noGrp="1"/>
          </p:cNvSpPr>
          <p:nvPr/>
        </p:nvSpPr>
        <p:spPr>
          <a:xfrm>
            <a:off x="685800" y="2952750"/>
            <a:ext cx="3217069" cy="666750"/>
          </a:xfrm>
          <a:prstGeom prst="rect">
            <a:avLst/>
          </a:prstGeom>
          <a:noFill/>
          <a:ln w="0">
            <a:noFill/>
          </a:ln>
        </p:spPr>
        <p:txBody>
          <a:bodyPr wrap="none" lIns="0" tIns="0" rIns="0" bIns="0" anchor="t">
            <a:noAutofit/>
          </a:bodyPr>
          <a:lstStyle/>
          <a:p>
            <a:pPr algn="l">
              <a:defRPr sz="2550" b="0">
                <a:solidFill>
                  <a:srgbClr val="315BCD"/>
                </a:solidFill>
                <a:latin typeface="Georgia"/>
                <a:ea typeface="Georgia"/>
                <a:cs typeface="Georgia"/>
              </a:defRPr>
            </a:pPr>
            <a:r>
              <a:rPr sz="2550" b="0">
                <a:solidFill>
                  <a:srgbClr val="315BCD"/>
                </a:solidFill>
                <a:latin typeface="Georgia"/>
                <a:ea typeface="Georgia"/>
                <a:cs typeface="Georgia"/>
              </a:rPr>
              <a:t>Browser</a:t>
            </a:r>
          </a:p>
        </p:txBody>
      </p:sp>
      <p:sp>
        <p:nvSpPr>
          <p:cNvPr id="6" name="reveal-1-flow-body">
            <a:extLst>
              <a:ext uri="{FF2B5EF4-FFF2-40B4-BE49-F238E27FC236}">
                <a16:creationId xmlns:a16="http://schemas.microsoft.com/office/drawing/2014/main" id="{C95D35E7-0358-473B-8E5D-A314506B524C}"/>
              </a:ext>
            </a:extLst>
          </p:cNvPr>
          <p:cNvSpPr>
            <a:spLocks noGrp="1"/>
          </p:cNvSpPr>
          <p:nvPr/>
        </p:nvSpPr>
        <p:spPr>
          <a:xfrm>
            <a:off x="685800" y="4048125"/>
            <a:ext cx="3217069" cy="133350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GET /tasks/</a:t>
            </a:r>
          </a:p>
        </p:txBody>
      </p:sp>
      <p:sp>
        <p:nvSpPr>
          <p:cNvPr id="7" name="reveal-1-arrow">
            <a:extLst>
              <a:ext uri="{FF2B5EF4-FFF2-40B4-BE49-F238E27FC236}">
                <a16:creationId xmlns:a16="http://schemas.microsoft.com/office/drawing/2014/main" id="{FF13099C-D3AC-4CC5-A3D5-21419AAEA3E3}"/>
              </a:ext>
            </a:extLst>
          </p:cNvPr>
          <p:cNvSpPr>
            <a:spLocks noGrp="1"/>
          </p:cNvSpPr>
          <p:nvPr/>
        </p:nvSpPr>
        <p:spPr>
          <a:xfrm>
            <a:off x="3921919" y="2971800"/>
            <a:ext cx="304800" cy="609600"/>
          </a:xfrm>
          <a:prstGeom prst="rect">
            <a:avLst/>
          </a:prstGeom>
          <a:noFill/>
          <a:ln w="0">
            <a:noFill/>
          </a:ln>
        </p:spPr>
        <p:txBody>
          <a:bodyPr wrap="none" lIns="0" tIns="0" rIns="0" bIns="0" anchor="t">
            <a:noAutofit/>
          </a:bodyPr>
          <a:lstStyle/>
          <a:p>
            <a:pPr algn="l">
              <a:defRPr sz="2400" b="0">
                <a:solidFill>
                  <a:srgbClr val="D8663D"/>
                </a:solidFill>
                <a:latin typeface="Helvetica Neue"/>
                <a:ea typeface="Helvetica Neue"/>
                <a:cs typeface="Helvetica Neue"/>
              </a:defRPr>
            </a:pPr>
            <a:r>
              <a:rPr sz="2400" b="0">
                <a:solidFill>
                  <a:srgbClr val="D8663D"/>
                </a:solidFill>
                <a:latin typeface="Helvetica Neue"/>
                <a:ea typeface="Helvetica Neue"/>
                <a:cs typeface="Helvetica Neue"/>
              </a:rPr>
              <a:t>→</a:t>
            </a:r>
          </a:p>
        </p:txBody>
      </p:sp>
      <p:sp>
        <p:nvSpPr>
          <p:cNvPr id="8" name="reveal-2-flow-head">
            <a:extLst>
              <a:ext uri="{FF2B5EF4-FFF2-40B4-BE49-F238E27FC236}">
                <a16:creationId xmlns:a16="http://schemas.microsoft.com/office/drawing/2014/main" id="{F47F96A5-8043-4E8F-840E-40047B3C438B}"/>
              </a:ext>
            </a:extLst>
          </p:cNvPr>
          <p:cNvSpPr>
            <a:spLocks noGrp="1"/>
          </p:cNvSpPr>
          <p:nvPr/>
        </p:nvSpPr>
        <p:spPr>
          <a:xfrm>
            <a:off x="4236244" y="2952750"/>
            <a:ext cx="3217069" cy="666750"/>
          </a:xfrm>
          <a:prstGeom prst="rect">
            <a:avLst/>
          </a:prstGeom>
          <a:noFill/>
          <a:ln w="0">
            <a:noFill/>
          </a:ln>
        </p:spPr>
        <p:txBody>
          <a:bodyPr wrap="none" lIns="0" tIns="0" rIns="0" bIns="0" anchor="t">
            <a:noAutofit/>
          </a:bodyPr>
          <a:lstStyle/>
          <a:p>
            <a:pPr algn="l">
              <a:defRPr sz="2550" b="0">
                <a:solidFill>
                  <a:srgbClr val="315BCD"/>
                </a:solidFill>
                <a:latin typeface="Georgia"/>
                <a:ea typeface="Georgia"/>
                <a:cs typeface="Georgia"/>
              </a:defRPr>
            </a:pPr>
            <a:r>
              <a:rPr sz="2550" b="0">
                <a:solidFill>
                  <a:srgbClr val="315BCD"/>
                </a:solidFill>
                <a:latin typeface="Georgia"/>
                <a:ea typeface="Georgia"/>
                <a:cs typeface="Georgia"/>
              </a:rPr>
              <a:t>URL route</a:t>
            </a:r>
          </a:p>
        </p:txBody>
      </p:sp>
      <p:sp>
        <p:nvSpPr>
          <p:cNvPr id="9" name="reveal-2-flow-body">
            <a:extLst>
              <a:ext uri="{FF2B5EF4-FFF2-40B4-BE49-F238E27FC236}">
                <a16:creationId xmlns:a16="http://schemas.microsoft.com/office/drawing/2014/main" id="{F3091E0D-4322-4964-B590-07DF8B55AB0E}"/>
              </a:ext>
            </a:extLst>
          </p:cNvPr>
          <p:cNvSpPr>
            <a:spLocks noGrp="1"/>
          </p:cNvSpPr>
          <p:nvPr/>
        </p:nvSpPr>
        <p:spPr>
          <a:xfrm>
            <a:off x="4236244" y="4048125"/>
            <a:ext cx="3217069" cy="133350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Find the matching view.</a:t>
            </a:r>
          </a:p>
        </p:txBody>
      </p:sp>
      <p:sp>
        <p:nvSpPr>
          <p:cNvPr id="10" name="reveal-2-arrow">
            <a:extLst>
              <a:ext uri="{FF2B5EF4-FFF2-40B4-BE49-F238E27FC236}">
                <a16:creationId xmlns:a16="http://schemas.microsoft.com/office/drawing/2014/main" id="{75EF31E4-EF64-4FFE-823B-D0C628CC0FC4}"/>
              </a:ext>
            </a:extLst>
          </p:cNvPr>
          <p:cNvSpPr>
            <a:spLocks noGrp="1"/>
          </p:cNvSpPr>
          <p:nvPr/>
        </p:nvSpPr>
        <p:spPr>
          <a:xfrm>
            <a:off x="7472363" y="2971800"/>
            <a:ext cx="304800" cy="609600"/>
          </a:xfrm>
          <a:prstGeom prst="rect">
            <a:avLst/>
          </a:prstGeom>
          <a:noFill/>
          <a:ln w="0">
            <a:noFill/>
          </a:ln>
        </p:spPr>
        <p:txBody>
          <a:bodyPr wrap="none" lIns="0" tIns="0" rIns="0" bIns="0" anchor="t">
            <a:noAutofit/>
          </a:bodyPr>
          <a:lstStyle/>
          <a:p>
            <a:pPr algn="l">
              <a:defRPr sz="2400" b="0">
                <a:solidFill>
                  <a:srgbClr val="D8663D"/>
                </a:solidFill>
                <a:latin typeface="Helvetica Neue"/>
                <a:ea typeface="Helvetica Neue"/>
                <a:cs typeface="Helvetica Neue"/>
              </a:defRPr>
            </a:pPr>
            <a:r>
              <a:rPr sz="2400" b="0">
                <a:solidFill>
                  <a:srgbClr val="D8663D"/>
                </a:solidFill>
                <a:latin typeface="Helvetica Neue"/>
                <a:ea typeface="Helvetica Neue"/>
                <a:cs typeface="Helvetica Neue"/>
              </a:rPr>
              <a:t>→</a:t>
            </a:r>
          </a:p>
        </p:txBody>
      </p:sp>
      <p:sp>
        <p:nvSpPr>
          <p:cNvPr id="11" name="reveal-3-flow-head">
            <a:extLst>
              <a:ext uri="{FF2B5EF4-FFF2-40B4-BE49-F238E27FC236}">
                <a16:creationId xmlns:a16="http://schemas.microsoft.com/office/drawing/2014/main" id="{560A1E52-E70C-4A42-93C7-E7C2117C60BA}"/>
              </a:ext>
            </a:extLst>
          </p:cNvPr>
          <p:cNvSpPr>
            <a:spLocks noGrp="1"/>
          </p:cNvSpPr>
          <p:nvPr/>
        </p:nvSpPr>
        <p:spPr>
          <a:xfrm>
            <a:off x="7786688" y="2952750"/>
            <a:ext cx="3217069" cy="666750"/>
          </a:xfrm>
          <a:prstGeom prst="rect">
            <a:avLst/>
          </a:prstGeom>
          <a:noFill/>
          <a:ln w="0">
            <a:noFill/>
          </a:ln>
        </p:spPr>
        <p:txBody>
          <a:bodyPr wrap="none" lIns="0" tIns="0" rIns="0" bIns="0" anchor="t">
            <a:noAutofit/>
          </a:bodyPr>
          <a:lstStyle/>
          <a:p>
            <a:pPr algn="l">
              <a:defRPr sz="2550" b="0">
                <a:solidFill>
                  <a:srgbClr val="315BCD"/>
                </a:solidFill>
                <a:latin typeface="Georgia"/>
                <a:ea typeface="Georgia"/>
                <a:cs typeface="Georgia"/>
              </a:defRPr>
            </a:pPr>
            <a:r>
              <a:rPr sz="2550" b="0">
                <a:solidFill>
                  <a:srgbClr val="315BCD"/>
                </a:solidFill>
                <a:latin typeface="Georgia"/>
                <a:ea typeface="Georgia"/>
                <a:cs typeface="Georgia"/>
              </a:rPr>
              <a:t>View + model</a:t>
            </a:r>
          </a:p>
        </p:txBody>
      </p:sp>
      <p:sp>
        <p:nvSpPr>
          <p:cNvPr id="12" name="reveal-3-flow-body">
            <a:extLst>
              <a:ext uri="{FF2B5EF4-FFF2-40B4-BE49-F238E27FC236}">
                <a16:creationId xmlns:a16="http://schemas.microsoft.com/office/drawing/2014/main" id="{5B3F5659-1D60-42CD-B103-7AB8152C1E9F}"/>
              </a:ext>
            </a:extLst>
          </p:cNvPr>
          <p:cNvSpPr>
            <a:spLocks noGrp="1"/>
          </p:cNvSpPr>
          <p:nvPr/>
        </p:nvSpPr>
        <p:spPr>
          <a:xfrm>
            <a:off x="7786688" y="4048125"/>
            <a:ext cx="3217069" cy="133350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Load Asha’s tasks.</a:t>
            </a:r>
          </a:p>
        </p:txBody>
      </p:sp>
      <p:sp>
        <p:nvSpPr>
          <p:cNvPr id="13" name="reveal-3-arrow">
            <a:extLst>
              <a:ext uri="{FF2B5EF4-FFF2-40B4-BE49-F238E27FC236}">
                <a16:creationId xmlns:a16="http://schemas.microsoft.com/office/drawing/2014/main" id="{6E052891-569D-4B54-8419-EB88BBDAF17E}"/>
              </a:ext>
            </a:extLst>
          </p:cNvPr>
          <p:cNvSpPr>
            <a:spLocks noGrp="1"/>
          </p:cNvSpPr>
          <p:nvPr/>
        </p:nvSpPr>
        <p:spPr>
          <a:xfrm>
            <a:off x="11022806" y="2971800"/>
            <a:ext cx="304800" cy="609600"/>
          </a:xfrm>
          <a:prstGeom prst="rect">
            <a:avLst/>
          </a:prstGeom>
          <a:noFill/>
          <a:ln w="0">
            <a:noFill/>
          </a:ln>
        </p:spPr>
        <p:txBody>
          <a:bodyPr wrap="none" lIns="0" tIns="0" rIns="0" bIns="0" anchor="t">
            <a:noAutofit/>
          </a:bodyPr>
          <a:lstStyle/>
          <a:p>
            <a:pPr algn="l">
              <a:defRPr sz="2400" b="0">
                <a:solidFill>
                  <a:srgbClr val="D8663D"/>
                </a:solidFill>
                <a:latin typeface="Helvetica Neue"/>
                <a:ea typeface="Helvetica Neue"/>
                <a:cs typeface="Helvetica Neue"/>
              </a:defRPr>
            </a:pPr>
            <a:r>
              <a:rPr sz="2400" b="0">
                <a:solidFill>
                  <a:srgbClr val="D8663D"/>
                </a:solidFill>
                <a:latin typeface="Helvetica Neue"/>
                <a:ea typeface="Helvetica Neue"/>
                <a:cs typeface="Helvetica Neue"/>
              </a:rPr>
              <a:t>→</a:t>
            </a:r>
          </a:p>
        </p:txBody>
      </p:sp>
      <p:sp>
        <p:nvSpPr>
          <p:cNvPr id="14" name="reveal-4-flow-head">
            <a:extLst>
              <a:ext uri="{FF2B5EF4-FFF2-40B4-BE49-F238E27FC236}">
                <a16:creationId xmlns:a16="http://schemas.microsoft.com/office/drawing/2014/main" id="{CBBED380-72D9-4E36-98AA-FA1F36C7ACAC}"/>
              </a:ext>
            </a:extLst>
          </p:cNvPr>
          <p:cNvSpPr>
            <a:spLocks noGrp="1"/>
          </p:cNvSpPr>
          <p:nvPr/>
        </p:nvSpPr>
        <p:spPr>
          <a:xfrm>
            <a:off x="11337131" y="2952750"/>
            <a:ext cx="3217069" cy="666750"/>
          </a:xfrm>
          <a:prstGeom prst="rect">
            <a:avLst/>
          </a:prstGeom>
          <a:noFill/>
          <a:ln w="0">
            <a:noFill/>
          </a:ln>
        </p:spPr>
        <p:txBody>
          <a:bodyPr wrap="none" lIns="0" tIns="0" rIns="0" bIns="0" anchor="t">
            <a:noAutofit/>
          </a:bodyPr>
          <a:lstStyle/>
          <a:p>
            <a:pPr algn="l">
              <a:defRPr sz="2550" b="0">
                <a:solidFill>
                  <a:srgbClr val="315BCD"/>
                </a:solidFill>
                <a:latin typeface="Georgia"/>
                <a:ea typeface="Georgia"/>
                <a:cs typeface="Georgia"/>
              </a:defRPr>
            </a:pPr>
            <a:r>
              <a:rPr sz="2550" b="0">
                <a:solidFill>
                  <a:srgbClr val="315BCD"/>
                </a:solidFill>
                <a:latin typeface="Georgia"/>
                <a:ea typeface="Georgia"/>
                <a:cs typeface="Georgia"/>
              </a:rPr>
              <a:t>Response</a:t>
            </a:r>
          </a:p>
        </p:txBody>
      </p:sp>
      <p:sp>
        <p:nvSpPr>
          <p:cNvPr id="15" name="reveal-4-flow-body">
            <a:extLst>
              <a:ext uri="{FF2B5EF4-FFF2-40B4-BE49-F238E27FC236}">
                <a16:creationId xmlns:a16="http://schemas.microsoft.com/office/drawing/2014/main" id="{734E183E-8C68-40B3-ACE1-83CE66FA561D}"/>
              </a:ext>
            </a:extLst>
          </p:cNvPr>
          <p:cNvSpPr>
            <a:spLocks noGrp="1"/>
          </p:cNvSpPr>
          <p:nvPr/>
        </p:nvSpPr>
        <p:spPr>
          <a:xfrm>
            <a:off x="11337131" y="4048125"/>
            <a:ext cx="3217069" cy="133350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Return HTML + 200 OK.</a:t>
            </a:r>
          </a:p>
        </p:txBody>
      </p:sp>
      <p:sp>
        <p:nvSpPr>
          <p:cNvPr id="16" name="text-54">
            <a:extLst>
              <a:ext uri="{FF2B5EF4-FFF2-40B4-BE49-F238E27FC236}">
                <a16:creationId xmlns:a16="http://schemas.microsoft.com/office/drawing/2014/main" id="{FCF73DB4-DAC2-4AE0-95A9-749F88FF7BE6}"/>
              </a:ext>
            </a:extLst>
          </p:cNvPr>
          <p:cNvSpPr>
            <a:spLocks noGrp="1"/>
          </p:cNvSpPr>
          <p:nvPr/>
        </p:nvSpPr>
        <p:spPr>
          <a:xfrm>
            <a:off x="685800" y="6591300"/>
            <a:ext cx="13430250" cy="904875"/>
          </a:xfrm>
          <a:prstGeom prst="rect">
            <a:avLst/>
          </a:prstGeom>
          <a:noFill/>
          <a:ln w="0">
            <a:noFill/>
          </a:ln>
        </p:spPr>
        <p:txBody>
          <a:bodyPr wrap="none" lIns="0" tIns="0" rIns="0" bIns="0" anchor="t">
            <a:noAutofit/>
          </a:bodyPr>
          <a:lstStyle/>
          <a:p>
            <a:pPr algn="l">
              <a:defRPr sz="2850" b="0">
                <a:solidFill>
                  <a:srgbClr val="D8663D"/>
                </a:solidFill>
                <a:latin typeface="Georgia"/>
                <a:ea typeface="Georgia"/>
                <a:cs typeface="Georgia"/>
              </a:defRPr>
            </a:pPr>
            <a:r>
              <a:rPr sz="2850" b="0">
                <a:solidFill>
                  <a:srgbClr val="D8663D"/>
                </a:solidFill>
                <a:latin typeface="Georgia"/>
                <a:ea typeface="Georgia"/>
                <a:cs typeface="Georgia"/>
              </a:rPr>
              <a:t>Every interaction is a conversation: request in, response out.</a:t>
            </a:r>
          </a:p>
        </p:txBody>
      </p:sp>
    </p:spTree>
    <p:extLst>
      <p:ext uri="{BB962C8B-B14F-4D97-AF65-F5344CB8AC3E}">
        <p14:creationId xmlns:p14="http://schemas.microsoft.com/office/powerpoint/2010/main" val="3673476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1" name="text-55">
            <a:extLst>
              <a:ext uri="{FF2B5EF4-FFF2-40B4-BE49-F238E27FC236}">
                <a16:creationId xmlns:a16="http://schemas.microsoft.com/office/drawing/2014/main" id="{0455057D-FC96-4A08-A063-963178A8913C}"/>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01 / Web foundations</a:t>
            </a:r>
          </a:p>
        </p:txBody>
      </p:sp>
      <p:sp>
        <p:nvSpPr>
          <p:cNvPr id="2" name="text-56">
            <a:extLst>
              <a:ext uri="{FF2B5EF4-FFF2-40B4-BE49-F238E27FC236}">
                <a16:creationId xmlns:a16="http://schemas.microsoft.com/office/drawing/2014/main" id="{FC4148DF-6A64-4625-8746-44B6FCC70FD0}"/>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A little Python behind My Tasks</a:t>
            </a:r>
          </a:p>
        </p:txBody>
      </p:sp>
      <p:sp>
        <p:nvSpPr>
          <p:cNvPr id="3" name="text-57">
            <a:extLst>
              <a:ext uri="{FF2B5EF4-FFF2-40B4-BE49-F238E27FC236}">
                <a16:creationId xmlns:a16="http://schemas.microsoft.com/office/drawing/2014/main" id="{DBBDBBAB-C93B-4EDF-93A9-8A777A7E1C90}"/>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58">
            <a:extLst>
              <a:ext uri="{FF2B5EF4-FFF2-40B4-BE49-F238E27FC236}">
                <a16:creationId xmlns:a16="http://schemas.microsoft.com/office/drawing/2014/main" id="{6CB7F3A9-8C99-4DDB-BFD7-76E91E939510}"/>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07</a:t>
            </a:r>
          </a:p>
        </p:txBody>
      </p:sp>
      <p:sp>
        <p:nvSpPr>
          <p:cNvPr id="5" name="text-59">
            <a:extLst>
              <a:ext uri="{FF2B5EF4-FFF2-40B4-BE49-F238E27FC236}">
                <a16:creationId xmlns:a16="http://schemas.microsoft.com/office/drawing/2014/main" id="{B42BF606-0B9D-4252-B69B-2B1FEFA5CFFD}"/>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Python function</a:t>
            </a:r>
          </a:p>
        </p:txBody>
      </p:sp>
      <p:sp>
        <p:nvSpPr>
          <p:cNvPr id="6" name="code-panel-60">
            <a:extLst>
              <a:ext uri="{FF2B5EF4-FFF2-40B4-BE49-F238E27FC236}">
                <a16:creationId xmlns:a16="http://schemas.microsoft.com/office/drawing/2014/main" id="{9E4FD3CE-D58A-4EB1-90CA-4D9CE6F351D3}"/>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AD7F037D-EF29-4DF1-BD39-B69CAA83D1DB}"/>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def</a:t>
            </a:r>
            <a:r>
              <a:rPr sz="1725" b="0">
                <a:solidFill>
                  <a:srgbClr val="FFFFFF"/>
                </a:solidFill>
                <a:latin typeface="Menlo"/>
                <a:ea typeface="Menlo"/>
                <a:cs typeface="Menlo"/>
              </a:rPr>
              <a:t> progress(tasks):</a:t>
            </a:r>
          </a:p>
        </p:txBody>
      </p:sp>
      <p:sp>
        <p:nvSpPr>
          <p:cNvPr id="8" name="code-line-1">
            <a:extLst>
              <a:ext uri="{FF2B5EF4-FFF2-40B4-BE49-F238E27FC236}">
                <a16:creationId xmlns:a16="http://schemas.microsoft.com/office/drawing/2014/main" id="{768F090B-5FA1-4C5D-AA94-B99F024882E9}"/>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total = len(tasks)</a:t>
            </a:r>
          </a:p>
        </p:txBody>
      </p:sp>
      <p:sp>
        <p:nvSpPr>
          <p:cNvPr id="9" name="code-line-2">
            <a:extLst>
              <a:ext uri="{FF2B5EF4-FFF2-40B4-BE49-F238E27FC236}">
                <a16:creationId xmlns:a16="http://schemas.microsoft.com/office/drawing/2014/main" id="{8F379395-30EE-4584-8E72-CB4171E24BDB}"/>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done = sum(task["completed"] </a:t>
            </a:r>
            <a:r>
              <a:rPr sz="1725" b="0">
                <a:solidFill>
                  <a:srgbClr val="A7C2FF"/>
                </a:solidFill>
                <a:latin typeface="Menlo"/>
                <a:ea typeface="Menlo"/>
                <a:cs typeface="Menlo"/>
              </a:rPr>
              <a:t>for</a:t>
            </a:r>
            <a:r>
              <a:rPr sz="1725" b="0">
                <a:solidFill>
                  <a:srgbClr val="FFFFFF"/>
                </a:solidFill>
                <a:latin typeface="Menlo"/>
                <a:ea typeface="Menlo"/>
                <a:cs typeface="Menlo"/>
              </a:rPr>
              <a:t> task </a:t>
            </a:r>
            <a:r>
              <a:rPr sz="1725" b="0">
                <a:solidFill>
                  <a:srgbClr val="A7C2FF"/>
                </a:solidFill>
                <a:latin typeface="Menlo"/>
                <a:ea typeface="Menlo"/>
                <a:cs typeface="Menlo"/>
              </a:rPr>
              <a:t>in</a:t>
            </a:r>
            <a:r>
              <a:rPr sz="1725" b="0">
                <a:solidFill>
                  <a:srgbClr val="FFFFFF"/>
                </a:solidFill>
                <a:latin typeface="Menlo"/>
                <a:ea typeface="Menlo"/>
                <a:cs typeface="Menlo"/>
              </a:rPr>
              <a:t> tasks)</a:t>
            </a:r>
          </a:p>
        </p:txBody>
      </p:sp>
      <p:sp>
        <p:nvSpPr>
          <p:cNvPr id="10" name="code-line-3">
            <a:extLst>
              <a:ext uri="{FF2B5EF4-FFF2-40B4-BE49-F238E27FC236}">
                <a16:creationId xmlns:a16="http://schemas.microsoft.com/office/drawing/2014/main" id="{C8B7E2AC-15C9-4FCF-BCF8-6173838803BA}"/>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return</a:t>
            </a:r>
            <a:r>
              <a:rPr sz="1725" b="0">
                <a:solidFill>
                  <a:srgbClr val="FFFFFF"/>
                </a:solidFill>
                <a:latin typeface="Menlo"/>
                <a:ea typeface="Menlo"/>
                <a:cs typeface="Menlo"/>
              </a:rPr>
              <a:t> {"done": done, "total": total}</a:t>
            </a:r>
          </a:p>
        </p:txBody>
      </p:sp>
      <p:sp>
        <p:nvSpPr>
          <p:cNvPr id="11" name="code-line-4">
            <a:extLst>
              <a:ext uri="{FF2B5EF4-FFF2-40B4-BE49-F238E27FC236}">
                <a16:creationId xmlns:a16="http://schemas.microsoft.com/office/drawing/2014/main" id="{A1430523-6A91-4608-B1F8-C8BB8655A435}"/>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endParaRPr/>
          </a:p>
        </p:txBody>
      </p:sp>
      <p:sp>
        <p:nvSpPr>
          <p:cNvPr id="12" name="code-line-5">
            <a:extLst>
              <a:ext uri="{FF2B5EF4-FFF2-40B4-BE49-F238E27FC236}">
                <a16:creationId xmlns:a16="http://schemas.microsoft.com/office/drawing/2014/main" id="{34964B98-96E7-4B33-8D7A-9575ED8E8239}"/>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tasks = [</a:t>
            </a:r>
          </a:p>
        </p:txBody>
      </p:sp>
      <p:sp>
        <p:nvSpPr>
          <p:cNvPr id="13" name="code-line-6">
            <a:extLst>
              <a:ext uri="{FF2B5EF4-FFF2-40B4-BE49-F238E27FC236}">
                <a16:creationId xmlns:a16="http://schemas.microsoft.com/office/drawing/2014/main" id="{C5842456-438E-4A68-94BC-D82A13196D91}"/>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{"title": "Prepare Django demo", "completed": </a:t>
            </a:r>
            <a:r>
              <a:rPr sz="1725" b="0">
                <a:solidFill>
                  <a:srgbClr val="A7C2FF"/>
                </a:solidFill>
                <a:latin typeface="Menlo"/>
                <a:ea typeface="Menlo"/>
                <a:cs typeface="Menlo"/>
              </a:rPr>
              <a:t>False</a:t>
            </a:r>
            <a:r>
              <a:rPr sz="1725" b="0">
                <a:solidFill>
                  <a:srgbClr val="FFFFFF"/>
                </a:solidFill>
                <a:latin typeface="Menlo"/>
                <a:ea typeface="Menlo"/>
                <a:cs typeface="Menlo"/>
              </a:rPr>
              <a:t>},</a:t>
            </a:r>
          </a:p>
        </p:txBody>
      </p:sp>
      <p:sp>
        <p:nvSpPr>
          <p:cNvPr id="14" name="code-line-7">
            <a:extLst>
              <a:ext uri="{FF2B5EF4-FFF2-40B4-BE49-F238E27FC236}">
                <a16:creationId xmlns:a16="http://schemas.microsoft.com/office/drawing/2014/main" id="{63961C6F-17D7-485F-8EF8-3D82CDA6CFAB}"/>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{"title": "Read ORM notes", "completed": </a:t>
            </a:r>
            <a:r>
              <a:rPr sz="1725" b="0">
                <a:solidFill>
                  <a:srgbClr val="A7C2FF"/>
                </a:solidFill>
                <a:latin typeface="Menlo"/>
                <a:ea typeface="Menlo"/>
                <a:cs typeface="Menlo"/>
              </a:rPr>
              <a:t>True</a:t>
            </a:r>
            <a:r>
              <a:rPr sz="1725" b="0">
                <a:solidFill>
                  <a:srgbClr val="FFFFFF"/>
                </a:solidFill>
                <a:latin typeface="Menlo"/>
                <a:ea typeface="Menlo"/>
                <a:cs typeface="Menlo"/>
              </a:rPr>
              <a:t>},</a:t>
            </a:r>
          </a:p>
        </p:txBody>
      </p:sp>
      <p:sp>
        <p:nvSpPr>
          <p:cNvPr id="15" name="code-line-8">
            <a:extLst>
              <a:ext uri="{FF2B5EF4-FFF2-40B4-BE49-F238E27FC236}">
                <a16:creationId xmlns:a16="http://schemas.microsoft.com/office/drawing/2014/main" id="{BC2AF6FA-9087-4F0D-AAF2-4B1A4D9C2F7A}"/>
              </a:ext>
            </a:extLst>
          </p:cNvPr>
          <p:cNvSpPr>
            <a:spLocks noGrp="1"/>
          </p:cNvSpPr>
          <p:nvPr/>
        </p:nvSpPr>
        <p:spPr>
          <a:xfrm>
            <a:off x="914400" y="5591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a:t>
            </a:r>
          </a:p>
        </p:txBody>
      </p:sp>
      <p:sp>
        <p:nvSpPr>
          <p:cNvPr id="16" name="code-line-9">
            <a:extLst>
              <a:ext uri="{FF2B5EF4-FFF2-40B4-BE49-F238E27FC236}">
                <a16:creationId xmlns:a16="http://schemas.microsoft.com/office/drawing/2014/main" id="{08FC69A5-86E2-44E1-A6E6-8DFC33928677}"/>
              </a:ext>
            </a:extLst>
          </p:cNvPr>
          <p:cNvSpPr>
            <a:spLocks noGrp="1"/>
          </p:cNvSpPr>
          <p:nvPr/>
        </p:nvSpPr>
        <p:spPr>
          <a:xfrm>
            <a:off x="914400" y="5924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print(progress(tasks))</a:t>
            </a:r>
          </a:p>
        </p:txBody>
      </p:sp>
      <p:sp>
        <p:nvSpPr>
          <p:cNvPr id="17" name="reveal-1-output-1">
            <a:extLst>
              <a:ext uri="{FF2B5EF4-FFF2-40B4-BE49-F238E27FC236}">
                <a16:creationId xmlns:a16="http://schemas.microsoft.com/office/drawing/2014/main" id="{B64D19BC-5EF9-47E3-B924-E383A8163E9B}"/>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Printed result</a:t>
            </a:r>
          </a:p>
        </p:txBody>
      </p:sp>
      <p:sp>
        <p:nvSpPr>
          <p:cNvPr id="18" name="reveal-1-output-2">
            <a:extLst>
              <a:ext uri="{FF2B5EF4-FFF2-40B4-BE49-F238E27FC236}">
                <a16:creationId xmlns:a16="http://schemas.microsoft.com/office/drawing/2014/main" id="{434DFB4E-0438-47FD-8077-12C5F0E27BED}"/>
              </a:ext>
            </a:extLst>
          </p:cNvPr>
          <p:cNvSpPr>
            <a:spLocks noGrp="1"/>
          </p:cNvSpPr>
          <p:nvPr/>
        </p:nvSpPr>
        <p:spPr>
          <a:xfrm>
            <a:off x="9239250" y="2952750"/>
            <a:ext cx="5295900" cy="3810000"/>
          </a:xfrm>
          <a:prstGeom prst="rect">
            <a:avLst/>
          </a:prstGeom>
          <a:solidFill>
            <a:srgbClr val="ECEFF7"/>
          </a:solidFill>
          <a:ln w="0">
            <a:noFill/>
          </a:ln>
        </p:spPr>
      </p:sp>
      <p:sp>
        <p:nvSpPr>
          <p:cNvPr id="19" name="reveal-1-output-3">
            <a:extLst>
              <a:ext uri="{FF2B5EF4-FFF2-40B4-BE49-F238E27FC236}">
                <a16:creationId xmlns:a16="http://schemas.microsoft.com/office/drawing/2014/main" id="{D1413B7C-DEA5-477D-AF4D-17C4155AA20A}"/>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650" b="0">
                <a:solidFill>
                  <a:srgbClr val="242C35"/>
                </a:solidFill>
                <a:latin typeface="Menlo"/>
                <a:ea typeface="Menlo"/>
                <a:cs typeface="Menlo"/>
              </a:defRPr>
            </a:pPr>
            <a:r>
              <a:rPr sz="1650" b="0">
                <a:solidFill>
                  <a:srgbClr val="242C35"/>
                </a:solidFill>
                <a:latin typeface="Menlo"/>
                <a:ea typeface="Menlo"/>
                <a:cs typeface="Menlo"/>
              </a:rPr>
              <a:t>{'done': 1, 'total': 2}</a:t>
            </a:r>
          </a:p>
        </p:txBody>
      </p:sp>
      <p:sp>
        <p:nvSpPr>
          <p:cNvPr id="20" name="fade-1-takeaway">
            <a:extLst>
              <a:ext uri="{FF2B5EF4-FFF2-40B4-BE49-F238E27FC236}">
                <a16:creationId xmlns:a16="http://schemas.microsoft.com/office/drawing/2014/main" id="{3858E3C3-62FC-4658-A851-6F7579379376}"/>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Calculate a result before adding HTTP.</a:t>
            </a:r>
          </a:p>
        </p:txBody>
      </p:sp>
    </p:spTree>
    <p:extLst>
      <p:ext uri="{BB962C8B-B14F-4D97-AF65-F5344CB8AC3E}">
        <p14:creationId xmlns:p14="http://schemas.microsoft.com/office/powerpoint/2010/main" val="7645545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350" fill="hold">
                                          <p:stCondLst>
                                            <p:cond delay="0"/>
                                          </p:stCondLst>
                                        </p:cTn>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8" name="text-64">
            <a:extLst>
              <a:ext uri="{FF2B5EF4-FFF2-40B4-BE49-F238E27FC236}">
                <a16:creationId xmlns:a16="http://schemas.microsoft.com/office/drawing/2014/main" id="{8676D72A-EA08-48C4-954F-2E5F996DE730}"/>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01 / Web foundations</a:t>
            </a:r>
          </a:p>
        </p:txBody>
      </p:sp>
      <p:sp>
        <p:nvSpPr>
          <p:cNvPr id="2" name="text-65">
            <a:extLst>
              <a:ext uri="{FF2B5EF4-FFF2-40B4-BE49-F238E27FC236}">
                <a16:creationId xmlns:a16="http://schemas.microsoft.com/office/drawing/2014/main" id="{A1C2B003-E1E8-43B4-A406-E6306D8445C2}"/>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A framework supplies the common parts</a:t>
            </a:r>
          </a:p>
        </p:txBody>
      </p:sp>
      <p:sp>
        <p:nvSpPr>
          <p:cNvPr id="3" name="text-66">
            <a:extLst>
              <a:ext uri="{FF2B5EF4-FFF2-40B4-BE49-F238E27FC236}">
                <a16:creationId xmlns:a16="http://schemas.microsoft.com/office/drawing/2014/main" id="{647A2867-D78E-432E-9CBB-569DB995339C}"/>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67">
            <a:extLst>
              <a:ext uri="{FF2B5EF4-FFF2-40B4-BE49-F238E27FC236}">
                <a16:creationId xmlns:a16="http://schemas.microsoft.com/office/drawing/2014/main" id="{464C38E7-6200-4B87-A0F6-F2F89C98D93C}"/>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08</a:t>
            </a:r>
          </a:p>
        </p:txBody>
      </p:sp>
      <p:sp>
        <p:nvSpPr>
          <p:cNvPr id="5" name="text-68">
            <a:extLst>
              <a:ext uri="{FF2B5EF4-FFF2-40B4-BE49-F238E27FC236}">
                <a16:creationId xmlns:a16="http://schemas.microsoft.com/office/drawing/2014/main" id="{65FC9BB3-E3E3-4BC6-A8B4-0B84CF207FC3}"/>
              </a:ext>
            </a:extLst>
          </p:cNvPr>
          <p:cNvSpPr>
            <a:spLocks noGrp="1"/>
          </p:cNvSpPr>
          <p:nvPr/>
        </p:nvSpPr>
        <p:spPr>
          <a:xfrm>
            <a:off x="685800" y="2257425"/>
            <a:ext cx="13868400" cy="552450"/>
          </a:xfrm>
          <a:prstGeom prst="rect">
            <a:avLst/>
          </a:prstGeom>
          <a:noFill/>
          <a:ln w="0">
            <a:noFill/>
          </a:ln>
        </p:spPr>
        <p:txBody>
          <a:bodyPr wrap="none" lIns="0" tIns="0" rIns="0" bIns="0" anchor="t">
            <a:noAutofit/>
          </a:bodyPr>
          <a:lstStyle/>
          <a:p>
            <a:pPr algn="l">
              <a:defRPr sz="2625" b="0">
                <a:solidFill>
                  <a:srgbClr val="D8663D"/>
                </a:solidFill>
                <a:latin typeface="Georgia"/>
                <a:ea typeface="Georgia"/>
                <a:cs typeface="Georgia"/>
              </a:defRPr>
            </a:pPr>
            <a:r>
              <a:rPr sz="2625" b="0">
                <a:solidFill>
                  <a:srgbClr val="D8663D"/>
                </a:solidFill>
                <a:latin typeface="Georgia"/>
                <a:ea typeface="Georgia"/>
                <a:cs typeface="Georgia"/>
              </a:rPr>
              <a:t>A framework connects the pieces.</a:t>
            </a:r>
          </a:p>
        </p:txBody>
      </p:sp>
      <p:graphicFrame>
        <p:nvGraphicFramePr>
          <p:cNvPr id="13" name="Table 12"/>
          <p:cNvGraphicFramePr/>
          <p:nvPr/>
        </p:nvGraphicFramePr>
        <p:xfrm>
          <a:off x="685800" y="3228975"/>
          <a:ext cx="13868400" cy="3333750"/>
        </p:xfrm>
        <a:graphic>
          <a:graphicData uri="http://schemas.openxmlformats.org/drawingml/2006/table">
            <a:tbl>
              <a:tblPr firstRow="1"/>
              <a:tblGrid>
                <a:gridCol w="3048000">
                  <a:extLst>
                    <a:ext uri="{9D8B030D-6E8A-4147-A177-3AD203B41FA5}">
                      <a16:colId xmlns:a16="http://schemas.microsoft.com/office/drawing/2014/main" val="20000"/>
                    </a:ext>
                  </a:extLst>
                </a:gridCol>
                <a:gridCol w="5286375">
                  <a:extLst>
                    <a:ext uri="{9D8B030D-6E8A-4147-A177-3AD203B41FA5}">
                      <a16:colId xmlns:a16="http://schemas.microsoft.com/office/drawing/2014/main" val="20001"/>
                    </a:ext>
                  </a:extLst>
                </a:gridCol>
                <a:gridCol w="5534025">
                  <a:extLst>
                    <a:ext uri="{9D8B030D-6E8A-4147-A177-3AD203B41FA5}">
                      <a16:colId xmlns:a16="http://schemas.microsoft.com/office/drawing/2014/main" val="20002"/>
                    </a:ext>
                  </a:extLst>
                </a:gridCol>
              </a:tblGrid>
              <a:tr h="833438">
                <a:tc>
                  <a:txBody>
                    <a:bodyPr/>
                    <a:lstStyle/>
                    <a:p>
                      <a:r>
                        <a:rPr sz="2175" b="1">
                          <a:solidFill>
                            <a:srgbClr val="FFFFFF"/>
                          </a:solidFill>
                          <a:latin typeface="Helvetica Neue"/>
                          <a:ea typeface="Helvetica Neue"/>
                          <a:cs typeface="Helvetica Neue"/>
                        </a:rPr>
                        <a:t>Component</a:t>
                      </a:r>
                    </a:p>
                  </a:txBody>
                  <a:tcPr anchor="ctr">
                    <a:solidFill>
                      <a:srgbClr val="242C35"/>
                    </a:solidFill>
                  </a:tcPr>
                </a:tc>
                <a:tc>
                  <a:txBody>
                    <a:bodyPr/>
                    <a:lstStyle/>
                    <a:p>
                      <a:r>
                        <a:rPr sz="2175" b="1">
                          <a:solidFill>
                            <a:srgbClr val="FFFFFF"/>
                          </a:solidFill>
                          <a:latin typeface="Helvetica Neue"/>
                          <a:ea typeface="Helvetica Neue"/>
                          <a:cs typeface="Helvetica Neue"/>
                        </a:rPr>
                        <a:t>Flask</a:t>
                      </a:r>
                    </a:p>
                  </a:txBody>
                  <a:tcPr anchor="ctr">
                    <a:solidFill>
                      <a:srgbClr val="242C35"/>
                    </a:solidFill>
                  </a:tcPr>
                </a:tc>
                <a:tc>
                  <a:txBody>
                    <a:bodyPr/>
                    <a:lstStyle/>
                    <a:p>
                      <a:r>
                        <a:rPr sz="2175" b="1">
                          <a:solidFill>
                            <a:srgbClr val="FFFFFF"/>
                          </a:solidFill>
                          <a:latin typeface="Helvetica Neue"/>
                          <a:ea typeface="Helvetica Neue"/>
                          <a:cs typeface="Helvetica Neue"/>
                        </a:rPr>
                        <a:t>Django</a:t>
                      </a:r>
                    </a:p>
                  </a:txBody>
                  <a:tcPr anchor="ctr">
                    <a:solidFill>
                      <a:srgbClr val="242C35"/>
                    </a:solidFill>
                  </a:tcPr>
                </a:tc>
                <a:extLst>
                  <a:ext uri="{0D108BD9-81ED-4DB2-BD59-A6C34878D82A}">
                    <a16:rowId xmlns:a16="http://schemas.microsoft.com/office/drawing/2014/main" val="10000"/>
                  </a:ext>
                </a:extLst>
              </a:tr>
              <a:tr h="833438">
                <a:tc>
                  <a:txBody>
                    <a:bodyPr/>
                    <a:lstStyle/>
                    <a:p>
                      <a:r>
                        <a:rPr sz="2175" b="0">
                          <a:solidFill>
                            <a:srgbClr val="242C35"/>
                          </a:solidFill>
                          <a:latin typeface="Helvetica Neue"/>
                          <a:ea typeface="Helvetica Neue"/>
                          <a:cs typeface="Helvetica Neue"/>
                        </a:rPr>
                        <a:t>HTTP routing</a:t>
                      </a:r>
                    </a:p>
                  </a:txBody>
                  <a:tcPr anchor="ctr">
                    <a:solidFill>
                      <a:srgbClr val="FFFFFF"/>
                    </a:solidFill>
                  </a:tcPr>
                </a:tc>
                <a:tc>
                  <a:txBody>
                    <a:bodyPr/>
                    <a:lstStyle/>
                    <a:p>
                      <a:r>
                        <a:rPr sz="2175" b="0">
                          <a:solidFill>
                            <a:srgbClr val="242C35"/>
                          </a:solidFill>
                          <a:latin typeface="Helvetica Neue"/>
                          <a:ea typeface="Helvetica Neue"/>
                          <a:cs typeface="Helvetica Neue"/>
                        </a:rPr>
                        <a:t>Core framework</a:t>
                      </a:r>
                    </a:p>
                  </a:txBody>
                  <a:tcPr anchor="ctr">
                    <a:solidFill>
                      <a:srgbClr val="FFFFFF"/>
                    </a:solidFill>
                  </a:tcPr>
                </a:tc>
                <a:tc>
                  <a:txBody>
                    <a:bodyPr/>
                    <a:lstStyle/>
                    <a:p>
                      <a:r>
                        <a:rPr sz="2175" b="0">
                          <a:solidFill>
                            <a:srgbClr val="242C35"/>
                          </a:solidFill>
                          <a:latin typeface="Helvetica Neue"/>
                          <a:ea typeface="Helvetica Neue"/>
                          <a:cs typeface="Helvetica Neue"/>
                        </a:rPr>
                        <a:t>Core framework</a:t>
                      </a:r>
                    </a:p>
                  </a:txBody>
                  <a:tcPr anchor="ctr">
                    <a:solidFill>
                      <a:srgbClr val="FFFFFF"/>
                    </a:solidFill>
                  </a:tcPr>
                </a:tc>
                <a:extLst>
                  <a:ext uri="{0D108BD9-81ED-4DB2-BD59-A6C34878D82A}">
                    <a16:rowId xmlns:a16="http://schemas.microsoft.com/office/drawing/2014/main" val="10001"/>
                  </a:ext>
                </a:extLst>
              </a:tr>
              <a:tr h="833438">
                <a:tc>
                  <a:txBody>
                    <a:bodyPr/>
                    <a:lstStyle/>
                    <a:p>
                      <a:r>
                        <a:rPr sz="2175" b="0">
                          <a:solidFill>
                            <a:srgbClr val="242C35"/>
                          </a:solidFill>
                          <a:latin typeface="Helvetica Neue"/>
                          <a:ea typeface="Helvetica Neue"/>
                          <a:cs typeface="Helvetica Neue"/>
                        </a:rPr>
                        <a:t>Data and forms</a:t>
                      </a:r>
                    </a:p>
                  </a:txBody>
                  <a:tcPr anchor="ctr">
                    <a:solidFill>
                      <a:srgbClr val="F8F5EF"/>
                    </a:solidFill>
                  </a:tcPr>
                </a:tc>
                <a:tc>
                  <a:txBody>
                    <a:bodyPr/>
                    <a:lstStyle/>
                    <a:p>
                      <a:r>
                        <a:rPr sz="2175" b="0">
                          <a:solidFill>
                            <a:srgbClr val="242C35"/>
                          </a:solidFill>
                          <a:latin typeface="Helvetica Neue"/>
                          <a:ea typeface="Helvetica Neue"/>
                          <a:cs typeface="Helvetica Neue"/>
                        </a:rPr>
                        <a:t>Choose integrations</a:t>
                      </a:r>
                    </a:p>
                  </a:txBody>
                  <a:tcPr anchor="ctr">
                    <a:solidFill>
                      <a:srgbClr val="F8F5EF"/>
                    </a:solidFill>
                  </a:tcPr>
                </a:tc>
                <a:tc>
                  <a:txBody>
                    <a:bodyPr/>
                    <a:lstStyle/>
                    <a:p>
                      <a:r>
                        <a:rPr sz="2175" b="0">
                          <a:solidFill>
                            <a:srgbClr val="242C35"/>
                          </a:solidFill>
                          <a:latin typeface="Helvetica Neue"/>
                          <a:ea typeface="Helvetica Neue"/>
                          <a:cs typeface="Helvetica Neue"/>
                        </a:rPr>
                        <a:t>ORM and forms included</a:t>
                      </a:r>
                    </a:p>
                  </a:txBody>
                  <a:tcPr anchor="ctr">
                    <a:solidFill>
                      <a:srgbClr val="F8F5EF"/>
                    </a:solidFill>
                  </a:tcPr>
                </a:tc>
                <a:extLst>
                  <a:ext uri="{0D108BD9-81ED-4DB2-BD59-A6C34878D82A}">
                    <a16:rowId xmlns:a16="http://schemas.microsoft.com/office/drawing/2014/main" val="10002"/>
                  </a:ext>
                </a:extLst>
              </a:tr>
              <a:tr h="833438">
                <a:tc>
                  <a:txBody>
                    <a:bodyPr/>
                    <a:lstStyle/>
                    <a:p>
                      <a:r>
                        <a:rPr sz="2175" b="0">
                          <a:solidFill>
                            <a:srgbClr val="242C35"/>
                          </a:solidFill>
                          <a:latin typeface="Helvetica Neue"/>
                          <a:ea typeface="Helvetica Neue"/>
                          <a:cs typeface="Helvetica Neue"/>
                        </a:rPr>
                        <a:t>Accounts and admin</a:t>
                      </a:r>
                    </a:p>
                  </a:txBody>
                  <a:tcPr anchor="ctr">
                    <a:solidFill>
                      <a:srgbClr val="FFFFFF"/>
                    </a:solidFill>
                  </a:tcPr>
                </a:tc>
                <a:tc>
                  <a:txBody>
                    <a:bodyPr/>
                    <a:lstStyle/>
                    <a:p>
                      <a:r>
                        <a:rPr sz="2175" b="0">
                          <a:solidFill>
                            <a:srgbClr val="242C35"/>
                          </a:solidFill>
                          <a:latin typeface="Helvetica Neue"/>
                          <a:ea typeface="Helvetica Neue"/>
                          <a:cs typeface="Helvetica Neue"/>
                        </a:rPr>
                        <a:t>Choose integrations</a:t>
                      </a:r>
                    </a:p>
                  </a:txBody>
                  <a:tcPr anchor="ctr">
                    <a:solidFill>
                      <a:srgbClr val="FFFFFF"/>
                    </a:solidFill>
                  </a:tcPr>
                </a:tc>
                <a:tc>
                  <a:txBody>
                    <a:bodyPr/>
                    <a:lstStyle/>
                    <a:p>
                      <a:r>
                        <a:rPr sz="2175" b="0">
                          <a:solidFill>
                            <a:srgbClr val="242C35"/>
                          </a:solidFill>
                          <a:latin typeface="Helvetica Neue"/>
                          <a:ea typeface="Helvetica Neue"/>
                          <a:cs typeface="Helvetica Neue"/>
                        </a:rPr>
                        <a:t>Auth and admin included</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7" name="reveal-1-takeaway">
            <a:extLst>
              <a:ext uri="{FF2B5EF4-FFF2-40B4-BE49-F238E27FC236}">
                <a16:creationId xmlns:a16="http://schemas.microsoft.com/office/drawing/2014/main" id="{A4BDE3F2-C9BA-45D2-B439-5F7CFD317D88}"/>
              </a:ext>
            </a:extLst>
          </p:cNvPr>
          <p:cNvSpPr>
            <a:spLocks noGrp="1"/>
          </p:cNvSpPr>
          <p:nvPr/>
        </p:nvSpPr>
        <p:spPr>
          <a:xfrm>
            <a:off x="685800" y="7105650"/>
            <a:ext cx="13868400" cy="742950"/>
          </a:xfrm>
          <a:prstGeom prst="rect">
            <a:avLst/>
          </a:prstGeom>
          <a:noFill/>
          <a:ln w="0">
            <a:noFill/>
          </a:ln>
        </p:spPr>
        <p:txBody>
          <a:bodyPr wrap="none" lIns="0" tIns="0" rIns="0" bIns="0" anchor="t">
            <a:noAutofit/>
          </a:bodyPr>
          <a:lstStyle/>
          <a:p>
            <a:pPr algn="l">
              <a:defRPr sz="2175" b="0">
                <a:solidFill>
                  <a:srgbClr val="242C35"/>
                </a:solidFill>
                <a:latin typeface="Helvetica Neue"/>
                <a:ea typeface="Helvetica Neue"/>
                <a:cs typeface="Helvetica Neue"/>
              </a:defRPr>
            </a:pPr>
            <a:r>
              <a:rPr sz="2175" b="0">
                <a:solidFill>
                  <a:srgbClr val="242C35"/>
                </a:solidFill>
                <a:latin typeface="Helvetica Neue"/>
                <a:ea typeface="Helvetica Neue"/>
                <a:cs typeface="Helvetica Neue"/>
              </a:rPr>
              <a:t>Django gives this workshop a consistent starting structure.</a:t>
            </a:r>
          </a:p>
        </p:txBody>
      </p:sp>
    </p:spTree>
    <p:extLst>
      <p:ext uri="{BB962C8B-B14F-4D97-AF65-F5344CB8AC3E}">
        <p14:creationId xmlns:p14="http://schemas.microsoft.com/office/powerpoint/2010/main" val="7706337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0" name="text-69">
            <a:extLst>
              <a:ext uri="{FF2B5EF4-FFF2-40B4-BE49-F238E27FC236}">
                <a16:creationId xmlns:a16="http://schemas.microsoft.com/office/drawing/2014/main" id="{4FB49DB4-B6D5-4B20-A67F-D793ACD6BBCB}"/>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01 / Web foundations</a:t>
            </a:r>
          </a:p>
        </p:txBody>
      </p:sp>
      <p:sp>
        <p:nvSpPr>
          <p:cNvPr id="2" name="text-70">
            <a:extLst>
              <a:ext uri="{FF2B5EF4-FFF2-40B4-BE49-F238E27FC236}">
                <a16:creationId xmlns:a16="http://schemas.microsoft.com/office/drawing/2014/main" id="{22A6BFB5-B81C-41E9-8C15-70CE7BE333CD}"/>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PocketDesk: tasks and useful notes</a:t>
            </a:r>
          </a:p>
        </p:txBody>
      </p:sp>
      <p:sp>
        <p:nvSpPr>
          <p:cNvPr id="3" name="text-71">
            <a:extLst>
              <a:ext uri="{FF2B5EF4-FFF2-40B4-BE49-F238E27FC236}">
                <a16:creationId xmlns:a16="http://schemas.microsoft.com/office/drawing/2014/main" id="{04DEB3D4-EAE1-4FAA-AFB0-DC19E3320A0A}"/>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72">
            <a:extLst>
              <a:ext uri="{FF2B5EF4-FFF2-40B4-BE49-F238E27FC236}">
                <a16:creationId xmlns:a16="http://schemas.microsoft.com/office/drawing/2014/main" id="{24D321A9-3BBE-4F3A-88A1-7EED21422A73}"/>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09</a:t>
            </a:r>
          </a:p>
        </p:txBody>
      </p:sp>
      <p:pic>
        <p:nvPicPr>
          <p:cNvPr id="14" name="Picture 13"/>
          <p:cNvPicPr>
            <a:picLocks noChangeAspect="1"/>
          </p:cNvPicPr>
          <p:nvPr/>
        </p:nvPicPr>
        <p:blipFill>
          <a:blip r:embed="rId3"/>
          <a:stretch/>
        </p:blipFill>
        <p:spPr>
          <a:xfrm>
            <a:off x="685800" y="2334924"/>
            <a:ext cx="6762750" cy="4426527"/>
          </a:xfrm>
          <a:prstGeom prst="rect">
            <a:avLst/>
          </a:prstGeom>
        </p:spPr>
      </p:pic>
      <p:pic>
        <p:nvPicPr>
          <p:cNvPr id="15" name="Picture 14"/>
          <p:cNvPicPr>
            <a:picLocks noChangeAspect="1"/>
          </p:cNvPicPr>
          <p:nvPr/>
        </p:nvPicPr>
        <p:blipFill>
          <a:blip r:embed="rId4"/>
          <a:stretch/>
        </p:blipFill>
        <p:spPr>
          <a:xfrm>
            <a:off x="7791450" y="2334924"/>
            <a:ext cx="6762750" cy="4426527"/>
          </a:xfrm>
          <a:prstGeom prst="rect">
            <a:avLst/>
          </a:prstGeom>
        </p:spPr>
      </p:pic>
      <p:sp>
        <p:nvSpPr>
          <p:cNvPr id="7" name="text-73">
            <a:extLst>
              <a:ext uri="{FF2B5EF4-FFF2-40B4-BE49-F238E27FC236}">
                <a16:creationId xmlns:a16="http://schemas.microsoft.com/office/drawing/2014/main" id="{1D5DD67E-B3AE-459D-B8E3-47BFE5581F89}"/>
              </a:ext>
            </a:extLst>
          </p:cNvPr>
          <p:cNvSpPr>
            <a:spLocks noGrp="1"/>
          </p:cNvSpPr>
          <p:nvPr/>
        </p:nvSpPr>
        <p:spPr>
          <a:xfrm>
            <a:off x="685800" y="6972300"/>
            <a:ext cx="6477000" cy="485775"/>
          </a:xfrm>
          <a:prstGeom prst="rect">
            <a:avLst/>
          </a:prstGeom>
          <a:noFill/>
          <a:ln w="0">
            <a:noFill/>
          </a:ln>
        </p:spPr>
        <p:txBody>
          <a:bodyPr wrap="none" lIns="0" tIns="0" rIns="0" bIns="0" anchor="t">
            <a:noAutofit/>
          </a:bodyPr>
          <a:lstStyle/>
          <a:p>
            <a:pPr algn="l">
              <a:defRPr sz="2475" b="0">
                <a:solidFill>
                  <a:srgbClr val="315BCD"/>
                </a:solidFill>
                <a:latin typeface="Georgia"/>
                <a:ea typeface="Georgia"/>
                <a:cs typeface="Georgia"/>
              </a:defRPr>
            </a:pPr>
            <a:r>
              <a:rPr sz="2475" b="0">
                <a:solidFill>
                  <a:srgbClr val="315BCD"/>
                </a:solidFill>
                <a:latin typeface="Georgia"/>
                <a:ea typeface="Georgia"/>
                <a:cs typeface="Georgia"/>
              </a:rPr>
              <a:t>Do the work</a:t>
            </a:r>
          </a:p>
        </p:txBody>
      </p:sp>
      <p:sp>
        <p:nvSpPr>
          <p:cNvPr id="8" name="text-74">
            <a:extLst>
              <a:ext uri="{FF2B5EF4-FFF2-40B4-BE49-F238E27FC236}">
                <a16:creationId xmlns:a16="http://schemas.microsoft.com/office/drawing/2014/main" id="{B32F563F-8188-4447-A797-B989BCF9764A}"/>
              </a:ext>
            </a:extLst>
          </p:cNvPr>
          <p:cNvSpPr>
            <a:spLocks noGrp="1"/>
          </p:cNvSpPr>
          <p:nvPr/>
        </p:nvSpPr>
        <p:spPr>
          <a:xfrm>
            <a:off x="7791450" y="6972300"/>
            <a:ext cx="6477000" cy="485775"/>
          </a:xfrm>
          <a:prstGeom prst="rect">
            <a:avLst/>
          </a:prstGeom>
          <a:noFill/>
          <a:ln w="0">
            <a:noFill/>
          </a:ln>
        </p:spPr>
        <p:txBody>
          <a:bodyPr wrap="none" lIns="0" tIns="0" rIns="0" bIns="0" anchor="t">
            <a:noAutofit/>
          </a:bodyPr>
          <a:lstStyle/>
          <a:p>
            <a:pPr algn="l">
              <a:defRPr sz="2475" b="0">
                <a:solidFill>
                  <a:srgbClr val="D8663D"/>
                </a:solidFill>
                <a:latin typeface="Georgia"/>
                <a:ea typeface="Georgia"/>
                <a:cs typeface="Georgia"/>
              </a:defRPr>
            </a:pPr>
            <a:r>
              <a:rPr sz="2475" b="0">
                <a:solidFill>
                  <a:srgbClr val="D8663D"/>
                </a:solidFill>
                <a:latin typeface="Georgia"/>
                <a:ea typeface="Georgia"/>
                <a:cs typeface="Georgia"/>
              </a:rPr>
              <a:t>Keep the details</a:t>
            </a:r>
          </a:p>
        </p:txBody>
      </p:sp>
      <p:sp>
        <p:nvSpPr>
          <p:cNvPr id="9" name="text-75">
            <a:extLst>
              <a:ext uri="{FF2B5EF4-FFF2-40B4-BE49-F238E27FC236}">
                <a16:creationId xmlns:a16="http://schemas.microsoft.com/office/drawing/2014/main" id="{9AD366E1-2261-4523-94B2-A19DBD9555EA}"/>
              </a:ext>
            </a:extLst>
          </p:cNvPr>
          <p:cNvSpPr>
            <a:spLocks noGrp="1"/>
          </p:cNvSpPr>
          <p:nvPr/>
        </p:nvSpPr>
        <p:spPr>
          <a:xfrm>
            <a:off x="685800" y="7543800"/>
            <a:ext cx="13868400" cy="400050"/>
          </a:xfrm>
          <a:prstGeom prst="rect">
            <a:avLst/>
          </a:prstGeom>
          <a:noFill/>
          <a:ln w="0">
            <a:noFill/>
          </a:ln>
        </p:spPr>
        <p:txBody>
          <a:bodyPr wrap="none" lIns="0" tIns="0" rIns="0" bIns="0" anchor="t">
            <a:noAutofit/>
          </a:bodyPr>
          <a:lstStyle/>
          <a:p>
            <a:pPr algn="l">
              <a:defRPr sz="1875" b="0">
                <a:solidFill>
                  <a:srgbClr val="65717A"/>
                </a:solidFill>
                <a:latin typeface="Helvetica Neue"/>
                <a:ea typeface="Helvetica Neue"/>
                <a:cs typeface="Helvetica Neue"/>
              </a:defRPr>
            </a:pPr>
            <a:r>
              <a:rPr sz="1875" b="0">
                <a:solidFill>
                  <a:srgbClr val="65717A"/>
                </a:solidFill>
                <a:latin typeface="Helvetica Neue"/>
                <a:ea typeface="Helvetica Neue"/>
                <a:cs typeface="Helvetica Neue"/>
              </a:rPr>
              <a:t>Personal TODOs, private saved data — available in HTML and JSON.</a:t>
            </a:r>
          </a:p>
        </p:txBody>
      </p:sp>
    </p:spTree>
    <p:extLst>
      <p:ext uri="{BB962C8B-B14F-4D97-AF65-F5344CB8AC3E}">
        <p14:creationId xmlns:p14="http://schemas.microsoft.com/office/powerpoint/2010/main" val="207864856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2" name="text-76">
            <a:extLst>
              <a:ext uri="{FF2B5EF4-FFF2-40B4-BE49-F238E27FC236}">
                <a16:creationId xmlns:a16="http://schemas.microsoft.com/office/drawing/2014/main" id="{184D098A-0971-47F3-94DE-8232EAE5C902}"/>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02 / Django and data</a:t>
            </a:r>
          </a:p>
        </p:txBody>
      </p:sp>
      <p:sp>
        <p:nvSpPr>
          <p:cNvPr id="2" name="text-77">
            <a:extLst>
              <a:ext uri="{FF2B5EF4-FFF2-40B4-BE49-F238E27FC236}">
                <a16:creationId xmlns:a16="http://schemas.microsoft.com/office/drawing/2014/main" id="{E7389658-B1ED-4D56-8465-2EECC536BB88}"/>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Django project setup, step by step</a:t>
            </a:r>
          </a:p>
        </p:txBody>
      </p:sp>
      <p:sp>
        <p:nvSpPr>
          <p:cNvPr id="3" name="text-78">
            <a:extLst>
              <a:ext uri="{FF2B5EF4-FFF2-40B4-BE49-F238E27FC236}">
                <a16:creationId xmlns:a16="http://schemas.microsoft.com/office/drawing/2014/main" id="{769D7433-B86E-48C9-BB5D-3FACF0FC60BF}"/>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79">
            <a:extLst>
              <a:ext uri="{FF2B5EF4-FFF2-40B4-BE49-F238E27FC236}">
                <a16:creationId xmlns:a16="http://schemas.microsoft.com/office/drawing/2014/main" id="{F2DF63E1-E4E8-49D2-A2AE-15AB5B51831E}"/>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10</a:t>
            </a:r>
          </a:p>
        </p:txBody>
      </p:sp>
      <p:sp>
        <p:nvSpPr>
          <p:cNvPr id="5" name="reveal-1-flow-head">
            <a:extLst>
              <a:ext uri="{FF2B5EF4-FFF2-40B4-BE49-F238E27FC236}">
                <a16:creationId xmlns:a16="http://schemas.microsoft.com/office/drawing/2014/main" id="{AEFE7015-A928-4004-B197-BE3375E1C9A6}"/>
              </a:ext>
            </a:extLst>
          </p:cNvPr>
          <p:cNvSpPr>
            <a:spLocks noGrp="1"/>
          </p:cNvSpPr>
          <p:nvPr/>
        </p:nvSpPr>
        <p:spPr>
          <a:xfrm>
            <a:off x="685800" y="2571750"/>
            <a:ext cx="2506980" cy="666750"/>
          </a:xfrm>
          <a:prstGeom prst="rect">
            <a:avLst/>
          </a:prstGeom>
          <a:noFill/>
          <a:ln w="0">
            <a:noFill/>
          </a:ln>
        </p:spPr>
        <p:txBody>
          <a:bodyPr wrap="none" lIns="0" tIns="0" rIns="0" bIns="0" anchor="t">
            <a:noAutofit/>
          </a:bodyPr>
          <a:lstStyle/>
          <a:p>
            <a:pPr algn="l">
              <a:defRPr sz="2550" b="0">
                <a:solidFill>
                  <a:srgbClr val="315BCD"/>
                </a:solidFill>
                <a:latin typeface="Georgia"/>
                <a:ea typeface="Georgia"/>
                <a:cs typeface="Georgia"/>
              </a:defRPr>
            </a:pPr>
            <a:r>
              <a:rPr sz="2550" b="0">
                <a:solidFill>
                  <a:srgbClr val="315BCD"/>
                </a:solidFill>
                <a:latin typeface="Georgia"/>
                <a:ea typeface="Georgia"/>
                <a:cs typeface="Georgia"/>
              </a:rPr>
              <a:t>Isolate</a:t>
            </a:r>
          </a:p>
        </p:txBody>
      </p:sp>
      <p:sp>
        <p:nvSpPr>
          <p:cNvPr id="6" name="reveal-1-flow-body">
            <a:extLst>
              <a:ext uri="{FF2B5EF4-FFF2-40B4-BE49-F238E27FC236}">
                <a16:creationId xmlns:a16="http://schemas.microsoft.com/office/drawing/2014/main" id="{DA05E995-1D38-4E37-9AE0-12EA66359EB4}"/>
              </a:ext>
            </a:extLst>
          </p:cNvPr>
          <p:cNvSpPr>
            <a:spLocks noGrp="1"/>
          </p:cNvSpPr>
          <p:nvPr/>
        </p:nvSpPr>
        <p:spPr>
          <a:xfrm>
            <a:off x="685800" y="3667125"/>
            <a:ext cx="2506980" cy="133350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Create a virtual</a:t>
            </a:r>
          </a:p>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environment.</a:t>
            </a:r>
          </a:p>
        </p:txBody>
      </p:sp>
      <p:sp>
        <p:nvSpPr>
          <p:cNvPr id="7" name="reveal-1-arrow">
            <a:extLst>
              <a:ext uri="{FF2B5EF4-FFF2-40B4-BE49-F238E27FC236}">
                <a16:creationId xmlns:a16="http://schemas.microsoft.com/office/drawing/2014/main" id="{ABC1A701-05A0-4513-9D91-071AEB0FCDF0}"/>
              </a:ext>
            </a:extLst>
          </p:cNvPr>
          <p:cNvSpPr>
            <a:spLocks noGrp="1"/>
          </p:cNvSpPr>
          <p:nvPr/>
        </p:nvSpPr>
        <p:spPr>
          <a:xfrm>
            <a:off x="3211830" y="2590800"/>
            <a:ext cx="304800" cy="609600"/>
          </a:xfrm>
          <a:prstGeom prst="rect">
            <a:avLst/>
          </a:prstGeom>
          <a:noFill/>
          <a:ln w="0">
            <a:noFill/>
          </a:ln>
        </p:spPr>
        <p:txBody>
          <a:bodyPr wrap="none" lIns="0" tIns="0" rIns="0" bIns="0" anchor="t">
            <a:noAutofit/>
          </a:bodyPr>
          <a:lstStyle/>
          <a:p>
            <a:pPr algn="l">
              <a:defRPr sz="2400" b="0">
                <a:solidFill>
                  <a:srgbClr val="D8663D"/>
                </a:solidFill>
                <a:latin typeface="Helvetica Neue"/>
                <a:ea typeface="Helvetica Neue"/>
                <a:cs typeface="Helvetica Neue"/>
              </a:defRPr>
            </a:pPr>
            <a:r>
              <a:rPr sz="2400" b="0">
                <a:solidFill>
                  <a:srgbClr val="D8663D"/>
                </a:solidFill>
                <a:latin typeface="Helvetica Neue"/>
                <a:ea typeface="Helvetica Neue"/>
                <a:cs typeface="Helvetica Neue"/>
              </a:rPr>
              <a:t>→</a:t>
            </a:r>
          </a:p>
        </p:txBody>
      </p:sp>
      <p:sp>
        <p:nvSpPr>
          <p:cNvPr id="8" name="reveal-2-flow-head">
            <a:extLst>
              <a:ext uri="{FF2B5EF4-FFF2-40B4-BE49-F238E27FC236}">
                <a16:creationId xmlns:a16="http://schemas.microsoft.com/office/drawing/2014/main" id="{D4622D13-BDDE-435B-A4A5-D7EAD7EAEB93}"/>
              </a:ext>
            </a:extLst>
          </p:cNvPr>
          <p:cNvSpPr>
            <a:spLocks noGrp="1"/>
          </p:cNvSpPr>
          <p:nvPr/>
        </p:nvSpPr>
        <p:spPr>
          <a:xfrm>
            <a:off x="3526155" y="2571750"/>
            <a:ext cx="2506980" cy="666750"/>
          </a:xfrm>
          <a:prstGeom prst="rect">
            <a:avLst/>
          </a:prstGeom>
          <a:noFill/>
          <a:ln w="0">
            <a:noFill/>
          </a:ln>
        </p:spPr>
        <p:txBody>
          <a:bodyPr wrap="none" lIns="0" tIns="0" rIns="0" bIns="0" anchor="t">
            <a:noAutofit/>
          </a:bodyPr>
          <a:lstStyle/>
          <a:p>
            <a:pPr algn="l">
              <a:defRPr sz="2550" b="0">
                <a:solidFill>
                  <a:srgbClr val="315BCD"/>
                </a:solidFill>
                <a:latin typeface="Georgia"/>
                <a:ea typeface="Georgia"/>
                <a:cs typeface="Georgia"/>
              </a:defRPr>
            </a:pPr>
            <a:r>
              <a:rPr sz="2550" b="0">
                <a:solidFill>
                  <a:srgbClr val="315BCD"/>
                </a:solidFill>
                <a:latin typeface="Georgia"/>
                <a:ea typeface="Georgia"/>
                <a:cs typeface="Georgia"/>
              </a:rPr>
              <a:t>Install</a:t>
            </a:r>
          </a:p>
        </p:txBody>
      </p:sp>
      <p:sp>
        <p:nvSpPr>
          <p:cNvPr id="9" name="reveal-2-flow-body">
            <a:extLst>
              <a:ext uri="{FF2B5EF4-FFF2-40B4-BE49-F238E27FC236}">
                <a16:creationId xmlns:a16="http://schemas.microsoft.com/office/drawing/2014/main" id="{28882BA6-B548-4619-99FE-03360F68F8DC}"/>
              </a:ext>
            </a:extLst>
          </p:cNvPr>
          <p:cNvSpPr>
            <a:spLocks noGrp="1"/>
          </p:cNvSpPr>
          <p:nvPr/>
        </p:nvSpPr>
        <p:spPr>
          <a:xfrm>
            <a:off x="3526155" y="3667125"/>
            <a:ext cx="2506980" cy="133350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Add Django to this</a:t>
            </a:r>
          </a:p>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project.</a:t>
            </a:r>
          </a:p>
        </p:txBody>
      </p:sp>
      <p:sp>
        <p:nvSpPr>
          <p:cNvPr id="10" name="reveal-2-arrow">
            <a:extLst>
              <a:ext uri="{FF2B5EF4-FFF2-40B4-BE49-F238E27FC236}">
                <a16:creationId xmlns:a16="http://schemas.microsoft.com/office/drawing/2014/main" id="{139AD22A-6C11-48F3-816B-AB1AE98A3111}"/>
              </a:ext>
            </a:extLst>
          </p:cNvPr>
          <p:cNvSpPr>
            <a:spLocks noGrp="1"/>
          </p:cNvSpPr>
          <p:nvPr/>
        </p:nvSpPr>
        <p:spPr>
          <a:xfrm>
            <a:off x="6052185" y="2590800"/>
            <a:ext cx="304800" cy="609600"/>
          </a:xfrm>
          <a:prstGeom prst="rect">
            <a:avLst/>
          </a:prstGeom>
          <a:noFill/>
          <a:ln w="0">
            <a:noFill/>
          </a:ln>
        </p:spPr>
        <p:txBody>
          <a:bodyPr wrap="none" lIns="0" tIns="0" rIns="0" bIns="0" anchor="t">
            <a:noAutofit/>
          </a:bodyPr>
          <a:lstStyle/>
          <a:p>
            <a:pPr algn="l">
              <a:defRPr sz="2400" b="0">
                <a:solidFill>
                  <a:srgbClr val="D8663D"/>
                </a:solidFill>
                <a:latin typeface="Helvetica Neue"/>
                <a:ea typeface="Helvetica Neue"/>
                <a:cs typeface="Helvetica Neue"/>
              </a:defRPr>
            </a:pPr>
            <a:r>
              <a:rPr sz="2400" b="0">
                <a:solidFill>
                  <a:srgbClr val="D8663D"/>
                </a:solidFill>
                <a:latin typeface="Helvetica Neue"/>
                <a:ea typeface="Helvetica Neue"/>
                <a:cs typeface="Helvetica Neue"/>
              </a:rPr>
              <a:t>→</a:t>
            </a:r>
          </a:p>
        </p:txBody>
      </p:sp>
      <p:sp>
        <p:nvSpPr>
          <p:cNvPr id="11" name="reveal-3-flow-head">
            <a:extLst>
              <a:ext uri="{FF2B5EF4-FFF2-40B4-BE49-F238E27FC236}">
                <a16:creationId xmlns:a16="http://schemas.microsoft.com/office/drawing/2014/main" id="{43F5A3A2-FD05-4D43-990F-A61B342CCF79}"/>
              </a:ext>
            </a:extLst>
          </p:cNvPr>
          <p:cNvSpPr>
            <a:spLocks noGrp="1"/>
          </p:cNvSpPr>
          <p:nvPr/>
        </p:nvSpPr>
        <p:spPr>
          <a:xfrm>
            <a:off x="6366510" y="2571750"/>
            <a:ext cx="2506980" cy="666750"/>
          </a:xfrm>
          <a:prstGeom prst="rect">
            <a:avLst/>
          </a:prstGeom>
          <a:noFill/>
          <a:ln w="0">
            <a:noFill/>
          </a:ln>
        </p:spPr>
        <p:txBody>
          <a:bodyPr wrap="none" lIns="0" tIns="0" rIns="0" bIns="0" anchor="t">
            <a:noAutofit/>
          </a:bodyPr>
          <a:lstStyle/>
          <a:p>
            <a:pPr algn="l">
              <a:defRPr sz="2550" b="0">
                <a:solidFill>
                  <a:srgbClr val="315BCD"/>
                </a:solidFill>
                <a:latin typeface="Georgia"/>
                <a:ea typeface="Georgia"/>
                <a:cs typeface="Georgia"/>
              </a:defRPr>
            </a:pPr>
            <a:r>
              <a:rPr sz="2550" b="0">
                <a:solidFill>
                  <a:srgbClr val="315BCD"/>
                </a:solidFill>
                <a:latin typeface="Georgia"/>
                <a:ea typeface="Georgia"/>
                <a:cs typeface="Georgia"/>
              </a:rPr>
              <a:t>Scaffold</a:t>
            </a:r>
          </a:p>
        </p:txBody>
      </p:sp>
      <p:sp>
        <p:nvSpPr>
          <p:cNvPr id="12" name="reveal-3-flow-body">
            <a:extLst>
              <a:ext uri="{FF2B5EF4-FFF2-40B4-BE49-F238E27FC236}">
                <a16:creationId xmlns:a16="http://schemas.microsoft.com/office/drawing/2014/main" id="{351C56EC-B566-4867-B9BD-FCDE354D8AD3}"/>
              </a:ext>
            </a:extLst>
          </p:cNvPr>
          <p:cNvSpPr>
            <a:spLocks noGrp="1"/>
          </p:cNvSpPr>
          <p:nvPr/>
        </p:nvSpPr>
        <p:spPr>
          <a:xfrm>
            <a:off x="6366510" y="3667125"/>
            <a:ext cx="2506980" cy="133350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Create project + app.</a:t>
            </a:r>
          </a:p>
        </p:txBody>
      </p:sp>
      <p:sp>
        <p:nvSpPr>
          <p:cNvPr id="13" name="reveal-3-arrow">
            <a:extLst>
              <a:ext uri="{FF2B5EF4-FFF2-40B4-BE49-F238E27FC236}">
                <a16:creationId xmlns:a16="http://schemas.microsoft.com/office/drawing/2014/main" id="{6F5457F5-A164-4AC2-8A52-33DC463E6F5A}"/>
              </a:ext>
            </a:extLst>
          </p:cNvPr>
          <p:cNvSpPr>
            <a:spLocks noGrp="1"/>
          </p:cNvSpPr>
          <p:nvPr/>
        </p:nvSpPr>
        <p:spPr>
          <a:xfrm>
            <a:off x="8892540" y="2590800"/>
            <a:ext cx="304800" cy="609600"/>
          </a:xfrm>
          <a:prstGeom prst="rect">
            <a:avLst/>
          </a:prstGeom>
          <a:noFill/>
          <a:ln w="0">
            <a:noFill/>
          </a:ln>
        </p:spPr>
        <p:txBody>
          <a:bodyPr wrap="none" lIns="0" tIns="0" rIns="0" bIns="0" anchor="t">
            <a:noAutofit/>
          </a:bodyPr>
          <a:lstStyle/>
          <a:p>
            <a:pPr algn="l">
              <a:defRPr sz="2400" b="0">
                <a:solidFill>
                  <a:srgbClr val="D8663D"/>
                </a:solidFill>
                <a:latin typeface="Helvetica Neue"/>
                <a:ea typeface="Helvetica Neue"/>
                <a:cs typeface="Helvetica Neue"/>
              </a:defRPr>
            </a:pPr>
            <a:r>
              <a:rPr sz="2400" b="0">
                <a:solidFill>
                  <a:srgbClr val="D8663D"/>
                </a:solidFill>
                <a:latin typeface="Helvetica Neue"/>
                <a:ea typeface="Helvetica Neue"/>
                <a:cs typeface="Helvetica Neue"/>
              </a:rPr>
              <a:t>→</a:t>
            </a:r>
          </a:p>
        </p:txBody>
      </p:sp>
      <p:sp>
        <p:nvSpPr>
          <p:cNvPr id="14" name="reveal-4-flow-head">
            <a:extLst>
              <a:ext uri="{FF2B5EF4-FFF2-40B4-BE49-F238E27FC236}">
                <a16:creationId xmlns:a16="http://schemas.microsoft.com/office/drawing/2014/main" id="{F51F136B-2BE8-4F33-A37B-069F862DF7FC}"/>
              </a:ext>
            </a:extLst>
          </p:cNvPr>
          <p:cNvSpPr>
            <a:spLocks noGrp="1"/>
          </p:cNvSpPr>
          <p:nvPr/>
        </p:nvSpPr>
        <p:spPr>
          <a:xfrm>
            <a:off x="9206865" y="2571750"/>
            <a:ext cx="2506980" cy="666750"/>
          </a:xfrm>
          <a:prstGeom prst="rect">
            <a:avLst/>
          </a:prstGeom>
          <a:noFill/>
          <a:ln w="0">
            <a:noFill/>
          </a:ln>
        </p:spPr>
        <p:txBody>
          <a:bodyPr wrap="none" lIns="0" tIns="0" rIns="0" bIns="0" anchor="t">
            <a:noAutofit/>
          </a:bodyPr>
          <a:lstStyle/>
          <a:p>
            <a:pPr algn="l">
              <a:defRPr sz="2550" b="0">
                <a:solidFill>
                  <a:srgbClr val="315BCD"/>
                </a:solidFill>
                <a:latin typeface="Georgia"/>
                <a:ea typeface="Georgia"/>
                <a:cs typeface="Georgia"/>
              </a:defRPr>
            </a:pPr>
            <a:r>
              <a:rPr sz="2550" b="0">
                <a:solidFill>
                  <a:srgbClr val="315BCD"/>
                </a:solidFill>
                <a:latin typeface="Georgia"/>
                <a:ea typeface="Georgia"/>
                <a:cs typeface="Georgia"/>
              </a:rPr>
              <a:t>Prepare</a:t>
            </a:r>
          </a:p>
        </p:txBody>
      </p:sp>
      <p:sp>
        <p:nvSpPr>
          <p:cNvPr id="15" name="reveal-4-flow-body">
            <a:extLst>
              <a:ext uri="{FF2B5EF4-FFF2-40B4-BE49-F238E27FC236}">
                <a16:creationId xmlns:a16="http://schemas.microsoft.com/office/drawing/2014/main" id="{CB2DC97D-7BC7-4FFF-8A87-5085EB6F9E9E}"/>
              </a:ext>
            </a:extLst>
          </p:cNvPr>
          <p:cNvSpPr>
            <a:spLocks noGrp="1"/>
          </p:cNvSpPr>
          <p:nvPr/>
        </p:nvSpPr>
        <p:spPr>
          <a:xfrm>
            <a:off x="9206865" y="3667125"/>
            <a:ext cx="2506980" cy="133350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Configure apps and</a:t>
            </a:r>
          </a:p>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migrate.</a:t>
            </a:r>
          </a:p>
        </p:txBody>
      </p:sp>
      <p:sp>
        <p:nvSpPr>
          <p:cNvPr id="16" name="reveal-4-arrow">
            <a:extLst>
              <a:ext uri="{FF2B5EF4-FFF2-40B4-BE49-F238E27FC236}">
                <a16:creationId xmlns:a16="http://schemas.microsoft.com/office/drawing/2014/main" id="{97D9AF6D-858F-49D0-80C7-B03916BB9361}"/>
              </a:ext>
            </a:extLst>
          </p:cNvPr>
          <p:cNvSpPr>
            <a:spLocks noGrp="1"/>
          </p:cNvSpPr>
          <p:nvPr/>
        </p:nvSpPr>
        <p:spPr>
          <a:xfrm>
            <a:off x="11732895" y="2590800"/>
            <a:ext cx="304800" cy="609600"/>
          </a:xfrm>
          <a:prstGeom prst="rect">
            <a:avLst/>
          </a:prstGeom>
          <a:noFill/>
          <a:ln w="0">
            <a:noFill/>
          </a:ln>
        </p:spPr>
        <p:txBody>
          <a:bodyPr wrap="none" lIns="0" tIns="0" rIns="0" bIns="0" anchor="t">
            <a:noAutofit/>
          </a:bodyPr>
          <a:lstStyle/>
          <a:p>
            <a:pPr algn="l">
              <a:defRPr sz="2400" b="0">
                <a:solidFill>
                  <a:srgbClr val="D8663D"/>
                </a:solidFill>
                <a:latin typeface="Helvetica Neue"/>
                <a:ea typeface="Helvetica Neue"/>
                <a:cs typeface="Helvetica Neue"/>
              </a:defRPr>
            </a:pPr>
            <a:r>
              <a:rPr sz="2400" b="0">
                <a:solidFill>
                  <a:srgbClr val="D8663D"/>
                </a:solidFill>
                <a:latin typeface="Helvetica Neue"/>
                <a:ea typeface="Helvetica Neue"/>
                <a:cs typeface="Helvetica Neue"/>
              </a:rPr>
              <a:t>→</a:t>
            </a:r>
          </a:p>
        </p:txBody>
      </p:sp>
      <p:sp>
        <p:nvSpPr>
          <p:cNvPr id="17" name="reveal-5-flow-head">
            <a:extLst>
              <a:ext uri="{FF2B5EF4-FFF2-40B4-BE49-F238E27FC236}">
                <a16:creationId xmlns:a16="http://schemas.microsoft.com/office/drawing/2014/main" id="{8099376E-2249-4498-9A65-CFA1C7985C45}"/>
              </a:ext>
            </a:extLst>
          </p:cNvPr>
          <p:cNvSpPr>
            <a:spLocks noGrp="1"/>
          </p:cNvSpPr>
          <p:nvPr/>
        </p:nvSpPr>
        <p:spPr>
          <a:xfrm>
            <a:off x="12047220" y="2571750"/>
            <a:ext cx="2506980" cy="666750"/>
          </a:xfrm>
          <a:prstGeom prst="rect">
            <a:avLst/>
          </a:prstGeom>
          <a:noFill/>
          <a:ln w="0">
            <a:noFill/>
          </a:ln>
        </p:spPr>
        <p:txBody>
          <a:bodyPr wrap="none" lIns="0" tIns="0" rIns="0" bIns="0" anchor="t">
            <a:noAutofit/>
          </a:bodyPr>
          <a:lstStyle/>
          <a:p>
            <a:pPr algn="l">
              <a:defRPr sz="2550" b="0">
                <a:solidFill>
                  <a:srgbClr val="315BCD"/>
                </a:solidFill>
                <a:latin typeface="Georgia"/>
                <a:ea typeface="Georgia"/>
                <a:cs typeface="Georgia"/>
              </a:defRPr>
            </a:pPr>
            <a:r>
              <a:rPr sz="2550" b="0">
                <a:solidFill>
                  <a:srgbClr val="315BCD"/>
                </a:solidFill>
                <a:latin typeface="Georgia"/>
                <a:ea typeface="Georgia"/>
                <a:cs typeface="Georgia"/>
              </a:rPr>
              <a:t>Run</a:t>
            </a:r>
          </a:p>
        </p:txBody>
      </p:sp>
      <p:sp>
        <p:nvSpPr>
          <p:cNvPr id="18" name="reveal-5-flow-body">
            <a:extLst>
              <a:ext uri="{FF2B5EF4-FFF2-40B4-BE49-F238E27FC236}">
                <a16:creationId xmlns:a16="http://schemas.microsoft.com/office/drawing/2014/main" id="{8E740141-E8CE-4BDA-8CBD-488823154B43}"/>
              </a:ext>
            </a:extLst>
          </p:cNvPr>
          <p:cNvSpPr>
            <a:spLocks noGrp="1"/>
          </p:cNvSpPr>
          <p:nvPr/>
        </p:nvSpPr>
        <p:spPr>
          <a:xfrm>
            <a:off x="12047220" y="3667125"/>
            <a:ext cx="2506980" cy="133350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Request a page in the</a:t>
            </a:r>
          </a:p>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browser.</a:t>
            </a:r>
          </a:p>
        </p:txBody>
      </p:sp>
      <p:sp>
        <p:nvSpPr>
          <p:cNvPr id="19" name="code-panel-80">
            <a:extLst>
              <a:ext uri="{FF2B5EF4-FFF2-40B4-BE49-F238E27FC236}">
                <a16:creationId xmlns:a16="http://schemas.microsoft.com/office/drawing/2014/main" id="{43ADC308-5DEB-4BB2-8061-D8C4BE9D1760}"/>
              </a:ext>
            </a:extLst>
          </p:cNvPr>
          <p:cNvSpPr>
            <a:spLocks noGrp="1"/>
          </p:cNvSpPr>
          <p:nvPr/>
        </p:nvSpPr>
        <p:spPr>
          <a:xfrm>
            <a:off x="685800" y="5924550"/>
            <a:ext cx="13868400" cy="1038225"/>
          </a:xfrm>
          <a:prstGeom prst="rect">
            <a:avLst/>
          </a:prstGeom>
          <a:solidFill>
            <a:srgbClr val="242C35"/>
          </a:solidFill>
          <a:ln w="0">
            <a:noFill/>
          </a:ln>
        </p:spPr>
      </p:sp>
      <p:sp>
        <p:nvSpPr>
          <p:cNvPr id="20" name="code-line-0">
            <a:extLst>
              <a:ext uri="{FF2B5EF4-FFF2-40B4-BE49-F238E27FC236}">
                <a16:creationId xmlns:a16="http://schemas.microsoft.com/office/drawing/2014/main" id="{38D342BA-4B1B-4634-A215-CADC8A37382D}"/>
              </a:ext>
            </a:extLst>
          </p:cNvPr>
          <p:cNvSpPr>
            <a:spLocks noGrp="1"/>
          </p:cNvSpPr>
          <p:nvPr/>
        </p:nvSpPr>
        <p:spPr>
          <a:xfrm>
            <a:off x="914400" y="6134100"/>
            <a:ext cx="13411200" cy="361950"/>
          </a:xfrm>
          <a:prstGeom prst="rect">
            <a:avLst/>
          </a:prstGeom>
          <a:noFill/>
          <a:ln w="0">
            <a:noFill/>
          </a:ln>
        </p:spPr>
        <p:txBody>
          <a:bodyPr wrap="none" lIns="0" tIns="0" rIns="0" bIns="0" anchor="t">
            <a:noAutofit/>
          </a:bodyPr>
          <a:lstStyle/>
          <a:p>
            <a:pPr algn="l">
              <a:defRPr sz="1875" b="0">
                <a:solidFill>
                  <a:srgbClr val="FFFFFF"/>
                </a:solidFill>
                <a:latin typeface="Menlo"/>
                <a:ea typeface="Menlo"/>
                <a:cs typeface="Menlo"/>
              </a:defRPr>
            </a:pPr>
            <a:r>
              <a:rPr sz="1875" b="0">
                <a:solidFill>
                  <a:srgbClr val="FFFFFF"/>
                </a:solidFill>
                <a:latin typeface="Menlo"/>
                <a:ea typeface="Menlo"/>
                <a:cs typeface="Menlo"/>
              </a:rPr>
              <a:t>.venv  →  Django  →  config/ + tasks/  →  database  →  http://127.0.0.1:8000/</a:t>
            </a:r>
          </a:p>
        </p:txBody>
      </p:sp>
      <p:sp>
        <p:nvSpPr>
          <p:cNvPr id="21" name="text-81">
            <a:extLst>
              <a:ext uri="{FF2B5EF4-FFF2-40B4-BE49-F238E27FC236}">
                <a16:creationId xmlns:a16="http://schemas.microsoft.com/office/drawing/2014/main" id="{7B386717-87A9-4F23-BEAD-3301CB0D50DC}"/>
              </a:ext>
            </a:extLst>
          </p:cNvPr>
          <p:cNvSpPr>
            <a:spLocks noGrp="1"/>
          </p:cNvSpPr>
          <p:nvPr/>
        </p:nvSpPr>
        <p:spPr>
          <a:xfrm>
            <a:off x="685800" y="7353300"/>
            <a:ext cx="13868400" cy="628650"/>
          </a:xfrm>
          <a:prstGeom prst="rect">
            <a:avLst/>
          </a:prstGeom>
          <a:noFill/>
          <a:ln w="0">
            <a:noFill/>
          </a:ln>
        </p:spPr>
        <p:txBody>
          <a:bodyPr wrap="none" lIns="0" tIns="0" rIns="0" bIns="0" anchor="t">
            <a:noAutofit/>
          </a:bodyPr>
          <a:lstStyle/>
          <a:p>
            <a:pPr algn="l">
              <a:defRPr sz="2025" b="0">
                <a:solidFill>
                  <a:srgbClr val="65717A"/>
                </a:solidFill>
                <a:latin typeface="Helvetica Neue"/>
                <a:ea typeface="Helvetica Neue"/>
                <a:cs typeface="Helvetica Neue"/>
              </a:defRPr>
            </a:pPr>
            <a:r>
              <a:rPr sz="2025" b="0">
                <a:solidFill>
                  <a:srgbClr val="65717A"/>
                </a:solidFill>
                <a:latin typeface="Helvetica Neue"/>
                <a:ea typeface="Helvetica Neue"/>
                <a:cs typeface="Helvetica Neue"/>
              </a:rPr>
              <a:t>Each command creates something you can inspect. The next slide runs the sequence.</a:t>
            </a:r>
          </a:p>
        </p:txBody>
      </p:sp>
    </p:spTree>
    <p:extLst>
      <p:ext uri="{BB962C8B-B14F-4D97-AF65-F5344CB8AC3E}">
        <p14:creationId xmlns:p14="http://schemas.microsoft.com/office/powerpoint/2010/main" val="10952796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9" name="text-82">
            <a:extLst>
              <a:ext uri="{FF2B5EF4-FFF2-40B4-BE49-F238E27FC236}">
                <a16:creationId xmlns:a16="http://schemas.microsoft.com/office/drawing/2014/main" id="{BDB82DE4-0776-413D-A7CD-EC3E04AEC7D7}"/>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02 / Django and data</a:t>
            </a:r>
          </a:p>
        </p:txBody>
      </p:sp>
      <p:sp>
        <p:nvSpPr>
          <p:cNvPr id="2" name="text-83">
            <a:extLst>
              <a:ext uri="{FF2B5EF4-FFF2-40B4-BE49-F238E27FC236}">
                <a16:creationId xmlns:a16="http://schemas.microsoft.com/office/drawing/2014/main" id="{1FC0DB3B-F932-4EAB-93C0-0F4823EA5CDE}"/>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Setup commands and the first page</a:t>
            </a:r>
          </a:p>
        </p:txBody>
      </p:sp>
      <p:sp>
        <p:nvSpPr>
          <p:cNvPr id="3" name="text-84">
            <a:extLst>
              <a:ext uri="{FF2B5EF4-FFF2-40B4-BE49-F238E27FC236}">
                <a16:creationId xmlns:a16="http://schemas.microsoft.com/office/drawing/2014/main" id="{5BDB4340-1893-463E-BC61-175B3EC76940}"/>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85">
            <a:extLst>
              <a:ext uri="{FF2B5EF4-FFF2-40B4-BE49-F238E27FC236}">
                <a16:creationId xmlns:a16="http://schemas.microsoft.com/office/drawing/2014/main" id="{3223CA23-95D3-4B20-A18F-C54377444282}"/>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11</a:t>
            </a:r>
          </a:p>
        </p:txBody>
      </p:sp>
      <p:sp>
        <p:nvSpPr>
          <p:cNvPr id="5" name="text-86">
            <a:extLst>
              <a:ext uri="{FF2B5EF4-FFF2-40B4-BE49-F238E27FC236}">
                <a16:creationId xmlns:a16="http://schemas.microsoft.com/office/drawing/2014/main" id="{14311774-DC17-4233-B051-847BEB70D190}"/>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Terminal in a new PocketDesk folder</a:t>
            </a:r>
          </a:p>
        </p:txBody>
      </p:sp>
      <p:sp>
        <p:nvSpPr>
          <p:cNvPr id="6" name="code-panel-87">
            <a:extLst>
              <a:ext uri="{FF2B5EF4-FFF2-40B4-BE49-F238E27FC236}">
                <a16:creationId xmlns:a16="http://schemas.microsoft.com/office/drawing/2014/main" id="{F42101D9-7B5C-456F-BA22-01E50C340B3A}"/>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8929068E-E097-4359-9A22-2CC675AEE412}"/>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python -m venv .venv</a:t>
            </a:r>
          </a:p>
        </p:txBody>
      </p:sp>
      <p:sp>
        <p:nvSpPr>
          <p:cNvPr id="8" name="code-line-1">
            <a:extLst>
              <a:ext uri="{FF2B5EF4-FFF2-40B4-BE49-F238E27FC236}">
                <a16:creationId xmlns:a16="http://schemas.microsoft.com/office/drawing/2014/main" id="{8E774ECB-8369-47CE-A47A-0C98AC7DEB3E}"/>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source .venv/bin/activate</a:t>
            </a:r>
          </a:p>
        </p:txBody>
      </p:sp>
      <p:sp>
        <p:nvSpPr>
          <p:cNvPr id="9" name="code-line-2">
            <a:extLst>
              <a:ext uri="{FF2B5EF4-FFF2-40B4-BE49-F238E27FC236}">
                <a16:creationId xmlns:a16="http://schemas.microsoft.com/office/drawing/2014/main" id="{9030BB24-4B5B-437B-9447-35A9D4C1D778}"/>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python -m pip install "Django&gt;=5.2,&lt;5.3"</a:t>
            </a:r>
          </a:p>
        </p:txBody>
      </p:sp>
      <p:sp>
        <p:nvSpPr>
          <p:cNvPr id="10" name="code-line-3">
            <a:extLst>
              <a:ext uri="{FF2B5EF4-FFF2-40B4-BE49-F238E27FC236}">
                <a16:creationId xmlns:a16="http://schemas.microsoft.com/office/drawing/2014/main" id="{89144DDE-ABCE-4A30-B287-59CA9E772DF5}"/>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django-admin startproject config .</a:t>
            </a:r>
          </a:p>
        </p:txBody>
      </p:sp>
      <p:sp>
        <p:nvSpPr>
          <p:cNvPr id="11" name="code-line-4">
            <a:extLst>
              <a:ext uri="{FF2B5EF4-FFF2-40B4-BE49-F238E27FC236}">
                <a16:creationId xmlns:a16="http://schemas.microsoft.com/office/drawing/2014/main" id="{F7F71990-9E65-4450-A66B-901DD7C05D01}"/>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python manage.py startapp tasks</a:t>
            </a:r>
          </a:p>
        </p:txBody>
      </p:sp>
      <p:sp>
        <p:nvSpPr>
          <p:cNvPr id="12" name="code-line-5">
            <a:extLst>
              <a:ext uri="{FF2B5EF4-FFF2-40B4-BE49-F238E27FC236}">
                <a16:creationId xmlns:a16="http://schemas.microsoft.com/office/drawing/2014/main" id="{EDBF1D2E-BEE2-4414-8306-B5BF4EC423F8}"/>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Register tasks.apps.TasksConfig in settings.py</a:t>
            </a:r>
          </a:p>
        </p:txBody>
      </p:sp>
      <p:sp>
        <p:nvSpPr>
          <p:cNvPr id="13" name="code-line-6">
            <a:extLst>
              <a:ext uri="{FF2B5EF4-FFF2-40B4-BE49-F238E27FC236}">
                <a16:creationId xmlns:a16="http://schemas.microsoft.com/office/drawing/2014/main" id="{413BF0A9-58E1-48E3-AD9F-B3158F39FE0C}"/>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python manage.py migrate</a:t>
            </a:r>
          </a:p>
        </p:txBody>
      </p:sp>
      <p:sp>
        <p:nvSpPr>
          <p:cNvPr id="14" name="code-line-7">
            <a:extLst>
              <a:ext uri="{FF2B5EF4-FFF2-40B4-BE49-F238E27FC236}">
                <a16:creationId xmlns:a16="http://schemas.microsoft.com/office/drawing/2014/main" id="{107E0ECB-D278-4220-8D7F-D2CA196D0690}"/>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python manage.py runserver</a:t>
            </a:r>
          </a:p>
        </p:txBody>
      </p:sp>
      <p:sp>
        <p:nvSpPr>
          <p:cNvPr id="15" name="reveal-1-output-1">
            <a:extLst>
              <a:ext uri="{FF2B5EF4-FFF2-40B4-BE49-F238E27FC236}">
                <a16:creationId xmlns:a16="http://schemas.microsoft.com/office/drawing/2014/main" id="{57D3B9D2-8E8B-4DEC-A7CA-CD6D81A40DF8}"/>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First browser check</a:t>
            </a:r>
          </a:p>
        </p:txBody>
      </p:sp>
      <p:sp>
        <p:nvSpPr>
          <p:cNvPr id="16" name="reveal-1-output-2">
            <a:extLst>
              <a:ext uri="{FF2B5EF4-FFF2-40B4-BE49-F238E27FC236}">
                <a16:creationId xmlns:a16="http://schemas.microsoft.com/office/drawing/2014/main" id="{EB5774F1-3398-4395-93C7-0E97BE370710}"/>
              </a:ext>
            </a:extLst>
          </p:cNvPr>
          <p:cNvSpPr>
            <a:spLocks noGrp="1"/>
          </p:cNvSpPr>
          <p:nvPr/>
        </p:nvSpPr>
        <p:spPr>
          <a:xfrm>
            <a:off x="9239250" y="2952750"/>
            <a:ext cx="5295900" cy="3810000"/>
          </a:xfrm>
          <a:prstGeom prst="rect">
            <a:avLst/>
          </a:prstGeom>
          <a:solidFill>
            <a:srgbClr val="ECEFF7"/>
          </a:solidFill>
          <a:ln w="0">
            <a:noFill/>
          </a:ln>
        </p:spPr>
      </p:sp>
      <p:sp>
        <p:nvSpPr>
          <p:cNvPr id="17" name="reveal-1-output-3">
            <a:extLst>
              <a:ext uri="{FF2B5EF4-FFF2-40B4-BE49-F238E27FC236}">
                <a16:creationId xmlns:a16="http://schemas.microsoft.com/office/drawing/2014/main" id="{C79E8FF1-3811-4F98-B19B-D773A7F58C84}"/>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650" b="0">
                <a:solidFill>
                  <a:srgbClr val="242C35"/>
                </a:solidFill>
                <a:latin typeface="Menlo"/>
                <a:ea typeface="Menlo"/>
                <a:cs typeface="Menlo"/>
              </a:defRPr>
            </a:pPr>
            <a:r>
              <a:rPr sz="1650" b="0">
                <a:solidFill>
                  <a:srgbClr val="242C35"/>
                </a:solidFill>
                <a:latin typeface="Menlo"/>
                <a:ea typeface="Menlo"/>
                <a:cs typeface="Menlo"/>
              </a:rPr>
              <a:t>http://127.0.0.1:8000/</a:t>
            </a:r>
          </a:p>
          <a:p>
            <a:pPr algn="l">
              <a:defRPr sz="1650" b="0">
                <a:solidFill>
                  <a:srgbClr val="242C35"/>
                </a:solidFill>
                <a:latin typeface="Menlo"/>
                <a:ea typeface="Menlo"/>
                <a:cs typeface="Menlo"/>
              </a:defRPr>
            </a:pPr>
            <a:r>
              <a:rPr sz="1650" b="0">
                <a:solidFill>
                  <a:srgbClr val="242C35"/>
                </a:solidFill>
                <a:latin typeface="Menlo"/>
                <a:ea typeface="Menlo"/>
                <a:cs typeface="Menlo"/>
              </a:rPr>
              <a:t>Django installation success page</a:t>
            </a:r>
          </a:p>
        </p:txBody>
      </p:sp>
      <p:sp>
        <p:nvSpPr>
          <p:cNvPr id="18" name="fade-1-takeaway">
            <a:extLst>
              <a:ext uri="{FF2B5EF4-FFF2-40B4-BE49-F238E27FC236}">
                <a16:creationId xmlns:a16="http://schemas.microsoft.com/office/drawing/2014/main" id="{159E0F9C-75EE-4637-81BE-F594947F8C37}"/>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Python 3.13 with the latest Django 5.2 patch.</a:t>
            </a:r>
          </a:p>
        </p:txBody>
      </p:sp>
    </p:spTree>
    <p:extLst>
      <p:ext uri="{BB962C8B-B14F-4D97-AF65-F5344CB8AC3E}">
        <p14:creationId xmlns:p14="http://schemas.microsoft.com/office/powerpoint/2010/main" val="16087615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350" fill="hold">
                                          <p:stCondLst>
                                            <p:cond delay="0"/>
                                          </p:stCondLst>
                                        </p:cTn>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7" name="text-91">
            <a:extLst>
              <a:ext uri="{FF2B5EF4-FFF2-40B4-BE49-F238E27FC236}">
                <a16:creationId xmlns:a16="http://schemas.microsoft.com/office/drawing/2014/main" id="{2BC4F165-1C50-42AC-BD07-2B809659C115}"/>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02 / Django and data</a:t>
            </a:r>
          </a:p>
        </p:txBody>
      </p:sp>
      <p:sp>
        <p:nvSpPr>
          <p:cNvPr id="2" name="text-92">
            <a:extLst>
              <a:ext uri="{FF2B5EF4-FFF2-40B4-BE49-F238E27FC236}">
                <a16:creationId xmlns:a16="http://schemas.microsoft.com/office/drawing/2014/main" id="{DC753E4F-8CFD-401C-B605-0454FC265CBC}"/>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Project and app structure</a:t>
            </a:r>
          </a:p>
        </p:txBody>
      </p:sp>
      <p:sp>
        <p:nvSpPr>
          <p:cNvPr id="3" name="text-93">
            <a:extLst>
              <a:ext uri="{FF2B5EF4-FFF2-40B4-BE49-F238E27FC236}">
                <a16:creationId xmlns:a16="http://schemas.microsoft.com/office/drawing/2014/main" id="{50211F28-2A90-40F4-B4CB-B88A577053D5}"/>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94">
            <a:extLst>
              <a:ext uri="{FF2B5EF4-FFF2-40B4-BE49-F238E27FC236}">
                <a16:creationId xmlns:a16="http://schemas.microsoft.com/office/drawing/2014/main" id="{7D3F63E0-0033-4A77-9D75-8060A8C3DC68}"/>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12</a:t>
            </a:r>
          </a:p>
        </p:txBody>
      </p:sp>
      <p:graphicFrame>
        <p:nvGraphicFramePr>
          <p:cNvPr id="11" name="Table 10"/>
          <p:cNvGraphicFramePr/>
          <p:nvPr/>
        </p:nvGraphicFramePr>
        <p:xfrm>
          <a:off x="685800" y="2333625"/>
          <a:ext cx="13868400" cy="4895850"/>
        </p:xfrm>
        <a:graphic>
          <a:graphicData uri="http://schemas.openxmlformats.org/drawingml/2006/table">
            <a:tbl>
              <a:tblPr firstRow="1"/>
              <a:tblGrid>
                <a:gridCol w="4238625">
                  <a:extLst>
                    <a:ext uri="{9D8B030D-6E8A-4147-A177-3AD203B41FA5}">
                      <a16:colId xmlns:a16="http://schemas.microsoft.com/office/drawing/2014/main" val="20000"/>
                    </a:ext>
                  </a:extLst>
                </a:gridCol>
                <a:gridCol w="9629775">
                  <a:extLst>
                    <a:ext uri="{9D8B030D-6E8A-4147-A177-3AD203B41FA5}">
                      <a16:colId xmlns:a16="http://schemas.microsoft.com/office/drawing/2014/main" val="20001"/>
                    </a:ext>
                  </a:extLst>
                </a:gridCol>
              </a:tblGrid>
              <a:tr h="699407">
                <a:tc>
                  <a:txBody>
                    <a:bodyPr/>
                    <a:lstStyle/>
                    <a:p>
                      <a:r>
                        <a:rPr sz="1875" b="1">
                          <a:solidFill>
                            <a:srgbClr val="FFFFFF"/>
                          </a:solidFill>
                          <a:latin typeface="Helvetica Neue"/>
                          <a:ea typeface="Helvetica Neue"/>
                          <a:cs typeface="Helvetica Neue"/>
                        </a:rPr>
                        <a:t>Path</a:t>
                      </a:r>
                    </a:p>
                  </a:txBody>
                  <a:tcPr anchor="ctr">
                    <a:solidFill>
                      <a:srgbClr val="242C35"/>
                    </a:solidFill>
                  </a:tcPr>
                </a:tc>
                <a:tc>
                  <a:txBody>
                    <a:bodyPr/>
                    <a:lstStyle/>
                    <a:p>
                      <a:r>
                        <a:rPr sz="1875" b="1">
                          <a:solidFill>
                            <a:srgbClr val="FFFFFF"/>
                          </a:solidFill>
                          <a:latin typeface="Helvetica Neue"/>
                          <a:ea typeface="Helvetica Neue"/>
                          <a:cs typeface="Helvetica Neue"/>
                        </a:rPr>
                        <a:t>Responsibility</a:t>
                      </a:r>
                    </a:p>
                  </a:txBody>
                  <a:tcPr anchor="ctr">
                    <a:solidFill>
                      <a:srgbClr val="242C35"/>
                    </a:solidFill>
                  </a:tcPr>
                </a:tc>
                <a:extLst>
                  <a:ext uri="{0D108BD9-81ED-4DB2-BD59-A6C34878D82A}">
                    <a16:rowId xmlns:a16="http://schemas.microsoft.com/office/drawing/2014/main" val="10000"/>
                  </a:ext>
                </a:extLst>
              </a:tr>
              <a:tr h="699407">
                <a:tc>
                  <a:txBody>
                    <a:bodyPr/>
                    <a:lstStyle/>
                    <a:p>
                      <a:r>
                        <a:rPr sz="1875" b="0">
                          <a:solidFill>
                            <a:srgbClr val="242C35"/>
                          </a:solidFill>
                          <a:latin typeface="Helvetica Neue"/>
                          <a:ea typeface="Helvetica Neue"/>
                          <a:cs typeface="Helvetica Neue"/>
                        </a:rPr>
                        <a:t>manage.py</a:t>
                      </a:r>
                    </a:p>
                  </a:txBody>
                  <a:tcPr anchor="ctr">
                    <a:solidFill>
                      <a:srgbClr val="FFFFFF"/>
                    </a:solidFill>
                  </a:tcPr>
                </a:tc>
                <a:tc>
                  <a:txBody>
                    <a:bodyPr/>
                    <a:lstStyle/>
                    <a:p>
                      <a:r>
                        <a:rPr sz="1875" b="0">
                          <a:solidFill>
                            <a:srgbClr val="242C35"/>
                          </a:solidFill>
                          <a:latin typeface="Helvetica Neue"/>
                          <a:ea typeface="Helvetica Neue"/>
                          <a:cs typeface="Helvetica Neue"/>
                        </a:rPr>
                        <a:t>Project commands</a:t>
                      </a:r>
                    </a:p>
                  </a:txBody>
                  <a:tcPr anchor="ctr">
                    <a:solidFill>
                      <a:srgbClr val="FFFFFF"/>
                    </a:solidFill>
                  </a:tcPr>
                </a:tc>
                <a:extLst>
                  <a:ext uri="{0D108BD9-81ED-4DB2-BD59-A6C34878D82A}">
                    <a16:rowId xmlns:a16="http://schemas.microsoft.com/office/drawing/2014/main" val="10001"/>
                  </a:ext>
                </a:extLst>
              </a:tr>
              <a:tr h="699407">
                <a:tc>
                  <a:txBody>
                    <a:bodyPr/>
                    <a:lstStyle/>
                    <a:p>
                      <a:r>
                        <a:rPr sz="1875" b="0">
                          <a:solidFill>
                            <a:srgbClr val="242C35"/>
                          </a:solidFill>
                          <a:latin typeface="Helvetica Neue"/>
                          <a:ea typeface="Helvetica Neue"/>
                          <a:cs typeface="Helvetica Neue"/>
                        </a:rPr>
                        <a:t>config/settings.py</a:t>
                      </a:r>
                    </a:p>
                  </a:txBody>
                  <a:tcPr anchor="ctr">
                    <a:solidFill>
                      <a:srgbClr val="F8F5EF"/>
                    </a:solidFill>
                  </a:tcPr>
                </a:tc>
                <a:tc>
                  <a:txBody>
                    <a:bodyPr/>
                    <a:lstStyle/>
                    <a:p>
                      <a:r>
                        <a:rPr sz="1875" b="0">
                          <a:solidFill>
                            <a:srgbClr val="242C35"/>
                          </a:solidFill>
                          <a:latin typeface="Helvetica Neue"/>
                          <a:ea typeface="Helvetica Neue"/>
                          <a:cs typeface="Helvetica Neue"/>
                        </a:rPr>
                        <a:t>Application configuration</a:t>
                      </a:r>
                    </a:p>
                  </a:txBody>
                  <a:tcPr anchor="ctr">
                    <a:solidFill>
                      <a:srgbClr val="F8F5EF"/>
                    </a:solidFill>
                  </a:tcPr>
                </a:tc>
                <a:extLst>
                  <a:ext uri="{0D108BD9-81ED-4DB2-BD59-A6C34878D82A}">
                    <a16:rowId xmlns:a16="http://schemas.microsoft.com/office/drawing/2014/main" val="10002"/>
                  </a:ext>
                </a:extLst>
              </a:tr>
              <a:tr h="699407">
                <a:tc>
                  <a:txBody>
                    <a:bodyPr/>
                    <a:lstStyle/>
                    <a:p>
                      <a:r>
                        <a:rPr sz="1875" b="0">
                          <a:solidFill>
                            <a:srgbClr val="242C35"/>
                          </a:solidFill>
                          <a:latin typeface="Helvetica Neue"/>
                          <a:ea typeface="Helvetica Neue"/>
                          <a:cs typeface="Helvetica Neue"/>
                        </a:rPr>
                        <a:t>config/urls.py</a:t>
                      </a:r>
                    </a:p>
                  </a:txBody>
                  <a:tcPr anchor="ctr">
                    <a:solidFill>
                      <a:srgbClr val="FFFFFF"/>
                    </a:solidFill>
                  </a:tcPr>
                </a:tc>
                <a:tc>
                  <a:txBody>
                    <a:bodyPr/>
                    <a:lstStyle/>
                    <a:p>
                      <a:r>
                        <a:rPr sz="1875" b="0">
                          <a:solidFill>
                            <a:srgbClr val="242C35"/>
                          </a:solidFill>
                          <a:latin typeface="Helvetica Neue"/>
                          <a:ea typeface="Helvetica Neue"/>
                          <a:cs typeface="Helvetica Neue"/>
                        </a:rPr>
                        <a:t>Project-level routes</a:t>
                      </a:r>
                    </a:p>
                  </a:txBody>
                  <a:tcPr anchor="ctr">
                    <a:solidFill>
                      <a:srgbClr val="FFFFFF"/>
                    </a:solidFill>
                  </a:tcPr>
                </a:tc>
                <a:extLst>
                  <a:ext uri="{0D108BD9-81ED-4DB2-BD59-A6C34878D82A}">
                    <a16:rowId xmlns:a16="http://schemas.microsoft.com/office/drawing/2014/main" val="10003"/>
                  </a:ext>
                </a:extLst>
              </a:tr>
              <a:tr h="699407">
                <a:tc>
                  <a:txBody>
                    <a:bodyPr/>
                    <a:lstStyle/>
                    <a:p>
                      <a:r>
                        <a:rPr sz="1875" b="0">
                          <a:solidFill>
                            <a:srgbClr val="242C35"/>
                          </a:solidFill>
                          <a:latin typeface="Helvetica Neue"/>
                          <a:ea typeface="Helvetica Neue"/>
                          <a:cs typeface="Helvetica Neue"/>
                        </a:rPr>
                        <a:t>tasks/models.py</a:t>
                      </a:r>
                    </a:p>
                  </a:txBody>
                  <a:tcPr anchor="ctr">
                    <a:solidFill>
                      <a:srgbClr val="F8F5EF"/>
                    </a:solidFill>
                  </a:tcPr>
                </a:tc>
                <a:tc>
                  <a:txBody>
                    <a:bodyPr/>
                    <a:lstStyle/>
                    <a:p>
                      <a:r>
                        <a:rPr sz="1875" b="0">
                          <a:solidFill>
                            <a:srgbClr val="242C35"/>
                          </a:solidFill>
                          <a:latin typeface="Helvetica Neue"/>
                          <a:ea typeface="Helvetica Neue"/>
                          <a:cs typeface="Helvetica Neue"/>
                        </a:rPr>
                        <a:t>Data definitions</a:t>
                      </a:r>
                    </a:p>
                  </a:txBody>
                  <a:tcPr anchor="ctr">
                    <a:solidFill>
                      <a:srgbClr val="F8F5EF"/>
                    </a:solidFill>
                  </a:tcPr>
                </a:tc>
                <a:extLst>
                  <a:ext uri="{0D108BD9-81ED-4DB2-BD59-A6C34878D82A}">
                    <a16:rowId xmlns:a16="http://schemas.microsoft.com/office/drawing/2014/main" val="10004"/>
                  </a:ext>
                </a:extLst>
              </a:tr>
              <a:tr h="699407">
                <a:tc>
                  <a:txBody>
                    <a:bodyPr/>
                    <a:lstStyle/>
                    <a:p>
                      <a:r>
                        <a:rPr sz="1875" b="0">
                          <a:solidFill>
                            <a:srgbClr val="242C35"/>
                          </a:solidFill>
                          <a:latin typeface="Helvetica Neue"/>
                          <a:ea typeface="Helvetica Neue"/>
                          <a:cs typeface="Helvetica Neue"/>
                        </a:rPr>
                        <a:t>tasks/views.py</a:t>
                      </a:r>
                    </a:p>
                  </a:txBody>
                  <a:tcPr anchor="ctr">
                    <a:solidFill>
                      <a:srgbClr val="FFFFFF"/>
                    </a:solidFill>
                  </a:tcPr>
                </a:tc>
                <a:tc>
                  <a:txBody>
                    <a:bodyPr/>
                    <a:lstStyle/>
                    <a:p>
                      <a:r>
                        <a:rPr sz="1875" b="0">
                          <a:solidFill>
                            <a:srgbClr val="242C35"/>
                          </a:solidFill>
                          <a:latin typeface="Helvetica Neue"/>
                          <a:ea typeface="Helvetica Neue"/>
                          <a:cs typeface="Helvetica Neue"/>
                        </a:rPr>
                        <a:t>Request-handling logic</a:t>
                      </a:r>
                    </a:p>
                  </a:txBody>
                  <a:tcPr anchor="ctr">
                    <a:solidFill>
                      <a:srgbClr val="FFFFFF"/>
                    </a:solidFill>
                  </a:tcPr>
                </a:tc>
                <a:extLst>
                  <a:ext uri="{0D108BD9-81ED-4DB2-BD59-A6C34878D82A}">
                    <a16:rowId xmlns:a16="http://schemas.microsoft.com/office/drawing/2014/main" val="10005"/>
                  </a:ext>
                </a:extLst>
              </a:tr>
              <a:tr h="699407">
                <a:tc>
                  <a:txBody>
                    <a:bodyPr/>
                    <a:lstStyle/>
                    <a:p>
                      <a:r>
                        <a:rPr sz="1875" b="0">
                          <a:solidFill>
                            <a:srgbClr val="242C35"/>
                          </a:solidFill>
                          <a:latin typeface="Helvetica Neue"/>
                          <a:ea typeface="Helvetica Neue"/>
                          <a:cs typeface="Helvetica Neue"/>
                        </a:rPr>
                        <a:t>tasks/templates/tasks/</a:t>
                      </a:r>
                    </a:p>
                  </a:txBody>
                  <a:tcPr anchor="ctr">
                    <a:solidFill>
                      <a:srgbClr val="F8F5EF"/>
                    </a:solidFill>
                  </a:tcPr>
                </a:tc>
                <a:tc>
                  <a:txBody>
                    <a:bodyPr/>
                    <a:lstStyle/>
                    <a:p>
                      <a:r>
                        <a:rPr sz="1875" b="0">
                          <a:solidFill>
                            <a:srgbClr val="242C35"/>
                          </a:solidFill>
                          <a:latin typeface="Helvetica Neue"/>
                          <a:ea typeface="Helvetica Neue"/>
                          <a:cs typeface="Helvetica Neue"/>
                        </a:rPr>
                        <a:t>HTML templates</a:t>
                      </a:r>
                    </a:p>
                  </a:txBody>
                  <a:tcPr anchor="ctr">
                    <a:solidFill>
                      <a:srgbClr val="F8F5EF"/>
                    </a:solidFill>
                  </a:tcPr>
                </a:tc>
                <a:extLst>
                  <a:ext uri="{0D108BD9-81ED-4DB2-BD59-A6C34878D82A}">
                    <a16:rowId xmlns:a16="http://schemas.microsoft.com/office/drawing/2014/main" val="10006"/>
                  </a:ext>
                </a:extLst>
              </a:tr>
            </a:tbl>
          </a:graphicData>
        </a:graphic>
      </p:graphicFrame>
      <p:sp>
        <p:nvSpPr>
          <p:cNvPr id="6" name="fade-1-takeaway">
            <a:extLst>
              <a:ext uri="{FF2B5EF4-FFF2-40B4-BE49-F238E27FC236}">
                <a16:creationId xmlns:a16="http://schemas.microsoft.com/office/drawing/2014/main" id="{703F220F-7B3D-4D2E-834D-206CBC8B7632}"/>
              </a:ext>
            </a:extLst>
          </p:cNvPr>
          <p:cNvSpPr>
            <a:spLocks noGrp="1"/>
          </p:cNvSpPr>
          <p:nvPr/>
        </p:nvSpPr>
        <p:spPr>
          <a:xfrm>
            <a:off x="685800" y="7477125"/>
            <a:ext cx="13868400" cy="571500"/>
          </a:xfrm>
          <a:prstGeom prst="rect">
            <a:avLst/>
          </a:prstGeom>
          <a:noFill/>
          <a:ln w="0">
            <a:noFill/>
          </a:ln>
        </p:spPr>
        <p:txBody>
          <a:bodyPr wrap="none" lIns="0" tIns="0" rIns="0" bIns="0" anchor="t">
            <a:noAutofit/>
          </a:bodyPr>
          <a:lstStyle/>
          <a:p>
            <a:pPr algn="l">
              <a:defRPr sz="2025" b="0">
                <a:solidFill>
                  <a:srgbClr val="65717A"/>
                </a:solidFill>
                <a:latin typeface="Helvetica Neue"/>
                <a:ea typeface="Helvetica Neue"/>
                <a:cs typeface="Helvetica Neue"/>
              </a:defRPr>
            </a:pPr>
            <a:r>
              <a:rPr sz="2025" b="0">
                <a:solidFill>
                  <a:srgbClr val="65717A"/>
                </a:solidFill>
                <a:latin typeface="Helvetica Neue"/>
                <a:ea typeface="Helvetica Neue"/>
                <a:cs typeface="Helvetica Neue"/>
              </a:rPr>
              <a:t>A project holds configuration. An app groups a domain’s features.</a:t>
            </a:r>
          </a:p>
        </p:txBody>
      </p:sp>
    </p:spTree>
    <p:extLst>
      <p:ext uri="{BB962C8B-B14F-4D97-AF65-F5344CB8AC3E}">
        <p14:creationId xmlns:p14="http://schemas.microsoft.com/office/powerpoint/2010/main" val="14401281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fill="hold">
                                          <p:stCondLst>
                                            <p:cond delay="0"/>
                                          </p:stCondLst>
                                        </p:cTn>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9" name="text-95">
            <a:extLst>
              <a:ext uri="{FF2B5EF4-FFF2-40B4-BE49-F238E27FC236}">
                <a16:creationId xmlns:a16="http://schemas.microsoft.com/office/drawing/2014/main" id="{46A7ADFE-2B72-43B3-9CA9-6D243CC55B98}"/>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02 / Django and data</a:t>
            </a:r>
          </a:p>
        </p:txBody>
      </p:sp>
      <p:sp>
        <p:nvSpPr>
          <p:cNvPr id="2" name="text-96">
            <a:extLst>
              <a:ext uri="{FF2B5EF4-FFF2-40B4-BE49-F238E27FC236}">
                <a16:creationId xmlns:a16="http://schemas.microsoft.com/office/drawing/2014/main" id="{D67959E5-4F87-4BC4-A388-6561BA7ABA25}"/>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The first route</a:t>
            </a:r>
          </a:p>
        </p:txBody>
      </p:sp>
      <p:sp>
        <p:nvSpPr>
          <p:cNvPr id="3" name="text-97">
            <a:extLst>
              <a:ext uri="{FF2B5EF4-FFF2-40B4-BE49-F238E27FC236}">
                <a16:creationId xmlns:a16="http://schemas.microsoft.com/office/drawing/2014/main" id="{C0064B08-EA41-4C15-9D50-CAB05FD9D3A3}"/>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98">
            <a:extLst>
              <a:ext uri="{FF2B5EF4-FFF2-40B4-BE49-F238E27FC236}">
                <a16:creationId xmlns:a16="http://schemas.microsoft.com/office/drawing/2014/main" id="{437C5AD5-6773-458B-9383-B6A4784C2597}"/>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13</a:t>
            </a:r>
          </a:p>
        </p:txBody>
      </p:sp>
      <p:sp>
        <p:nvSpPr>
          <p:cNvPr id="5" name="text-99">
            <a:extLst>
              <a:ext uri="{FF2B5EF4-FFF2-40B4-BE49-F238E27FC236}">
                <a16:creationId xmlns:a16="http://schemas.microsoft.com/office/drawing/2014/main" id="{D4F55D78-99B4-47B3-B0B2-61407258D1A3}"/>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tasks/views.py and config/urls.py</a:t>
            </a:r>
          </a:p>
        </p:txBody>
      </p:sp>
      <p:sp>
        <p:nvSpPr>
          <p:cNvPr id="6" name="code-panel-100">
            <a:extLst>
              <a:ext uri="{FF2B5EF4-FFF2-40B4-BE49-F238E27FC236}">
                <a16:creationId xmlns:a16="http://schemas.microsoft.com/office/drawing/2014/main" id="{418CF796-14DE-4479-911C-36ABA27DEAA5}"/>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FFA5CF72-57CF-403F-A40A-A1803711DEF3}"/>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tasks/views.py</a:t>
            </a:r>
          </a:p>
        </p:txBody>
      </p:sp>
      <p:sp>
        <p:nvSpPr>
          <p:cNvPr id="8" name="code-line-1">
            <a:extLst>
              <a:ext uri="{FF2B5EF4-FFF2-40B4-BE49-F238E27FC236}">
                <a16:creationId xmlns:a16="http://schemas.microsoft.com/office/drawing/2014/main" id="{FF093FD2-F1B1-4CFE-86D4-EEBFA65B632F}"/>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from</a:t>
            </a:r>
            <a:r>
              <a:rPr sz="1725" b="0">
                <a:solidFill>
                  <a:srgbClr val="FFFFFF"/>
                </a:solidFill>
                <a:latin typeface="Menlo"/>
                <a:ea typeface="Menlo"/>
                <a:cs typeface="Menlo"/>
              </a:rPr>
              <a:t> django.http </a:t>
            </a:r>
            <a:r>
              <a:rPr sz="1725" b="0">
                <a:solidFill>
                  <a:srgbClr val="A7C2FF"/>
                </a:solidFill>
                <a:latin typeface="Menlo"/>
                <a:ea typeface="Menlo"/>
                <a:cs typeface="Menlo"/>
              </a:rPr>
              <a:t>import</a:t>
            </a:r>
            <a:r>
              <a:rPr sz="1725" b="0">
                <a:solidFill>
                  <a:srgbClr val="FFFFFF"/>
                </a:solidFill>
                <a:latin typeface="Menlo"/>
                <a:ea typeface="Menlo"/>
                <a:cs typeface="Menlo"/>
              </a:rPr>
              <a:t> HttpResponse</a:t>
            </a:r>
          </a:p>
        </p:txBody>
      </p:sp>
      <p:sp>
        <p:nvSpPr>
          <p:cNvPr id="9" name="code-line-2">
            <a:extLst>
              <a:ext uri="{FF2B5EF4-FFF2-40B4-BE49-F238E27FC236}">
                <a16:creationId xmlns:a16="http://schemas.microsoft.com/office/drawing/2014/main" id="{582DFCDC-85D1-44F6-953D-ADB0F554E35C}"/>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endParaRPr/>
          </a:p>
        </p:txBody>
      </p:sp>
      <p:sp>
        <p:nvSpPr>
          <p:cNvPr id="10" name="code-line-3">
            <a:extLst>
              <a:ext uri="{FF2B5EF4-FFF2-40B4-BE49-F238E27FC236}">
                <a16:creationId xmlns:a16="http://schemas.microsoft.com/office/drawing/2014/main" id="{61C86590-1378-4FD0-9BEE-7248B2B2F9D7}"/>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def</a:t>
            </a:r>
            <a:r>
              <a:rPr sz="1725" b="0">
                <a:solidFill>
                  <a:srgbClr val="FFFFFF"/>
                </a:solidFill>
                <a:latin typeface="Menlo"/>
                <a:ea typeface="Menlo"/>
                <a:cs typeface="Menlo"/>
              </a:rPr>
              <a:t> home(request):</a:t>
            </a:r>
          </a:p>
        </p:txBody>
      </p:sp>
      <p:sp>
        <p:nvSpPr>
          <p:cNvPr id="11" name="code-line-4">
            <a:extLst>
              <a:ext uri="{FF2B5EF4-FFF2-40B4-BE49-F238E27FC236}">
                <a16:creationId xmlns:a16="http://schemas.microsoft.com/office/drawing/2014/main" id="{D6D95343-4929-477B-A5B1-1141A206ADB2}"/>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return</a:t>
            </a:r>
            <a:r>
              <a:rPr sz="1725" b="0">
                <a:solidFill>
                  <a:srgbClr val="FFFFFF"/>
                </a:solidFill>
                <a:latin typeface="Menlo"/>
                <a:ea typeface="Menlo"/>
                <a:cs typeface="Menlo"/>
              </a:rPr>
              <a:t> HttpResponse("PocketDesk is running")</a:t>
            </a:r>
          </a:p>
        </p:txBody>
      </p:sp>
      <p:sp>
        <p:nvSpPr>
          <p:cNvPr id="12" name="code-line-5">
            <a:extLst>
              <a:ext uri="{FF2B5EF4-FFF2-40B4-BE49-F238E27FC236}">
                <a16:creationId xmlns:a16="http://schemas.microsoft.com/office/drawing/2014/main" id="{ABC83AA0-AD5A-4FF7-AF6A-8F90BC719A61}"/>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endParaRPr/>
          </a:p>
        </p:txBody>
      </p:sp>
      <p:sp>
        <p:nvSpPr>
          <p:cNvPr id="13" name="code-line-6">
            <a:extLst>
              <a:ext uri="{FF2B5EF4-FFF2-40B4-BE49-F238E27FC236}">
                <a16:creationId xmlns:a16="http://schemas.microsoft.com/office/drawing/2014/main" id="{1B4388F6-0FBD-4B09-A366-C57DA4AE3C39}"/>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Add inside config/urls.py urlpatterns</a:t>
            </a:r>
          </a:p>
        </p:txBody>
      </p:sp>
      <p:sp>
        <p:nvSpPr>
          <p:cNvPr id="14" name="code-line-7">
            <a:extLst>
              <a:ext uri="{FF2B5EF4-FFF2-40B4-BE49-F238E27FC236}">
                <a16:creationId xmlns:a16="http://schemas.microsoft.com/office/drawing/2014/main" id="{86A5B432-2927-4470-B587-8F595BE14837}"/>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path("", home, name="home"),</a:t>
            </a:r>
          </a:p>
        </p:txBody>
      </p:sp>
      <p:sp>
        <p:nvSpPr>
          <p:cNvPr id="15" name="reveal-1-output-1">
            <a:extLst>
              <a:ext uri="{FF2B5EF4-FFF2-40B4-BE49-F238E27FC236}">
                <a16:creationId xmlns:a16="http://schemas.microsoft.com/office/drawing/2014/main" id="{7B1ADE9B-9D4A-4C76-A813-3501679650B7}"/>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GET /</a:t>
            </a:r>
          </a:p>
        </p:txBody>
      </p:sp>
      <p:sp>
        <p:nvSpPr>
          <p:cNvPr id="16" name="reveal-1-output-2">
            <a:extLst>
              <a:ext uri="{FF2B5EF4-FFF2-40B4-BE49-F238E27FC236}">
                <a16:creationId xmlns:a16="http://schemas.microsoft.com/office/drawing/2014/main" id="{7CB5C93B-DB80-46E9-BE27-E73E5ADE2970}"/>
              </a:ext>
            </a:extLst>
          </p:cNvPr>
          <p:cNvSpPr>
            <a:spLocks noGrp="1"/>
          </p:cNvSpPr>
          <p:nvPr/>
        </p:nvSpPr>
        <p:spPr>
          <a:xfrm>
            <a:off x="9239250" y="2952750"/>
            <a:ext cx="5295900" cy="3810000"/>
          </a:xfrm>
          <a:prstGeom prst="rect">
            <a:avLst/>
          </a:prstGeom>
          <a:solidFill>
            <a:srgbClr val="ECEFF7"/>
          </a:solidFill>
          <a:ln w="0">
            <a:noFill/>
          </a:ln>
        </p:spPr>
      </p:sp>
      <p:sp>
        <p:nvSpPr>
          <p:cNvPr id="17" name="reveal-1-output-3">
            <a:extLst>
              <a:ext uri="{FF2B5EF4-FFF2-40B4-BE49-F238E27FC236}">
                <a16:creationId xmlns:a16="http://schemas.microsoft.com/office/drawing/2014/main" id="{D9E9F2EE-4B97-4A3E-A3CA-7E6B3E16D36D}"/>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650" b="0">
                <a:solidFill>
                  <a:srgbClr val="242C35"/>
                </a:solidFill>
                <a:latin typeface="Menlo"/>
                <a:ea typeface="Menlo"/>
                <a:cs typeface="Menlo"/>
              </a:defRPr>
            </a:pPr>
            <a:r>
              <a:rPr sz="1650" b="0">
                <a:solidFill>
                  <a:srgbClr val="242C35"/>
                </a:solidFill>
                <a:latin typeface="Menlo"/>
                <a:ea typeface="Menlo"/>
                <a:cs typeface="Menlo"/>
              </a:rPr>
              <a:t>HTTP 200</a:t>
            </a:r>
          </a:p>
          <a:p>
            <a:pPr algn="l">
              <a:defRPr sz="1650" b="0">
                <a:solidFill>
                  <a:srgbClr val="242C35"/>
                </a:solidFill>
                <a:latin typeface="Menlo"/>
                <a:ea typeface="Menlo"/>
                <a:cs typeface="Menlo"/>
              </a:defRPr>
            </a:pPr>
            <a:r>
              <a:rPr sz="1650" b="0">
                <a:solidFill>
                  <a:srgbClr val="242C35"/>
                </a:solidFill>
                <a:latin typeface="Menlo"/>
                <a:ea typeface="Menlo"/>
                <a:cs typeface="Menlo"/>
              </a:rPr>
              <a:t>PocketDesk is running</a:t>
            </a:r>
          </a:p>
        </p:txBody>
      </p:sp>
      <p:sp>
        <p:nvSpPr>
          <p:cNvPr id="18" name="fade-1-takeaway">
            <a:extLst>
              <a:ext uri="{FF2B5EF4-FFF2-40B4-BE49-F238E27FC236}">
                <a16:creationId xmlns:a16="http://schemas.microsoft.com/office/drawing/2014/main" id="{F5C8EEE7-48D5-4548-85D6-47AE5E484308}"/>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Django matches the path and calls home(request).</a:t>
            </a:r>
          </a:p>
        </p:txBody>
      </p:sp>
    </p:spTree>
    <p:extLst>
      <p:ext uri="{BB962C8B-B14F-4D97-AF65-F5344CB8AC3E}">
        <p14:creationId xmlns:p14="http://schemas.microsoft.com/office/powerpoint/2010/main" val="8012739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350" fill="hold">
                                          <p:stCondLst>
                                            <p:cond delay="0"/>
                                          </p:stCondLst>
                                        </p:cTn>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9" name="text-104">
            <a:extLst>
              <a:ext uri="{FF2B5EF4-FFF2-40B4-BE49-F238E27FC236}">
                <a16:creationId xmlns:a16="http://schemas.microsoft.com/office/drawing/2014/main" id="{2BE1F190-91BB-4B60-9796-259DC0E36EAB}"/>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02 / Django and data</a:t>
            </a:r>
          </a:p>
        </p:txBody>
      </p:sp>
      <p:sp>
        <p:nvSpPr>
          <p:cNvPr id="2" name="text-105">
            <a:extLst>
              <a:ext uri="{FF2B5EF4-FFF2-40B4-BE49-F238E27FC236}">
                <a16:creationId xmlns:a16="http://schemas.microsoft.com/office/drawing/2014/main" id="{DED49663-BC9C-451E-BF8F-C35544EA922E}"/>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Django’s Model, View and Template</a:t>
            </a:r>
          </a:p>
        </p:txBody>
      </p:sp>
      <p:sp>
        <p:nvSpPr>
          <p:cNvPr id="3" name="text-106">
            <a:extLst>
              <a:ext uri="{FF2B5EF4-FFF2-40B4-BE49-F238E27FC236}">
                <a16:creationId xmlns:a16="http://schemas.microsoft.com/office/drawing/2014/main" id="{939742AB-5888-4905-AEEF-61EC406D512E}"/>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107">
            <a:extLst>
              <a:ext uri="{FF2B5EF4-FFF2-40B4-BE49-F238E27FC236}">
                <a16:creationId xmlns:a16="http://schemas.microsoft.com/office/drawing/2014/main" id="{C36255D6-BFCE-488F-A1A4-812F00BD9806}"/>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14</a:t>
            </a:r>
          </a:p>
        </p:txBody>
      </p:sp>
      <p:sp>
        <p:nvSpPr>
          <p:cNvPr id="5" name="reveal-1-flow-head">
            <a:extLst>
              <a:ext uri="{FF2B5EF4-FFF2-40B4-BE49-F238E27FC236}">
                <a16:creationId xmlns:a16="http://schemas.microsoft.com/office/drawing/2014/main" id="{DC9E79F6-3F0A-4477-A8BB-D36C64F681E1}"/>
              </a:ext>
            </a:extLst>
          </p:cNvPr>
          <p:cNvSpPr>
            <a:spLocks noGrp="1"/>
          </p:cNvSpPr>
          <p:nvPr/>
        </p:nvSpPr>
        <p:spPr>
          <a:xfrm>
            <a:off x="685800" y="2714625"/>
            <a:ext cx="3217069" cy="666750"/>
          </a:xfrm>
          <a:prstGeom prst="rect">
            <a:avLst/>
          </a:prstGeom>
          <a:noFill/>
          <a:ln w="0">
            <a:noFill/>
          </a:ln>
        </p:spPr>
        <p:txBody>
          <a:bodyPr wrap="none" lIns="0" tIns="0" rIns="0" bIns="0" anchor="t">
            <a:noAutofit/>
          </a:bodyPr>
          <a:lstStyle/>
          <a:p>
            <a:pPr algn="l">
              <a:defRPr sz="2550" b="0">
                <a:solidFill>
                  <a:srgbClr val="315BCD"/>
                </a:solidFill>
                <a:latin typeface="Georgia"/>
                <a:ea typeface="Georgia"/>
                <a:cs typeface="Georgia"/>
              </a:defRPr>
            </a:pPr>
            <a:r>
              <a:rPr sz="2550" b="0">
                <a:solidFill>
                  <a:srgbClr val="315BCD"/>
                </a:solidFill>
                <a:latin typeface="Georgia"/>
                <a:ea typeface="Georgia"/>
                <a:cs typeface="Georgia"/>
              </a:rPr>
              <a:t>URLconf</a:t>
            </a:r>
          </a:p>
        </p:txBody>
      </p:sp>
      <p:sp>
        <p:nvSpPr>
          <p:cNvPr id="6" name="reveal-1-flow-body">
            <a:extLst>
              <a:ext uri="{FF2B5EF4-FFF2-40B4-BE49-F238E27FC236}">
                <a16:creationId xmlns:a16="http://schemas.microsoft.com/office/drawing/2014/main" id="{6F326702-5C5B-4DCF-B7C5-46B1CD8C196B}"/>
              </a:ext>
            </a:extLst>
          </p:cNvPr>
          <p:cNvSpPr>
            <a:spLocks noGrp="1"/>
          </p:cNvSpPr>
          <p:nvPr/>
        </p:nvSpPr>
        <p:spPr>
          <a:xfrm>
            <a:off x="685800" y="3810000"/>
            <a:ext cx="3217069" cy="133350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Chooses task_list.</a:t>
            </a:r>
          </a:p>
        </p:txBody>
      </p:sp>
      <p:sp>
        <p:nvSpPr>
          <p:cNvPr id="7" name="reveal-1-arrow">
            <a:extLst>
              <a:ext uri="{FF2B5EF4-FFF2-40B4-BE49-F238E27FC236}">
                <a16:creationId xmlns:a16="http://schemas.microsoft.com/office/drawing/2014/main" id="{45D79B7C-B796-4CA3-A850-141EA789A0AA}"/>
              </a:ext>
            </a:extLst>
          </p:cNvPr>
          <p:cNvSpPr>
            <a:spLocks noGrp="1"/>
          </p:cNvSpPr>
          <p:nvPr/>
        </p:nvSpPr>
        <p:spPr>
          <a:xfrm>
            <a:off x="3921919" y="2733675"/>
            <a:ext cx="304800" cy="609600"/>
          </a:xfrm>
          <a:prstGeom prst="rect">
            <a:avLst/>
          </a:prstGeom>
          <a:noFill/>
          <a:ln w="0">
            <a:noFill/>
          </a:ln>
        </p:spPr>
        <p:txBody>
          <a:bodyPr wrap="none" lIns="0" tIns="0" rIns="0" bIns="0" anchor="t">
            <a:noAutofit/>
          </a:bodyPr>
          <a:lstStyle/>
          <a:p>
            <a:pPr algn="l">
              <a:defRPr sz="2400" b="0">
                <a:solidFill>
                  <a:srgbClr val="D8663D"/>
                </a:solidFill>
                <a:latin typeface="Helvetica Neue"/>
                <a:ea typeface="Helvetica Neue"/>
                <a:cs typeface="Helvetica Neue"/>
              </a:defRPr>
            </a:pPr>
            <a:r>
              <a:rPr sz="2400" b="0">
                <a:solidFill>
                  <a:srgbClr val="D8663D"/>
                </a:solidFill>
                <a:latin typeface="Helvetica Neue"/>
                <a:ea typeface="Helvetica Neue"/>
                <a:cs typeface="Helvetica Neue"/>
              </a:rPr>
              <a:t>→</a:t>
            </a:r>
          </a:p>
        </p:txBody>
      </p:sp>
      <p:sp>
        <p:nvSpPr>
          <p:cNvPr id="8" name="reveal-2-flow-head">
            <a:extLst>
              <a:ext uri="{FF2B5EF4-FFF2-40B4-BE49-F238E27FC236}">
                <a16:creationId xmlns:a16="http://schemas.microsoft.com/office/drawing/2014/main" id="{05E19CA5-05AC-495B-9A01-3343003DAD7C}"/>
              </a:ext>
            </a:extLst>
          </p:cNvPr>
          <p:cNvSpPr>
            <a:spLocks noGrp="1"/>
          </p:cNvSpPr>
          <p:nvPr/>
        </p:nvSpPr>
        <p:spPr>
          <a:xfrm>
            <a:off x="4236244" y="2714625"/>
            <a:ext cx="3217069" cy="666750"/>
          </a:xfrm>
          <a:prstGeom prst="rect">
            <a:avLst/>
          </a:prstGeom>
          <a:noFill/>
          <a:ln w="0">
            <a:noFill/>
          </a:ln>
        </p:spPr>
        <p:txBody>
          <a:bodyPr wrap="none" lIns="0" tIns="0" rIns="0" bIns="0" anchor="t">
            <a:noAutofit/>
          </a:bodyPr>
          <a:lstStyle/>
          <a:p>
            <a:pPr algn="l">
              <a:defRPr sz="2550" b="0">
                <a:solidFill>
                  <a:srgbClr val="315BCD"/>
                </a:solidFill>
                <a:latin typeface="Georgia"/>
                <a:ea typeface="Georgia"/>
                <a:cs typeface="Georgia"/>
              </a:defRPr>
            </a:pPr>
            <a:r>
              <a:rPr sz="2550" b="0">
                <a:solidFill>
                  <a:srgbClr val="315BCD"/>
                </a:solidFill>
                <a:latin typeface="Georgia"/>
                <a:ea typeface="Georgia"/>
                <a:cs typeface="Georgia"/>
              </a:rPr>
              <a:t>View</a:t>
            </a:r>
          </a:p>
        </p:txBody>
      </p:sp>
      <p:sp>
        <p:nvSpPr>
          <p:cNvPr id="9" name="reveal-2-flow-body">
            <a:extLst>
              <a:ext uri="{FF2B5EF4-FFF2-40B4-BE49-F238E27FC236}">
                <a16:creationId xmlns:a16="http://schemas.microsoft.com/office/drawing/2014/main" id="{29E40957-2293-4816-9084-A25736CB9F39}"/>
              </a:ext>
            </a:extLst>
          </p:cNvPr>
          <p:cNvSpPr>
            <a:spLocks noGrp="1"/>
          </p:cNvSpPr>
          <p:nvPr/>
        </p:nvSpPr>
        <p:spPr>
          <a:xfrm>
            <a:off x="4236244" y="3810000"/>
            <a:ext cx="3217069" cy="133350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Coordinates the work.</a:t>
            </a:r>
          </a:p>
        </p:txBody>
      </p:sp>
      <p:sp>
        <p:nvSpPr>
          <p:cNvPr id="10" name="reveal-2-arrow">
            <a:extLst>
              <a:ext uri="{FF2B5EF4-FFF2-40B4-BE49-F238E27FC236}">
                <a16:creationId xmlns:a16="http://schemas.microsoft.com/office/drawing/2014/main" id="{A5ED5EAF-59C8-4E3E-A6C4-0EDD601E1F19}"/>
              </a:ext>
            </a:extLst>
          </p:cNvPr>
          <p:cNvSpPr>
            <a:spLocks noGrp="1"/>
          </p:cNvSpPr>
          <p:nvPr/>
        </p:nvSpPr>
        <p:spPr>
          <a:xfrm>
            <a:off x="7472363" y="2733675"/>
            <a:ext cx="304800" cy="609600"/>
          </a:xfrm>
          <a:prstGeom prst="rect">
            <a:avLst/>
          </a:prstGeom>
          <a:noFill/>
          <a:ln w="0">
            <a:noFill/>
          </a:ln>
        </p:spPr>
        <p:txBody>
          <a:bodyPr wrap="none" lIns="0" tIns="0" rIns="0" bIns="0" anchor="t">
            <a:noAutofit/>
          </a:bodyPr>
          <a:lstStyle/>
          <a:p>
            <a:pPr algn="l">
              <a:defRPr sz="2400" b="0">
                <a:solidFill>
                  <a:srgbClr val="D8663D"/>
                </a:solidFill>
                <a:latin typeface="Helvetica Neue"/>
                <a:ea typeface="Helvetica Neue"/>
                <a:cs typeface="Helvetica Neue"/>
              </a:defRPr>
            </a:pPr>
            <a:r>
              <a:rPr sz="2400" b="0">
                <a:solidFill>
                  <a:srgbClr val="D8663D"/>
                </a:solidFill>
                <a:latin typeface="Helvetica Neue"/>
                <a:ea typeface="Helvetica Neue"/>
                <a:cs typeface="Helvetica Neue"/>
              </a:rPr>
              <a:t>→</a:t>
            </a:r>
          </a:p>
        </p:txBody>
      </p:sp>
      <p:sp>
        <p:nvSpPr>
          <p:cNvPr id="11" name="reveal-3-flow-head">
            <a:extLst>
              <a:ext uri="{FF2B5EF4-FFF2-40B4-BE49-F238E27FC236}">
                <a16:creationId xmlns:a16="http://schemas.microsoft.com/office/drawing/2014/main" id="{91718A0F-E29C-4D4C-BB31-15E7CA4B86A4}"/>
              </a:ext>
            </a:extLst>
          </p:cNvPr>
          <p:cNvSpPr>
            <a:spLocks noGrp="1"/>
          </p:cNvSpPr>
          <p:nvPr/>
        </p:nvSpPr>
        <p:spPr>
          <a:xfrm>
            <a:off x="7786688" y="2714625"/>
            <a:ext cx="3217069" cy="666750"/>
          </a:xfrm>
          <a:prstGeom prst="rect">
            <a:avLst/>
          </a:prstGeom>
          <a:noFill/>
          <a:ln w="0">
            <a:noFill/>
          </a:ln>
        </p:spPr>
        <p:txBody>
          <a:bodyPr wrap="none" lIns="0" tIns="0" rIns="0" bIns="0" anchor="t">
            <a:noAutofit/>
          </a:bodyPr>
          <a:lstStyle/>
          <a:p>
            <a:pPr algn="l">
              <a:defRPr sz="2550" b="0">
                <a:solidFill>
                  <a:srgbClr val="315BCD"/>
                </a:solidFill>
                <a:latin typeface="Georgia"/>
                <a:ea typeface="Georgia"/>
                <a:cs typeface="Georgia"/>
              </a:defRPr>
            </a:pPr>
            <a:r>
              <a:rPr sz="2550" b="0">
                <a:solidFill>
                  <a:srgbClr val="315BCD"/>
                </a:solidFill>
                <a:latin typeface="Georgia"/>
                <a:ea typeface="Georgia"/>
                <a:cs typeface="Georgia"/>
              </a:rPr>
              <a:t>Model</a:t>
            </a:r>
          </a:p>
        </p:txBody>
      </p:sp>
      <p:sp>
        <p:nvSpPr>
          <p:cNvPr id="12" name="reveal-3-flow-body">
            <a:extLst>
              <a:ext uri="{FF2B5EF4-FFF2-40B4-BE49-F238E27FC236}">
                <a16:creationId xmlns:a16="http://schemas.microsoft.com/office/drawing/2014/main" id="{FDC18AD3-516A-4786-9587-12A75C5EEF32}"/>
              </a:ext>
            </a:extLst>
          </p:cNvPr>
          <p:cNvSpPr>
            <a:spLocks noGrp="1"/>
          </p:cNvSpPr>
          <p:nvPr/>
        </p:nvSpPr>
        <p:spPr>
          <a:xfrm>
            <a:off x="7786688" y="3810000"/>
            <a:ext cx="3217069" cy="133350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Queries the database.</a:t>
            </a:r>
          </a:p>
        </p:txBody>
      </p:sp>
      <p:sp>
        <p:nvSpPr>
          <p:cNvPr id="13" name="reveal-3-arrow">
            <a:extLst>
              <a:ext uri="{FF2B5EF4-FFF2-40B4-BE49-F238E27FC236}">
                <a16:creationId xmlns:a16="http://schemas.microsoft.com/office/drawing/2014/main" id="{C35E8175-2746-478D-ADDA-EA5E92348911}"/>
              </a:ext>
            </a:extLst>
          </p:cNvPr>
          <p:cNvSpPr>
            <a:spLocks noGrp="1"/>
          </p:cNvSpPr>
          <p:nvPr/>
        </p:nvSpPr>
        <p:spPr>
          <a:xfrm>
            <a:off x="11022806" y="2733675"/>
            <a:ext cx="304800" cy="609600"/>
          </a:xfrm>
          <a:prstGeom prst="rect">
            <a:avLst/>
          </a:prstGeom>
          <a:noFill/>
          <a:ln w="0">
            <a:noFill/>
          </a:ln>
        </p:spPr>
        <p:txBody>
          <a:bodyPr wrap="none" lIns="0" tIns="0" rIns="0" bIns="0" anchor="t">
            <a:noAutofit/>
          </a:bodyPr>
          <a:lstStyle/>
          <a:p>
            <a:pPr algn="l">
              <a:defRPr sz="2400" b="0">
                <a:solidFill>
                  <a:srgbClr val="D8663D"/>
                </a:solidFill>
                <a:latin typeface="Helvetica Neue"/>
                <a:ea typeface="Helvetica Neue"/>
                <a:cs typeface="Helvetica Neue"/>
              </a:defRPr>
            </a:pPr>
            <a:r>
              <a:rPr sz="2400" b="0">
                <a:solidFill>
                  <a:srgbClr val="D8663D"/>
                </a:solidFill>
                <a:latin typeface="Helvetica Neue"/>
                <a:ea typeface="Helvetica Neue"/>
                <a:cs typeface="Helvetica Neue"/>
              </a:rPr>
              <a:t>→</a:t>
            </a:r>
          </a:p>
        </p:txBody>
      </p:sp>
      <p:sp>
        <p:nvSpPr>
          <p:cNvPr id="14" name="reveal-4-flow-head">
            <a:extLst>
              <a:ext uri="{FF2B5EF4-FFF2-40B4-BE49-F238E27FC236}">
                <a16:creationId xmlns:a16="http://schemas.microsoft.com/office/drawing/2014/main" id="{642E57C6-7CB1-4629-929F-8404E7A78C5B}"/>
              </a:ext>
            </a:extLst>
          </p:cNvPr>
          <p:cNvSpPr>
            <a:spLocks noGrp="1"/>
          </p:cNvSpPr>
          <p:nvPr/>
        </p:nvSpPr>
        <p:spPr>
          <a:xfrm>
            <a:off x="11337131" y="2714625"/>
            <a:ext cx="3217069" cy="666750"/>
          </a:xfrm>
          <a:prstGeom prst="rect">
            <a:avLst/>
          </a:prstGeom>
          <a:noFill/>
          <a:ln w="0">
            <a:noFill/>
          </a:ln>
        </p:spPr>
        <p:txBody>
          <a:bodyPr wrap="none" lIns="0" tIns="0" rIns="0" bIns="0" anchor="t">
            <a:noAutofit/>
          </a:bodyPr>
          <a:lstStyle/>
          <a:p>
            <a:pPr algn="l">
              <a:defRPr sz="2550" b="0">
                <a:solidFill>
                  <a:srgbClr val="315BCD"/>
                </a:solidFill>
                <a:latin typeface="Georgia"/>
                <a:ea typeface="Georgia"/>
                <a:cs typeface="Georgia"/>
              </a:defRPr>
            </a:pPr>
            <a:r>
              <a:rPr sz="2550" b="0">
                <a:solidFill>
                  <a:srgbClr val="315BCD"/>
                </a:solidFill>
                <a:latin typeface="Georgia"/>
                <a:ea typeface="Georgia"/>
                <a:cs typeface="Georgia"/>
              </a:rPr>
              <a:t>Template</a:t>
            </a:r>
          </a:p>
        </p:txBody>
      </p:sp>
      <p:sp>
        <p:nvSpPr>
          <p:cNvPr id="15" name="reveal-4-flow-body">
            <a:extLst>
              <a:ext uri="{FF2B5EF4-FFF2-40B4-BE49-F238E27FC236}">
                <a16:creationId xmlns:a16="http://schemas.microsoft.com/office/drawing/2014/main" id="{61E101D0-5542-4075-A7D0-38BC924871BF}"/>
              </a:ext>
            </a:extLst>
          </p:cNvPr>
          <p:cNvSpPr>
            <a:spLocks noGrp="1"/>
          </p:cNvSpPr>
          <p:nvPr/>
        </p:nvSpPr>
        <p:spPr>
          <a:xfrm>
            <a:off x="11337131" y="3810000"/>
            <a:ext cx="3217069" cy="133350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Builds the HTML.</a:t>
            </a:r>
          </a:p>
        </p:txBody>
      </p:sp>
      <p:sp>
        <p:nvSpPr>
          <p:cNvPr id="16" name="code-panel-108">
            <a:extLst>
              <a:ext uri="{FF2B5EF4-FFF2-40B4-BE49-F238E27FC236}">
                <a16:creationId xmlns:a16="http://schemas.microsoft.com/office/drawing/2014/main" id="{D51C5F8E-20B0-4D84-B3C3-3F1B92A0A2C3}"/>
              </a:ext>
            </a:extLst>
          </p:cNvPr>
          <p:cNvSpPr>
            <a:spLocks noGrp="1"/>
          </p:cNvSpPr>
          <p:nvPr/>
        </p:nvSpPr>
        <p:spPr>
          <a:xfrm>
            <a:off x="685800" y="5991225"/>
            <a:ext cx="13868400" cy="1390650"/>
          </a:xfrm>
          <a:prstGeom prst="rect">
            <a:avLst/>
          </a:prstGeom>
          <a:solidFill>
            <a:srgbClr val="242C35"/>
          </a:solidFill>
          <a:ln w="0">
            <a:noFill/>
          </a:ln>
        </p:spPr>
      </p:sp>
      <p:sp>
        <p:nvSpPr>
          <p:cNvPr id="17" name="code-line-0">
            <a:extLst>
              <a:ext uri="{FF2B5EF4-FFF2-40B4-BE49-F238E27FC236}">
                <a16:creationId xmlns:a16="http://schemas.microsoft.com/office/drawing/2014/main" id="{FB72EC5D-F5D4-448D-8168-0F8350C1B31B}"/>
              </a:ext>
            </a:extLst>
          </p:cNvPr>
          <p:cNvSpPr>
            <a:spLocks noGrp="1"/>
          </p:cNvSpPr>
          <p:nvPr/>
        </p:nvSpPr>
        <p:spPr>
          <a:xfrm>
            <a:off x="914400" y="6200775"/>
            <a:ext cx="13411200" cy="361950"/>
          </a:xfrm>
          <a:prstGeom prst="rect">
            <a:avLst/>
          </a:prstGeom>
          <a:noFill/>
          <a:ln w="0">
            <a:noFill/>
          </a:ln>
        </p:spPr>
        <p:txBody>
          <a:bodyPr wrap="none" lIns="0" tIns="0" rIns="0" bIns="0" anchor="t">
            <a:noAutofit/>
          </a:bodyPr>
          <a:lstStyle/>
          <a:p>
            <a:pPr algn="l">
              <a:defRPr sz="1950" b="0">
                <a:solidFill>
                  <a:srgbClr val="FFFFFF"/>
                </a:solidFill>
                <a:latin typeface="Menlo"/>
                <a:ea typeface="Menlo"/>
                <a:cs typeface="Menlo"/>
              </a:defRPr>
            </a:pPr>
            <a:r>
              <a:rPr sz="1950" b="0">
                <a:solidFill>
                  <a:srgbClr val="FFFFFF"/>
                </a:solidFill>
                <a:latin typeface="Menlo"/>
                <a:ea typeface="Menlo"/>
                <a:cs typeface="Menlo"/>
              </a:rPr>
              <a:t>request  →  view  →  Task.objects.filter(owner=request.user)</a:t>
            </a:r>
          </a:p>
        </p:txBody>
      </p:sp>
      <p:sp>
        <p:nvSpPr>
          <p:cNvPr id="18" name="code-line-1">
            <a:extLst>
              <a:ext uri="{FF2B5EF4-FFF2-40B4-BE49-F238E27FC236}">
                <a16:creationId xmlns:a16="http://schemas.microsoft.com/office/drawing/2014/main" id="{805F7932-BBB5-467B-932D-E0C9F2654CF0}"/>
              </a:ext>
            </a:extLst>
          </p:cNvPr>
          <p:cNvSpPr>
            <a:spLocks noGrp="1"/>
          </p:cNvSpPr>
          <p:nvPr/>
        </p:nvSpPr>
        <p:spPr>
          <a:xfrm>
            <a:off x="914400" y="6534150"/>
            <a:ext cx="13411200" cy="361950"/>
          </a:xfrm>
          <a:prstGeom prst="rect">
            <a:avLst/>
          </a:prstGeom>
          <a:noFill/>
          <a:ln w="0">
            <a:noFill/>
          </a:ln>
        </p:spPr>
        <p:txBody>
          <a:bodyPr wrap="none" lIns="0" tIns="0" rIns="0" bIns="0" anchor="t">
            <a:noAutofit/>
          </a:bodyPr>
          <a:lstStyle/>
          <a:p>
            <a:pPr algn="l">
              <a:defRPr sz="1950" b="0">
                <a:solidFill>
                  <a:srgbClr val="FFFFFF"/>
                </a:solidFill>
                <a:latin typeface="Menlo"/>
                <a:ea typeface="Menlo"/>
                <a:cs typeface="Menlo"/>
              </a:defRPr>
            </a:pPr>
            <a:r>
              <a:rPr sz="1950" b="0">
                <a:solidFill>
                  <a:srgbClr val="FFFFFF"/>
                </a:solidFill>
                <a:latin typeface="Menlo"/>
                <a:ea typeface="Menlo"/>
                <a:cs typeface="Menlo"/>
              </a:rPr>
              <a:t>                   →  render(template, context)  →  response</a:t>
            </a:r>
          </a:p>
        </p:txBody>
      </p:sp>
    </p:spTree>
    <p:extLst>
      <p:ext uri="{BB962C8B-B14F-4D97-AF65-F5344CB8AC3E}">
        <p14:creationId xmlns:p14="http://schemas.microsoft.com/office/powerpoint/2010/main" val="3635752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8" name="text-109">
            <a:extLst>
              <a:ext uri="{FF2B5EF4-FFF2-40B4-BE49-F238E27FC236}">
                <a16:creationId xmlns:a16="http://schemas.microsoft.com/office/drawing/2014/main" id="{9DA2F829-D98E-45C9-A6E2-10D5F7EB84AE}"/>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02 / Django and data</a:t>
            </a:r>
          </a:p>
        </p:txBody>
      </p:sp>
      <p:sp>
        <p:nvSpPr>
          <p:cNvPr id="2" name="text-110">
            <a:extLst>
              <a:ext uri="{FF2B5EF4-FFF2-40B4-BE49-F238E27FC236}">
                <a16:creationId xmlns:a16="http://schemas.microsoft.com/office/drawing/2014/main" id="{A11F5E75-8C3D-42DC-86B8-032D5A80F851}"/>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MTV: data, display and decisions</a:t>
            </a:r>
          </a:p>
        </p:txBody>
      </p:sp>
      <p:sp>
        <p:nvSpPr>
          <p:cNvPr id="3" name="text-111">
            <a:extLst>
              <a:ext uri="{FF2B5EF4-FFF2-40B4-BE49-F238E27FC236}">
                <a16:creationId xmlns:a16="http://schemas.microsoft.com/office/drawing/2014/main" id="{569AC673-9501-461C-B67B-7235B73BD2C1}"/>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112">
            <a:extLst>
              <a:ext uri="{FF2B5EF4-FFF2-40B4-BE49-F238E27FC236}">
                <a16:creationId xmlns:a16="http://schemas.microsoft.com/office/drawing/2014/main" id="{E4289204-66FB-4A8B-9797-D1980EC9FAE4}"/>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15</a:t>
            </a:r>
          </a:p>
        </p:txBody>
      </p:sp>
      <p:sp>
        <p:nvSpPr>
          <p:cNvPr id="5" name="mnemonic-logo-field-113">
            <a:extLst>
              <a:ext uri="{FF2B5EF4-FFF2-40B4-BE49-F238E27FC236}">
                <a16:creationId xmlns:a16="http://schemas.microsoft.com/office/drawing/2014/main" id="{174C0564-B7E3-42CB-9ED4-CE7D5F149507}"/>
              </a:ext>
            </a:extLst>
          </p:cNvPr>
          <p:cNvSpPr>
            <a:spLocks noGrp="1"/>
          </p:cNvSpPr>
          <p:nvPr/>
        </p:nvSpPr>
        <p:spPr>
          <a:xfrm>
            <a:off x="685800" y="2352675"/>
            <a:ext cx="4762500" cy="3476625"/>
          </a:xfrm>
          <a:prstGeom prst="rect">
            <a:avLst/>
          </a:prstGeom>
          <a:solidFill>
            <a:srgbClr val="242C35"/>
          </a:solidFill>
          <a:ln w="0">
            <a:noFill/>
          </a:ln>
        </p:spPr>
      </p:sp>
      <p:pic>
        <p:nvPicPr>
          <p:cNvPr id="23" name="Picture 22"/>
          <p:cNvPicPr>
            <a:picLocks noChangeAspect="1"/>
          </p:cNvPicPr>
          <p:nvPr/>
        </p:nvPicPr>
        <p:blipFill>
          <a:blip r:embed="rId3"/>
          <a:stretch/>
        </p:blipFill>
        <p:spPr>
          <a:xfrm>
            <a:off x="981075" y="2793825"/>
            <a:ext cx="4171950" cy="2565749"/>
          </a:xfrm>
          <a:prstGeom prst="rect">
            <a:avLst/>
          </a:prstGeom>
        </p:spPr>
      </p:pic>
      <p:sp>
        <p:nvSpPr>
          <p:cNvPr id="7" name="text-114">
            <a:extLst>
              <a:ext uri="{FF2B5EF4-FFF2-40B4-BE49-F238E27FC236}">
                <a16:creationId xmlns:a16="http://schemas.microsoft.com/office/drawing/2014/main" id="{0EE835F4-651F-4BCF-9F7C-6B9A884CAD42}"/>
              </a:ext>
            </a:extLst>
          </p:cNvPr>
          <p:cNvSpPr>
            <a:spLocks noGrp="1"/>
          </p:cNvSpPr>
          <p:nvPr/>
        </p:nvSpPr>
        <p:spPr>
          <a:xfrm>
            <a:off x="685800" y="6257925"/>
            <a:ext cx="4762500" cy="1143000"/>
          </a:xfrm>
          <a:prstGeom prst="rect">
            <a:avLst/>
          </a:prstGeom>
          <a:noFill/>
          <a:ln w="0">
            <a:noFill/>
          </a:ln>
        </p:spPr>
        <p:txBody>
          <a:bodyPr wrap="none" lIns="0" tIns="0" rIns="0" bIns="0" anchor="t">
            <a:noAutofit/>
          </a:bodyPr>
          <a:lstStyle/>
          <a:p>
            <a:pPr algn="l">
              <a:defRPr sz="2175" b="0">
                <a:solidFill>
                  <a:srgbClr val="242C35"/>
                </a:solidFill>
                <a:latin typeface="Georgia"/>
                <a:ea typeface="Georgia"/>
                <a:cs typeface="Georgia"/>
              </a:defRPr>
            </a:pPr>
            <a:r>
              <a:rPr sz="2175" b="0">
                <a:solidFill>
                  <a:srgbClr val="242C35"/>
                </a:solidFill>
                <a:latin typeface="Georgia"/>
                <a:ea typeface="Georgia"/>
                <a:cs typeface="Georgia"/>
              </a:rPr>
              <a:t>Remember the channel.</a:t>
            </a:r>
          </a:p>
          <a:p>
            <a:pPr algn="l">
              <a:defRPr sz="2175" b="0">
                <a:solidFill>
                  <a:srgbClr val="242C35"/>
                </a:solidFill>
                <a:latin typeface="Georgia"/>
                <a:ea typeface="Georgia"/>
                <a:cs typeface="Georgia"/>
              </a:defRPr>
            </a:pPr>
            <a:r>
              <a:rPr sz="2175" b="0">
                <a:solidFill>
                  <a:srgbClr val="242C35"/>
                </a:solidFill>
                <a:latin typeface="Georgia"/>
                <a:ea typeface="Georgia"/>
                <a:cs typeface="Georgia"/>
              </a:rPr>
              <a:t>Remember the three parts.</a:t>
            </a:r>
          </a:p>
        </p:txBody>
      </p:sp>
      <p:sp>
        <p:nvSpPr>
          <p:cNvPr id="8" name="reveal-1-letter">
            <a:extLst>
              <a:ext uri="{FF2B5EF4-FFF2-40B4-BE49-F238E27FC236}">
                <a16:creationId xmlns:a16="http://schemas.microsoft.com/office/drawing/2014/main" id="{736389C7-6217-45BB-BDC2-E969D2C08ED8}"/>
              </a:ext>
            </a:extLst>
          </p:cNvPr>
          <p:cNvSpPr>
            <a:spLocks noGrp="1"/>
          </p:cNvSpPr>
          <p:nvPr/>
        </p:nvSpPr>
        <p:spPr>
          <a:xfrm>
            <a:off x="6286500" y="2381250"/>
            <a:ext cx="809625" cy="819150"/>
          </a:xfrm>
          <a:prstGeom prst="rect">
            <a:avLst/>
          </a:prstGeom>
          <a:noFill/>
          <a:ln w="0">
            <a:noFill/>
          </a:ln>
        </p:spPr>
        <p:txBody>
          <a:bodyPr wrap="none" lIns="0" tIns="0" rIns="0" bIns="0" anchor="t">
            <a:noAutofit/>
          </a:bodyPr>
          <a:lstStyle/>
          <a:p>
            <a:pPr algn="l">
              <a:defRPr sz="5100" b="0">
                <a:solidFill>
                  <a:srgbClr val="D8663D"/>
                </a:solidFill>
                <a:latin typeface="Georgia"/>
                <a:ea typeface="Georgia"/>
                <a:cs typeface="Georgia"/>
              </a:defRPr>
            </a:pPr>
            <a:r>
              <a:rPr sz="5100" b="0">
                <a:solidFill>
                  <a:srgbClr val="D8663D"/>
                </a:solidFill>
                <a:latin typeface="Georgia"/>
                <a:ea typeface="Georgia"/>
                <a:cs typeface="Georgia"/>
              </a:rPr>
              <a:t>M</a:t>
            </a:r>
          </a:p>
        </p:txBody>
      </p:sp>
      <p:sp>
        <p:nvSpPr>
          <p:cNvPr id="9" name="reveal-1-head">
            <a:extLst>
              <a:ext uri="{FF2B5EF4-FFF2-40B4-BE49-F238E27FC236}">
                <a16:creationId xmlns:a16="http://schemas.microsoft.com/office/drawing/2014/main" id="{27A7CAC9-BAC2-46A1-AB91-D8974CA9C33C}"/>
              </a:ext>
            </a:extLst>
          </p:cNvPr>
          <p:cNvSpPr>
            <a:spLocks noGrp="1"/>
          </p:cNvSpPr>
          <p:nvPr/>
        </p:nvSpPr>
        <p:spPr>
          <a:xfrm>
            <a:off x="7496175" y="2419350"/>
            <a:ext cx="6772275" cy="571500"/>
          </a:xfrm>
          <a:prstGeom prst="rect">
            <a:avLst/>
          </a:prstGeom>
          <a:noFill/>
          <a:ln w="0">
            <a:noFill/>
          </a:ln>
        </p:spPr>
        <p:txBody>
          <a:bodyPr wrap="none" lIns="0" tIns="0" rIns="0" bIns="0" anchor="t">
            <a:noAutofit/>
          </a:bodyPr>
          <a:lstStyle/>
          <a:p>
            <a:pPr algn="l">
              <a:defRPr sz="2850" b="0">
                <a:solidFill>
                  <a:srgbClr val="242C35"/>
                </a:solidFill>
                <a:latin typeface="Georgia"/>
                <a:ea typeface="Georgia"/>
                <a:cs typeface="Georgia"/>
              </a:defRPr>
            </a:pPr>
            <a:r>
              <a:rPr sz="2850" b="0">
                <a:solidFill>
                  <a:srgbClr val="242C35"/>
                </a:solidFill>
                <a:latin typeface="Georgia"/>
                <a:ea typeface="Georgia"/>
                <a:cs typeface="Georgia"/>
              </a:rPr>
              <a:t>Model</a:t>
            </a:r>
          </a:p>
        </p:txBody>
      </p:sp>
      <p:sp>
        <p:nvSpPr>
          <p:cNvPr id="10" name="reveal-1-body">
            <a:extLst>
              <a:ext uri="{FF2B5EF4-FFF2-40B4-BE49-F238E27FC236}">
                <a16:creationId xmlns:a16="http://schemas.microsoft.com/office/drawing/2014/main" id="{C2268277-6807-450E-92F9-84A4CCD47B0E}"/>
              </a:ext>
            </a:extLst>
          </p:cNvPr>
          <p:cNvSpPr>
            <a:spLocks noGrp="1"/>
          </p:cNvSpPr>
          <p:nvPr/>
        </p:nvSpPr>
        <p:spPr>
          <a:xfrm>
            <a:off x="7524750" y="3038475"/>
            <a:ext cx="6762750" cy="762000"/>
          </a:xfrm>
          <a:prstGeom prst="rect">
            <a:avLst/>
          </a:prstGeom>
          <a:noFill/>
          <a:ln w="0">
            <a:noFill/>
          </a:ln>
        </p:spPr>
        <p:txBody>
          <a:bodyPr wrap="none" lIns="0" tIns="0" rIns="0" bIns="0" anchor="t">
            <a:noAutofit/>
          </a:bodyPr>
          <a:lstStyle/>
          <a:p>
            <a:pPr algn="l">
              <a:defRPr sz="2100" b="0">
                <a:solidFill>
                  <a:srgbClr val="65717A"/>
                </a:solidFill>
                <a:latin typeface="Helvetica Neue"/>
                <a:ea typeface="Helvetica Neue"/>
                <a:cs typeface="Helvetica Neue"/>
              </a:defRPr>
            </a:pPr>
            <a:r>
              <a:rPr sz="2100" b="0">
                <a:solidFill>
                  <a:srgbClr val="65717A"/>
                </a:solidFill>
                <a:latin typeface="Helvetica Neue"/>
                <a:ea typeface="Helvetica Neue"/>
                <a:cs typeface="Helvetica Neue"/>
              </a:rPr>
              <a:t>Stores and queries data.</a:t>
            </a:r>
          </a:p>
        </p:txBody>
      </p:sp>
      <p:sp>
        <p:nvSpPr>
          <p:cNvPr id="11" name="reveal-2-letter">
            <a:extLst>
              <a:ext uri="{FF2B5EF4-FFF2-40B4-BE49-F238E27FC236}">
                <a16:creationId xmlns:a16="http://schemas.microsoft.com/office/drawing/2014/main" id="{1432AA04-0902-4EA3-9574-7EC9C08C0E06}"/>
              </a:ext>
            </a:extLst>
          </p:cNvPr>
          <p:cNvSpPr>
            <a:spLocks noGrp="1"/>
          </p:cNvSpPr>
          <p:nvPr/>
        </p:nvSpPr>
        <p:spPr>
          <a:xfrm>
            <a:off x="6286500" y="3905250"/>
            <a:ext cx="809625" cy="819150"/>
          </a:xfrm>
          <a:prstGeom prst="rect">
            <a:avLst/>
          </a:prstGeom>
          <a:noFill/>
          <a:ln w="0">
            <a:noFill/>
          </a:ln>
        </p:spPr>
        <p:txBody>
          <a:bodyPr wrap="none" lIns="0" tIns="0" rIns="0" bIns="0" anchor="t">
            <a:noAutofit/>
          </a:bodyPr>
          <a:lstStyle/>
          <a:p>
            <a:pPr algn="l">
              <a:defRPr sz="5100" b="0">
                <a:solidFill>
                  <a:srgbClr val="D8663D"/>
                </a:solidFill>
                <a:latin typeface="Georgia"/>
                <a:ea typeface="Georgia"/>
                <a:cs typeface="Georgia"/>
              </a:defRPr>
            </a:pPr>
            <a:r>
              <a:rPr sz="5100" b="0">
                <a:solidFill>
                  <a:srgbClr val="D8663D"/>
                </a:solidFill>
                <a:latin typeface="Georgia"/>
                <a:ea typeface="Georgia"/>
                <a:cs typeface="Georgia"/>
              </a:rPr>
              <a:t>T</a:t>
            </a:r>
          </a:p>
        </p:txBody>
      </p:sp>
      <p:sp>
        <p:nvSpPr>
          <p:cNvPr id="12" name="reveal-2-head">
            <a:extLst>
              <a:ext uri="{FF2B5EF4-FFF2-40B4-BE49-F238E27FC236}">
                <a16:creationId xmlns:a16="http://schemas.microsoft.com/office/drawing/2014/main" id="{B690C8FC-8986-47D6-A211-DC62711499EA}"/>
              </a:ext>
            </a:extLst>
          </p:cNvPr>
          <p:cNvSpPr>
            <a:spLocks noGrp="1"/>
          </p:cNvSpPr>
          <p:nvPr/>
        </p:nvSpPr>
        <p:spPr>
          <a:xfrm>
            <a:off x="7496175" y="3943350"/>
            <a:ext cx="6772275" cy="571500"/>
          </a:xfrm>
          <a:prstGeom prst="rect">
            <a:avLst/>
          </a:prstGeom>
          <a:noFill/>
          <a:ln w="0">
            <a:noFill/>
          </a:ln>
        </p:spPr>
        <p:txBody>
          <a:bodyPr wrap="none" lIns="0" tIns="0" rIns="0" bIns="0" anchor="t">
            <a:noAutofit/>
          </a:bodyPr>
          <a:lstStyle/>
          <a:p>
            <a:pPr algn="l">
              <a:defRPr sz="2850" b="0">
                <a:solidFill>
                  <a:srgbClr val="242C35"/>
                </a:solidFill>
                <a:latin typeface="Georgia"/>
                <a:ea typeface="Georgia"/>
                <a:cs typeface="Georgia"/>
              </a:defRPr>
            </a:pPr>
            <a:r>
              <a:rPr sz="2850" b="0">
                <a:solidFill>
                  <a:srgbClr val="242C35"/>
                </a:solidFill>
                <a:latin typeface="Georgia"/>
                <a:ea typeface="Georgia"/>
                <a:cs typeface="Georgia"/>
              </a:rPr>
              <a:t>Template</a:t>
            </a:r>
          </a:p>
        </p:txBody>
      </p:sp>
      <p:sp>
        <p:nvSpPr>
          <p:cNvPr id="13" name="reveal-2-body">
            <a:extLst>
              <a:ext uri="{FF2B5EF4-FFF2-40B4-BE49-F238E27FC236}">
                <a16:creationId xmlns:a16="http://schemas.microsoft.com/office/drawing/2014/main" id="{5FB0EBE8-2CDC-46C7-BEBC-4D838A1B90E4}"/>
              </a:ext>
            </a:extLst>
          </p:cNvPr>
          <p:cNvSpPr>
            <a:spLocks noGrp="1"/>
          </p:cNvSpPr>
          <p:nvPr/>
        </p:nvSpPr>
        <p:spPr>
          <a:xfrm>
            <a:off x="7524750" y="4562475"/>
            <a:ext cx="6762750" cy="762000"/>
          </a:xfrm>
          <a:prstGeom prst="rect">
            <a:avLst/>
          </a:prstGeom>
          <a:noFill/>
          <a:ln w="0">
            <a:noFill/>
          </a:ln>
        </p:spPr>
        <p:txBody>
          <a:bodyPr wrap="none" lIns="0" tIns="0" rIns="0" bIns="0" anchor="t">
            <a:noAutofit/>
          </a:bodyPr>
          <a:lstStyle/>
          <a:p>
            <a:pPr algn="l">
              <a:defRPr sz="2100" b="0">
                <a:solidFill>
                  <a:srgbClr val="65717A"/>
                </a:solidFill>
                <a:latin typeface="Helvetica Neue"/>
                <a:ea typeface="Helvetica Neue"/>
                <a:cs typeface="Helvetica Neue"/>
              </a:defRPr>
            </a:pPr>
            <a:r>
              <a:rPr sz="2100" b="0">
                <a:solidFill>
                  <a:srgbClr val="65717A"/>
                </a:solidFill>
                <a:latin typeface="Helvetica Neue"/>
                <a:ea typeface="Helvetica Neue"/>
                <a:cs typeface="Helvetica Neue"/>
              </a:rPr>
              <a:t>Presents HTML using context.</a:t>
            </a:r>
          </a:p>
        </p:txBody>
      </p:sp>
      <p:sp>
        <p:nvSpPr>
          <p:cNvPr id="14" name="reveal-3-letter">
            <a:extLst>
              <a:ext uri="{FF2B5EF4-FFF2-40B4-BE49-F238E27FC236}">
                <a16:creationId xmlns:a16="http://schemas.microsoft.com/office/drawing/2014/main" id="{1E3B2E74-63A6-4D95-B7FF-FF93B585EA4C}"/>
              </a:ext>
            </a:extLst>
          </p:cNvPr>
          <p:cNvSpPr>
            <a:spLocks noGrp="1"/>
          </p:cNvSpPr>
          <p:nvPr/>
        </p:nvSpPr>
        <p:spPr>
          <a:xfrm>
            <a:off x="6286500" y="5429250"/>
            <a:ext cx="809625" cy="819150"/>
          </a:xfrm>
          <a:prstGeom prst="rect">
            <a:avLst/>
          </a:prstGeom>
          <a:noFill/>
          <a:ln w="0">
            <a:noFill/>
          </a:ln>
        </p:spPr>
        <p:txBody>
          <a:bodyPr wrap="none" lIns="0" tIns="0" rIns="0" bIns="0" anchor="t">
            <a:noAutofit/>
          </a:bodyPr>
          <a:lstStyle/>
          <a:p>
            <a:pPr algn="l">
              <a:defRPr sz="5100" b="0">
                <a:solidFill>
                  <a:srgbClr val="D8663D"/>
                </a:solidFill>
                <a:latin typeface="Georgia"/>
                <a:ea typeface="Georgia"/>
                <a:cs typeface="Georgia"/>
              </a:defRPr>
            </a:pPr>
            <a:r>
              <a:rPr sz="5100" b="0">
                <a:solidFill>
                  <a:srgbClr val="D8663D"/>
                </a:solidFill>
                <a:latin typeface="Georgia"/>
                <a:ea typeface="Georgia"/>
                <a:cs typeface="Georgia"/>
              </a:rPr>
              <a:t>V</a:t>
            </a:r>
          </a:p>
        </p:txBody>
      </p:sp>
      <p:sp>
        <p:nvSpPr>
          <p:cNvPr id="15" name="reveal-3-head">
            <a:extLst>
              <a:ext uri="{FF2B5EF4-FFF2-40B4-BE49-F238E27FC236}">
                <a16:creationId xmlns:a16="http://schemas.microsoft.com/office/drawing/2014/main" id="{1F74768B-3601-4DEE-8AA7-2FCBBA04CCF4}"/>
              </a:ext>
            </a:extLst>
          </p:cNvPr>
          <p:cNvSpPr>
            <a:spLocks noGrp="1"/>
          </p:cNvSpPr>
          <p:nvPr/>
        </p:nvSpPr>
        <p:spPr>
          <a:xfrm>
            <a:off x="7496175" y="5467350"/>
            <a:ext cx="6772275" cy="571500"/>
          </a:xfrm>
          <a:prstGeom prst="rect">
            <a:avLst/>
          </a:prstGeom>
          <a:noFill/>
          <a:ln w="0">
            <a:noFill/>
          </a:ln>
        </p:spPr>
        <p:txBody>
          <a:bodyPr wrap="none" lIns="0" tIns="0" rIns="0" bIns="0" anchor="t">
            <a:noAutofit/>
          </a:bodyPr>
          <a:lstStyle/>
          <a:p>
            <a:pPr algn="l">
              <a:defRPr sz="2850" b="0">
                <a:solidFill>
                  <a:srgbClr val="242C35"/>
                </a:solidFill>
                <a:latin typeface="Georgia"/>
                <a:ea typeface="Georgia"/>
                <a:cs typeface="Georgia"/>
              </a:defRPr>
            </a:pPr>
            <a:r>
              <a:rPr sz="2850" b="0">
                <a:solidFill>
                  <a:srgbClr val="242C35"/>
                </a:solidFill>
                <a:latin typeface="Georgia"/>
                <a:ea typeface="Georgia"/>
                <a:cs typeface="Georgia"/>
              </a:rPr>
              <a:t>View</a:t>
            </a:r>
          </a:p>
        </p:txBody>
      </p:sp>
      <p:sp>
        <p:nvSpPr>
          <p:cNvPr id="16" name="reveal-3-body">
            <a:extLst>
              <a:ext uri="{FF2B5EF4-FFF2-40B4-BE49-F238E27FC236}">
                <a16:creationId xmlns:a16="http://schemas.microsoft.com/office/drawing/2014/main" id="{B3512A45-EDCE-4FC1-8C5C-1075A6288B79}"/>
              </a:ext>
            </a:extLst>
          </p:cNvPr>
          <p:cNvSpPr>
            <a:spLocks noGrp="1"/>
          </p:cNvSpPr>
          <p:nvPr/>
        </p:nvSpPr>
        <p:spPr>
          <a:xfrm>
            <a:off x="7524750" y="6086475"/>
            <a:ext cx="6762750" cy="762000"/>
          </a:xfrm>
          <a:prstGeom prst="rect">
            <a:avLst/>
          </a:prstGeom>
          <a:noFill/>
          <a:ln w="0">
            <a:noFill/>
          </a:ln>
        </p:spPr>
        <p:txBody>
          <a:bodyPr wrap="none" lIns="0" tIns="0" rIns="0" bIns="0" anchor="t">
            <a:noAutofit/>
          </a:bodyPr>
          <a:lstStyle/>
          <a:p>
            <a:pPr algn="l">
              <a:defRPr sz="2100" b="0">
                <a:solidFill>
                  <a:srgbClr val="65717A"/>
                </a:solidFill>
                <a:latin typeface="Helvetica Neue"/>
                <a:ea typeface="Helvetica Neue"/>
                <a:cs typeface="Helvetica Neue"/>
              </a:defRPr>
            </a:pPr>
            <a:r>
              <a:rPr sz="2100" b="0">
                <a:solidFill>
                  <a:srgbClr val="65717A"/>
                </a:solidFill>
                <a:latin typeface="Helvetica Neue"/>
                <a:ea typeface="Helvetica Neue"/>
                <a:cs typeface="Helvetica Neue"/>
              </a:rPr>
              <a:t>Coordinates the request and response.</a:t>
            </a:r>
          </a:p>
        </p:txBody>
      </p:sp>
      <p:sp>
        <p:nvSpPr>
          <p:cNvPr id="17" name="text-115">
            <a:extLst>
              <a:ext uri="{FF2B5EF4-FFF2-40B4-BE49-F238E27FC236}">
                <a16:creationId xmlns:a16="http://schemas.microsoft.com/office/drawing/2014/main" id="{9417FD3A-AB91-4A4F-B9CC-F156E8DADA9D}"/>
              </a:ext>
            </a:extLst>
          </p:cNvPr>
          <p:cNvSpPr>
            <a:spLocks noGrp="1"/>
          </p:cNvSpPr>
          <p:nvPr/>
        </p:nvSpPr>
        <p:spPr>
          <a:xfrm>
            <a:off x="6267450" y="7410450"/>
            <a:ext cx="8248650" cy="581025"/>
          </a:xfrm>
          <a:prstGeom prst="rect">
            <a:avLst/>
          </a:prstGeom>
          <a:noFill/>
          <a:ln w="0">
            <a:noFill/>
          </a:ln>
        </p:spPr>
        <p:txBody>
          <a:bodyPr wrap="none" lIns="0" tIns="0" rIns="0" bIns="0" anchor="t">
            <a:noAutofit/>
          </a:bodyPr>
          <a:lstStyle/>
          <a:p>
            <a:pPr algn="l">
              <a:defRPr sz="1725" b="0">
                <a:solidFill>
                  <a:srgbClr val="65717A"/>
                </a:solidFill>
                <a:latin typeface="Helvetica Neue"/>
                <a:ea typeface="Helvetica Neue"/>
                <a:cs typeface="Helvetica Neue"/>
              </a:defRPr>
            </a:pPr>
            <a:r>
              <a:rPr sz="1725" b="0">
                <a:solidFill>
                  <a:srgbClr val="65717A"/>
                </a:solidFill>
                <a:latin typeface="Helvetica Neue"/>
                <a:ea typeface="Helvetica Neue"/>
                <a:cs typeface="Helvetica Neue"/>
              </a:rPr>
              <a:t>MVT and MTV name the same components — not the request’s execution order.</a:t>
            </a:r>
          </a:p>
        </p:txBody>
      </p:sp>
    </p:spTree>
    <p:extLst>
      <p:ext uri="{BB962C8B-B14F-4D97-AF65-F5344CB8AC3E}">
        <p14:creationId xmlns:p14="http://schemas.microsoft.com/office/powerpoint/2010/main" val="9835975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0" name="text-116">
            <a:extLst>
              <a:ext uri="{FF2B5EF4-FFF2-40B4-BE49-F238E27FC236}">
                <a16:creationId xmlns:a16="http://schemas.microsoft.com/office/drawing/2014/main" id="{EE24CE40-6519-4528-A406-4BA90F2665D0}"/>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02 / Django and data</a:t>
            </a:r>
          </a:p>
        </p:txBody>
      </p:sp>
      <p:sp>
        <p:nvSpPr>
          <p:cNvPr id="2" name="text-117">
            <a:extLst>
              <a:ext uri="{FF2B5EF4-FFF2-40B4-BE49-F238E27FC236}">
                <a16:creationId xmlns:a16="http://schemas.microsoft.com/office/drawing/2014/main" id="{3C4B110F-7C54-4BA0-B252-8BA2862FDB87}"/>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Task: the data behind one TODO</a:t>
            </a:r>
          </a:p>
        </p:txBody>
      </p:sp>
      <p:sp>
        <p:nvSpPr>
          <p:cNvPr id="3" name="text-118">
            <a:extLst>
              <a:ext uri="{FF2B5EF4-FFF2-40B4-BE49-F238E27FC236}">
                <a16:creationId xmlns:a16="http://schemas.microsoft.com/office/drawing/2014/main" id="{402FAD3A-BB0E-4810-995A-2D7CE43DB752}"/>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119">
            <a:extLst>
              <a:ext uri="{FF2B5EF4-FFF2-40B4-BE49-F238E27FC236}">
                <a16:creationId xmlns:a16="http://schemas.microsoft.com/office/drawing/2014/main" id="{80B3B31F-5A61-4171-8065-8A9634F13CD5}"/>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16</a:t>
            </a:r>
          </a:p>
        </p:txBody>
      </p:sp>
      <p:sp>
        <p:nvSpPr>
          <p:cNvPr id="5" name="text-120">
            <a:extLst>
              <a:ext uri="{FF2B5EF4-FFF2-40B4-BE49-F238E27FC236}">
                <a16:creationId xmlns:a16="http://schemas.microsoft.com/office/drawing/2014/main" id="{1B63D04D-1BB5-483F-A2F0-EF0113B657AA}"/>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tasks/models.py</a:t>
            </a:r>
          </a:p>
        </p:txBody>
      </p:sp>
      <p:sp>
        <p:nvSpPr>
          <p:cNvPr id="6" name="code-panel-121">
            <a:extLst>
              <a:ext uri="{FF2B5EF4-FFF2-40B4-BE49-F238E27FC236}">
                <a16:creationId xmlns:a16="http://schemas.microsoft.com/office/drawing/2014/main" id="{51FCE162-E3DC-4CE6-B56C-B59360A825DE}"/>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46534FEE-3414-4CB7-82C8-CDF7143B5778}"/>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class</a:t>
            </a:r>
            <a:r>
              <a:rPr sz="1725" b="0">
                <a:solidFill>
                  <a:srgbClr val="FFFFFF"/>
                </a:solidFill>
                <a:latin typeface="Menlo"/>
                <a:ea typeface="Menlo"/>
                <a:cs typeface="Menlo"/>
              </a:rPr>
              <a:t> Task(models.Model):</a:t>
            </a:r>
          </a:p>
        </p:txBody>
      </p:sp>
      <p:sp>
        <p:nvSpPr>
          <p:cNvPr id="8" name="code-line-1">
            <a:extLst>
              <a:ext uri="{FF2B5EF4-FFF2-40B4-BE49-F238E27FC236}">
                <a16:creationId xmlns:a16="http://schemas.microsoft.com/office/drawing/2014/main" id="{F30DCFFA-C4D8-4E2B-9901-766022802394}"/>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title = models.CharField(max_length=200)</a:t>
            </a:r>
          </a:p>
        </p:txBody>
      </p:sp>
      <p:sp>
        <p:nvSpPr>
          <p:cNvPr id="9" name="code-line-2">
            <a:extLst>
              <a:ext uri="{FF2B5EF4-FFF2-40B4-BE49-F238E27FC236}">
                <a16:creationId xmlns:a16="http://schemas.microsoft.com/office/drawing/2014/main" id="{25117AD6-3B44-454D-8BD6-76AF4E2BBD22}"/>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completed = models.BooleanField(default=</a:t>
            </a:r>
            <a:r>
              <a:rPr sz="1725" b="0">
                <a:solidFill>
                  <a:srgbClr val="A7C2FF"/>
                </a:solidFill>
                <a:latin typeface="Menlo"/>
                <a:ea typeface="Menlo"/>
                <a:cs typeface="Menlo"/>
              </a:rPr>
              <a:t>False</a:t>
            </a:r>
            <a:r>
              <a:rPr sz="1725" b="0">
                <a:solidFill>
                  <a:srgbClr val="FFFFFF"/>
                </a:solidFill>
                <a:latin typeface="Menlo"/>
                <a:ea typeface="Menlo"/>
                <a:cs typeface="Menlo"/>
              </a:rPr>
              <a:t>)</a:t>
            </a:r>
          </a:p>
        </p:txBody>
      </p:sp>
      <p:sp>
        <p:nvSpPr>
          <p:cNvPr id="10" name="code-line-3">
            <a:extLst>
              <a:ext uri="{FF2B5EF4-FFF2-40B4-BE49-F238E27FC236}">
                <a16:creationId xmlns:a16="http://schemas.microsoft.com/office/drawing/2014/main" id="{489C19CB-78C4-4BA3-93E8-09B0E3E310A9}"/>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owner = models.ForeignKey(</a:t>
            </a:r>
          </a:p>
        </p:txBody>
      </p:sp>
      <p:sp>
        <p:nvSpPr>
          <p:cNvPr id="11" name="code-line-4">
            <a:extLst>
              <a:ext uri="{FF2B5EF4-FFF2-40B4-BE49-F238E27FC236}">
                <a16:creationId xmlns:a16="http://schemas.microsoft.com/office/drawing/2014/main" id="{F0F5C34E-A400-4483-A5D9-BB3181E5D4D4}"/>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settings.AUTH_USER_MODEL,</a:t>
            </a:r>
          </a:p>
        </p:txBody>
      </p:sp>
      <p:sp>
        <p:nvSpPr>
          <p:cNvPr id="12" name="code-line-5">
            <a:extLst>
              <a:ext uri="{FF2B5EF4-FFF2-40B4-BE49-F238E27FC236}">
                <a16:creationId xmlns:a16="http://schemas.microsoft.com/office/drawing/2014/main" id="{35CA1C23-A53E-4EEF-8382-627C5B95E870}"/>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on_delete=models.CASCADE,</a:t>
            </a:r>
          </a:p>
        </p:txBody>
      </p:sp>
      <p:sp>
        <p:nvSpPr>
          <p:cNvPr id="13" name="code-line-6">
            <a:extLst>
              <a:ext uri="{FF2B5EF4-FFF2-40B4-BE49-F238E27FC236}">
                <a16:creationId xmlns:a16="http://schemas.microsoft.com/office/drawing/2014/main" id="{CF7EA06B-2576-4DBA-BC3E-B746540B612B}"/>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p>
        </p:txBody>
      </p:sp>
      <p:sp>
        <p:nvSpPr>
          <p:cNvPr id="14" name="code-line-7">
            <a:extLst>
              <a:ext uri="{FF2B5EF4-FFF2-40B4-BE49-F238E27FC236}">
                <a16:creationId xmlns:a16="http://schemas.microsoft.com/office/drawing/2014/main" id="{93A5FD8C-66C7-448A-8545-E65A30C0E196}"/>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endParaRPr/>
          </a:p>
        </p:txBody>
      </p:sp>
      <p:sp>
        <p:nvSpPr>
          <p:cNvPr id="15" name="code-line-8">
            <a:extLst>
              <a:ext uri="{FF2B5EF4-FFF2-40B4-BE49-F238E27FC236}">
                <a16:creationId xmlns:a16="http://schemas.microsoft.com/office/drawing/2014/main" id="{69DAB198-F676-43F9-9C59-E0C75C8C2AE3}"/>
              </a:ext>
            </a:extLst>
          </p:cNvPr>
          <p:cNvSpPr>
            <a:spLocks noGrp="1"/>
          </p:cNvSpPr>
          <p:nvPr/>
        </p:nvSpPr>
        <p:spPr>
          <a:xfrm>
            <a:off x="914400" y="5591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def</a:t>
            </a:r>
            <a:r>
              <a:rPr sz="1725" b="0">
                <a:solidFill>
                  <a:srgbClr val="FFFFFF"/>
                </a:solidFill>
                <a:latin typeface="Menlo"/>
                <a:ea typeface="Menlo"/>
                <a:cs typeface="Menlo"/>
              </a:rPr>
              <a:t> __str__(self):</a:t>
            </a:r>
          </a:p>
        </p:txBody>
      </p:sp>
      <p:sp>
        <p:nvSpPr>
          <p:cNvPr id="16" name="code-line-9">
            <a:extLst>
              <a:ext uri="{FF2B5EF4-FFF2-40B4-BE49-F238E27FC236}">
                <a16:creationId xmlns:a16="http://schemas.microsoft.com/office/drawing/2014/main" id="{FB0E98FF-0CA2-498F-9A1A-FCE00CE2CB76}"/>
              </a:ext>
            </a:extLst>
          </p:cNvPr>
          <p:cNvSpPr>
            <a:spLocks noGrp="1"/>
          </p:cNvSpPr>
          <p:nvPr/>
        </p:nvSpPr>
        <p:spPr>
          <a:xfrm>
            <a:off x="914400" y="5924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return</a:t>
            </a:r>
            <a:r>
              <a:rPr sz="1725" b="0">
                <a:solidFill>
                  <a:srgbClr val="FFFFFF"/>
                </a:solidFill>
                <a:latin typeface="Menlo"/>
                <a:ea typeface="Menlo"/>
                <a:cs typeface="Menlo"/>
              </a:rPr>
              <a:t> self.title</a:t>
            </a:r>
          </a:p>
        </p:txBody>
      </p:sp>
      <p:sp>
        <p:nvSpPr>
          <p:cNvPr id="17" name="reveal-1-output-1">
            <a:extLst>
              <a:ext uri="{FF2B5EF4-FFF2-40B4-BE49-F238E27FC236}">
                <a16:creationId xmlns:a16="http://schemas.microsoft.com/office/drawing/2014/main" id="{5048F5DE-07ED-4390-9944-A5DC042871B1}"/>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Schema after migration</a:t>
            </a:r>
          </a:p>
        </p:txBody>
      </p:sp>
      <p:graphicFrame>
        <p:nvGraphicFramePr>
          <p:cNvPr id="37" name="reveal-1-output-2"/>
          <p:cNvGraphicFramePr/>
          <p:nvPr/>
        </p:nvGraphicFramePr>
        <p:xfrm>
          <a:off x="9239250" y="2952750"/>
          <a:ext cx="5295900" cy="3714750"/>
        </p:xfrm>
        <a:graphic>
          <a:graphicData uri="http://schemas.openxmlformats.org/drawingml/2006/table">
            <a:tbl>
              <a:tblPr firstRow="1"/>
              <a:tblGrid>
                <a:gridCol w="2647950">
                  <a:extLst>
                    <a:ext uri="{9D8B030D-6E8A-4147-A177-3AD203B41FA5}">
                      <a16:colId xmlns:a16="http://schemas.microsoft.com/office/drawing/2014/main" val="20000"/>
                    </a:ext>
                  </a:extLst>
                </a:gridCol>
                <a:gridCol w="2647950">
                  <a:extLst>
                    <a:ext uri="{9D8B030D-6E8A-4147-A177-3AD203B41FA5}">
                      <a16:colId xmlns:a16="http://schemas.microsoft.com/office/drawing/2014/main" val="20001"/>
                    </a:ext>
                  </a:extLst>
                </a:gridCol>
              </a:tblGrid>
              <a:tr h="742950">
                <a:tc>
                  <a:txBody>
                    <a:bodyPr/>
                    <a:lstStyle/>
                    <a:p>
                      <a:r>
                        <a:rPr sz="1575" b="1">
                          <a:solidFill>
                            <a:srgbClr val="FFFFFF"/>
                          </a:solidFill>
                          <a:latin typeface="Helvetica Neue"/>
                          <a:ea typeface="Helvetica Neue"/>
                          <a:cs typeface="Helvetica Neue"/>
                        </a:rPr>
                        <a:t>Column</a:t>
                      </a:r>
                    </a:p>
                  </a:txBody>
                  <a:tcPr anchor="ctr">
                    <a:solidFill>
                      <a:srgbClr val="242C35"/>
                    </a:solidFill>
                  </a:tcPr>
                </a:tc>
                <a:tc>
                  <a:txBody>
                    <a:bodyPr/>
                    <a:lstStyle/>
                    <a:p>
                      <a:r>
                        <a:rPr sz="1575" b="1">
                          <a:solidFill>
                            <a:srgbClr val="FFFFFF"/>
                          </a:solidFill>
                          <a:latin typeface="Helvetica Neue"/>
                          <a:ea typeface="Helvetica Neue"/>
                          <a:cs typeface="Helvetica Neue"/>
                        </a:rPr>
                        <a:t>Purpose</a:t>
                      </a:r>
                    </a:p>
                  </a:txBody>
                  <a:tcPr anchor="ctr">
                    <a:solidFill>
                      <a:srgbClr val="242C35"/>
                    </a:solidFill>
                  </a:tcPr>
                </a:tc>
                <a:extLst>
                  <a:ext uri="{0D108BD9-81ED-4DB2-BD59-A6C34878D82A}">
                    <a16:rowId xmlns:a16="http://schemas.microsoft.com/office/drawing/2014/main" val="10000"/>
                  </a:ext>
                </a:extLst>
              </a:tr>
              <a:tr h="742950">
                <a:tc>
                  <a:txBody>
                    <a:bodyPr/>
                    <a:lstStyle/>
                    <a:p>
                      <a:r>
                        <a:rPr sz="1575" b="0">
                          <a:solidFill>
                            <a:srgbClr val="242C35"/>
                          </a:solidFill>
                          <a:latin typeface="Helvetica Neue"/>
                          <a:ea typeface="Helvetica Neue"/>
                          <a:cs typeface="Helvetica Neue"/>
                        </a:rPr>
                        <a:t>id</a:t>
                      </a:r>
                    </a:p>
                  </a:txBody>
                  <a:tcPr anchor="ctr">
                    <a:solidFill>
                      <a:srgbClr val="FFFFFF"/>
                    </a:solidFill>
                  </a:tcPr>
                </a:tc>
                <a:tc>
                  <a:txBody>
                    <a:bodyPr/>
                    <a:lstStyle/>
                    <a:p>
                      <a:r>
                        <a:rPr sz="1575" b="0">
                          <a:solidFill>
                            <a:srgbClr val="242C35"/>
                          </a:solidFill>
                          <a:latin typeface="Helvetica Neue"/>
                          <a:ea typeface="Helvetica Neue"/>
                          <a:cs typeface="Helvetica Neue"/>
                        </a:rPr>
                        <a:t>Primary key</a:t>
                      </a:r>
                    </a:p>
                  </a:txBody>
                  <a:tcPr anchor="ctr">
                    <a:solidFill>
                      <a:srgbClr val="FFFFFF"/>
                    </a:solidFill>
                  </a:tcPr>
                </a:tc>
                <a:extLst>
                  <a:ext uri="{0D108BD9-81ED-4DB2-BD59-A6C34878D82A}">
                    <a16:rowId xmlns:a16="http://schemas.microsoft.com/office/drawing/2014/main" val="10001"/>
                  </a:ext>
                </a:extLst>
              </a:tr>
              <a:tr h="742950">
                <a:tc>
                  <a:txBody>
                    <a:bodyPr/>
                    <a:lstStyle/>
                    <a:p>
                      <a:r>
                        <a:rPr sz="1575" b="0">
                          <a:solidFill>
                            <a:srgbClr val="242C35"/>
                          </a:solidFill>
                          <a:latin typeface="Helvetica Neue"/>
                          <a:ea typeface="Helvetica Neue"/>
                          <a:cs typeface="Helvetica Neue"/>
                        </a:rPr>
                        <a:t>title</a:t>
                      </a:r>
                    </a:p>
                  </a:txBody>
                  <a:tcPr anchor="ctr">
                    <a:solidFill>
                      <a:srgbClr val="F8F5EF"/>
                    </a:solidFill>
                  </a:tcPr>
                </a:tc>
                <a:tc>
                  <a:txBody>
                    <a:bodyPr/>
                    <a:lstStyle/>
                    <a:p>
                      <a:r>
                        <a:rPr sz="1575" b="0">
                          <a:solidFill>
                            <a:srgbClr val="242C35"/>
                          </a:solidFill>
                          <a:latin typeface="Helvetica Neue"/>
                          <a:ea typeface="Helvetica Neue"/>
                          <a:cs typeface="Helvetica Neue"/>
                        </a:rPr>
                        <a:t>Up to 200 characters</a:t>
                      </a:r>
                    </a:p>
                  </a:txBody>
                  <a:tcPr anchor="ctr">
                    <a:solidFill>
                      <a:srgbClr val="F8F5EF"/>
                    </a:solidFill>
                  </a:tcPr>
                </a:tc>
                <a:extLst>
                  <a:ext uri="{0D108BD9-81ED-4DB2-BD59-A6C34878D82A}">
                    <a16:rowId xmlns:a16="http://schemas.microsoft.com/office/drawing/2014/main" val="10002"/>
                  </a:ext>
                </a:extLst>
              </a:tr>
              <a:tr h="742950">
                <a:tc>
                  <a:txBody>
                    <a:bodyPr/>
                    <a:lstStyle/>
                    <a:p>
                      <a:r>
                        <a:rPr sz="1575" b="0">
                          <a:solidFill>
                            <a:srgbClr val="242C35"/>
                          </a:solidFill>
                          <a:latin typeface="Helvetica Neue"/>
                          <a:ea typeface="Helvetica Neue"/>
                          <a:cs typeface="Helvetica Neue"/>
                        </a:rPr>
                        <a:t>completed</a:t>
                      </a:r>
                    </a:p>
                  </a:txBody>
                  <a:tcPr anchor="ctr">
                    <a:solidFill>
                      <a:srgbClr val="FFFFFF"/>
                    </a:solidFill>
                  </a:tcPr>
                </a:tc>
                <a:tc>
                  <a:txBody>
                    <a:bodyPr/>
                    <a:lstStyle/>
                    <a:p>
                      <a:r>
                        <a:rPr sz="1575" b="0">
                          <a:solidFill>
                            <a:srgbClr val="242C35"/>
                          </a:solidFill>
                          <a:latin typeface="Helvetica Neue"/>
                          <a:ea typeface="Helvetica Neue"/>
                          <a:cs typeface="Helvetica Neue"/>
                        </a:rPr>
                        <a:t>Boolean, initially False</a:t>
                      </a:r>
                    </a:p>
                  </a:txBody>
                  <a:tcPr anchor="ctr">
                    <a:solidFill>
                      <a:srgbClr val="FFFFFF"/>
                    </a:solidFill>
                  </a:tcPr>
                </a:tc>
                <a:extLst>
                  <a:ext uri="{0D108BD9-81ED-4DB2-BD59-A6C34878D82A}">
                    <a16:rowId xmlns:a16="http://schemas.microsoft.com/office/drawing/2014/main" val="10003"/>
                  </a:ext>
                </a:extLst>
              </a:tr>
              <a:tr h="742950">
                <a:tc>
                  <a:txBody>
                    <a:bodyPr/>
                    <a:lstStyle/>
                    <a:p>
                      <a:r>
                        <a:rPr sz="1575" b="0">
                          <a:solidFill>
                            <a:srgbClr val="242C35"/>
                          </a:solidFill>
                          <a:latin typeface="Helvetica Neue"/>
                          <a:ea typeface="Helvetica Neue"/>
                          <a:cs typeface="Helvetica Neue"/>
                        </a:rPr>
                        <a:t>owner_id</a:t>
                      </a:r>
                    </a:p>
                  </a:txBody>
                  <a:tcPr anchor="ctr">
                    <a:solidFill>
                      <a:srgbClr val="F8F5EF"/>
                    </a:solidFill>
                  </a:tcPr>
                </a:tc>
                <a:tc>
                  <a:txBody>
                    <a:bodyPr/>
                    <a:lstStyle/>
                    <a:p>
                      <a:r>
                        <a:rPr sz="1575" b="0">
                          <a:solidFill>
                            <a:srgbClr val="242C35"/>
                          </a:solidFill>
                          <a:latin typeface="Helvetica Neue"/>
                          <a:ea typeface="Helvetica Neue"/>
                          <a:cs typeface="Helvetica Neue"/>
                        </a:rPr>
                        <a:t>User foreign key</a:t>
                      </a:r>
                    </a:p>
                  </a:txBody>
                  <a:tcPr anchor="ctr">
                    <a:solidFill>
                      <a:srgbClr val="F8F5EF"/>
                    </a:solidFill>
                  </a:tcPr>
                </a:tc>
                <a:extLst>
                  <a:ext uri="{0D108BD9-81ED-4DB2-BD59-A6C34878D82A}">
                    <a16:rowId xmlns:a16="http://schemas.microsoft.com/office/drawing/2014/main" val="10004"/>
                  </a:ext>
                </a:extLst>
              </a:tr>
            </a:tbl>
          </a:graphicData>
        </a:graphic>
      </p:graphicFrame>
      <p:sp>
        <p:nvSpPr>
          <p:cNvPr id="19" name="fade-1-takeaway">
            <a:extLst>
              <a:ext uri="{FF2B5EF4-FFF2-40B4-BE49-F238E27FC236}">
                <a16:creationId xmlns:a16="http://schemas.microsoft.com/office/drawing/2014/main" id="{323BF3BD-4CA3-4559-A4C7-5EEF11BAD56B}"/>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Every task belongs to one account.</a:t>
            </a:r>
          </a:p>
        </p:txBody>
      </p:sp>
    </p:spTree>
    <p:extLst>
      <p:ext uri="{BB962C8B-B14F-4D97-AF65-F5344CB8AC3E}">
        <p14:creationId xmlns:p14="http://schemas.microsoft.com/office/powerpoint/2010/main" val="18262107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0"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350" fill="hold">
                                          <p:stCondLst>
                                            <p:cond delay="0"/>
                                          </p:stCondLst>
                                        </p:cTn>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9" name="text-123">
            <a:extLst>
              <a:ext uri="{FF2B5EF4-FFF2-40B4-BE49-F238E27FC236}">
                <a16:creationId xmlns:a16="http://schemas.microsoft.com/office/drawing/2014/main" id="{218E270A-ACAD-4B90-A4C8-B61788CF96E1}"/>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02 / Django and data</a:t>
            </a:r>
          </a:p>
        </p:txBody>
      </p:sp>
      <p:sp>
        <p:nvSpPr>
          <p:cNvPr id="2" name="text-124">
            <a:extLst>
              <a:ext uri="{FF2B5EF4-FFF2-40B4-BE49-F238E27FC236}">
                <a16:creationId xmlns:a16="http://schemas.microsoft.com/office/drawing/2014/main" id="{12E5044A-4D42-4ADD-90D9-50158D1858C2}"/>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Migrations record schema changes</a:t>
            </a:r>
          </a:p>
        </p:txBody>
      </p:sp>
      <p:sp>
        <p:nvSpPr>
          <p:cNvPr id="3" name="text-125">
            <a:extLst>
              <a:ext uri="{FF2B5EF4-FFF2-40B4-BE49-F238E27FC236}">
                <a16:creationId xmlns:a16="http://schemas.microsoft.com/office/drawing/2014/main" id="{EF30E2B6-4520-4B3B-BE25-F922B535F2AF}"/>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126">
            <a:extLst>
              <a:ext uri="{FF2B5EF4-FFF2-40B4-BE49-F238E27FC236}">
                <a16:creationId xmlns:a16="http://schemas.microsoft.com/office/drawing/2014/main" id="{339C06AD-16CF-4771-A5D2-6B487A73EE66}"/>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17</a:t>
            </a:r>
          </a:p>
        </p:txBody>
      </p:sp>
      <p:sp>
        <p:nvSpPr>
          <p:cNvPr id="5" name="text-127">
            <a:extLst>
              <a:ext uri="{FF2B5EF4-FFF2-40B4-BE49-F238E27FC236}">
                <a16:creationId xmlns:a16="http://schemas.microsoft.com/office/drawing/2014/main" id="{9F1AFE65-19A7-4EC4-B9D4-F445CC84042F}"/>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Terminal</a:t>
            </a:r>
          </a:p>
        </p:txBody>
      </p:sp>
      <p:sp>
        <p:nvSpPr>
          <p:cNvPr id="6" name="code-panel-128">
            <a:extLst>
              <a:ext uri="{FF2B5EF4-FFF2-40B4-BE49-F238E27FC236}">
                <a16:creationId xmlns:a16="http://schemas.microsoft.com/office/drawing/2014/main" id="{73687939-4579-4677-8B18-3B5FC64886A2}"/>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5FDBEFEB-DAA6-47DB-9315-FB863526890E}"/>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After adding tasks to INSTALLED_APPS</a:t>
            </a:r>
          </a:p>
        </p:txBody>
      </p:sp>
      <p:sp>
        <p:nvSpPr>
          <p:cNvPr id="8" name="code-line-1">
            <a:extLst>
              <a:ext uri="{FF2B5EF4-FFF2-40B4-BE49-F238E27FC236}">
                <a16:creationId xmlns:a16="http://schemas.microsoft.com/office/drawing/2014/main" id="{65FBE676-2FF4-46EC-9326-0E6ACA799C97}"/>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python manage.py makemigrations tasks</a:t>
            </a:r>
          </a:p>
        </p:txBody>
      </p:sp>
      <p:sp>
        <p:nvSpPr>
          <p:cNvPr id="9" name="code-line-2">
            <a:extLst>
              <a:ext uri="{FF2B5EF4-FFF2-40B4-BE49-F238E27FC236}">
                <a16:creationId xmlns:a16="http://schemas.microsoft.com/office/drawing/2014/main" id="{1738BCF1-ECA7-4285-9EA6-BECF0D3B887E}"/>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python manage.py migrate</a:t>
            </a:r>
          </a:p>
        </p:txBody>
      </p:sp>
      <p:sp>
        <p:nvSpPr>
          <p:cNvPr id="10" name="code-line-3">
            <a:extLst>
              <a:ext uri="{FF2B5EF4-FFF2-40B4-BE49-F238E27FC236}">
                <a16:creationId xmlns:a16="http://schemas.microsoft.com/office/drawing/2014/main" id="{C8434772-0A9E-498B-919A-8DFB034073EA}"/>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endParaRPr/>
          </a:p>
        </p:txBody>
      </p:sp>
      <p:sp>
        <p:nvSpPr>
          <p:cNvPr id="11" name="code-line-4">
            <a:extLst>
              <a:ext uri="{FF2B5EF4-FFF2-40B4-BE49-F238E27FC236}">
                <a16:creationId xmlns:a16="http://schemas.microsoft.com/office/drawing/2014/main" id="{E905DAA1-D960-457A-AA8F-E066192E3992}"/>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Useful inspection commands</a:t>
            </a:r>
          </a:p>
        </p:txBody>
      </p:sp>
      <p:sp>
        <p:nvSpPr>
          <p:cNvPr id="12" name="code-line-5">
            <a:extLst>
              <a:ext uri="{FF2B5EF4-FFF2-40B4-BE49-F238E27FC236}">
                <a16:creationId xmlns:a16="http://schemas.microsoft.com/office/drawing/2014/main" id="{B6C15DAA-3BDC-4666-B314-81C1734CA638}"/>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python manage.py showmigrations tasks</a:t>
            </a:r>
          </a:p>
        </p:txBody>
      </p:sp>
      <p:sp>
        <p:nvSpPr>
          <p:cNvPr id="13" name="code-line-6">
            <a:extLst>
              <a:ext uri="{FF2B5EF4-FFF2-40B4-BE49-F238E27FC236}">
                <a16:creationId xmlns:a16="http://schemas.microsoft.com/office/drawing/2014/main" id="{7991EFA1-20C6-4675-BE4A-03273E46EDC7}"/>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python manage.py sqlmigrate tasks 0001</a:t>
            </a:r>
          </a:p>
        </p:txBody>
      </p:sp>
      <p:sp>
        <p:nvSpPr>
          <p:cNvPr id="14" name="code-line-7">
            <a:extLst>
              <a:ext uri="{FF2B5EF4-FFF2-40B4-BE49-F238E27FC236}">
                <a16:creationId xmlns:a16="http://schemas.microsoft.com/office/drawing/2014/main" id="{BAC88D7B-7AA9-42E0-92AA-21C21BC1F6E2}"/>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python manage.py check</a:t>
            </a:r>
          </a:p>
        </p:txBody>
      </p:sp>
      <p:sp>
        <p:nvSpPr>
          <p:cNvPr id="15" name="reveal-1-output-1">
            <a:extLst>
              <a:ext uri="{FF2B5EF4-FFF2-40B4-BE49-F238E27FC236}">
                <a16:creationId xmlns:a16="http://schemas.microsoft.com/office/drawing/2014/main" id="{85BEB582-B370-4268-A91C-FBF9CF7751FA}"/>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Typical first migration output</a:t>
            </a:r>
          </a:p>
        </p:txBody>
      </p:sp>
      <p:sp>
        <p:nvSpPr>
          <p:cNvPr id="16" name="reveal-1-output-2">
            <a:extLst>
              <a:ext uri="{FF2B5EF4-FFF2-40B4-BE49-F238E27FC236}">
                <a16:creationId xmlns:a16="http://schemas.microsoft.com/office/drawing/2014/main" id="{C5AE6555-583F-4972-A44B-356506E2459B}"/>
              </a:ext>
            </a:extLst>
          </p:cNvPr>
          <p:cNvSpPr>
            <a:spLocks noGrp="1"/>
          </p:cNvSpPr>
          <p:nvPr/>
        </p:nvSpPr>
        <p:spPr>
          <a:xfrm>
            <a:off x="9239250" y="2952750"/>
            <a:ext cx="5295900" cy="3810000"/>
          </a:xfrm>
          <a:prstGeom prst="rect">
            <a:avLst/>
          </a:prstGeom>
          <a:solidFill>
            <a:srgbClr val="ECEFF7"/>
          </a:solidFill>
          <a:ln w="0">
            <a:noFill/>
          </a:ln>
        </p:spPr>
      </p:sp>
      <p:sp>
        <p:nvSpPr>
          <p:cNvPr id="17" name="reveal-1-output-3">
            <a:extLst>
              <a:ext uri="{FF2B5EF4-FFF2-40B4-BE49-F238E27FC236}">
                <a16:creationId xmlns:a16="http://schemas.microsoft.com/office/drawing/2014/main" id="{31B3477C-2AD0-4618-AF2E-4C02C6A0A3A2}"/>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650" b="0">
                <a:solidFill>
                  <a:srgbClr val="242C35"/>
                </a:solidFill>
                <a:latin typeface="Menlo"/>
                <a:ea typeface="Menlo"/>
                <a:cs typeface="Menlo"/>
              </a:defRPr>
            </a:pPr>
            <a:r>
              <a:rPr sz="1650" b="0">
                <a:solidFill>
                  <a:srgbClr val="242C35"/>
                </a:solidFill>
                <a:latin typeface="Menlo"/>
                <a:ea typeface="Menlo"/>
                <a:cs typeface="Menlo"/>
              </a:rPr>
              <a:t>Migrations for tasks:</a:t>
            </a:r>
          </a:p>
          <a:p>
            <a:pPr algn="l">
              <a:defRPr sz="1650" b="0">
                <a:solidFill>
                  <a:srgbClr val="242C35"/>
                </a:solidFill>
                <a:latin typeface="Menlo"/>
                <a:ea typeface="Menlo"/>
                <a:cs typeface="Menlo"/>
              </a:defRPr>
            </a:pPr>
            <a:r>
              <a:rPr sz="1650" b="0">
                <a:solidFill>
                  <a:srgbClr val="242C35"/>
                </a:solidFill>
                <a:latin typeface="Menlo"/>
                <a:ea typeface="Menlo"/>
                <a:cs typeface="Menlo"/>
              </a:rPr>
              <a:t>tasks/migrations/0001_initial.py</a:t>
            </a:r>
          </a:p>
          <a:p>
            <a:pPr algn="l">
              <a:defRPr sz="1650" b="0">
                <a:solidFill>
                  <a:srgbClr val="242C35"/>
                </a:solidFill>
                <a:latin typeface="Menlo"/>
                <a:ea typeface="Menlo"/>
                <a:cs typeface="Menlo"/>
              </a:defRPr>
            </a:pPr>
            <a:r>
              <a:rPr sz="1650" b="0">
                <a:solidFill>
                  <a:srgbClr val="242C35"/>
                </a:solidFill>
                <a:latin typeface="Menlo"/>
                <a:ea typeface="Menlo"/>
                <a:cs typeface="Menlo"/>
              </a:rPr>
              <a:t>+ Create model Task</a:t>
            </a:r>
          </a:p>
          <a:p>
            <a:pPr algn="l">
              <a:defRPr sz="1650" b="0">
                <a:solidFill>
                  <a:srgbClr val="242C35"/>
                </a:solidFill>
                <a:latin typeface="Menlo"/>
                <a:ea typeface="Menlo"/>
                <a:cs typeface="Menlo"/>
              </a:defRPr>
            </a:pPr>
            <a:r>
              <a:rPr sz="1650" b="0">
                <a:solidFill>
                  <a:srgbClr val="242C35"/>
                </a:solidFill>
                <a:latin typeface="Menlo"/>
                <a:ea typeface="Menlo"/>
                <a:cs typeface="Menlo"/>
              </a:rPr>
              <a:t>Applying tasks.0001_initial... OK</a:t>
            </a:r>
          </a:p>
        </p:txBody>
      </p:sp>
      <p:sp>
        <p:nvSpPr>
          <p:cNvPr id="18" name="fade-1-takeaway">
            <a:extLst>
              <a:ext uri="{FF2B5EF4-FFF2-40B4-BE49-F238E27FC236}">
                <a16:creationId xmlns:a16="http://schemas.microsoft.com/office/drawing/2014/main" id="{73428B07-B2F7-4019-A263-DBC1728C6D83}"/>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makemigrations writes a plan. migrate applies it.</a:t>
            </a:r>
          </a:p>
        </p:txBody>
      </p:sp>
    </p:spTree>
    <p:extLst>
      <p:ext uri="{BB962C8B-B14F-4D97-AF65-F5344CB8AC3E}">
        <p14:creationId xmlns:p14="http://schemas.microsoft.com/office/powerpoint/2010/main" val="20717325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350" fill="hold">
                                          <p:stCondLst>
                                            <p:cond delay="0"/>
                                          </p:stCondLst>
                                        </p:cTn>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1" name="text-132">
            <a:extLst>
              <a:ext uri="{FF2B5EF4-FFF2-40B4-BE49-F238E27FC236}">
                <a16:creationId xmlns:a16="http://schemas.microsoft.com/office/drawing/2014/main" id="{87B9FFF0-66B3-4196-8506-F50669E1CD74}"/>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02 / Django and data</a:t>
            </a:r>
          </a:p>
        </p:txBody>
      </p:sp>
      <p:sp>
        <p:nvSpPr>
          <p:cNvPr id="2" name="text-133">
            <a:extLst>
              <a:ext uri="{FF2B5EF4-FFF2-40B4-BE49-F238E27FC236}">
                <a16:creationId xmlns:a16="http://schemas.microsoft.com/office/drawing/2014/main" id="{797CC4FC-1F0A-4AD3-817E-64428BC19E88}"/>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ORM: create, query and update a task</a:t>
            </a:r>
          </a:p>
        </p:txBody>
      </p:sp>
      <p:sp>
        <p:nvSpPr>
          <p:cNvPr id="3" name="text-134">
            <a:extLst>
              <a:ext uri="{FF2B5EF4-FFF2-40B4-BE49-F238E27FC236}">
                <a16:creationId xmlns:a16="http://schemas.microsoft.com/office/drawing/2014/main" id="{2AFF3643-61FE-4243-8E32-D73354EDB49E}"/>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135">
            <a:extLst>
              <a:ext uri="{FF2B5EF4-FFF2-40B4-BE49-F238E27FC236}">
                <a16:creationId xmlns:a16="http://schemas.microsoft.com/office/drawing/2014/main" id="{4D8619E8-F68D-4435-B9B8-1709FC86B1C4}"/>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18</a:t>
            </a:r>
          </a:p>
        </p:txBody>
      </p:sp>
      <p:sp>
        <p:nvSpPr>
          <p:cNvPr id="5" name="text-136">
            <a:extLst>
              <a:ext uri="{FF2B5EF4-FFF2-40B4-BE49-F238E27FC236}">
                <a16:creationId xmlns:a16="http://schemas.microsoft.com/office/drawing/2014/main" id="{5EB72E2A-B047-45DB-9905-02C3270C6D91}"/>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First create asha, then python manage.py shell</a:t>
            </a:r>
          </a:p>
        </p:txBody>
      </p:sp>
      <p:sp>
        <p:nvSpPr>
          <p:cNvPr id="6" name="code-panel-137">
            <a:extLst>
              <a:ext uri="{FF2B5EF4-FFF2-40B4-BE49-F238E27FC236}">
                <a16:creationId xmlns:a16="http://schemas.microsoft.com/office/drawing/2014/main" id="{45914D66-326A-4204-B730-578354E0CD70}"/>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1D4B4B21-B8E2-418A-A2B7-67C26D912CF8}"/>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from</a:t>
            </a:r>
            <a:r>
              <a:rPr sz="1725" b="0">
                <a:solidFill>
                  <a:srgbClr val="FFFFFF"/>
                </a:solidFill>
                <a:latin typeface="Menlo"/>
                <a:ea typeface="Menlo"/>
                <a:cs typeface="Menlo"/>
              </a:rPr>
              <a:t> django.contrib.auth </a:t>
            </a:r>
            <a:r>
              <a:rPr sz="1725" b="0">
                <a:solidFill>
                  <a:srgbClr val="A7C2FF"/>
                </a:solidFill>
                <a:latin typeface="Menlo"/>
                <a:ea typeface="Menlo"/>
                <a:cs typeface="Menlo"/>
              </a:rPr>
              <a:t>import</a:t>
            </a:r>
            <a:r>
              <a:rPr sz="1725" b="0">
                <a:solidFill>
                  <a:srgbClr val="FFFFFF"/>
                </a:solidFill>
                <a:latin typeface="Menlo"/>
                <a:ea typeface="Menlo"/>
                <a:cs typeface="Menlo"/>
              </a:rPr>
              <a:t> get_user_model</a:t>
            </a:r>
          </a:p>
        </p:txBody>
      </p:sp>
      <p:sp>
        <p:nvSpPr>
          <p:cNvPr id="8" name="code-line-1">
            <a:extLst>
              <a:ext uri="{FF2B5EF4-FFF2-40B4-BE49-F238E27FC236}">
                <a16:creationId xmlns:a16="http://schemas.microsoft.com/office/drawing/2014/main" id="{27FFFBBA-2B11-48BD-BCE1-923551D30A55}"/>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from</a:t>
            </a:r>
            <a:r>
              <a:rPr sz="1725" b="0">
                <a:solidFill>
                  <a:srgbClr val="FFFFFF"/>
                </a:solidFill>
                <a:latin typeface="Menlo"/>
                <a:ea typeface="Menlo"/>
                <a:cs typeface="Menlo"/>
              </a:rPr>
              <a:t> tasks.models </a:t>
            </a:r>
            <a:r>
              <a:rPr sz="1725" b="0">
                <a:solidFill>
                  <a:srgbClr val="A7C2FF"/>
                </a:solidFill>
                <a:latin typeface="Menlo"/>
                <a:ea typeface="Menlo"/>
                <a:cs typeface="Menlo"/>
              </a:rPr>
              <a:t>import</a:t>
            </a:r>
            <a:r>
              <a:rPr sz="1725" b="0">
                <a:solidFill>
                  <a:srgbClr val="FFFFFF"/>
                </a:solidFill>
                <a:latin typeface="Menlo"/>
                <a:ea typeface="Menlo"/>
                <a:cs typeface="Menlo"/>
              </a:rPr>
              <a:t> Task</a:t>
            </a:r>
          </a:p>
        </p:txBody>
      </p:sp>
      <p:sp>
        <p:nvSpPr>
          <p:cNvPr id="9" name="code-line-2">
            <a:extLst>
              <a:ext uri="{FF2B5EF4-FFF2-40B4-BE49-F238E27FC236}">
                <a16:creationId xmlns:a16="http://schemas.microsoft.com/office/drawing/2014/main" id="{AEBF9FCF-851E-481F-92F5-74504C1675D5}"/>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endParaRPr/>
          </a:p>
        </p:txBody>
      </p:sp>
      <p:sp>
        <p:nvSpPr>
          <p:cNvPr id="10" name="code-line-3">
            <a:extLst>
              <a:ext uri="{FF2B5EF4-FFF2-40B4-BE49-F238E27FC236}">
                <a16:creationId xmlns:a16="http://schemas.microsoft.com/office/drawing/2014/main" id="{8E90B280-FE2E-4B54-91D9-ADD71350A238}"/>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owner = get_user_model().objects.get(username="asha")</a:t>
            </a:r>
          </a:p>
        </p:txBody>
      </p:sp>
      <p:sp>
        <p:nvSpPr>
          <p:cNvPr id="11" name="code-line-4">
            <a:extLst>
              <a:ext uri="{FF2B5EF4-FFF2-40B4-BE49-F238E27FC236}">
                <a16:creationId xmlns:a16="http://schemas.microsoft.com/office/drawing/2014/main" id="{E04A193C-7D40-4B2A-8F62-22AD7130324F}"/>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task = Task.objects.create(</a:t>
            </a:r>
          </a:p>
        </p:txBody>
      </p:sp>
      <p:sp>
        <p:nvSpPr>
          <p:cNvPr id="12" name="code-line-5">
            <a:extLst>
              <a:ext uri="{FF2B5EF4-FFF2-40B4-BE49-F238E27FC236}">
                <a16:creationId xmlns:a16="http://schemas.microsoft.com/office/drawing/2014/main" id="{BBCF937D-9287-4950-869A-B9AB9DAE81BC}"/>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title="Prepare Django demo", owner=owner,</a:t>
            </a:r>
          </a:p>
        </p:txBody>
      </p:sp>
      <p:sp>
        <p:nvSpPr>
          <p:cNvPr id="13" name="code-line-6">
            <a:extLst>
              <a:ext uri="{FF2B5EF4-FFF2-40B4-BE49-F238E27FC236}">
                <a16:creationId xmlns:a16="http://schemas.microsoft.com/office/drawing/2014/main" id="{D2C3B83F-BC39-418E-9DAA-256F75DDA961}"/>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a:t>
            </a:r>
          </a:p>
        </p:txBody>
      </p:sp>
      <p:sp>
        <p:nvSpPr>
          <p:cNvPr id="14" name="code-line-7">
            <a:extLst>
              <a:ext uri="{FF2B5EF4-FFF2-40B4-BE49-F238E27FC236}">
                <a16:creationId xmlns:a16="http://schemas.microsoft.com/office/drawing/2014/main" id="{B459A219-AAA8-4A00-917F-E58AA55DD6B5}"/>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Task.objects.filter(owner=owner, completed=</a:t>
            </a:r>
            <a:r>
              <a:rPr sz="1725" b="0">
                <a:solidFill>
                  <a:srgbClr val="A7C2FF"/>
                </a:solidFill>
                <a:latin typeface="Menlo"/>
                <a:ea typeface="Menlo"/>
                <a:cs typeface="Menlo"/>
              </a:rPr>
              <a:t>False</a:t>
            </a:r>
            <a:r>
              <a:rPr sz="1725" b="0">
                <a:solidFill>
                  <a:srgbClr val="FFFFFF"/>
                </a:solidFill>
                <a:latin typeface="Menlo"/>
                <a:ea typeface="Menlo"/>
                <a:cs typeface="Menlo"/>
              </a:rPr>
              <a:t>)</a:t>
            </a:r>
          </a:p>
        </p:txBody>
      </p:sp>
      <p:sp>
        <p:nvSpPr>
          <p:cNvPr id="15" name="code-line-8">
            <a:extLst>
              <a:ext uri="{FF2B5EF4-FFF2-40B4-BE49-F238E27FC236}">
                <a16:creationId xmlns:a16="http://schemas.microsoft.com/office/drawing/2014/main" id="{55411006-92B2-4318-A8F2-941CF500B598}"/>
              </a:ext>
            </a:extLst>
          </p:cNvPr>
          <p:cNvSpPr>
            <a:spLocks noGrp="1"/>
          </p:cNvSpPr>
          <p:nvPr/>
        </p:nvSpPr>
        <p:spPr>
          <a:xfrm>
            <a:off x="914400" y="5591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task.completed = </a:t>
            </a:r>
            <a:r>
              <a:rPr sz="1725" b="0">
                <a:solidFill>
                  <a:srgbClr val="A7C2FF"/>
                </a:solidFill>
                <a:latin typeface="Menlo"/>
                <a:ea typeface="Menlo"/>
                <a:cs typeface="Menlo"/>
              </a:rPr>
              <a:t>True</a:t>
            </a:r>
          </a:p>
        </p:txBody>
      </p:sp>
      <p:sp>
        <p:nvSpPr>
          <p:cNvPr id="16" name="code-line-9">
            <a:extLst>
              <a:ext uri="{FF2B5EF4-FFF2-40B4-BE49-F238E27FC236}">
                <a16:creationId xmlns:a16="http://schemas.microsoft.com/office/drawing/2014/main" id="{6741E305-5BFF-44AC-B1E6-27C031F8D31E}"/>
              </a:ext>
            </a:extLst>
          </p:cNvPr>
          <p:cNvSpPr>
            <a:spLocks noGrp="1"/>
          </p:cNvSpPr>
          <p:nvPr/>
        </p:nvSpPr>
        <p:spPr>
          <a:xfrm>
            <a:off x="914400" y="5924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task.save()</a:t>
            </a:r>
          </a:p>
        </p:txBody>
      </p:sp>
      <p:sp>
        <p:nvSpPr>
          <p:cNvPr id="17" name="code-line-10">
            <a:extLst>
              <a:ext uri="{FF2B5EF4-FFF2-40B4-BE49-F238E27FC236}">
                <a16:creationId xmlns:a16="http://schemas.microsoft.com/office/drawing/2014/main" id="{90E0ECA3-AC0D-4A57-B262-FC4FD5EFA39F}"/>
              </a:ext>
            </a:extLst>
          </p:cNvPr>
          <p:cNvSpPr>
            <a:spLocks noGrp="1"/>
          </p:cNvSpPr>
          <p:nvPr/>
        </p:nvSpPr>
        <p:spPr>
          <a:xfrm>
            <a:off x="914400" y="62579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task.delete()</a:t>
            </a:r>
          </a:p>
        </p:txBody>
      </p:sp>
      <p:sp>
        <p:nvSpPr>
          <p:cNvPr id="18" name="reveal-1-output-1">
            <a:extLst>
              <a:ext uri="{FF2B5EF4-FFF2-40B4-BE49-F238E27FC236}">
                <a16:creationId xmlns:a16="http://schemas.microsoft.com/office/drawing/2014/main" id="{38633B71-D23B-48F2-B77D-25AC024C4060}"/>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Changes to this record</a:t>
            </a:r>
          </a:p>
        </p:txBody>
      </p:sp>
      <p:graphicFrame>
        <p:nvGraphicFramePr>
          <p:cNvPr id="39" name="reveal-1-output-2"/>
          <p:cNvGraphicFramePr/>
          <p:nvPr/>
        </p:nvGraphicFramePr>
        <p:xfrm>
          <a:off x="9239250" y="2952750"/>
          <a:ext cx="5295900" cy="3714750"/>
        </p:xfrm>
        <a:graphic>
          <a:graphicData uri="http://schemas.openxmlformats.org/drawingml/2006/table">
            <a:tbl>
              <a:tblPr firstRow="1"/>
              <a:tblGrid>
                <a:gridCol w="2647950">
                  <a:extLst>
                    <a:ext uri="{9D8B030D-6E8A-4147-A177-3AD203B41FA5}">
                      <a16:colId xmlns:a16="http://schemas.microsoft.com/office/drawing/2014/main" val="20000"/>
                    </a:ext>
                  </a:extLst>
                </a:gridCol>
                <a:gridCol w="2647950">
                  <a:extLst>
                    <a:ext uri="{9D8B030D-6E8A-4147-A177-3AD203B41FA5}">
                      <a16:colId xmlns:a16="http://schemas.microsoft.com/office/drawing/2014/main" val="20001"/>
                    </a:ext>
                  </a:extLst>
                </a:gridCol>
              </a:tblGrid>
              <a:tr h="928688">
                <a:tc>
                  <a:txBody>
                    <a:bodyPr/>
                    <a:lstStyle/>
                    <a:p>
                      <a:r>
                        <a:rPr sz="1575" b="1">
                          <a:solidFill>
                            <a:srgbClr val="FFFFFF"/>
                          </a:solidFill>
                          <a:latin typeface="Helvetica Neue"/>
                          <a:ea typeface="Helvetica Neue"/>
                          <a:cs typeface="Helvetica Neue"/>
                        </a:rPr>
                        <a:t>Operation</a:t>
                      </a:r>
                    </a:p>
                  </a:txBody>
                  <a:tcPr anchor="ctr">
                    <a:solidFill>
                      <a:srgbClr val="242C35"/>
                    </a:solidFill>
                  </a:tcPr>
                </a:tc>
                <a:tc>
                  <a:txBody>
                    <a:bodyPr/>
                    <a:lstStyle/>
                    <a:p>
                      <a:r>
                        <a:rPr sz="1575" b="1">
                          <a:solidFill>
                            <a:srgbClr val="FFFFFF"/>
                          </a:solidFill>
                          <a:latin typeface="Helvetica Neue"/>
                          <a:ea typeface="Helvetica Neue"/>
                          <a:cs typeface="Helvetica Neue"/>
                        </a:rPr>
                        <a:t>Stored state</a:t>
                      </a:r>
                    </a:p>
                  </a:txBody>
                  <a:tcPr anchor="ctr">
                    <a:solidFill>
                      <a:srgbClr val="242C35"/>
                    </a:solidFill>
                  </a:tcPr>
                </a:tc>
                <a:extLst>
                  <a:ext uri="{0D108BD9-81ED-4DB2-BD59-A6C34878D82A}">
                    <a16:rowId xmlns:a16="http://schemas.microsoft.com/office/drawing/2014/main" val="10000"/>
                  </a:ext>
                </a:extLst>
              </a:tr>
              <a:tr h="928688">
                <a:tc>
                  <a:txBody>
                    <a:bodyPr/>
                    <a:lstStyle/>
                    <a:p>
                      <a:r>
                        <a:rPr sz="1575" b="0">
                          <a:solidFill>
                            <a:srgbClr val="242C35"/>
                          </a:solidFill>
                          <a:latin typeface="Helvetica Neue"/>
                          <a:ea typeface="Helvetica Neue"/>
                          <a:cs typeface="Helvetica Neue"/>
                        </a:rPr>
                        <a:t>create()</a:t>
                      </a:r>
                    </a:p>
                  </a:txBody>
                  <a:tcPr anchor="ctr">
                    <a:solidFill>
                      <a:srgbClr val="FFFFFF"/>
                    </a:solidFill>
                  </a:tcPr>
                </a:tc>
                <a:tc>
                  <a:txBody>
                    <a:bodyPr/>
                    <a:lstStyle/>
                    <a:p>
                      <a:r>
                        <a:rPr sz="1575" b="0">
                          <a:solidFill>
                            <a:srgbClr val="242C35"/>
                          </a:solidFill>
                          <a:latin typeface="Helvetica Neue"/>
                          <a:ea typeface="Helvetica Neue"/>
                          <a:cs typeface="Helvetica Neue"/>
                        </a:rPr>
                        <a:t>Prepare Django demo / False</a:t>
                      </a:r>
                    </a:p>
                  </a:txBody>
                  <a:tcPr anchor="ctr">
                    <a:solidFill>
                      <a:srgbClr val="FFFFFF"/>
                    </a:solidFill>
                  </a:tcPr>
                </a:tc>
                <a:extLst>
                  <a:ext uri="{0D108BD9-81ED-4DB2-BD59-A6C34878D82A}">
                    <a16:rowId xmlns:a16="http://schemas.microsoft.com/office/drawing/2014/main" val="10001"/>
                  </a:ext>
                </a:extLst>
              </a:tr>
              <a:tr h="928688">
                <a:tc>
                  <a:txBody>
                    <a:bodyPr/>
                    <a:lstStyle/>
                    <a:p>
                      <a:r>
                        <a:rPr sz="1575" b="0">
                          <a:solidFill>
                            <a:srgbClr val="242C35"/>
                          </a:solidFill>
                          <a:latin typeface="Helvetica Neue"/>
                          <a:ea typeface="Helvetica Neue"/>
                          <a:cs typeface="Helvetica Neue"/>
                        </a:rPr>
                        <a:t>save()</a:t>
                      </a:r>
                    </a:p>
                  </a:txBody>
                  <a:tcPr anchor="ctr">
                    <a:solidFill>
                      <a:srgbClr val="F8F5EF"/>
                    </a:solidFill>
                  </a:tcPr>
                </a:tc>
                <a:tc>
                  <a:txBody>
                    <a:bodyPr/>
                    <a:lstStyle/>
                    <a:p>
                      <a:r>
                        <a:rPr sz="1575" b="0">
                          <a:solidFill>
                            <a:srgbClr val="242C35"/>
                          </a:solidFill>
                          <a:latin typeface="Helvetica Neue"/>
                          <a:ea typeface="Helvetica Neue"/>
                          <a:cs typeface="Helvetica Neue"/>
                        </a:rPr>
                        <a:t>Prepare Django demo / True</a:t>
                      </a:r>
                    </a:p>
                  </a:txBody>
                  <a:tcPr anchor="ctr">
                    <a:solidFill>
                      <a:srgbClr val="F8F5EF"/>
                    </a:solidFill>
                  </a:tcPr>
                </a:tc>
                <a:extLst>
                  <a:ext uri="{0D108BD9-81ED-4DB2-BD59-A6C34878D82A}">
                    <a16:rowId xmlns:a16="http://schemas.microsoft.com/office/drawing/2014/main" val="10002"/>
                  </a:ext>
                </a:extLst>
              </a:tr>
              <a:tr h="928688">
                <a:tc>
                  <a:txBody>
                    <a:bodyPr/>
                    <a:lstStyle/>
                    <a:p>
                      <a:r>
                        <a:rPr sz="1575" b="0">
                          <a:solidFill>
                            <a:srgbClr val="242C35"/>
                          </a:solidFill>
                          <a:latin typeface="Helvetica Neue"/>
                          <a:ea typeface="Helvetica Neue"/>
                          <a:cs typeface="Helvetica Neue"/>
                        </a:rPr>
                        <a:t>delete()</a:t>
                      </a:r>
                    </a:p>
                  </a:txBody>
                  <a:tcPr anchor="ctr">
                    <a:solidFill>
                      <a:srgbClr val="FFFFFF"/>
                    </a:solidFill>
                  </a:tcPr>
                </a:tc>
                <a:tc>
                  <a:txBody>
                    <a:bodyPr/>
                    <a:lstStyle/>
                    <a:p>
                      <a:r>
                        <a:rPr sz="1575" b="0">
                          <a:solidFill>
                            <a:srgbClr val="242C35"/>
                          </a:solidFill>
                          <a:latin typeface="Helvetica Neue"/>
                          <a:ea typeface="Helvetica Neue"/>
                          <a:cs typeface="Helvetica Neue"/>
                        </a:rPr>
                        <a:t>Record removed</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20" name="fade-1-takeaway">
            <a:extLst>
              <a:ext uri="{FF2B5EF4-FFF2-40B4-BE49-F238E27FC236}">
                <a16:creationId xmlns:a16="http://schemas.microsoft.com/office/drawing/2014/main" id="{42AE1448-EE22-49CB-828F-8D72CCAA9063}"/>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Python operations become database queries.</a:t>
            </a:r>
          </a:p>
        </p:txBody>
      </p:sp>
    </p:spTree>
    <p:extLst>
      <p:ext uri="{BB962C8B-B14F-4D97-AF65-F5344CB8AC3E}">
        <p14:creationId xmlns:p14="http://schemas.microsoft.com/office/powerpoint/2010/main" val="10004931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350" fill="hold">
                                          <p:stCondLst>
                                            <p:cond delay="0"/>
                                          </p:stCondLst>
                                        </p:cTn>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1" name="text-139">
            <a:extLst>
              <a:ext uri="{FF2B5EF4-FFF2-40B4-BE49-F238E27FC236}">
                <a16:creationId xmlns:a16="http://schemas.microsoft.com/office/drawing/2014/main" id="{08CA5469-1B4E-4709-ACCA-8E91328824DF}"/>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02 / Django and data</a:t>
            </a:r>
          </a:p>
        </p:txBody>
      </p:sp>
      <p:sp>
        <p:nvSpPr>
          <p:cNvPr id="2" name="text-140">
            <a:extLst>
              <a:ext uri="{FF2B5EF4-FFF2-40B4-BE49-F238E27FC236}">
                <a16:creationId xmlns:a16="http://schemas.microsoft.com/office/drawing/2014/main" id="{8BCC8BAA-31D8-4F9A-9993-355FC23725F6}"/>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The ORM still talks SQL</a:t>
            </a:r>
          </a:p>
        </p:txBody>
      </p:sp>
      <p:sp>
        <p:nvSpPr>
          <p:cNvPr id="3" name="text-141">
            <a:extLst>
              <a:ext uri="{FF2B5EF4-FFF2-40B4-BE49-F238E27FC236}">
                <a16:creationId xmlns:a16="http://schemas.microsoft.com/office/drawing/2014/main" id="{D1142EEB-1D82-485F-B722-691F6D84E89B}"/>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142">
            <a:extLst>
              <a:ext uri="{FF2B5EF4-FFF2-40B4-BE49-F238E27FC236}">
                <a16:creationId xmlns:a16="http://schemas.microsoft.com/office/drawing/2014/main" id="{57EFD5EB-54B0-4760-9233-55E4FCCC5016}"/>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19</a:t>
            </a:r>
          </a:p>
        </p:txBody>
      </p:sp>
      <p:sp>
        <p:nvSpPr>
          <p:cNvPr id="5" name="text-143">
            <a:extLst>
              <a:ext uri="{FF2B5EF4-FFF2-40B4-BE49-F238E27FC236}">
                <a16:creationId xmlns:a16="http://schemas.microsoft.com/office/drawing/2014/main" id="{65DAF227-5358-41AF-8969-AE6B8A28F963}"/>
              </a:ext>
            </a:extLst>
          </p:cNvPr>
          <p:cNvSpPr>
            <a:spLocks noGrp="1"/>
          </p:cNvSpPr>
          <p:nvPr/>
        </p:nvSpPr>
        <p:spPr>
          <a:xfrm>
            <a:off x="685800" y="2343150"/>
            <a:ext cx="6572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You write Python</a:t>
            </a:r>
          </a:p>
        </p:txBody>
      </p:sp>
      <p:sp>
        <p:nvSpPr>
          <p:cNvPr id="6" name="code-panel-144">
            <a:extLst>
              <a:ext uri="{FF2B5EF4-FFF2-40B4-BE49-F238E27FC236}">
                <a16:creationId xmlns:a16="http://schemas.microsoft.com/office/drawing/2014/main" id="{5BB37C29-333A-4628-84D9-DD0C96CDA639}"/>
              </a:ext>
            </a:extLst>
          </p:cNvPr>
          <p:cNvSpPr>
            <a:spLocks noGrp="1"/>
          </p:cNvSpPr>
          <p:nvPr/>
        </p:nvSpPr>
        <p:spPr>
          <a:xfrm>
            <a:off x="685800" y="2762250"/>
            <a:ext cx="6572250" cy="2428875"/>
          </a:xfrm>
          <a:prstGeom prst="rect">
            <a:avLst/>
          </a:prstGeom>
          <a:solidFill>
            <a:srgbClr val="242C35"/>
          </a:solidFill>
          <a:ln w="0">
            <a:noFill/>
          </a:ln>
        </p:spPr>
      </p:sp>
      <p:sp>
        <p:nvSpPr>
          <p:cNvPr id="7" name="code-line-0">
            <a:extLst>
              <a:ext uri="{FF2B5EF4-FFF2-40B4-BE49-F238E27FC236}">
                <a16:creationId xmlns:a16="http://schemas.microsoft.com/office/drawing/2014/main" id="{43B350FE-00CB-4707-AC0A-D32634B24BBA}"/>
              </a:ext>
            </a:extLst>
          </p:cNvPr>
          <p:cNvSpPr>
            <a:spLocks noGrp="1"/>
          </p:cNvSpPr>
          <p:nvPr/>
        </p:nvSpPr>
        <p:spPr>
          <a:xfrm>
            <a:off x="914400" y="2971800"/>
            <a:ext cx="6115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qs = Task.objects.filter(</a:t>
            </a:r>
          </a:p>
        </p:txBody>
      </p:sp>
      <p:sp>
        <p:nvSpPr>
          <p:cNvPr id="8" name="code-line-1">
            <a:extLst>
              <a:ext uri="{FF2B5EF4-FFF2-40B4-BE49-F238E27FC236}">
                <a16:creationId xmlns:a16="http://schemas.microsoft.com/office/drawing/2014/main" id="{B8FF86D2-4D9F-4740-9B58-2173EF99C6D9}"/>
              </a:ext>
            </a:extLst>
          </p:cNvPr>
          <p:cNvSpPr>
            <a:spLocks noGrp="1"/>
          </p:cNvSpPr>
          <p:nvPr/>
        </p:nvSpPr>
        <p:spPr>
          <a:xfrm>
            <a:off x="914400" y="3305175"/>
            <a:ext cx="6115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owner_id=1, completed=</a:t>
            </a:r>
            <a:r>
              <a:rPr sz="1725" b="0">
                <a:solidFill>
                  <a:srgbClr val="A7C2FF"/>
                </a:solidFill>
                <a:latin typeface="Menlo"/>
                <a:ea typeface="Menlo"/>
                <a:cs typeface="Menlo"/>
              </a:rPr>
              <a:t>False</a:t>
            </a:r>
          </a:p>
        </p:txBody>
      </p:sp>
      <p:sp>
        <p:nvSpPr>
          <p:cNvPr id="9" name="code-line-2">
            <a:extLst>
              <a:ext uri="{FF2B5EF4-FFF2-40B4-BE49-F238E27FC236}">
                <a16:creationId xmlns:a16="http://schemas.microsoft.com/office/drawing/2014/main" id="{90ABC199-B439-4632-8C3A-EE3405A38314}"/>
              </a:ext>
            </a:extLst>
          </p:cNvPr>
          <p:cNvSpPr>
            <a:spLocks noGrp="1"/>
          </p:cNvSpPr>
          <p:nvPr/>
        </p:nvSpPr>
        <p:spPr>
          <a:xfrm>
            <a:off x="914400" y="3638550"/>
            <a:ext cx="6115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).values("id", "title")</a:t>
            </a:r>
          </a:p>
        </p:txBody>
      </p:sp>
      <p:sp>
        <p:nvSpPr>
          <p:cNvPr id="10" name="code-line-3">
            <a:extLst>
              <a:ext uri="{FF2B5EF4-FFF2-40B4-BE49-F238E27FC236}">
                <a16:creationId xmlns:a16="http://schemas.microsoft.com/office/drawing/2014/main" id="{94B3FA7F-8B8A-4198-891A-425A1DFE19BE}"/>
              </a:ext>
            </a:extLst>
          </p:cNvPr>
          <p:cNvSpPr>
            <a:spLocks noGrp="1"/>
          </p:cNvSpPr>
          <p:nvPr/>
        </p:nvSpPr>
        <p:spPr>
          <a:xfrm>
            <a:off x="914400" y="3971925"/>
            <a:ext cx="6115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sql, params = qs.query.sql_with_params()</a:t>
            </a:r>
          </a:p>
        </p:txBody>
      </p:sp>
      <p:sp>
        <p:nvSpPr>
          <p:cNvPr id="11" name="text-145">
            <a:extLst>
              <a:ext uri="{FF2B5EF4-FFF2-40B4-BE49-F238E27FC236}">
                <a16:creationId xmlns:a16="http://schemas.microsoft.com/office/drawing/2014/main" id="{08F32A68-CF29-4355-B5BB-3199AA4EAAB3}"/>
              </a:ext>
            </a:extLst>
          </p:cNvPr>
          <p:cNvSpPr>
            <a:spLocks noGrp="1"/>
          </p:cNvSpPr>
          <p:nvPr/>
        </p:nvSpPr>
        <p:spPr>
          <a:xfrm>
            <a:off x="7953375" y="2343150"/>
            <a:ext cx="6581775"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Representative SQLite SQL</a:t>
            </a:r>
          </a:p>
        </p:txBody>
      </p:sp>
      <p:sp>
        <p:nvSpPr>
          <p:cNvPr id="12" name="code-panel-146">
            <a:extLst>
              <a:ext uri="{FF2B5EF4-FFF2-40B4-BE49-F238E27FC236}">
                <a16:creationId xmlns:a16="http://schemas.microsoft.com/office/drawing/2014/main" id="{D56F63B3-D021-4466-A397-C4EB0A25EFFC}"/>
              </a:ext>
            </a:extLst>
          </p:cNvPr>
          <p:cNvSpPr>
            <a:spLocks noGrp="1"/>
          </p:cNvSpPr>
          <p:nvPr/>
        </p:nvSpPr>
        <p:spPr>
          <a:xfrm>
            <a:off x="7953375" y="2762250"/>
            <a:ext cx="6581775" cy="2428875"/>
          </a:xfrm>
          <a:prstGeom prst="rect">
            <a:avLst/>
          </a:prstGeom>
          <a:solidFill>
            <a:srgbClr val="242C35"/>
          </a:solidFill>
          <a:ln w="0">
            <a:noFill/>
          </a:ln>
        </p:spPr>
      </p:sp>
      <p:sp>
        <p:nvSpPr>
          <p:cNvPr id="13" name="code-line-0">
            <a:extLst>
              <a:ext uri="{FF2B5EF4-FFF2-40B4-BE49-F238E27FC236}">
                <a16:creationId xmlns:a16="http://schemas.microsoft.com/office/drawing/2014/main" id="{FBCA95D9-7EA6-4F32-8D22-C49F618FE4CE}"/>
              </a:ext>
            </a:extLst>
          </p:cNvPr>
          <p:cNvSpPr>
            <a:spLocks noGrp="1"/>
          </p:cNvSpPr>
          <p:nvPr/>
        </p:nvSpPr>
        <p:spPr>
          <a:xfrm>
            <a:off x="8181975" y="2971800"/>
            <a:ext cx="6124575"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SELECT "tasks_task"."id", "tasks_task"."title"</a:t>
            </a:r>
          </a:p>
        </p:txBody>
      </p:sp>
      <p:sp>
        <p:nvSpPr>
          <p:cNvPr id="14" name="code-line-1">
            <a:extLst>
              <a:ext uri="{FF2B5EF4-FFF2-40B4-BE49-F238E27FC236}">
                <a16:creationId xmlns:a16="http://schemas.microsoft.com/office/drawing/2014/main" id="{E0D3D165-CD7E-46B3-AF16-CCF5BD18C0B1}"/>
              </a:ext>
            </a:extLst>
          </p:cNvPr>
          <p:cNvSpPr>
            <a:spLocks noGrp="1"/>
          </p:cNvSpPr>
          <p:nvPr/>
        </p:nvSpPr>
        <p:spPr>
          <a:xfrm>
            <a:off x="8181975" y="3305175"/>
            <a:ext cx="6124575"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FROM "tasks_task"</a:t>
            </a:r>
          </a:p>
        </p:txBody>
      </p:sp>
      <p:sp>
        <p:nvSpPr>
          <p:cNvPr id="15" name="code-line-2">
            <a:extLst>
              <a:ext uri="{FF2B5EF4-FFF2-40B4-BE49-F238E27FC236}">
                <a16:creationId xmlns:a16="http://schemas.microsoft.com/office/drawing/2014/main" id="{2375A584-F204-43DC-AD79-94F13696ECEF}"/>
              </a:ext>
            </a:extLst>
          </p:cNvPr>
          <p:cNvSpPr>
            <a:spLocks noGrp="1"/>
          </p:cNvSpPr>
          <p:nvPr/>
        </p:nvSpPr>
        <p:spPr>
          <a:xfrm>
            <a:off x="8181975" y="3638550"/>
            <a:ext cx="6124575"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WHERE (NOT "tasks_task"."completed"</a:t>
            </a:r>
          </a:p>
        </p:txBody>
      </p:sp>
      <p:sp>
        <p:nvSpPr>
          <p:cNvPr id="16" name="code-line-3">
            <a:extLst>
              <a:ext uri="{FF2B5EF4-FFF2-40B4-BE49-F238E27FC236}">
                <a16:creationId xmlns:a16="http://schemas.microsoft.com/office/drawing/2014/main" id="{ED103221-6162-48F5-93DE-E379EDC287E3}"/>
              </a:ext>
            </a:extLst>
          </p:cNvPr>
          <p:cNvSpPr>
            <a:spLocks noGrp="1"/>
          </p:cNvSpPr>
          <p:nvPr/>
        </p:nvSpPr>
        <p:spPr>
          <a:xfrm>
            <a:off x="8181975" y="3971925"/>
            <a:ext cx="6124575"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AND "tasks_task"."owner_id" = %s)</a:t>
            </a:r>
          </a:p>
        </p:txBody>
      </p:sp>
      <p:sp>
        <p:nvSpPr>
          <p:cNvPr id="17" name="text-147">
            <a:extLst>
              <a:ext uri="{FF2B5EF4-FFF2-40B4-BE49-F238E27FC236}">
                <a16:creationId xmlns:a16="http://schemas.microsoft.com/office/drawing/2014/main" id="{0A55EEE2-317B-4587-B545-24D326CCAB5E}"/>
              </a:ext>
            </a:extLst>
          </p:cNvPr>
          <p:cNvSpPr>
            <a:spLocks noGrp="1"/>
          </p:cNvSpPr>
          <p:nvPr/>
        </p:nvSpPr>
        <p:spPr>
          <a:xfrm>
            <a:off x="7400925" y="3600450"/>
            <a:ext cx="476250" cy="666750"/>
          </a:xfrm>
          <a:prstGeom prst="rect">
            <a:avLst/>
          </a:prstGeom>
          <a:noFill/>
          <a:ln w="0">
            <a:noFill/>
          </a:ln>
        </p:spPr>
        <p:txBody>
          <a:bodyPr wrap="none" lIns="0" tIns="0" rIns="0" bIns="0" anchor="t">
            <a:noAutofit/>
          </a:bodyPr>
          <a:lstStyle/>
          <a:p>
            <a:pPr algn="l">
              <a:defRPr sz="3000" b="0">
                <a:solidFill>
                  <a:srgbClr val="D8663D"/>
                </a:solidFill>
                <a:latin typeface="Helvetica Neue"/>
                <a:ea typeface="Helvetica Neue"/>
                <a:cs typeface="Helvetica Neue"/>
              </a:defRPr>
            </a:pPr>
            <a:r>
              <a:rPr sz="3000" b="0">
                <a:solidFill>
                  <a:srgbClr val="D8663D"/>
                </a:solidFill>
                <a:latin typeface="Helvetica Neue"/>
                <a:ea typeface="Helvetica Neue"/>
                <a:cs typeface="Helvetica Neue"/>
              </a:rPr>
              <a:t>→</a:t>
            </a:r>
          </a:p>
        </p:txBody>
      </p:sp>
      <p:graphicFrame>
        <p:nvGraphicFramePr>
          <p:cNvPr id="38" name="Table 37"/>
          <p:cNvGraphicFramePr/>
          <p:nvPr/>
        </p:nvGraphicFramePr>
        <p:xfrm>
          <a:off x="685800" y="5943600"/>
          <a:ext cx="7048500" cy="1619250"/>
        </p:xfrm>
        <a:graphic>
          <a:graphicData uri="http://schemas.openxmlformats.org/drawingml/2006/table">
            <a:tbl>
              <a:tblPr firstRow="1"/>
              <a:tblGrid>
                <a:gridCol w="952500">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tblGrid>
              <a:tr h="809625">
                <a:tc>
                  <a:txBody>
                    <a:bodyPr/>
                    <a:lstStyle/>
                    <a:p>
                      <a:r>
                        <a:rPr sz="1800" b="1">
                          <a:solidFill>
                            <a:srgbClr val="FFFFFF"/>
                          </a:solidFill>
                          <a:latin typeface="Helvetica Neue"/>
                          <a:ea typeface="Helvetica Neue"/>
                          <a:cs typeface="Helvetica Neue"/>
                        </a:rPr>
                        <a:t>id</a:t>
                      </a:r>
                    </a:p>
                  </a:txBody>
                  <a:tcPr anchor="ctr">
                    <a:solidFill>
                      <a:srgbClr val="242C35"/>
                    </a:solidFill>
                  </a:tcPr>
                </a:tc>
                <a:tc>
                  <a:txBody>
                    <a:bodyPr/>
                    <a:lstStyle/>
                    <a:p>
                      <a:r>
                        <a:rPr sz="1800" b="1">
                          <a:solidFill>
                            <a:srgbClr val="FFFFFF"/>
                          </a:solidFill>
                          <a:latin typeface="Helvetica Neue"/>
                          <a:ea typeface="Helvetica Neue"/>
                          <a:cs typeface="Helvetica Neue"/>
                        </a:rPr>
                        <a:t>title</a:t>
                      </a:r>
                    </a:p>
                  </a:txBody>
                  <a:tcPr anchor="ctr">
                    <a:solidFill>
                      <a:srgbClr val="242C35"/>
                    </a:solidFill>
                  </a:tcPr>
                </a:tc>
                <a:extLst>
                  <a:ext uri="{0D108BD9-81ED-4DB2-BD59-A6C34878D82A}">
                    <a16:rowId xmlns:a16="http://schemas.microsoft.com/office/drawing/2014/main" val="10000"/>
                  </a:ext>
                </a:extLst>
              </a:tr>
              <a:tr h="809625">
                <a:tc>
                  <a:txBody>
                    <a:bodyPr/>
                    <a:lstStyle/>
                    <a:p>
                      <a:r>
                        <a:rPr sz="1800" b="0">
                          <a:solidFill>
                            <a:srgbClr val="242C35"/>
                          </a:solidFill>
                          <a:latin typeface="Helvetica Neue"/>
                          <a:ea typeface="Helvetica Neue"/>
                          <a:cs typeface="Helvetica Neue"/>
                        </a:rPr>
                        <a:t>1</a:t>
                      </a:r>
                    </a:p>
                  </a:txBody>
                  <a:tcPr anchor="ctr">
                    <a:solidFill>
                      <a:srgbClr val="FFFFFF"/>
                    </a:solidFill>
                  </a:tcPr>
                </a:tc>
                <a:tc>
                  <a:txBody>
                    <a:bodyPr/>
                    <a:lstStyle/>
                    <a:p>
                      <a:r>
                        <a:rPr sz="1800" b="0">
                          <a:solidFill>
                            <a:srgbClr val="242C35"/>
                          </a:solidFill>
                          <a:latin typeface="Helvetica Neue"/>
                          <a:ea typeface="Helvetica Neue"/>
                          <a:cs typeface="Helvetica Neue"/>
                        </a:rPr>
                        <a:t>Prepare Django demo</a:t>
                      </a:r>
                    </a:p>
                  </a:txBody>
                  <a:tcPr anchor="ctr">
                    <a:solidFill>
                      <a:srgbClr val="FFFFFF"/>
                    </a:solidFill>
                  </a:tcPr>
                </a:tc>
                <a:extLst>
                  <a:ext uri="{0D108BD9-81ED-4DB2-BD59-A6C34878D82A}">
                    <a16:rowId xmlns:a16="http://schemas.microsoft.com/office/drawing/2014/main" val="10001"/>
                  </a:ext>
                </a:extLst>
              </a:tr>
            </a:tbl>
          </a:graphicData>
        </a:graphic>
      </p:graphicFrame>
      <p:sp>
        <p:nvSpPr>
          <p:cNvPr id="19" name="text-148">
            <a:extLst>
              <a:ext uri="{FF2B5EF4-FFF2-40B4-BE49-F238E27FC236}">
                <a16:creationId xmlns:a16="http://schemas.microsoft.com/office/drawing/2014/main" id="{BB9FE961-5A24-4284-8262-3CFE28E109BD}"/>
              </a:ext>
            </a:extLst>
          </p:cNvPr>
          <p:cNvSpPr>
            <a:spLocks noGrp="1"/>
          </p:cNvSpPr>
          <p:nvPr/>
        </p:nvSpPr>
        <p:spPr>
          <a:xfrm>
            <a:off x="8334375" y="5676900"/>
            <a:ext cx="6191250" cy="1047750"/>
          </a:xfrm>
          <a:prstGeom prst="rect">
            <a:avLst/>
          </a:prstGeom>
          <a:noFill/>
          <a:ln w="0">
            <a:noFill/>
          </a:ln>
        </p:spPr>
        <p:txBody>
          <a:bodyPr wrap="none" lIns="0" tIns="0" rIns="0" bIns="0" anchor="t">
            <a:noAutofit/>
          </a:bodyPr>
          <a:lstStyle/>
          <a:p>
            <a:pPr algn="l">
              <a:defRPr sz="2475" b="0">
                <a:solidFill>
                  <a:srgbClr val="315BCD"/>
                </a:solidFill>
                <a:latin typeface="Georgia"/>
                <a:ea typeface="Georgia"/>
                <a:cs typeface="Georgia"/>
              </a:defRPr>
            </a:pPr>
            <a:r>
              <a:rPr sz="2475" b="0">
                <a:solidFill>
                  <a:srgbClr val="315BCD"/>
                </a:solidFill>
                <a:latin typeface="Georgia"/>
                <a:ea typeface="Georgia"/>
                <a:cs typeface="Georgia"/>
              </a:rPr>
              <a:t>QuerySets are lazy.</a:t>
            </a:r>
          </a:p>
          <a:p>
            <a:pPr algn="l">
              <a:defRPr sz="2475" b="0">
                <a:solidFill>
                  <a:srgbClr val="315BCD"/>
                </a:solidFill>
                <a:latin typeface="Georgia"/>
                <a:ea typeface="Georgia"/>
                <a:cs typeface="Georgia"/>
              </a:defRPr>
            </a:pPr>
            <a:r>
              <a:rPr sz="2475" b="0">
                <a:solidFill>
                  <a:srgbClr val="315BCD"/>
                </a:solidFill>
                <a:latin typeface="Georgia"/>
                <a:ea typeface="Georgia"/>
                <a:cs typeface="Georgia"/>
              </a:rPr>
              <a:t>Evaluation runs the SQL.</a:t>
            </a:r>
          </a:p>
        </p:txBody>
      </p:sp>
      <p:sp>
        <p:nvSpPr>
          <p:cNvPr id="20" name="text-149">
            <a:extLst>
              <a:ext uri="{FF2B5EF4-FFF2-40B4-BE49-F238E27FC236}">
                <a16:creationId xmlns:a16="http://schemas.microsoft.com/office/drawing/2014/main" id="{48F1F735-06F3-4087-B2D6-FE6208E3FDAF}"/>
              </a:ext>
            </a:extLst>
          </p:cNvPr>
          <p:cNvSpPr>
            <a:spLocks noGrp="1"/>
          </p:cNvSpPr>
          <p:nvPr/>
        </p:nvSpPr>
        <p:spPr>
          <a:xfrm>
            <a:off x="8334375" y="7058025"/>
            <a:ext cx="6191250" cy="771525"/>
          </a:xfrm>
          <a:prstGeom prst="rect">
            <a:avLst/>
          </a:prstGeom>
          <a:noFill/>
          <a:ln w="0">
            <a:noFill/>
          </a:ln>
        </p:spPr>
        <p:txBody>
          <a:bodyPr wrap="none" lIns="0" tIns="0" rIns="0" bIns="0" anchor="t">
            <a:noAutofit/>
          </a:bodyPr>
          <a:lstStyle/>
          <a:p>
            <a:pPr algn="l">
              <a:defRPr sz="1800" b="0">
                <a:solidFill>
                  <a:srgbClr val="65717A"/>
                </a:solidFill>
                <a:latin typeface="Helvetica Neue"/>
                <a:ea typeface="Helvetica Neue"/>
                <a:cs typeface="Helvetica Neue"/>
              </a:defRPr>
            </a:pPr>
            <a:r>
              <a:rPr sz="1800" b="0">
                <a:solidFill>
                  <a:srgbClr val="65717A"/>
                </a:solidFill>
                <a:latin typeface="Helvetica Neue"/>
                <a:ea typeface="Helvetica Neue"/>
                <a:cs typeface="Helvetica Neue"/>
              </a:rPr>
              <a:t>Bound parameters: (1,)</a:t>
            </a:r>
          </a:p>
          <a:p>
            <a:pPr algn="l">
              <a:defRPr sz="1800" b="0">
                <a:solidFill>
                  <a:srgbClr val="65717A"/>
                </a:solidFill>
                <a:latin typeface="Helvetica Neue"/>
                <a:ea typeface="Helvetica Neue"/>
                <a:cs typeface="Helvetica Neue"/>
              </a:defRPr>
            </a:pPr>
            <a:r>
              <a:rPr sz="1800" b="0">
                <a:solidFill>
                  <a:srgbClr val="65717A"/>
                </a:solidFill>
                <a:latin typeface="Helvetica Neue"/>
                <a:ea typeface="Helvetica Neue"/>
                <a:cs typeface="Helvetica Neue"/>
              </a:rPr>
              <a:t>Values are passed separately from SQL.</a:t>
            </a:r>
          </a:p>
        </p:txBody>
      </p:sp>
    </p:spTree>
    <p:extLst>
      <p:ext uri="{BB962C8B-B14F-4D97-AF65-F5344CB8AC3E}">
        <p14:creationId xmlns:p14="http://schemas.microsoft.com/office/powerpoint/2010/main" val="34927914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8" name="text-150">
            <a:extLst>
              <a:ext uri="{FF2B5EF4-FFF2-40B4-BE49-F238E27FC236}">
                <a16:creationId xmlns:a16="http://schemas.microsoft.com/office/drawing/2014/main" id="{30B9CE26-62CD-4AD2-9DC5-6A87DF2B8E01}"/>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02 / Django and data</a:t>
            </a:r>
          </a:p>
        </p:txBody>
      </p:sp>
      <p:sp>
        <p:nvSpPr>
          <p:cNvPr id="2" name="text-151">
            <a:extLst>
              <a:ext uri="{FF2B5EF4-FFF2-40B4-BE49-F238E27FC236}">
                <a16:creationId xmlns:a16="http://schemas.microsoft.com/office/drawing/2014/main" id="{8DA8D36B-1CC6-4F55-836F-BA9DE1AD442A}"/>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Django admin</a:t>
            </a:r>
          </a:p>
        </p:txBody>
      </p:sp>
      <p:sp>
        <p:nvSpPr>
          <p:cNvPr id="3" name="text-152">
            <a:extLst>
              <a:ext uri="{FF2B5EF4-FFF2-40B4-BE49-F238E27FC236}">
                <a16:creationId xmlns:a16="http://schemas.microsoft.com/office/drawing/2014/main" id="{5AA6C469-7D00-456E-9CA4-FC7A26293C73}"/>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153">
            <a:extLst>
              <a:ext uri="{FF2B5EF4-FFF2-40B4-BE49-F238E27FC236}">
                <a16:creationId xmlns:a16="http://schemas.microsoft.com/office/drawing/2014/main" id="{BE8193CE-C685-4318-B7F7-103817D4D60B}"/>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20</a:t>
            </a:r>
          </a:p>
        </p:txBody>
      </p:sp>
      <p:sp>
        <p:nvSpPr>
          <p:cNvPr id="5" name="text-154">
            <a:extLst>
              <a:ext uri="{FF2B5EF4-FFF2-40B4-BE49-F238E27FC236}">
                <a16:creationId xmlns:a16="http://schemas.microsoft.com/office/drawing/2014/main" id="{90AEEAF4-F5B1-4822-8017-3EB787B498AB}"/>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tasks/admin.py</a:t>
            </a:r>
          </a:p>
        </p:txBody>
      </p:sp>
      <p:sp>
        <p:nvSpPr>
          <p:cNvPr id="6" name="code-panel-155">
            <a:extLst>
              <a:ext uri="{FF2B5EF4-FFF2-40B4-BE49-F238E27FC236}">
                <a16:creationId xmlns:a16="http://schemas.microsoft.com/office/drawing/2014/main" id="{3C7FA139-1859-40DF-9D19-3A4F3B29CD09}"/>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A5F025C0-A52C-41A1-964B-65377827A518}"/>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from</a:t>
            </a:r>
            <a:r>
              <a:rPr sz="1725" b="0">
                <a:solidFill>
                  <a:srgbClr val="FFFFFF"/>
                </a:solidFill>
                <a:latin typeface="Menlo"/>
                <a:ea typeface="Menlo"/>
                <a:cs typeface="Menlo"/>
              </a:rPr>
              <a:t> django.contrib </a:t>
            </a:r>
            <a:r>
              <a:rPr sz="1725" b="0">
                <a:solidFill>
                  <a:srgbClr val="A7C2FF"/>
                </a:solidFill>
                <a:latin typeface="Menlo"/>
                <a:ea typeface="Menlo"/>
                <a:cs typeface="Menlo"/>
              </a:rPr>
              <a:t>import</a:t>
            </a:r>
            <a:r>
              <a:rPr sz="1725" b="0">
                <a:solidFill>
                  <a:srgbClr val="FFFFFF"/>
                </a:solidFill>
                <a:latin typeface="Menlo"/>
                <a:ea typeface="Menlo"/>
                <a:cs typeface="Menlo"/>
              </a:rPr>
              <a:t> admin</a:t>
            </a:r>
          </a:p>
        </p:txBody>
      </p:sp>
      <p:sp>
        <p:nvSpPr>
          <p:cNvPr id="8" name="code-line-1">
            <a:extLst>
              <a:ext uri="{FF2B5EF4-FFF2-40B4-BE49-F238E27FC236}">
                <a16:creationId xmlns:a16="http://schemas.microsoft.com/office/drawing/2014/main" id="{117C5EFB-A72E-438B-AFF5-5BEF3F23E0D6}"/>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from</a:t>
            </a:r>
            <a:r>
              <a:rPr sz="1725" b="0">
                <a:solidFill>
                  <a:srgbClr val="FFFFFF"/>
                </a:solidFill>
                <a:latin typeface="Menlo"/>
                <a:ea typeface="Menlo"/>
                <a:cs typeface="Menlo"/>
              </a:rPr>
              <a:t> .models </a:t>
            </a:r>
            <a:r>
              <a:rPr sz="1725" b="0">
                <a:solidFill>
                  <a:srgbClr val="A7C2FF"/>
                </a:solidFill>
                <a:latin typeface="Menlo"/>
                <a:ea typeface="Menlo"/>
                <a:cs typeface="Menlo"/>
              </a:rPr>
              <a:t>import</a:t>
            </a:r>
            <a:r>
              <a:rPr sz="1725" b="0">
                <a:solidFill>
                  <a:srgbClr val="FFFFFF"/>
                </a:solidFill>
                <a:latin typeface="Menlo"/>
                <a:ea typeface="Menlo"/>
                <a:cs typeface="Menlo"/>
              </a:rPr>
              <a:t> Task</a:t>
            </a:r>
          </a:p>
        </p:txBody>
      </p:sp>
      <p:sp>
        <p:nvSpPr>
          <p:cNvPr id="9" name="code-line-2">
            <a:extLst>
              <a:ext uri="{FF2B5EF4-FFF2-40B4-BE49-F238E27FC236}">
                <a16:creationId xmlns:a16="http://schemas.microsoft.com/office/drawing/2014/main" id="{F997A12A-493F-48C6-A4A2-780A0C67214F}"/>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endParaRPr/>
          </a:p>
        </p:txBody>
      </p:sp>
      <p:sp>
        <p:nvSpPr>
          <p:cNvPr id="10" name="code-line-3">
            <a:extLst>
              <a:ext uri="{FF2B5EF4-FFF2-40B4-BE49-F238E27FC236}">
                <a16:creationId xmlns:a16="http://schemas.microsoft.com/office/drawing/2014/main" id="{0FA24711-513B-4C95-B2B3-D8F5C320963C}"/>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@admin.register(Task)</a:t>
            </a:r>
          </a:p>
        </p:txBody>
      </p:sp>
      <p:sp>
        <p:nvSpPr>
          <p:cNvPr id="11" name="code-line-4">
            <a:extLst>
              <a:ext uri="{FF2B5EF4-FFF2-40B4-BE49-F238E27FC236}">
                <a16:creationId xmlns:a16="http://schemas.microsoft.com/office/drawing/2014/main" id="{0AA3E1D6-41FC-4A5B-9610-3CAACED270D0}"/>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class</a:t>
            </a:r>
            <a:r>
              <a:rPr sz="1725" b="0">
                <a:solidFill>
                  <a:srgbClr val="FFFFFF"/>
                </a:solidFill>
                <a:latin typeface="Menlo"/>
                <a:ea typeface="Menlo"/>
                <a:cs typeface="Menlo"/>
              </a:rPr>
              <a:t> TaskAdmin(admin.ModelAdmin):</a:t>
            </a:r>
          </a:p>
        </p:txBody>
      </p:sp>
      <p:sp>
        <p:nvSpPr>
          <p:cNvPr id="12" name="code-line-5">
            <a:extLst>
              <a:ext uri="{FF2B5EF4-FFF2-40B4-BE49-F238E27FC236}">
                <a16:creationId xmlns:a16="http://schemas.microsoft.com/office/drawing/2014/main" id="{0625F25A-E49F-4EBF-9B79-64B20DC2DE2B}"/>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list_display = ("title", "completed", "owner")</a:t>
            </a:r>
          </a:p>
        </p:txBody>
      </p:sp>
      <p:sp>
        <p:nvSpPr>
          <p:cNvPr id="13" name="code-line-6">
            <a:extLst>
              <a:ext uri="{FF2B5EF4-FFF2-40B4-BE49-F238E27FC236}">
                <a16:creationId xmlns:a16="http://schemas.microsoft.com/office/drawing/2014/main" id="{7796B832-E3E4-41F4-A1C0-9B8717EDADD1}"/>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search_fields = ("title",)</a:t>
            </a:r>
          </a:p>
        </p:txBody>
      </p:sp>
      <p:sp>
        <p:nvSpPr>
          <p:cNvPr id="14" name="code-line-7">
            <a:extLst>
              <a:ext uri="{FF2B5EF4-FFF2-40B4-BE49-F238E27FC236}">
                <a16:creationId xmlns:a16="http://schemas.microsoft.com/office/drawing/2014/main" id="{72A71F63-6F41-4961-9340-93888307E5FD}"/>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list_filter = ("completed",)</a:t>
            </a:r>
          </a:p>
        </p:txBody>
      </p:sp>
      <p:sp>
        <p:nvSpPr>
          <p:cNvPr id="15" name="reveal-1-output-1">
            <a:extLst>
              <a:ext uri="{FF2B5EF4-FFF2-40B4-BE49-F238E27FC236}">
                <a16:creationId xmlns:a16="http://schemas.microsoft.com/office/drawing/2014/main" id="{E865C7E9-1B68-4769-9D6D-9A59BC8204ED}"/>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Admin: three task records</a:t>
            </a:r>
          </a:p>
        </p:txBody>
      </p:sp>
      <p:graphicFrame>
        <p:nvGraphicFramePr>
          <p:cNvPr id="33" name="reveal-1-output-2"/>
          <p:cNvGraphicFramePr/>
          <p:nvPr/>
        </p:nvGraphicFramePr>
        <p:xfrm>
          <a:off x="9239250" y="2952750"/>
          <a:ext cx="5295900" cy="3714750"/>
        </p:xfrm>
        <a:graphic>
          <a:graphicData uri="http://schemas.openxmlformats.org/drawingml/2006/table">
            <a:tbl>
              <a:tblPr firstRow="1"/>
              <a:tblGrid>
                <a:gridCol w="314325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tblGrid>
              <a:tr h="928688">
                <a:tc>
                  <a:txBody>
                    <a:bodyPr/>
                    <a:lstStyle/>
                    <a:p>
                      <a:r>
                        <a:rPr sz="1425" b="1">
                          <a:solidFill>
                            <a:srgbClr val="FFFFFF"/>
                          </a:solidFill>
                          <a:latin typeface="Helvetica Neue"/>
                          <a:ea typeface="Helvetica Neue"/>
                          <a:cs typeface="Helvetica Neue"/>
                        </a:rPr>
                        <a:t>Task</a:t>
                      </a:r>
                    </a:p>
                  </a:txBody>
                  <a:tcPr anchor="ctr">
                    <a:solidFill>
                      <a:srgbClr val="242C35"/>
                    </a:solidFill>
                  </a:tcPr>
                </a:tc>
                <a:tc>
                  <a:txBody>
                    <a:bodyPr/>
                    <a:lstStyle/>
                    <a:p>
                      <a:r>
                        <a:rPr sz="1425" b="1">
                          <a:solidFill>
                            <a:srgbClr val="FFFFFF"/>
                          </a:solidFill>
                          <a:latin typeface="Helvetica Neue"/>
                          <a:ea typeface="Helvetica Neue"/>
                          <a:cs typeface="Helvetica Neue"/>
                        </a:rPr>
                        <a:t>Done</a:t>
                      </a:r>
                    </a:p>
                  </a:txBody>
                  <a:tcPr anchor="ctr">
                    <a:solidFill>
                      <a:srgbClr val="242C35"/>
                    </a:solidFill>
                  </a:tcPr>
                </a:tc>
                <a:tc>
                  <a:txBody>
                    <a:bodyPr/>
                    <a:lstStyle/>
                    <a:p>
                      <a:r>
                        <a:rPr sz="1425" b="1">
                          <a:solidFill>
                            <a:srgbClr val="FFFFFF"/>
                          </a:solidFill>
                          <a:latin typeface="Helvetica Neue"/>
                          <a:ea typeface="Helvetica Neue"/>
                          <a:cs typeface="Helvetica Neue"/>
                        </a:rPr>
                        <a:t>Owner</a:t>
                      </a:r>
                    </a:p>
                  </a:txBody>
                  <a:tcPr anchor="ctr">
                    <a:solidFill>
                      <a:srgbClr val="242C35"/>
                    </a:solidFill>
                  </a:tcPr>
                </a:tc>
                <a:extLst>
                  <a:ext uri="{0D108BD9-81ED-4DB2-BD59-A6C34878D82A}">
                    <a16:rowId xmlns:a16="http://schemas.microsoft.com/office/drawing/2014/main" val="10000"/>
                  </a:ext>
                </a:extLst>
              </a:tr>
              <a:tr h="928688">
                <a:tc>
                  <a:txBody>
                    <a:bodyPr/>
                    <a:lstStyle/>
                    <a:p>
                      <a:r>
                        <a:rPr sz="1425" b="0">
                          <a:solidFill>
                            <a:srgbClr val="242C35"/>
                          </a:solidFill>
                          <a:latin typeface="Helvetica Neue"/>
                          <a:ea typeface="Helvetica Neue"/>
                          <a:cs typeface="Helvetica Neue"/>
                        </a:rPr>
                        <a:t>Prepare Django demo</a:t>
                      </a:r>
                    </a:p>
                  </a:txBody>
                  <a:tcPr anchor="ctr">
                    <a:solidFill>
                      <a:srgbClr val="FFFFFF"/>
                    </a:solidFill>
                  </a:tcPr>
                </a:tc>
                <a:tc>
                  <a:txBody>
                    <a:bodyPr/>
                    <a:lstStyle/>
                    <a:p>
                      <a:r>
                        <a:rPr sz="1425" b="0">
                          <a:solidFill>
                            <a:srgbClr val="242C35"/>
                          </a:solidFill>
                          <a:latin typeface="Helvetica Neue"/>
                          <a:ea typeface="Helvetica Neue"/>
                          <a:cs typeface="Helvetica Neue"/>
                        </a:rPr>
                        <a:t>False</a:t>
                      </a:r>
                    </a:p>
                  </a:txBody>
                  <a:tcPr anchor="ctr">
                    <a:solidFill>
                      <a:srgbClr val="FFFFFF"/>
                    </a:solidFill>
                  </a:tcPr>
                </a:tc>
                <a:tc>
                  <a:txBody>
                    <a:bodyPr/>
                    <a:lstStyle/>
                    <a:p>
                      <a:r>
                        <a:rPr sz="1425" b="0">
                          <a:solidFill>
                            <a:srgbClr val="242C35"/>
                          </a:solidFill>
                          <a:latin typeface="Helvetica Neue"/>
                          <a:ea typeface="Helvetica Neue"/>
                          <a:cs typeface="Helvetica Neue"/>
                        </a:rPr>
                        <a:t>asha</a:t>
                      </a:r>
                    </a:p>
                  </a:txBody>
                  <a:tcPr anchor="ctr">
                    <a:solidFill>
                      <a:srgbClr val="FFFFFF"/>
                    </a:solidFill>
                  </a:tcPr>
                </a:tc>
                <a:extLst>
                  <a:ext uri="{0D108BD9-81ED-4DB2-BD59-A6C34878D82A}">
                    <a16:rowId xmlns:a16="http://schemas.microsoft.com/office/drawing/2014/main" val="10001"/>
                  </a:ext>
                </a:extLst>
              </a:tr>
              <a:tr h="928688">
                <a:tc>
                  <a:txBody>
                    <a:bodyPr/>
                    <a:lstStyle/>
                    <a:p>
                      <a:r>
                        <a:rPr sz="1425" b="0">
                          <a:solidFill>
                            <a:srgbClr val="242C35"/>
                          </a:solidFill>
                          <a:latin typeface="Helvetica Neue"/>
                          <a:ea typeface="Helvetica Neue"/>
                          <a:cs typeface="Helvetica Neue"/>
                        </a:rPr>
                        <a:t>Submit workshop exercise</a:t>
                      </a:r>
                    </a:p>
                  </a:txBody>
                  <a:tcPr anchor="ctr">
                    <a:solidFill>
                      <a:srgbClr val="F8F5EF"/>
                    </a:solidFill>
                  </a:tcPr>
                </a:tc>
                <a:tc>
                  <a:txBody>
                    <a:bodyPr/>
                    <a:lstStyle/>
                    <a:p>
                      <a:r>
                        <a:rPr sz="1425" b="0">
                          <a:solidFill>
                            <a:srgbClr val="242C35"/>
                          </a:solidFill>
                          <a:latin typeface="Helvetica Neue"/>
                          <a:ea typeface="Helvetica Neue"/>
                          <a:cs typeface="Helvetica Neue"/>
                        </a:rPr>
                        <a:t>False</a:t>
                      </a:r>
                    </a:p>
                  </a:txBody>
                  <a:tcPr anchor="ctr">
                    <a:solidFill>
                      <a:srgbClr val="F8F5EF"/>
                    </a:solidFill>
                  </a:tcPr>
                </a:tc>
                <a:tc>
                  <a:txBody>
                    <a:bodyPr/>
                    <a:lstStyle/>
                    <a:p>
                      <a:r>
                        <a:rPr sz="1425" b="0">
                          <a:solidFill>
                            <a:srgbClr val="242C35"/>
                          </a:solidFill>
                          <a:latin typeface="Helvetica Neue"/>
                          <a:ea typeface="Helvetica Neue"/>
                          <a:cs typeface="Helvetica Neue"/>
                        </a:rPr>
                        <a:t>asha</a:t>
                      </a:r>
                    </a:p>
                  </a:txBody>
                  <a:tcPr anchor="ctr">
                    <a:solidFill>
                      <a:srgbClr val="F8F5EF"/>
                    </a:solidFill>
                  </a:tcPr>
                </a:tc>
                <a:extLst>
                  <a:ext uri="{0D108BD9-81ED-4DB2-BD59-A6C34878D82A}">
                    <a16:rowId xmlns:a16="http://schemas.microsoft.com/office/drawing/2014/main" val="10002"/>
                  </a:ext>
                </a:extLst>
              </a:tr>
              <a:tr h="928688">
                <a:tc>
                  <a:txBody>
                    <a:bodyPr/>
                    <a:lstStyle/>
                    <a:p>
                      <a:r>
                        <a:rPr sz="1425" b="0">
                          <a:solidFill>
                            <a:srgbClr val="242C35"/>
                          </a:solidFill>
                          <a:latin typeface="Helvetica Neue"/>
                          <a:ea typeface="Helvetica Neue"/>
                          <a:cs typeface="Helvetica Neue"/>
                        </a:rPr>
                        <a:t>Read ORM notes</a:t>
                      </a:r>
                    </a:p>
                  </a:txBody>
                  <a:tcPr anchor="ctr">
                    <a:solidFill>
                      <a:srgbClr val="FFFFFF"/>
                    </a:solidFill>
                  </a:tcPr>
                </a:tc>
                <a:tc>
                  <a:txBody>
                    <a:bodyPr/>
                    <a:lstStyle/>
                    <a:p>
                      <a:r>
                        <a:rPr sz="1425" b="0">
                          <a:solidFill>
                            <a:srgbClr val="242C35"/>
                          </a:solidFill>
                          <a:latin typeface="Helvetica Neue"/>
                          <a:ea typeface="Helvetica Neue"/>
                          <a:cs typeface="Helvetica Neue"/>
                        </a:rPr>
                        <a:t>True</a:t>
                      </a:r>
                    </a:p>
                  </a:txBody>
                  <a:tcPr anchor="ctr">
                    <a:solidFill>
                      <a:srgbClr val="FFFFFF"/>
                    </a:solidFill>
                  </a:tcPr>
                </a:tc>
                <a:tc>
                  <a:txBody>
                    <a:bodyPr/>
                    <a:lstStyle/>
                    <a:p>
                      <a:r>
                        <a:rPr sz="1425" b="0">
                          <a:solidFill>
                            <a:srgbClr val="242C35"/>
                          </a:solidFill>
                          <a:latin typeface="Helvetica Neue"/>
                          <a:ea typeface="Helvetica Neue"/>
                          <a:cs typeface="Helvetica Neue"/>
                        </a:rPr>
                        <a:t>asha</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7" name="fade-1-takeaway">
            <a:extLst>
              <a:ext uri="{FF2B5EF4-FFF2-40B4-BE49-F238E27FC236}">
                <a16:creationId xmlns:a16="http://schemas.microsoft.com/office/drawing/2014/main" id="{507C0587-1F3C-4B9A-99AA-775AE4D8BB7E}"/>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Create three tasks owned by asha for the next page.</a:t>
            </a:r>
          </a:p>
        </p:txBody>
      </p:sp>
    </p:spTree>
    <p:extLst>
      <p:ext uri="{BB962C8B-B14F-4D97-AF65-F5344CB8AC3E}">
        <p14:creationId xmlns:p14="http://schemas.microsoft.com/office/powerpoint/2010/main" val="20039635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0"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350" fill="hold">
                                          <p:stCondLst>
                                            <p:cond delay="0"/>
                                          </p:stCondLst>
                                        </p:cTn>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2" name="text-157">
            <a:extLst>
              <a:ext uri="{FF2B5EF4-FFF2-40B4-BE49-F238E27FC236}">
                <a16:creationId xmlns:a16="http://schemas.microsoft.com/office/drawing/2014/main" id="{57EFC100-352A-4EF8-9854-0561A0CC2081}"/>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02 / Django and data</a:t>
            </a:r>
          </a:p>
        </p:txBody>
      </p:sp>
      <p:sp>
        <p:nvSpPr>
          <p:cNvPr id="2" name="text-158">
            <a:extLst>
              <a:ext uri="{FF2B5EF4-FFF2-40B4-BE49-F238E27FC236}">
                <a16:creationId xmlns:a16="http://schemas.microsoft.com/office/drawing/2014/main" id="{C3FEB218-523C-464F-84C0-394DCD286812}"/>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A view retrieves My Tasks</a:t>
            </a:r>
          </a:p>
        </p:txBody>
      </p:sp>
      <p:sp>
        <p:nvSpPr>
          <p:cNvPr id="3" name="text-159">
            <a:extLst>
              <a:ext uri="{FF2B5EF4-FFF2-40B4-BE49-F238E27FC236}">
                <a16:creationId xmlns:a16="http://schemas.microsoft.com/office/drawing/2014/main" id="{F9349053-94C4-475E-86D4-2DBC8151963F}"/>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160">
            <a:extLst>
              <a:ext uri="{FF2B5EF4-FFF2-40B4-BE49-F238E27FC236}">
                <a16:creationId xmlns:a16="http://schemas.microsoft.com/office/drawing/2014/main" id="{5210C226-8D25-4888-B7FC-092012A63DD5}"/>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21</a:t>
            </a:r>
          </a:p>
        </p:txBody>
      </p:sp>
      <p:sp>
        <p:nvSpPr>
          <p:cNvPr id="5" name="text-161">
            <a:extLst>
              <a:ext uri="{FF2B5EF4-FFF2-40B4-BE49-F238E27FC236}">
                <a16:creationId xmlns:a16="http://schemas.microsoft.com/office/drawing/2014/main" id="{E37C1ED5-FD8C-4F0F-ACF0-98BBA208C9C0}"/>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tasks/views.py</a:t>
            </a:r>
          </a:p>
        </p:txBody>
      </p:sp>
      <p:sp>
        <p:nvSpPr>
          <p:cNvPr id="6" name="code-panel-162">
            <a:extLst>
              <a:ext uri="{FF2B5EF4-FFF2-40B4-BE49-F238E27FC236}">
                <a16:creationId xmlns:a16="http://schemas.microsoft.com/office/drawing/2014/main" id="{AECC2715-5014-42C2-938D-B470F12C42AA}"/>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E7A13A5C-9673-4C3F-BB3C-1568AE14B084}"/>
              </a:ext>
            </a:extLst>
          </p:cNvPr>
          <p:cNvSpPr>
            <a:spLocks noGrp="1"/>
          </p:cNvSpPr>
          <p:nvPr/>
        </p:nvSpPr>
        <p:spPr>
          <a:xfrm>
            <a:off x="914400" y="2924175"/>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from</a:t>
            </a:r>
            <a:r>
              <a:rPr sz="1725" b="0">
                <a:solidFill>
                  <a:srgbClr val="FFFFFF"/>
                </a:solidFill>
                <a:latin typeface="Menlo"/>
                <a:ea typeface="Menlo"/>
                <a:cs typeface="Menlo"/>
              </a:rPr>
              <a:t> django.contrib.auth.decorators </a:t>
            </a:r>
            <a:r>
              <a:rPr sz="1725" b="0">
                <a:solidFill>
                  <a:srgbClr val="A7C2FF"/>
                </a:solidFill>
                <a:latin typeface="Menlo"/>
                <a:ea typeface="Menlo"/>
                <a:cs typeface="Menlo"/>
              </a:rPr>
              <a:t>import</a:t>
            </a:r>
            <a:r>
              <a:rPr sz="1725" b="0">
                <a:solidFill>
                  <a:srgbClr val="FFFFFF"/>
                </a:solidFill>
                <a:latin typeface="Menlo"/>
                <a:ea typeface="Menlo"/>
                <a:cs typeface="Menlo"/>
              </a:rPr>
              <a:t> login_required</a:t>
            </a:r>
          </a:p>
        </p:txBody>
      </p:sp>
      <p:sp>
        <p:nvSpPr>
          <p:cNvPr id="8" name="code-line-1">
            <a:extLst>
              <a:ext uri="{FF2B5EF4-FFF2-40B4-BE49-F238E27FC236}">
                <a16:creationId xmlns:a16="http://schemas.microsoft.com/office/drawing/2014/main" id="{2FFA5A7C-D215-41E4-9917-4AF2C21A514D}"/>
              </a:ext>
            </a:extLst>
          </p:cNvPr>
          <p:cNvSpPr>
            <a:spLocks noGrp="1"/>
          </p:cNvSpPr>
          <p:nvPr/>
        </p:nvSpPr>
        <p:spPr>
          <a:xfrm>
            <a:off x="914400" y="3247231"/>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from</a:t>
            </a:r>
            <a:r>
              <a:rPr sz="1725" b="0">
                <a:solidFill>
                  <a:srgbClr val="FFFFFF"/>
                </a:solidFill>
                <a:latin typeface="Menlo"/>
                <a:ea typeface="Menlo"/>
                <a:cs typeface="Menlo"/>
              </a:rPr>
              <a:t> django.shortcuts </a:t>
            </a:r>
            <a:r>
              <a:rPr sz="1725" b="0">
                <a:solidFill>
                  <a:srgbClr val="A7C2FF"/>
                </a:solidFill>
                <a:latin typeface="Menlo"/>
                <a:ea typeface="Menlo"/>
                <a:cs typeface="Menlo"/>
              </a:rPr>
              <a:t>import</a:t>
            </a:r>
            <a:r>
              <a:rPr sz="1725" b="0">
                <a:solidFill>
                  <a:srgbClr val="FFFFFF"/>
                </a:solidFill>
                <a:latin typeface="Menlo"/>
                <a:ea typeface="Menlo"/>
                <a:cs typeface="Menlo"/>
              </a:rPr>
              <a:t> render</a:t>
            </a:r>
          </a:p>
        </p:txBody>
      </p:sp>
      <p:sp>
        <p:nvSpPr>
          <p:cNvPr id="9" name="code-line-2">
            <a:extLst>
              <a:ext uri="{FF2B5EF4-FFF2-40B4-BE49-F238E27FC236}">
                <a16:creationId xmlns:a16="http://schemas.microsoft.com/office/drawing/2014/main" id="{431D0E31-58EE-48F1-A6AC-8EDFDADF547B}"/>
              </a:ext>
            </a:extLst>
          </p:cNvPr>
          <p:cNvSpPr>
            <a:spLocks noGrp="1"/>
          </p:cNvSpPr>
          <p:nvPr/>
        </p:nvSpPr>
        <p:spPr>
          <a:xfrm>
            <a:off x="914400" y="3570288"/>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from</a:t>
            </a:r>
            <a:r>
              <a:rPr sz="1725" b="0">
                <a:solidFill>
                  <a:srgbClr val="FFFFFF"/>
                </a:solidFill>
                <a:latin typeface="Menlo"/>
                <a:ea typeface="Menlo"/>
                <a:cs typeface="Menlo"/>
              </a:rPr>
              <a:t> .models </a:t>
            </a:r>
            <a:r>
              <a:rPr sz="1725" b="0">
                <a:solidFill>
                  <a:srgbClr val="A7C2FF"/>
                </a:solidFill>
                <a:latin typeface="Menlo"/>
                <a:ea typeface="Menlo"/>
                <a:cs typeface="Menlo"/>
              </a:rPr>
              <a:t>import</a:t>
            </a:r>
            <a:r>
              <a:rPr sz="1725" b="0">
                <a:solidFill>
                  <a:srgbClr val="FFFFFF"/>
                </a:solidFill>
                <a:latin typeface="Menlo"/>
                <a:ea typeface="Menlo"/>
                <a:cs typeface="Menlo"/>
              </a:rPr>
              <a:t> Task</a:t>
            </a:r>
          </a:p>
        </p:txBody>
      </p:sp>
      <p:sp>
        <p:nvSpPr>
          <p:cNvPr id="10" name="code-line-3">
            <a:extLst>
              <a:ext uri="{FF2B5EF4-FFF2-40B4-BE49-F238E27FC236}">
                <a16:creationId xmlns:a16="http://schemas.microsoft.com/office/drawing/2014/main" id="{C63715D8-50E1-40C8-AF23-2C8A173D4DE1}"/>
              </a:ext>
            </a:extLst>
          </p:cNvPr>
          <p:cNvSpPr>
            <a:spLocks noGrp="1"/>
          </p:cNvSpPr>
          <p:nvPr/>
        </p:nvSpPr>
        <p:spPr>
          <a:xfrm>
            <a:off x="914400" y="3893344"/>
            <a:ext cx="7639050" cy="351631"/>
          </a:xfrm>
          <a:prstGeom prst="rect">
            <a:avLst/>
          </a:prstGeom>
          <a:noFill/>
          <a:ln w="0">
            <a:noFill/>
          </a:ln>
        </p:spPr>
        <p:txBody>
          <a:bodyPr wrap="none" lIns="0" tIns="0" rIns="0" bIns="0" anchor="t">
            <a:noAutofit/>
          </a:bodyPr>
          <a:lstStyle/>
          <a:p>
            <a:endParaRPr/>
          </a:p>
        </p:txBody>
      </p:sp>
      <p:sp>
        <p:nvSpPr>
          <p:cNvPr id="11" name="code-line-4">
            <a:extLst>
              <a:ext uri="{FF2B5EF4-FFF2-40B4-BE49-F238E27FC236}">
                <a16:creationId xmlns:a16="http://schemas.microsoft.com/office/drawing/2014/main" id="{8242DCF0-5C2D-41FF-9166-5583E6F7CB90}"/>
              </a:ext>
            </a:extLst>
          </p:cNvPr>
          <p:cNvSpPr>
            <a:spLocks noGrp="1"/>
          </p:cNvSpPr>
          <p:nvPr/>
        </p:nvSpPr>
        <p:spPr>
          <a:xfrm>
            <a:off x="914400" y="4216400"/>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@login_required</a:t>
            </a:r>
          </a:p>
        </p:txBody>
      </p:sp>
      <p:sp>
        <p:nvSpPr>
          <p:cNvPr id="12" name="code-line-5">
            <a:extLst>
              <a:ext uri="{FF2B5EF4-FFF2-40B4-BE49-F238E27FC236}">
                <a16:creationId xmlns:a16="http://schemas.microsoft.com/office/drawing/2014/main" id="{FFD7E3B1-CD7E-4C9C-8673-170563257339}"/>
              </a:ext>
            </a:extLst>
          </p:cNvPr>
          <p:cNvSpPr>
            <a:spLocks noGrp="1"/>
          </p:cNvSpPr>
          <p:nvPr/>
        </p:nvSpPr>
        <p:spPr>
          <a:xfrm>
            <a:off x="914400" y="4539456"/>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def</a:t>
            </a:r>
            <a:r>
              <a:rPr sz="1725" b="0">
                <a:solidFill>
                  <a:srgbClr val="FFFFFF"/>
                </a:solidFill>
                <a:latin typeface="Menlo"/>
                <a:ea typeface="Menlo"/>
                <a:cs typeface="Menlo"/>
              </a:rPr>
              <a:t> task_list(request):</a:t>
            </a:r>
          </a:p>
        </p:txBody>
      </p:sp>
      <p:sp>
        <p:nvSpPr>
          <p:cNvPr id="13" name="code-line-6">
            <a:extLst>
              <a:ext uri="{FF2B5EF4-FFF2-40B4-BE49-F238E27FC236}">
                <a16:creationId xmlns:a16="http://schemas.microsoft.com/office/drawing/2014/main" id="{9543FFC8-FDBD-4A2F-BBE3-902ECBF7799D}"/>
              </a:ext>
            </a:extLst>
          </p:cNvPr>
          <p:cNvSpPr>
            <a:spLocks noGrp="1"/>
          </p:cNvSpPr>
          <p:nvPr/>
        </p:nvSpPr>
        <p:spPr>
          <a:xfrm>
            <a:off x="914400" y="4862513"/>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tasks = Task.objects.filter(</a:t>
            </a:r>
          </a:p>
        </p:txBody>
      </p:sp>
      <p:sp>
        <p:nvSpPr>
          <p:cNvPr id="14" name="code-line-7">
            <a:extLst>
              <a:ext uri="{FF2B5EF4-FFF2-40B4-BE49-F238E27FC236}">
                <a16:creationId xmlns:a16="http://schemas.microsoft.com/office/drawing/2014/main" id="{2DFC371C-74CC-4370-94BA-FC8DBA012128}"/>
              </a:ext>
            </a:extLst>
          </p:cNvPr>
          <p:cNvSpPr>
            <a:spLocks noGrp="1"/>
          </p:cNvSpPr>
          <p:nvPr/>
        </p:nvSpPr>
        <p:spPr>
          <a:xfrm>
            <a:off x="914400" y="5185569"/>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owner=request.user</a:t>
            </a:r>
          </a:p>
        </p:txBody>
      </p:sp>
      <p:sp>
        <p:nvSpPr>
          <p:cNvPr id="15" name="code-line-8">
            <a:extLst>
              <a:ext uri="{FF2B5EF4-FFF2-40B4-BE49-F238E27FC236}">
                <a16:creationId xmlns:a16="http://schemas.microsoft.com/office/drawing/2014/main" id="{3113BBD4-39DC-44A6-9277-4C30FA22D330}"/>
              </a:ext>
            </a:extLst>
          </p:cNvPr>
          <p:cNvSpPr>
            <a:spLocks noGrp="1"/>
          </p:cNvSpPr>
          <p:nvPr/>
        </p:nvSpPr>
        <p:spPr>
          <a:xfrm>
            <a:off x="914400" y="5508625"/>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).order_by("completed", "id")</a:t>
            </a:r>
          </a:p>
        </p:txBody>
      </p:sp>
      <p:sp>
        <p:nvSpPr>
          <p:cNvPr id="16" name="code-line-9">
            <a:extLst>
              <a:ext uri="{FF2B5EF4-FFF2-40B4-BE49-F238E27FC236}">
                <a16:creationId xmlns:a16="http://schemas.microsoft.com/office/drawing/2014/main" id="{F1523767-0799-427A-B8FB-583B303B6185}"/>
              </a:ext>
            </a:extLst>
          </p:cNvPr>
          <p:cNvSpPr>
            <a:spLocks noGrp="1"/>
          </p:cNvSpPr>
          <p:nvPr/>
        </p:nvSpPr>
        <p:spPr>
          <a:xfrm>
            <a:off x="914400" y="5831681"/>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return</a:t>
            </a:r>
            <a:r>
              <a:rPr sz="1725" b="0">
                <a:solidFill>
                  <a:srgbClr val="FFFFFF"/>
                </a:solidFill>
                <a:latin typeface="Menlo"/>
                <a:ea typeface="Menlo"/>
                <a:cs typeface="Menlo"/>
              </a:rPr>
              <a:t> render(request, "tasks/list.html", {</a:t>
            </a:r>
          </a:p>
        </p:txBody>
      </p:sp>
      <p:sp>
        <p:nvSpPr>
          <p:cNvPr id="17" name="code-line-10">
            <a:extLst>
              <a:ext uri="{FF2B5EF4-FFF2-40B4-BE49-F238E27FC236}">
                <a16:creationId xmlns:a16="http://schemas.microsoft.com/office/drawing/2014/main" id="{F1EA4A0F-EF09-4E44-8FA4-AB4891BE8A38}"/>
              </a:ext>
            </a:extLst>
          </p:cNvPr>
          <p:cNvSpPr>
            <a:spLocks noGrp="1"/>
          </p:cNvSpPr>
          <p:nvPr/>
        </p:nvSpPr>
        <p:spPr>
          <a:xfrm>
            <a:off x="914400" y="6154738"/>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"tasks": tasks,</a:t>
            </a:r>
          </a:p>
        </p:txBody>
      </p:sp>
      <p:sp>
        <p:nvSpPr>
          <p:cNvPr id="18" name="code-line-11">
            <a:extLst>
              <a:ext uri="{FF2B5EF4-FFF2-40B4-BE49-F238E27FC236}">
                <a16:creationId xmlns:a16="http://schemas.microsoft.com/office/drawing/2014/main" id="{A0A56166-4B7A-4CA1-8467-0CD6BAA67111}"/>
              </a:ext>
            </a:extLst>
          </p:cNvPr>
          <p:cNvSpPr>
            <a:spLocks noGrp="1"/>
          </p:cNvSpPr>
          <p:nvPr/>
        </p:nvSpPr>
        <p:spPr>
          <a:xfrm>
            <a:off x="914400" y="6477794"/>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p>
        </p:txBody>
      </p:sp>
      <p:sp>
        <p:nvSpPr>
          <p:cNvPr id="19" name="reveal-1-output-1">
            <a:extLst>
              <a:ext uri="{FF2B5EF4-FFF2-40B4-BE49-F238E27FC236}">
                <a16:creationId xmlns:a16="http://schemas.microsoft.com/office/drawing/2014/main" id="{B225480D-F201-4C23-92BC-E20659E4C3D1}"/>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Asha’s template context</a:t>
            </a:r>
          </a:p>
        </p:txBody>
      </p:sp>
      <p:graphicFrame>
        <p:nvGraphicFramePr>
          <p:cNvPr id="41" name="reveal-1-output-2"/>
          <p:cNvGraphicFramePr/>
          <p:nvPr/>
        </p:nvGraphicFramePr>
        <p:xfrm>
          <a:off x="9239250" y="2952750"/>
          <a:ext cx="5295900" cy="3714750"/>
        </p:xfrm>
        <a:graphic>
          <a:graphicData uri="http://schemas.openxmlformats.org/drawingml/2006/table">
            <a:tbl>
              <a:tblPr firstRow="1"/>
              <a:tblGrid>
                <a:gridCol w="2647950">
                  <a:extLst>
                    <a:ext uri="{9D8B030D-6E8A-4147-A177-3AD203B41FA5}">
                      <a16:colId xmlns:a16="http://schemas.microsoft.com/office/drawing/2014/main" val="20000"/>
                    </a:ext>
                  </a:extLst>
                </a:gridCol>
                <a:gridCol w="2647950">
                  <a:extLst>
                    <a:ext uri="{9D8B030D-6E8A-4147-A177-3AD203B41FA5}">
                      <a16:colId xmlns:a16="http://schemas.microsoft.com/office/drawing/2014/main" val="20001"/>
                    </a:ext>
                  </a:extLst>
                </a:gridCol>
              </a:tblGrid>
              <a:tr h="928688">
                <a:tc>
                  <a:txBody>
                    <a:bodyPr/>
                    <a:lstStyle/>
                    <a:p>
                      <a:r>
                        <a:rPr sz="1575" b="1">
                          <a:solidFill>
                            <a:srgbClr val="FFFFFF"/>
                          </a:solidFill>
                          <a:latin typeface="Helvetica Neue"/>
                          <a:ea typeface="Helvetica Neue"/>
                          <a:cs typeface="Helvetica Neue"/>
                        </a:rPr>
                        <a:t>title</a:t>
                      </a:r>
                    </a:p>
                  </a:txBody>
                  <a:tcPr anchor="ctr">
                    <a:solidFill>
                      <a:srgbClr val="242C35"/>
                    </a:solidFill>
                  </a:tcPr>
                </a:tc>
                <a:tc>
                  <a:txBody>
                    <a:bodyPr/>
                    <a:lstStyle/>
                    <a:p>
                      <a:r>
                        <a:rPr sz="1575" b="1">
                          <a:solidFill>
                            <a:srgbClr val="FFFFFF"/>
                          </a:solidFill>
                          <a:latin typeface="Helvetica Neue"/>
                          <a:ea typeface="Helvetica Neue"/>
                          <a:cs typeface="Helvetica Neue"/>
                        </a:rPr>
                        <a:t>completed</a:t>
                      </a:r>
                    </a:p>
                  </a:txBody>
                  <a:tcPr anchor="ctr">
                    <a:solidFill>
                      <a:srgbClr val="242C35"/>
                    </a:solidFill>
                  </a:tcPr>
                </a:tc>
                <a:extLst>
                  <a:ext uri="{0D108BD9-81ED-4DB2-BD59-A6C34878D82A}">
                    <a16:rowId xmlns:a16="http://schemas.microsoft.com/office/drawing/2014/main" val="10000"/>
                  </a:ext>
                </a:extLst>
              </a:tr>
              <a:tr h="928688">
                <a:tc>
                  <a:txBody>
                    <a:bodyPr/>
                    <a:lstStyle/>
                    <a:p>
                      <a:r>
                        <a:rPr sz="1575" b="0">
                          <a:solidFill>
                            <a:srgbClr val="242C35"/>
                          </a:solidFill>
                          <a:latin typeface="Helvetica Neue"/>
                          <a:ea typeface="Helvetica Neue"/>
                          <a:cs typeface="Helvetica Neue"/>
                        </a:rPr>
                        <a:t>Prepare Django demo</a:t>
                      </a:r>
                    </a:p>
                  </a:txBody>
                  <a:tcPr anchor="ctr">
                    <a:solidFill>
                      <a:srgbClr val="FFFFFF"/>
                    </a:solidFill>
                  </a:tcPr>
                </a:tc>
                <a:tc>
                  <a:txBody>
                    <a:bodyPr/>
                    <a:lstStyle/>
                    <a:p>
                      <a:r>
                        <a:rPr sz="1575" b="0">
                          <a:solidFill>
                            <a:srgbClr val="242C35"/>
                          </a:solidFill>
                          <a:latin typeface="Helvetica Neue"/>
                          <a:ea typeface="Helvetica Neue"/>
                          <a:cs typeface="Helvetica Neue"/>
                        </a:rPr>
                        <a:t>False</a:t>
                      </a:r>
                    </a:p>
                  </a:txBody>
                  <a:tcPr anchor="ctr">
                    <a:solidFill>
                      <a:srgbClr val="FFFFFF"/>
                    </a:solidFill>
                  </a:tcPr>
                </a:tc>
                <a:extLst>
                  <a:ext uri="{0D108BD9-81ED-4DB2-BD59-A6C34878D82A}">
                    <a16:rowId xmlns:a16="http://schemas.microsoft.com/office/drawing/2014/main" val="10001"/>
                  </a:ext>
                </a:extLst>
              </a:tr>
              <a:tr h="928688">
                <a:tc>
                  <a:txBody>
                    <a:bodyPr/>
                    <a:lstStyle/>
                    <a:p>
                      <a:r>
                        <a:rPr sz="1575" b="0">
                          <a:solidFill>
                            <a:srgbClr val="242C35"/>
                          </a:solidFill>
                          <a:latin typeface="Helvetica Neue"/>
                          <a:ea typeface="Helvetica Neue"/>
                          <a:cs typeface="Helvetica Neue"/>
                        </a:rPr>
                        <a:t>Submit workshop exercise</a:t>
                      </a:r>
                    </a:p>
                  </a:txBody>
                  <a:tcPr anchor="ctr">
                    <a:solidFill>
                      <a:srgbClr val="F8F5EF"/>
                    </a:solidFill>
                  </a:tcPr>
                </a:tc>
                <a:tc>
                  <a:txBody>
                    <a:bodyPr/>
                    <a:lstStyle/>
                    <a:p>
                      <a:r>
                        <a:rPr sz="1575" b="0">
                          <a:solidFill>
                            <a:srgbClr val="242C35"/>
                          </a:solidFill>
                          <a:latin typeface="Helvetica Neue"/>
                          <a:ea typeface="Helvetica Neue"/>
                          <a:cs typeface="Helvetica Neue"/>
                        </a:rPr>
                        <a:t>False</a:t>
                      </a:r>
                    </a:p>
                  </a:txBody>
                  <a:tcPr anchor="ctr">
                    <a:solidFill>
                      <a:srgbClr val="F8F5EF"/>
                    </a:solidFill>
                  </a:tcPr>
                </a:tc>
                <a:extLst>
                  <a:ext uri="{0D108BD9-81ED-4DB2-BD59-A6C34878D82A}">
                    <a16:rowId xmlns:a16="http://schemas.microsoft.com/office/drawing/2014/main" val="10002"/>
                  </a:ext>
                </a:extLst>
              </a:tr>
              <a:tr h="928688">
                <a:tc>
                  <a:txBody>
                    <a:bodyPr/>
                    <a:lstStyle/>
                    <a:p>
                      <a:r>
                        <a:rPr sz="1575" b="0">
                          <a:solidFill>
                            <a:srgbClr val="242C35"/>
                          </a:solidFill>
                          <a:latin typeface="Helvetica Neue"/>
                          <a:ea typeface="Helvetica Neue"/>
                          <a:cs typeface="Helvetica Neue"/>
                        </a:rPr>
                        <a:t>Read ORM notes</a:t>
                      </a:r>
                    </a:p>
                  </a:txBody>
                  <a:tcPr anchor="ctr">
                    <a:solidFill>
                      <a:srgbClr val="FFFFFF"/>
                    </a:solidFill>
                  </a:tcPr>
                </a:tc>
                <a:tc>
                  <a:txBody>
                    <a:bodyPr/>
                    <a:lstStyle/>
                    <a:p>
                      <a:r>
                        <a:rPr sz="1575" b="0">
                          <a:solidFill>
                            <a:srgbClr val="242C35"/>
                          </a:solidFill>
                          <a:latin typeface="Helvetica Neue"/>
                          <a:ea typeface="Helvetica Neue"/>
                          <a:cs typeface="Helvetica Neue"/>
                        </a:rPr>
                        <a:t>True</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21" name="fade-1-takeaway">
            <a:extLst>
              <a:ext uri="{FF2B5EF4-FFF2-40B4-BE49-F238E27FC236}">
                <a16:creationId xmlns:a16="http://schemas.microsoft.com/office/drawing/2014/main" id="{D7ED75F2-1720-4A4A-A498-BD4C990A0376}"/>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Only return tasks owned by request.user.</a:t>
            </a:r>
          </a:p>
        </p:txBody>
      </p:sp>
    </p:spTree>
    <p:extLst>
      <p:ext uri="{BB962C8B-B14F-4D97-AF65-F5344CB8AC3E}">
        <p14:creationId xmlns:p14="http://schemas.microsoft.com/office/powerpoint/2010/main" val="10947297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350" fill="hold">
                                          <p:stCondLst>
                                            <p:cond delay="0"/>
                                          </p:stCondLst>
                                        </p:cTn>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2" name="text-164">
            <a:extLst>
              <a:ext uri="{FF2B5EF4-FFF2-40B4-BE49-F238E27FC236}">
                <a16:creationId xmlns:a16="http://schemas.microsoft.com/office/drawing/2014/main" id="{355C8337-9444-4AB6-91BF-79A9B6D44353}"/>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02 / Django and data</a:t>
            </a:r>
          </a:p>
        </p:txBody>
      </p:sp>
      <p:sp>
        <p:nvSpPr>
          <p:cNvPr id="2" name="text-165">
            <a:extLst>
              <a:ext uri="{FF2B5EF4-FFF2-40B4-BE49-F238E27FC236}">
                <a16:creationId xmlns:a16="http://schemas.microsoft.com/office/drawing/2014/main" id="{AB66A6D5-B417-4438-A63A-95E550EA191D}"/>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The template displays My Tasks</a:t>
            </a:r>
          </a:p>
        </p:txBody>
      </p:sp>
      <p:sp>
        <p:nvSpPr>
          <p:cNvPr id="3" name="text-166">
            <a:extLst>
              <a:ext uri="{FF2B5EF4-FFF2-40B4-BE49-F238E27FC236}">
                <a16:creationId xmlns:a16="http://schemas.microsoft.com/office/drawing/2014/main" id="{BE87E7DD-7C40-4C66-8E9D-991B565DF959}"/>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167">
            <a:extLst>
              <a:ext uri="{FF2B5EF4-FFF2-40B4-BE49-F238E27FC236}">
                <a16:creationId xmlns:a16="http://schemas.microsoft.com/office/drawing/2014/main" id="{0EDA1875-D17E-4AFD-BCB6-C9577F4D8CF4}"/>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22</a:t>
            </a:r>
          </a:p>
        </p:txBody>
      </p:sp>
      <p:sp>
        <p:nvSpPr>
          <p:cNvPr id="5" name="text-168">
            <a:extLst>
              <a:ext uri="{FF2B5EF4-FFF2-40B4-BE49-F238E27FC236}">
                <a16:creationId xmlns:a16="http://schemas.microsoft.com/office/drawing/2014/main" id="{AC8A8BD4-46F3-4B18-8861-ECAB458DFE79}"/>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tasks/templates/tasks/list.html</a:t>
            </a:r>
          </a:p>
        </p:txBody>
      </p:sp>
      <p:sp>
        <p:nvSpPr>
          <p:cNvPr id="6" name="code-panel-169">
            <a:extLst>
              <a:ext uri="{FF2B5EF4-FFF2-40B4-BE49-F238E27FC236}">
                <a16:creationId xmlns:a16="http://schemas.microsoft.com/office/drawing/2014/main" id="{6977C053-9345-451F-A69D-BA0F565FE3AA}"/>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7465DAE7-43EF-4346-ABED-7904120EE09C}"/>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&lt;h1&gt;My tasks&lt;/h1&gt;</a:t>
            </a:r>
          </a:p>
        </p:txBody>
      </p:sp>
      <p:sp>
        <p:nvSpPr>
          <p:cNvPr id="8" name="code-line-1">
            <a:extLst>
              <a:ext uri="{FF2B5EF4-FFF2-40B4-BE49-F238E27FC236}">
                <a16:creationId xmlns:a16="http://schemas.microsoft.com/office/drawing/2014/main" id="{7882E9F7-E855-468A-B1F9-913800F4E169}"/>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&lt;ul&gt;</a:t>
            </a:r>
          </a:p>
        </p:txBody>
      </p:sp>
      <p:sp>
        <p:nvSpPr>
          <p:cNvPr id="9" name="code-line-2">
            <a:extLst>
              <a:ext uri="{FF2B5EF4-FFF2-40B4-BE49-F238E27FC236}">
                <a16:creationId xmlns:a16="http://schemas.microsoft.com/office/drawing/2014/main" id="{5C3FF58D-1875-44B4-AA33-C06AE225CB9F}"/>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 </a:t>
            </a:r>
            <a:r>
              <a:rPr sz="1650" b="0">
                <a:solidFill>
                  <a:srgbClr val="A7C2FF"/>
                </a:solidFill>
                <a:latin typeface="Menlo"/>
                <a:ea typeface="Menlo"/>
                <a:cs typeface="Menlo"/>
              </a:rPr>
              <a:t>for</a:t>
            </a:r>
            <a:r>
              <a:rPr sz="1650" b="0">
                <a:solidFill>
                  <a:srgbClr val="FFFFFF"/>
                </a:solidFill>
                <a:latin typeface="Menlo"/>
                <a:ea typeface="Menlo"/>
                <a:cs typeface="Menlo"/>
              </a:rPr>
              <a:t> task </a:t>
            </a:r>
            <a:r>
              <a:rPr sz="1650" b="0">
                <a:solidFill>
                  <a:srgbClr val="A7C2FF"/>
                </a:solidFill>
                <a:latin typeface="Menlo"/>
                <a:ea typeface="Menlo"/>
                <a:cs typeface="Menlo"/>
              </a:rPr>
              <a:t>in</a:t>
            </a:r>
            <a:r>
              <a:rPr sz="1650" b="0">
                <a:solidFill>
                  <a:srgbClr val="FFFFFF"/>
                </a:solidFill>
                <a:latin typeface="Menlo"/>
                <a:ea typeface="Menlo"/>
                <a:cs typeface="Menlo"/>
              </a:rPr>
              <a:t> tasks %}</a:t>
            </a:r>
          </a:p>
        </p:txBody>
      </p:sp>
      <p:sp>
        <p:nvSpPr>
          <p:cNvPr id="10" name="code-line-3">
            <a:extLst>
              <a:ext uri="{FF2B5EF4-FFF2-40B4-BE49-F238E27FC236}">
                <a16:creationId xmlns:a16="http://schemas.microsoft.com/office/drawing/2014/main" id="{02BE6D89-895F-4E4C-A7B4-7A899CEFCF5B}"/>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&lt;li&gt;</a:t>
            </a:r>
          </a:p>
        </p:txBody>
      </p:sp>
      <p:sp>
        <p:nvSpPr>
          <p:cNvPr id="11" name="code-line-4">
            <a:extLst>
              <a:ext uri="{FF2B5EF4-FFF2-40B4-BE49-F238E27FC236}">
                <a16:creationId xmlns:a16="http://schemas.microsoft.com/office/drawing/2014/main" id="{EF1A3D1D-ED58-4314-B894-970F1265017D}"/>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 task.title }}</a:t>
            </a:r>
          </a:p>
        </p:txBody>
      </p:sp>
      <p:sp>
        <p:nvSpPr>
          <p:cNvPr id="12" name="code-line-5">
            <a:extLst>
              <a:ext uri="{FF2B5EF4-FFF2-40B4-BE49-F238E27FC236}">
                <a16:creationId xmlns:a16="http://schemas.microsoft.com/office/drawing/2014/main" id="{8ABB2553-2143-4E52-B48D-F2959B450EA9}"/>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 </a:t>
            </a:r>
            <a:r>
              <a:rPr sz="1650" b="0">
                <a:solidFill>
                  <a:srgbClr val="A7C2FF"/>
                </a:solidFill>
                <a:latin typeface="Menlo"/>
                <a:ea typeface="Menlo"/>
                <a:cs typeface="Menlo"/>
              </a:rPr>
              <a:t>if</a:t>
            </a:r>
            <a:r>
              <a:rPr sz="1650" b="0">
                <a:solidFill>
                  <a:srgbClr val="FFFFFF"/>
                </a:solidFill>
                <a:latin typeface="Menlo"/>
                <a:ea typeface="Menlo"/>
                <a:cs typeface="Menlo"/>
              </a:rPr>
              <a:t> task.completed %}Done{% </a:t>
            </a:r>
            <a:r>
              <a:rPr sz="1650" b="0">
                <a:solidFill>
                  <a:srgbClr val="A7C2FF"/>
                </a:solidFill>
                <a:latin typeface="Menlo"/>
                <a:ea typeface="Menlo"/>
                <a:cs typeface="Menlo"/>
              </a:rPr>
              <a:t>else</a:t>
            </a:r>
            <a:r>
              <a:rPr sz="1650" b="0">
                <a:solidFill>
                  <a:srgbClr val="FFFFFF"/>
                </a:solidFill>
                <a:latin typeface="Menlo"/>
                <a:ea typeface="Menlo"/>
                <a:cs typeface="Menlo"/>
              </a:rPr>
              <a:t> %}Open{% endif %}</a:t>
            </a:r>
          </a:p>
        </p:txBody>
      </p:sp>
      <p:sp>
        <p:nvSpPr>
          <p:cNvPr id="13" name="code-line-6">
            <a:extLst>
              <a:ext uri="{FF2B5EF4-FFF2-40B4-BE49-F238E27FC236}">
                <a16:creationId xmlns:a16="http://schemas.microsoft.com/office/drawing/2014/main" id="{6AA5776E-C24D-4951-934A-ABEE4F7C2735}"/>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&lt;/li&gt;</a:t>
            </a:r>
          </a:p>
        </p:txBody>
      </p:sp>
      <p:sp>
        <p:nvSpPr>
          <p:cNvPr id="14" name="code-line-7">
            <a:extLst>
              <a:ext uri="{FF2B5EF4-FFF2-40B4-BE49-F238E27FC236}">
                <a16:creationId xmlns:a16="http://schemas.microsoft.com/office/drawing/2014/main" id="{3816D90F-649B-4805-8782-EC16F037354D}"/>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 empty %}</a:t>
            </a:r>
          </a:p>
        </p:txBody>
      </p:sp>
      <p:sp>
        <p:nvSpPr>
          <p:cNvPr id="15" name="code-line-8">
            <a:extLst>
              <a:ext uri="{FF2B5EF4-FFF2-40B4-BE49-F238E27FC236}">
                <a16:creationId xmlns:a16="http://schemas.microsoft.com/office/drawing/2014/main" id="{B19D7B90-959E-40D1-979D-FC61DCE6D4CA}"/>
              </a:ext>
            </a:extLst>
          </p:cNvPr>
          <p:cNvSpPr>
            <a:spLocks noGrp="1"/>
          </p:cNvSpPr>
          <p:nvPr/>
        </p:nvSpPr>
        <p:spPr>
          <a:xfrm>
            <a:off x="914400" y="559117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&lt;li&gt;No tasks yet.&lt;/li&gt;</a:t>
            </a:r>
          </a:p>
        </p:txBody>
      </p:sp>
      <p:sp>
        <p:nvSpPr>
          <p:cNvPr id="16" name="code-line-9">
            <a:extLst>
              <a:ext uri="{FF2B5EF4-FFF2-40B4-BE49-F238E27FC236}">
                <a16:creationId xmlns:a16="http://schemas.microsoft.com/office/drawing/2014/main" id="{2864944C-41ED-44BC-BE28-4D2599C3F7E2}"/>
              </a:ext>
            </a:extLst>
          </p:cNvPr>
          <p:cNvSpPr>
            <a:spLocks noGrp="1"/>
          </p:cNvSpPr>
          <p:nvPr/>
        </p:nvSpPr>
        <p:spPr>
          <a:xfrm>
            <a:off x="914400" y="5924550"/>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 endfor %}</a:t>
            </a:r>
          </a:p>
        </p:txBody>
      </p:sp>
      <p:sp>
        <p:nvSpPr>
          <p:cNvPr id="17" name="code-line-10">
            <a:extLst>
              <a:ext uri="{FF2B5EF4-FFF2-40B4-BE49-F238E27FC236}">
                <a16:creationId xmlns:a16="http://schemas.microsoft.com/office/drawing/2014/main" id="{39F2A5FF-5BCA-4232-BD03-6C51F94CFE53}"/>
              </a:ext>
            </a:extLst>
          </p:cNvPr>
          <p:cNvSpPr>
            <a:spLocks noGrp="1"/>
          </p:cNvSpPr>
          <p:nvPr/>
        </p:nvSpPr>
        <p:spPr>
          <a:xfrm>
            <a:off x="914400" y="625792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&lt;/ul&gt;</a:t>
            </a:r>
          </a:p>
        </p:txBody>
      </p:sp>
      <p:sp>
        <p:nvSpPr>
          <p:cNvPr id="18" name="reveal-1-output-1">
            <a:extLst>
              <a:ext uri="{FF2B5EF4-FFF2-40B4-BE49-F238E27FC236}">
                <a16:creationId xmlns:a16="http://schemas.microsoft.com/office/drawing/2014/main" id="{EFE32236-AA72-42AB-8852-33E1C360E8FE}"/>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GET /tasks/</a:t>
            </a:r>
          </a:p>
        </p:txBody>
      </p:sp>
      <p:pic>
        <p:nvPicPr>
          <p:cNvPr id="40" name="reveal-1-output-2"/>
          <p:cNvPicPr>
            <a:picLocks noChangeAspect="1"/>
          </p:cNvPicPr>
          <p:nvPr/>
        </p:nvPicPr>
        <p:blipFill>
          <a:blip r:embed="rId3"/>
          <a:srcRect l="21500" t="45000" r="39000" b="16000"/>
          <a:stretch>
            <a:fillRect/>
          </a:stretch>
        </p:blipFill>
        <p:spPr>
          <a:xfrm>
            <a:off x="9239250" y="2952750"/>
            <a:ext cx="5295900" cy="3422529"/>
          </a:xfrm>
          <a:prstGeom prst="rect">
            <a:avLst/>
          </a:prstGeom>
        </p:spPr>
      </p:pic>
      <p:sp>
        <p:nvSpPr>
          <p:cNvPr id="20" name="reveal-1-output-3">
            <a:extLst>
              <a:ext uri="{FF2B5EF4-FFF2-40B4-BE49-F238E27FC236}">
                <a16:creationId xmlns:a16="http://schemas.microsoft.com/office/drawing/2014/main" id="{EE4A84A2-1F77-476F-BCC9-A11E4033BB99}"/>
              </a:ext>
            </a:extLst>
          </p:cNvPr>
          <p:cNvSpPr>
            <a:spLocks noGrp="1"/>
          </p:cNvSpPr>
          <p:nvPr/>
        </p:nvSpPr>
        <p:spPr>
          <a:xfrm>
            <a:off x="9239250" y="6610350"/>
            <a:ext cx="5295900" cy="285750"/>
          </a:xfrm>
          <a:prstGeom prst="rect">
            <a:avLst/>
          </a:prstGeom>
          <a:noFill/>
          <a:ln w="0">
            <a:noFill/>
          </a:ln>
        </p:spPr>
        <p:txBody>
          <a:bodyPr wrap="none" lIns="0" tIns="0" rIns="0" bIns="0" anchor="t">
            <a:noAutofit/>
          </a:bodyPr>
          <a:lstStyle/>
          <a:p>
            <a:pPr algn="l">
              <a:defRPr sz="1350" b="0">
                <a:solidFill>
                  <a:srgbClr val="65717A"/>
                </a:solidFill>
                <a:latin typeface="Helvetica Neue"/>
                <a:ea typeface="Helvetica Neue"/>
                <a:cs typeface="Helvetica Neue"/>
              </a:defRPr>
            </a:pPr>
            <a:r>
              <a:rPr sz="1350" b="0">
                <a:solidFill>
                  <a:srgbClr val="65717A"/>
                </a:solidFill>
                <a:latin typeface="Helvetica Neue"/>
                <a:ea typeface="Helvetica Neue"/>
                <a:cs typeface="Helvetica Neue"/>
              </a:rPr>
              <a:t>Illustrative UI detail</a:t>
            </a:r>
          </a:p>
        </p:txBody>
      </p:sp>
      <p:sp>
        <p:nvSpPr>
          <p:cNvPr id="21" name="fade-1-takeaway">
            <a:extLst>
              <a:ext uri="{FF2B5EF4-FFF2-40B4-BE49-F238E27FC236}">
                <a16:creationId xmlns:a16="http://schemas.microsoft.com/office/drawing/2014/main" id="{CA781376-77E9-49B2-831B-F60CA88431AA}"/>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The loop renders each task and its status.</a:t>
            </a:r>
          </a:p>
        </p:txBody>
      </p:sp>
    </p:spTree>
    <p:extLst>
      <p:ext uri="{BB962C8B-B14F-4D97-AF65-F5344CB8AC3E}">
        <p14:creationId xmlns:p14="http://schemas.microsoft.com/office/powerpoint/2010/main" val="18360045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350" fill="hold">
                                          <p:stCondLst>
                                            <p:cond delay="0"/>
                                          </p:stCondLst>
                                        </p:cTn>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3" name="text-172">
            <a:extLst>
              <a:ext uri="{FF2B5EF4-FFF2-40B4-BE49-F238E27FC236}">
                <a16:creationId xmlns:a16="http://schemas.microsoft.com/office/drawing/2014/main" id="{11392F3F-56EE-404E-94CF-EBEF3E97AB41}"/>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02 / Django and data</a:t>
            </a:r>
          </a:p>
        </p:txBody>
      </p:sp>
      <p:sp>
        <p:nvSpPr>
          <p:cNvPr id="2" name="text-173">
            <a:extLst>
              <a:ext uri="{FF2B5EF4-FFF2-40B4-BE49-F238E27FC236}">
                <a16:creationId xmlns:a16="http://schemas.microsoft.com/office/drawing/2014/main" id="{DB5C245A-E6E3-4126-889E-DCA3F04606A3}"/>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A shared layout and stylesheet</a:t>
            </a:r>
          </a:p>
        </p:txBody>
      </p:sp>
      <p:sp>
        <p:nvSpPr>
          <p:cNvPr id="3" name="text-174">
            <a:extLst>
              <a:ext uri="{FF2B5EF4-FFF2-40B4-BE49-F238E27FC236}">
                <a16:creationId xmlns:a16="http://schemas.microsoft.com/office/drawing/2014/main" id="{A8803D6D-A91B-42F9-B0FE-1852C983ACF1}"/>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175">
            <a:extLst>
              <a:ext uri="{FF2B5EF4-FFF2-40B4-BE49-F238E27FC236}">
                <a16:creationId xmlns:a16="http://schemas.microsoft.com/office/drawing/2014/main" id="{B5FAA99B-6E00-4E57-8856-154F5060C76F}"/>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23</a:t>
            </a:r>
          </a:p>
        </p:txBody>
      </p:sp>
      <p:sp>
        <p:nvSpPr>
          <p:cNvPr id="5" name="text-176">
            <a:extLst>
              <a:ext uri="{FF2B5EF4-FFF2-40B4-BE49-F238E27FC236}">
                <a16:creationId xmlns:a16="http://schemas.microsoft.com/office/drawing/2014/main" id="{D7627D04-0404-477C-B0E6-0F5DDB0BC6BA}"/>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base.html and tasks/list.html</a:t>
            </a:r>
          </a:p>
        </p:txBody>
      </p:sp>
      <p:sp>
        <p:nvSpPr>
          <p:cNvPr id="6" name="code-panel-177">
            <a:extLst>
              <a:ext uri="{FF2B5EF4-FFF2-40B4-BE49-F238E27FC236}">
                <a16:creationId xmlns:a16="http://schemas.microsoft.com/office/drawing/2014/main" id="{BCD31977-FBD4-47D0-A017-3D42E630E803}"/>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BE5D6130-3BE3-4435-AF16-1FD958729B52}"/>
              </a:ext>
            </a:extLst>
          </p:cNvPr>
          <p:cNvSpPr>
            <a:spLocks noGrp="1"/>
          </p:cNvSpPr>
          <p:nvPr/>
        </p:nvSpPr>
        <p:spPr>
          <a:xfrm>
            <a:off x="914400" y="2924175"/>
            <a:ext cx="7639050" cy="351631"/>
          </a:xfrm>
          <a:prstGeom prst="rect">
            <a:avLst/>
          </a:prstGeom>
          <a:noFill/>
          <a:ln w="0">
            <a:noFill/>
          </a:ln>
        </p:spPr>
        <p:txBody>
          <a:bodyPr wrap="none" lIns="0" tIns="0" rIns="0" bIns="0" anchor="t">
            <a:noAutofit/>
          </a:bodyPr>
          <a:lstStyle/>
          <a:p>
            <a:pPr algn="l">
              <a:defRPr sz="1650" b="0">
                <a:solidFill>
                  <a:srgbClr val="B1BFD2"/>
                </a:solidFill>
                <a:latin typeface="Menlo"/>
                <a:ea typeface="Menlo"/>
                <a:cs typeface="Menlo"/>
              </a:defRPr>
            </a:pPr>
            <a:r>
              <a:rPr sz="1650" b="0">
                <a:solidFill>
                  <a:srgbClr val="B1BFD2"/>
                </a:solidFill>
                <a:latin typeface="Menlo"/>
                <a:ea typeface="Menlo"/>
                <a:cs typeface="Menlo"/>
              </a:rPr>
              <a:t>&lt;!-- tasks/templates/base.html --&gt;</a:t>
            </a:r>
          </a:p>
        </p:txBody>
      </p:sp>
      <p:sp>
        <p:nvSpPr>
          <p:cNvPr id="8" name="code-line-1">
            <a:extLst>
              <a:ext uri="{FF2B5EF4-FFF2-40B4-BE49-F238E27FC236}">
                <a16:creationId xmlns:a16="http://schemas.microsoft.com/office/drawing/2014/main" id="{628F72C1-B6A9-4E5D-A997-C5CF11C55F27}"/>
              </a:ext>
            </a:extLst>
          </p:cNvPr>
          <p:cNvSpPr>
            <a:spLocks noGrp="1"/>
          </p:cNvSpPr>
          <p:nvPr/>
        </p:nvSpPr>
        <p:spPr>
          <a:xfrm>
            <a:off x="914400" y="3247231"/>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load static %}</a:t>
            </a:r>
          </a:p>
        </p:txBody>
      </p:sp>
      <p:sp>
        <p:nvSpPr>
          <p:cNvPr id="9" name="code-line-2">
            <a:extLst>
              <a:ext uri="{FF2B5EF4-FFF2-40B4-BE49-F238E27FC236}">
                <a16:creationId xmlns:a16="http://schemas.microsoft.com/office/drawing/2014/main" id="{1D72BD3F-8AEC-403D-A77B-980E1C76FDB3}"/>
              </a:ext>
            </a:extLst>
          </p:cNvPr>
          <p:cNvSpPr>
            <a:spLocks noGrp="1"/>
          </p:cNvSpPr>
          <p:nvPr/>
        </p:nvSpPr>
        <p:spPr>
          <a:xfrm>
            <a:off x="914400" y="3570288"/>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&lt;link rel="stylesheet" href="{% static 'tasks/app.css' %}"&gt;</a:t>
            </a:r>
          </a:p>
        </p:txBody>
      </p:sp>
      <p:sp>
        <p:nvSpPr>
          <p:cNvPr id="10" name="code-line-3">
            <a:extLst>
              <a:ext uri="{FF2B5EF4-FFF2-40B4-BE49-F238E27FC236}">
                <a16:creationId xmlns:a16="http://schemas.microsoft.com/office/drawing/2014/main" id="{33431373-CDD2-4884-BBB7-3A6937C47235}"/>
              </a:ext>
            </a:extLst>
          </p:cNvPr>
          <p:cNvSpPr>
            <a:spLocks noGrp="1"/>
          </p:cNvSpPr>
          <p:nvPr/>
        </p:nvSpPr>
        <p:spPr>
          <a:xfrm>
            <a:off x="914400" y="3893344"/>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&lt;header&gt;PocketDesk&lt;/header&gt;</a:t>
            </a:r>
          </a:p>
        </p:txBody>
      </p:sp>
      <p:sp>
        <p:nvSpPr>
          <p:cNvPr id="11" name="code-line-4">
            <a:extLst>
              <a:ext uri="{FF2B5EF4-FFF2-40B4-BE49-F238E27FC236}">
                <a16:creationId xmlns:a16="http://schemas.microsoft.com/office/drawing/2014/main" id="{FCF7CCB3-A24E-4269-BF14-0FE9486F80BD}"/>
              </a:ext>
            </a:extLst>
          </p:cNvPr>
          <p:cNvSpPr>
            <a:spLocks noGrp="1"/>
          </p:cNvSpPr>
          <p:nvPr/>
        </p:nvSpPr>
        <p:spPr>
          <a:xfrm>
            <a:off x="914400" y="4216400"/>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&lt;main&gt;{% block content %}{% endblock %}&lt;/main&gt;</a:t>
            </a:r>
          </a:p>
        </p:txBody>
      </p:sp>
      <p:sp>
        <p:nvSpPr>
          <p:cNvPr id="12" name="code-line-5">
            <a:extLst>
              <a:ext uri="{FF2B5EF4-FFF2-40B4-BE49-F238E27FC236}">
                <a16:creationId xmlns:a16="http://schemas.microsoft.com/office/drawing/2014/main" id="{310563FC-FCEB-45E5-B322-3E6276F2F581}"/>
              </a:ext>
            </a:extLst>
          </p:cNvPr>
          <p:cNvSpPr>
            <a:spLocks noGrp="1"/>
          </p:cNvSpPr>
          <p:nvPr/>
        </p:nvSpPr>
        <p:spPr>
          <a:xfrm>
            <a:off x="914400" y="4539456"/>
            <a:ext cx="7639050" cy="351631"/>
          </a:xfrm>
          <a:prstGeom prst="rect">
            <a:avLst/>
          </a:prstGeom>
          <a:noFill/>
          <a:ln w="0">
            <a:noFill/>
          </a:ln>
        </p:spPr>
        <p:txBody>
          <a:bodyPr wrap="none" lIns="0" tIns="0" rIns="0" bIns="0" anchor="t">
            <a:noAutofit/>
          </a:bodyPr>
          <a:lstStyle/>
          <a:p>
            <a:endParaRPr/>
          </a:p>
        </p:txBody>
      </p:sp>
      <p:sp>
        <p:nvSpPr>
          <p:cNvPr id="13" name="code-line-6">
            <a:extLst>
              <a:ext uri="{FF2B5EF4-FFF2-40B4-BE49-F238E27FC236}">
                <a16:creationId xmlns:a16="http://schemas.microsoft.com/office/drawing/2014/main" id="{6C14EFFD-B8E9-43E7-B4A9-2696FCA1DED0}"/>
              </a:ext>
            </a:extLst>
          </p:cNvPr>
          <p:cNvSpPr>
            <a:spLocks noGrp="1"/>
          </p:cNvSpPr>
          <p:nvPr/>
        </p:nvSpPr>
        <p:spPr>
          <a:xfrm>
            <a:off x="914400" y="4862513"/>
            <a:ext cx="7639050" cy="351631"/>
          </a:xfrm>
          <a:prstGeom prst="rect">
            <a:avLst/>
          </a:prstGeom>
          <a:noFill/>
          <a:ln w="0">
            <a:noFill/>
          </a:ln>
        </p:spPr>
        <p:txBody>
          <a:bodyPr wrap="none" lIns="0" tIns="0" rIns="0" bIns="0" anchor="t">
            <a:noAutofit/>
          </a:bodyPr>
          <a:lstStyle/>
          <a:p>
            <a:pPr algn="l">
              <a:defRPr sz="1650" b="0">
                <a:solidFill>
                  <a:srgbClr val="B1BFD2"/>
                </a:solidFill>
                <a:latin typeface="Menlo"/>
                <a:ea typeface="Menlo"/>
                <a:cs typeface="Menlo"/>
              </a:defRPr>
            </a:pPr>
            <a:r>
              <a:rPr sz="1650" b="0">
                <a:solidFill>
                  <a:srgbClr val="B1BFD2"/>
                </a:solidFill>
                <a:latin typeface="Menlo"/>
                <a:ea typeface="Menlo"/>
                <a:cs typeface="Menlo"/>
              </a:rPr>
              <a:t>&lt;!-- tasks/templates/tasks/list.html --&gt;</a:t>
            </a:r>
          </a:p>
        </p:txBody>
      </p:sp>
      <p:sp>
        <p:nvSpPr>
          <p:cNvPr id="14" name="code-line-7">
            <a:extLst>
              <a:ext uri="{FF2B5EF4-FFF2-40B4-BE49-F238E27FC236}">
                <a16:creationId xmlns:a16="http://schemas.microsoft.com/office/drawing/2014/main" id="{E3D1C1F2-1383-4593-8A1A-F403500201CD}"/>
              </a:ext>
            </a:extLst>
          </p:cNvPr>
          <p:cNvSpPr>
            <a:spLocks noGrp="1"/>
          </p:cNvSpPr>
          <p:nvPr/>
        </p:nvSpPr>
        <p:spPr>
          <a:xfrm>
            <a:off x="914400" y="5185569"/>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extends "base.html" %}</a:t>
            </a:r>
          </a:p>
        </p:txBody>
      </p:sp>
      <p:sp>
        <p:nvSpPr>
          <p:cNvPr id="15" name="code-line-8">
            <a:extLst>
              <a:ext uri="{FF2B5EF4-FFF2-40B4-BE49-F238E27FC236}">
                <a16:creationId xmlns:a16="http://schemas.microsoft.com/office/drawing/2014/main" id="{A3338519-E602-454C-970E-097A0F386BE4}"/>
              </a:ext>
            </a:extLst>
          </p:cNvPr>
          <p:cNvSpPr>
            <a:spLocks noGrp="1"/>
          </p:cNvSpPr>
          <p:nvPr/>
        </p:nvSpPr>
        <p:spPr>
          <a:xfrm>
            <a:off x="914400" y="5508625"/>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block content %}</a:t>
            </a:r>
          </a:p>
        </p:txBody>
      </p:sp>
      <p:sp>
        <p:nvSpPr>
          <p:cNvPr id="16" name="code-line-9">
            <a:extLst>
              <a:ext uri="{FF2B5EF4-FFF2-40B4-BE49-F238E27FC236}">
                <a16:creationId xmlns:a16="http://schemas.microsoft.com/office/drawing/2014/main" id="{7B6BAC93-BF7A-40CE-83D0-CCF261DE18B9}"/>
              </a:ext>
            </a:extLst>
          </p:cNvPr>
          <p:cNvSpPr>
            <a:spLocks noGrp="1"/>
          </p:cNvSpPr>
          <p:nvPr/>
        </p:nvSpPr>
        <p:spPr>
          <a:xfrm>
            <a:off x="914400" y="5831681"/>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&lt;h1&gt;My tasks&lt;/h1&gt;</a:t>
            </a:r>
          </a:p>
        </p:txBody>
      </p:sp>
      <p:sp>
        <p:nvSpPr>
          <p:cNvPr id="17" name="code-line-10">
            <a:extLst>
              <a:ext uri="{FF2B5EF4-FFF2-40B4-BE49-F238E27FC236}">
                <a16:creationId xmlns:a16="http://schemas.microsoft.com/office/drawing/2014/main" id="{D2412E9D-F78F-406C-89F9-E8E267F70B47}"/>
              </a:ext>
            </a:extLst>
          </p:cNvPr>
          <p:cNvSpPr>
            <a:spLocks noGrp="1"/>
          </p:cNvSpPr>
          <p:nvPr/>
        </p:nvSpPr>
        <p:spPr>
          <a:xfrm>
            <a:off x="914400" y="6154738"/>
            <a:ext cx="7639050" cy="351631"/>
          </a:xfrm>
          <a:prstGeom prst="rect">
            <a:avLst/>
          </a:prstGeom>
          <a:noFill/>
          <a:ln w="0">
            <a:noFill/>
          </a:ln>
        </p:spPr>
        <p:txBody>
          <a:bodyPr wrap="none" lIns="0" tIns="0" rIns="0" bIns="0" anchor="t">
            <a:noAutofit/>
          </a:bodyPr>
          <a:lstStyle/>
          <a:p>
            <a:pPr algn="l">
              <a:defRPr sz="1650" b="0">
                <a:solidFill>
                  <a:srgbClr val="B1BFD2"/>
                </a:solidFill>
                <a:latin typeface="Menlo"/>
                <a:ea typeface="Menlo"/>
                <a:cs typeface="Menlo"/>
              </a:defRPr>
            </a:pPr>
            <a:r>
              <a:rPr sz="1650" b="0">
                <a:solidFill>
                  <a:srgbClr val="B1BFD2"/>
                </a:solidFill>
                <a:latin typeface="Menlo"/>
                <a:ea typeface="Menlo"/>
                <a:cs typeface="Menlo"/>
              </a:rPr>
              <a:t>  &lt;!-- Place the task loop here --&gt;</a:t>
            </a:r>
          </a:p>
        </p:txBody>
      </p:sp>
      <p:sp>
        <p:nvSpPr>
          <p:cNvPr id="18" name="code-line-11">
            <a:extLst>
              <a:ext uri="{FF2B5EF4-FFF2-40B4-BE49-F238E27FC236}">
                <a16:creationId xmlns:a16="http://schemas.microsoft.com/office/drawing/2014/main" id="{EB3D9B65-6283-4273-AB26-7388042F4422}"/>
              </a:ext>
            </a:extLst>
          </p:cNvPr>
          <p:cNvSpPr>
            <a:spLocks noGrp="1"/>
          </p:cNvSpPr>
          <p:nvPr/>
        </p:nvSpPr>
        <p:spPr>
          <a:xfrm>
            <a:off x="914400" y="6477794"/>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endblock %}</a:t>
            </a:r>
          </a:p>
        </p:txBody>
      </p:sp>
      <p:sp>
        <p:nvSpPr>
          <p:cNvPr id="19" name="reveal-1-output-1">
            <a:extLst>
              <a:ext uri="{FF2B5EF4-FFF2-40B4-BE49-F238E27FC236}">
                <a16:creationId xmlns:a16="http://schemas.microsoft.com/office/drawing/2014/main" id="{73AA075A-416F-4FF0-BE10-00F2392FD3BD}"/>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Styled PocketDesk page</a:t>
            </a:r>
          </a:p>
        </p:txBody>
      </p:sp>
      <p:pic>
        <p:nvPicPr>
          <p:cNvPr id="42" name="reveal-1-output-2"/>
          <p:cNvPicPr>
            <a:picLocks noChangeAspect="1"/>
          </p:cNvPicPr>
          <p:nvPr/>
        </p:nvPicPr>
        <p:blipFill>
          <a:blip r:embed="rId3"/>
          <a:srcRect l="21500" t="45000" r="39000" b="16000"/>
          <a:stretch>
            <a:fillRect/>
          </a:stretch>
        </p:blipFill>
        <p:spPr>
          <a:xfrm>
            <a:off x="9239250" y="2952750"/>
            <a:ext cx="5295900" cy="3422529"/>
          </a:xfrm>
          <a:prstGeom prst="rect">
            <a:avLst/>
          </a:prstGeom>
        </p:spPr>
      </p:pic>
      <p:sp>
        <p:nvSpPr>
          <p:cNvPr id="21" name="reveal-1-output-3">
            <a:extLst>
              <a:ext uri="{FF2B5EF4-FFF2-40B4-BE49-F238E27FC236}">
                <a16:creationId xmlns:a16="http://schemas.microsoft.com/office/drawing/2014/main" id="{4C197022-DE21-4C58-B704-7CF80E157848}"/>
              </a:ext>
            </a:extLst>
          </p:cNvPr>
          <p:cNvSpPr>
            <a:spLocks noGrp="1"/>
          </p:cNvSpPr>
          <p:nvPr/>
        </p:nvSpPr>
        <p:spPr>
          <a:xfrm>
            <a:off x="9239250" y="6610350"/>
            <a:ext cx="5295900" cy="285750"/>
          </a:xfrm>
          <a:prstGeom prst="rect">
            <a:avLst/>
          </a:prstGeom>
          <a:noFill/>
          <a:ln w="0">
            <a:noFill/>
          </a:ln>
        </p:spPr>
        <p:txBody>
          <a:bodyPr wrap="none" lIns="0" tIns="0" rIns="0" bIns="0" anchor="t">
            <a:noAutofit/>
          </a:bodyPr>
          <a:lstStyle/>
          <a:p>
            <a:pPr algn="l">
              <a:defRPr sz="1350" b="0">
                <a:solidFill>
                  <a:srgbClr val="65717A"/>
                </a:solidFill>
                <a:latin typeface="Helvetica Neue"/>
                <a:ea typeface="Helvetica Neue"/>
                <a:cs typeface="Helvetica Neue"/>
              </a:defRPr>
            </a:pPr>
            <a:r>
              <a:rPr sz="1350" b="0">
                <a:solidFill>
                  <a:srgbClr val="65717A"/>
                </a:solidFill>
                <a:latin typeface="Helvetica Neue"/>
                <a:ea typeface="Helvetica Neue"/>
                <a:cs typeface="Helvetica Neue"/>
              </a:rPr>
              <a:t>Illustrative UI detail</a:t>
            </a:r>
          </a:p>
        </p:txBody>
      </p:sp>
      <p:sp>
        <p:nvSpPr>
          <p:cNvPr id="22" name="fade-1-takeaway">
            <a:extLst>
              <a:ext uri="{FF2B5EF4-FFF2-40B4-BE49-F238E27FC236}">
                <a16:creationId xmlns:a16="http://schemas.microsoft.com/office/drawing/2014/main" id="{8F0F21C8-1994-4A9D-ACAB-AD10859495A5}"/>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Every page can reuse the PocketDesk header and CSS.</a:t>
            </a:r>
          </a:p>
        </p:txBody>
      </p:sp>
    </p:spTree>
    <p:extLst>
      <p:ext uri="{BB962C8B-B14F-4D97-AF65-F5344CB8AC3E}">
        <p14:creationId xmlns:p14="http://schemas.microsoft.com/office/powerpoint/2010/main" val="1269161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350" fill="hold">
                                          <p:stCondLst>
                                            <p:cond delay="0"/>
                                          </p:stCondLst>
                                        </p:cTn>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42C35"/>
        </a:solidFill>
        <a:effectLst/>
      </p:bgPr>
    </p:bg>
    <p:spTree>
      <p:nvGrpSpPr>
        <p:cNvPr id="1" name=""/>
        <p:cNvGrpSpPr/>
        <p:nvPr/>
      </p:nvGrpSpPr>
      <p:grpSpPr>
        <a:xfrm>
          <a:off x="0" y="0"/>
          <a:ext cx="0" cy="0"/>
          <a:chOff x="0" y="0"/>
          <a:chExt cx="0" cy="0"/>
        </a:xfrm>
      </p:grpSpPr>
      <p:sp>
        <p:nvSpPr>
          <p:cNvPr id="11" name="text-180">
            <a:extLst>
              <a:ext uri="{FF2B5EF4-FFF2-40B4-BE49-F238E27FC236}">
                <a16:creationId xmlns:a16="http://schemas.microsoft.com/office/drawing/2014/main" id="{90C95692-B4B8-45C6-9596-D8FB64A7AC2B}"/>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CDD4DD"/>
                </a:solidFill>
                <a:latin typeface="Helvetica Neue"/>
                <a:ea typeface="Helvetica Neue"/>
                <a:cs typeface="Helvetica Neue"/>
              </a:defRPr>
            </a:pPr>
            <a:r>
              <a:rPr sz="1500" b="0">
                <a:solidFill>
                  <a:srgbClr val="CDD4DD"/>
                </a:solidFill>
                <a:latin typeface="Helvetica Neue"/>
                <a:ea typeface="Helvetica Neue"/>
                <a:cs typeface="Helvetica Neue"/>
              </a:rPr>
              <a:t>02 / Django and data</a:t>
            </a:r>
          </a:p>
        </p:txBody>
      </p:sp>
      <p:sp>
        <p:nvSpPr>
          <p:cNvPr id="2" name="text-181">
            <a:extLst>
              <a:ext uri="{FF2B5EF4-FFF2-40B4-BE49-F238E27FC236}">
                <a16:creationId xmlns:a16="http://schemas.microsoft.com/office/drawing/2014/main" id="{F510A3C9-FF36-4F43-B194-8A9AABE283E4}"/>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F8F5EF"/>
                </a:solidFill>
                <a:latin typeface="Georgia"/>
                <a:ea typeface="Georgia"/>
                <a:cs typeface="Georgia"/>
              </a:defRPr>
            </a:pPr>
            <a:r>
              <a:rPr sz="3525" b="0">
                <a:solidFill>
                  <a:srgbClr val="F8F5EF"/>
                </a:solidFill>
                <a:latin typeface="Georgia"/>
                <a:ea typeface="Georgia"/>
                <a:cs typeface="Georgia"/>
              </a:rPr>
              <a:t>Checkpoint: your first task list</a:t>
            </a:r>
          </a:p>
        </p:txBody>
      </p:sp>
      <p:sp>
        <p:nvSpPr>
          <p:cNvPr id="3" name="text-182">
            <a:extLst>
              <a:ext uri="{FF2B5EF4-FFF2-40B4-BE49-F238E27FC236}">
                <a16:creationId xmlns:a16="http://schemas.microsoft.com/office/drawing/2014/main" id="{006A2827-F1FF-4D86-81B8-00FD4F42DF65}"/>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BAC3CF"/>
                </a:solidFill>
                <a:latin typeface="Helvetica Neue"/>
                <a:ea typeface="Helvetica Neue"/>
                <a:cs typeface="Helvetica Neue"/>
              </a:defRPr>
            </a:pPr>
            <a:r>
              <a:rPr sz="1125" b="0">
                <a:solidFill>
                  <a:srgbClr val="BAC3CF"/>
                </a:solidFill>
                <a:latin typeface="Helvetica Neue"/>
                <a:ea typeface="Helvetica Neue"/>
                <a:cs typeface="Helvetica Neue"/>
              </a:rPr>
              <a:t>BHAVYA SHAH / DJANGO WORKSHOP</a:t>
            </a:r>
          </a:p>
        </p:txBody>
      </p:sp>
      <p:sp>
        <p:nvSpPr>
          <p:cNvPr id="4" name="text-183">
            <a:extLst>
              <a:ext uri="{FF2B5EF4-FFF2-40B4-BE49-F238E27FC236}">
                <a16:creationId xmlns:a16="http://schemas.microsoft.com/office/drawing/2014/main" id="{13127AEA-55EA-4B85-B4ED-4D2E05D59A82}"/>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BAC3CF"/>
                </a:solidFill>
                <a:latin typeface="Helvetica Neue"/>
                <a:ea typeface="Helvetica Neue"/>
                <a:cs typeface="Helvetica Neue"/>
              </a:defRPr>
            </a:pPr>
            <a:r>
              <a:rPr sz="1575" b="0">
                <a:solidFill>
                  <a:srgbClr val="BAC3CF"/>
                </a:solidFill>
                <a:latin typeface="Helvetica Neue"/>
                <a:ea typeface="Helvetica Neue"/>
                <a:cs typeface="Helvetica Neue"/>
              </a:rPr>
              <a:t>24</a:t>
            </a:r>
          </a:p>
        </p:txBody>
      </p:sp>
      <p:sp>
        <p:nvSpPr>
          <p:cNvPr id="5" name="text-184">
            <a:extLst>
              <a:ext uri="{FF2B5EF4-FFF2-40B4-BE49-F238E27FC236}">
                <a16:creationId xmlns:a16="http://schemas.microsoft.com/office/drawing/2014/main" id="{EB6D2A23-2BB5-4B8A-9582-E8FCE08D1DF5}"/>
              </a:ext>
            </a:extLst>
          </p:cNvPr>
          <p:cNvSpPr>
            <a:spLocks noGrp="1"/>
          </p:cNvSpPr>
          <p:nvPr/>
        </p:nvSpPr>
        <p:spPr>
          <a:xfrm>
            <a:off x="685800" y="2228850"/>
            <a:ext cx="13573125" cy="1123950"/>
          </a:xfrm>
          <a:prstGeom prst="rect">
            <a:avLst/>
          </a:prstGeom>
          <a:noFill/>
          <a:ln w="0">
            <a:noFill/>
          </a:ln>
        </p:spPr>
        <p:txBody>
          <a:bodyPr wrap="none" lIns="0" tIns="0" rIns="0" bIns="0" anchor="t">
            <a:noAutofit/>
          </a:bodyPr>
          <a:lstStyle/>
          <a:p>
            <a:pPr algn="l">
              <a:defRPr sz="2850" b="0">
                <a:solidFill>
                  <a:srgbClr val="F8F5EF"/>
                </a:solidFill>
                <a:latin typeface="Georgia"/>
                <a:ea typeface="Georgia"/>
                <a:cs typeface="Georgia"/>
              </a:defRPr>
            </a:pPr>
            <a:r>
              <a:rPr sz="2850" b="0">
                <a:solidFill>
                  <a:srgbClr val="F8F5EF"/>
                </a:solidFill>
                <a:latin typeface="Georgia"/>
                <a:ea typeface="Georgia"/>
                <a:cs typeface="Georgia"/>
              </a:rPr>
              <a:t>Can you trace “Prepare Django demo” from its row to the page?</a:t>
            </a:r>
          </a:p>
        </p:txBody>
      </p:sp>
      <p:sp>
        <p:nvSpPr>
          <p:cNvPr id="6" name="reveal-1-number">
            <a:extLst>
              <a:ext uri="{FF2B5EF4-FFF2-40B4-BE49-F238E27FC236}">
                <a16:creationId xmlns:a16="http://schemas.microsoft.com/office/drawing/2014/main" id="{41C675BB-93E8-4A9F-93EB-163AD6F644B7}"/>
              </a:ext>
            </a:extLst>
          </p:cNvPr>
          <p:cNvSpPr>
            <a:spLocks noGrp="1"/>
          </p:cNvSpPr>
          <p:nvPr/>
        </p:nvSpPr>
        <p:spPr>
          <a:xfrm>
            <a:off x="685800" y="3876675"/>
            <a:ext cx="714375" cy="581025"/>
          </a:xfrm>
          <a:prstGeom prst="rect">
            <a:avLst/>
          </a:prstGeom>
          <a:noFill/>
          <a:ln w="0">
            <a:noFill/>
          </a:ln>
        </p:spPr>
        <p:txBody>
          <a:bodyPr wrap="none" lIns="0" tIns="0" rIns="0" bIns="0" anchor="t">
            <a:noAutofit/>
          </a:bodyPr>
          <a:lstStyle/>
          <a:p>
            <a:pPr algn="l">
              <a:defRPr sz="3075" b="0">
                <a:solidFill>
                  <a:srgbClr val="ED9D7C"/>
                </a:solidFill>
                <a:latin typeface="Georgia"/>
                <a:ea typeface="Georgia"/>
                <a:cs typeface="Georgia"/>
              </a:defRPr>
            </a:pPr>
            <a:r>
              <a:rPr sz="3075" b="0">
                <a:solidFill>
                  <a:srgbClr val="ED9D7C"/>
                </a:solidFill>
                <a:latin typeface="Georgia"/>
                <a:ea typeface="Georgia"/>
                <a:cs typeface="Georgia"/>
              </a:rPr>
              <a:t>1</a:t>
            </a:r>
          </a:p>
        </p:txBody>
      </p:sp>
      <p:sp>
        <p:nvSpPr>
          <p:cNvPr id="7" name="reveal-1-task">
            <a:extLst>
              <a:ext uri="{FF2B5EF4-FFF2-40B4-BE49-F238E27FC236}">
                <a16:creationId xmlns:a16="http://schemas.microsoft.com/office/drawing/2014/main" id="{74E330E1-9C00-4F9B-A83E-A8A7B8399465}"/>
              </a:ext>
            </a:extLst>
          </p:cNvPr>
          <p:cNvSpPr>
            <a:spLocks noGrp="1"/>
          </p:cNvSpPr>
          <p:nvPr/>
        </p:nvSpPr>
        <p:spPr>
          <a:xfrm>
            <a:off x="1733550" y="3905250"/>
            <a:ext cx="12801600" cy="857250"/>
          </a:xfrm>
          <a:prstGeom prst="rect">
            <a:avLst/>
          </a:prstGeom>
          <a:noFill/>
          <a:ln w="0">
            <a:noFill/>
          </a:ln>
        </p:spPr>
        <p:txBody>
          <a:bodyPr wrap="none" lIns="0" tIns="0" rIns="0" bIns="0" anchor="t">
            <a:noAutofit/>
          </a:bodyPr>
          <a:lstStyle/>
          <a:p>
            <a:pPr algn="l">
              <a:defRPr sz="2325" b="0">
                <a:solidFill>
                  <a:srgbClr val="F8F5EF"/>
                </a:solidFill>
                <a:latin typeface="Helvetica Neue"/>
                <a:ea typeface="Helvetica Neue"/>
                <a:cs typeface="Helvetica Neue"/>
              </a:defRPr>
            </a:pPr>
            <a:r>
              <a:rPr sz="2325" b="0">
                <a:solidFill>
                  <a:srgbClr val="F8F5EF"/>
                </a:solidFill>
                <a:latin typeface="Helvetica Neue"/>
                <a:ea typeface="Helvetica Neue"/>
                <a:cs typeface="Helvetica Neue"/>
              </a:rPr>
              <a:t>Create three tasks for asha in the admin.</a:t>
            </a:r>
          </a:p>
        </p:txBody>
      </p:sp>
      <p:sp>
        <p:nvSpPr>
          <p:cNvPr id="8" name="reveal-2-number">
            <a:extLst>
              <a:ext uri="{FF2B5EF4-FFF2-40B4-BE49-F238E27FC236}">
                <a16:creationId xmlns:a16="http://schemas.microsoft.com/office/drawing/2014/main" id="{2A5E12C7-8607-4F1B-9983-0BA0D6C5F6E7}"/>
              </a:ext>
            </a:extLst>
          </p:cNvPr>
          <p:cNvSpPr>
            <a:spLocks noGrp="1"/>
          </p:cNvSpPr>
          <p:nvPr/>
        </p:nvSpPr>
        <p:spPr>
          <a:xfrm>
            <a:off x="685800" y="4838700"/>
            <a:ext cx="714375" cy="581025"/>
          </a:xfrm>
          <a:prstGeom prst="rect">
            <a:avLst/>
          </a:prstGeom>
          <a:noFill/>
          <a:ln w="0">
            <a:noFill/>
          </a:ln>
        </p:spPr>
        <p:txBody>
          <a:bodyPr wrap="none" lIns="0" tIns="0" rIns="0" bIns="0" anchor="t">
            <a:noAutofit/>
          </a:bodyPr>
          <a:lstStyle/>
          <a:p>
            <a:pPr algn="l">
              <a:defRPr sz="3075" b="0">
                <a:solidFill>
                  <a:srgbClr val="ED9D7C"/>
                </a:solidFill>
                <a:latin typeface="Georgia"/>
                <a:ea typeface="Georgia"/>
                <a:cs typeface="Georgia"/>
              </a:defRPr>
            </a:pPr>
            <a:r>
              <a:rPr sz="3075" b="0">
                <a:solidFill>
                  <a:srgbClr val="ED9D7C"/>
                </a:solidFill>
                <a:latin typeface="Georgia"/>
                <a:ea typeface="Georgia"/>
                <a:cs typeface="Georgia"/>
              </a:rPr>
              <a:t>2</a:t>
            </a:r>
          </a:p>
        </p:txBody>
      </p:sp>
      <p:sp>
        <p:nvSpPr>
          <p:cNvPr id="9" name="reveal-2-task">
            <a:extLst>
              <a:ext uri="{FF2B5EF4-FFF2-40B4-BE49-F238E27FC236}">
                <a16:creationId xmlns:a16="http://schemas.microsoft.com/office/drawing/2014/main" id="{31193F55-5C90-4BB5-9E17-3D3ADEE3DCCC}"/>
              </a:ext>
            </a:extLst>
          </p:cNvPr>
          <p:cNvSpPr>
            <a:spLocks noGrp="1"/>
          </p:cNvSpPr>
          <p:nvPr/>
        </p:nvSpPr>
        <p:spPr>
          <a:xfrm>
            <a:off x="1733550" y="4867275"/>
            <a:ext cx="12801600" cy="857250"/>
          </a:xfrm>
          <a:prstGeom prst="rect">
            <a:avLst/>
          </a:prstGeom>
          <a:noFill/>
          <a:ln w="0">
            <a:noFill/>
          </a:ln>
        </p:spPr>
        <p:txBody>
          <a:bodyPr wrap="none" lIns="0" tIns="0" rIns="0" bIns="0" anchor="t">
            <a:noAutofit/>
          </a:bodyPr>
          <a:lstStyle/>
          <a:p>
            <a:pPr algn="l">
              <a:defRPr sz="2325" b="0">
                <a:solidFill>
                  <a:srgbClr val="F8F5EF"/>
                </a:solidFill>
                <a:latin typeface="Helvetica Neue"/>
                <a:ea typeface="Helvetica Neue"/>
                <a:cs typeface="Helvetica Neue"/>
              </a:defRPr>
            </a:pPr>
            <a:r>
              <a:rPr sz="2325" b="0">
                <a:solidFill>
                  <a:srgbClr val="F8F5EF"/>
                </a:solidFill>
                <a:latin typeface="Helvetica Neue"/>
                <a:ea typeface="Helvetica Neue"/>
                <a:cs typeface="Helvetica Neue"/>
              </a:rPr>
              <a:t>Show open tasks before completed tasks at /tasks/.</a:t>
            </a:r>
          </a:p>
        </p:txBody>
      </p:sp>
      <p:sp>
        <p:nvSpPr>
          <p:cNvPr id="10" name="reveal-4-result">
            <a:extLst>
              <a:ext uri="{FF2B5EF4-FFF2-40B4-BE49-F238E27FC236}">
                <a16:creationId xmlns:a16="http://schemas.microsoft.com/office/drawing/2014/main" id="{7FB58218-0BEA-4829-8B9E-B98226B6D0B2}"/>
              </a:ext>
            </a:extLst>
          </p:cNvPr>
          <p:cNvSpPr>
            <a:spLocks noGrp="1"/>
          </p:cNvSpPr>
          <p:nvPr/>
        </p:nvSpPr>
        <p:spPr>
          <a:xfrm>
            <a:off x="685800" y="7353300"/>
            <a:ext cx="13868400" cy="657225"/>
          </a:xfrm>
          <a:prstGeom prst="rect">
            <a:avLst/>
          </a:prstGeom>
          <a:noFill/>
          <a:ln w="0">
            <a:noFill/>
          </a:ln>
        </p:spPr>
        <p:txBody>
          <a:bodyPr wrap="none" lIns="0" tIns="0" rIns="0" bIns="0" anchor="t">
            <a:noAutofit/>
          </a:bodyPr>
          <a:lstStyle/>
          <a:p>
            <a:pPr algn="l">
              <a:defRPr sz="1950" b="0">
                <a:solidFill>
                  <a:srgbClr val="BED0FF"/>
                </a:solidFill>
                <a:latin typeface="Helvetica Neue"/>
                <a:ea typeface="Helvetica Neue"/>
                <a:cs typeface="Helvetica Neue"/>
              </a:defRPr>
            </a:pPr>
            <a:r>
              <a:rPr sz="1950" b="0">
                <a:solidFill>
                  <a:srgbClr val="BED0FF"/>
                </a:solidFill>
                <a:latin typeface="Helvetica Neue"/>
                <a:ea typeface="Helvetica Neue"/>
                <a:cs typeface="Helvetica Neue"/>
              </a:rPr>
              <a:t>Done when: you can identify the model, view, template and route.</a:t>
            </a:r>
          </a:p>
        </p:txBody>
      </p:sp>
    </p:spTree>
    <p:extLst>
      <p:ext uri="{BB962C8B-B14F-4D97-AF65-F5344CB8AC3E}">
        <p14:creationId xmlns:p14="http://schemas.microsoft.com/office/powerpoint/2010/main" val="12805220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1" name="text-185">
            <a:extLst>
              <a:ext uri="{FF2B5EF4-FFF2-40B4-BE49-F238E27FC236}">
                <a16:creationId xmlns:a16="http://schemas.microsoft.com/office/drawing/2014/main" id="{DA4D5261-F89C-41EE-A1E6-2433F5F5A685}"/>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02 / Django and data</a:t>
            </a:r>
          </a:p>
        </p:txBody>
      </p:sp>
      <p:sp>
        <p:nvSpPr>
          <p:cNvPr id="2" name="text-186">
            <a:extLst>
              <a:ext uri="{FF2B5EF4-FFF2-40B4-BE49-F238E27FC236}">
                <a16:creationId xmlns:a16="http://schemas.microsoft.com/office/drawing/2014/main" id="{7DE9868F-04F4-487B-9F39-5FD7F77BAD4C}"/>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Entry: a key and the note it identifies</a:t>
            </a:r>
          </a:p>
        </p:txBody>
      </p:sp>
      <p:sp>
        <p:nvSpPr>
          <p:cNvPr id="3" name="text-187">
            <a:extLst>
              <a:ext uri="{FF2B5EF4-FFF2-40B4-BE49-F238E27FC236}">
                <a16:creationId xmlns:a16="http://schemas.microsoft.com/office/drawing/2014/main" id="{583974A0-E2F7-43A7-A654-4C6B91A41729}"/>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188">
            <a:extLst>
              <a:ext uri="{FF2B5EF4-FFF2-40B4-BE49-F238E27FC236}">
                <a16:creationId xmlns:a16="http://schemas.microsoft.com/office/drawing/2014/main" id="{E21C4FA8-3D0A-41DC-ACCE-8B59FCF2D787}"/>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25</a:t>
            </a:r>
          </a:p>
        </p:txBody>
      </p:sp>
      <p:sp>
        <p:nvSpPr>
          <p:cNvPr id="5" name="text-189">
            <a:extLst>
              <a:ext uri="{FF2B5EF4-FFF2-40B4-BE49-F238E27FC236}">
                <a16:creationId xmlns:a16="http://schemas.microsoft.com/office/drawing/2014/main" id="{A0C25AEE-344D-4B1A-8126-F5A435ABC3A5}"/>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tasks/models.py, after Task</a:t>
            </a:r>
          </a:p>
        </p:txBody>
      </p:sp>
      <p:sp>
        <p:nvSpPr>
          <p:cNvPr id="6" name="code-panel-190">
            <a:extLst>
              <a:ext uri="{FF2B5EF4-FFF2-40B4-BE49-F238E27FC236}">
                <a16:creationId xmlns:a16="http://schemas.microsoft.com/office/drawing/2014/main" id="{FB62B2A1-CC7C-4B59-AD5F-A886CE678D7C}"/>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D08CC058-8A93-4DBE-85FF-EBFB7BEA4E00}"/>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A7C2FF"/>
                </a:solidFill>
                <a:latin typeface="Menlo"/>
                <a:ea typeface="Menlo"/>
                <a:cs typeface="Menlo"/>
              </a:rPr>
              <a:t>class</a:t>
            </a:r>
            <a:r>
              <a:rPr sz="1650" b="0">
                <a:solidFill>
                  <a:srgbClr val="FFFFFF"/>
                </a:solidFill>
                <a:latin typeface="Menlo"/>
                <a:ea typeface="Menlo"/>
                <a:cs typeface="Menlo"/>
              </a:rPr>
              <a:t> Entry(models.Model):</a:t>
            </a:r>
          </a:p>
        </p:txBody>
      </p:sp>
      <p:sp>
        <p:nvSpPr>
          <p:cNvPr id="8" name="code-line-1">
            <a:extLst>
              <a:ext uri="{FF2B5EF4-FFF2-40B4-BE49-F238E27FC236}">
                <a16:creationId xmlns:a16="http://schemas.microsoft.com/office/drawing/2014/main" id="{B581257C-C6E2-409C-82FB-E7025E140D92}"/>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key = models.CharField(max_length=80)</a:t>
            </a:r>
          </a:p>
        </p:txBody>
      </p:sp>
      <p:sp>
        <p:nvSpPr>
          <p:cNvPr id="9" name="code-line-2">
            <a:extLst>
              <a:ext uri="{FF2B5EF4-FFF2-40B4-BE49-F238E27FC236}">
                <a16:creationId xmlns:a16="http://schemas.microsoft.com/office/drawing/2014/main" id="{12B8D404-D25A-440F-9F1A-8A5F9CB05963}"/>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value = models.TextField()</a:t>
            </a:r>
          </a:p>
        </p:txBody>
      </p:sp>
      <p:sp>
        <p:nvSpPr>
          <p:cNvPr id="10" name="code-line-3">
            <a:extLst>
              <a:ext uri="{FF2B5EF4-FFF2-40B4-BE49-F238E27FC236}">
                <a16:creationId xmlns:a16="http://schemas.microsoft.com/office/drawing/2014/main" id="{20CB02ED-82E8-4791-916F-40B690913479}"/>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owner = models.ForeignKey(</a:t>
            </a:r>
          </a:p>
        </p:txBody>
      </p:sp>
      <p:sp>
        <p:nvSpPr>
          <p:cNvPr id="11" name="code-line-4">
            <a:extLst>
              <a:ext uri="{FF2B5EF4-FFF2-40B4-BE49-F238E27FC236}">
                <a16:creationId xmlns:a16="http://schemas.microsoft.com/office/drawing/2014/main" id="{C7902EF3-7AB5-4988-9D26-73F7C23B5348}"/>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settings.AUTH_USER_MODEL, on_delete=models.CASCADE</a:t>
            </a:r>
          </a:p>
        </p:txBody>
      </p:sp>
      <p:sp>
        <p:nvSpPr>
          <p:cNvPr id="12" name="code-line-5">
            <a:extLst>
              <a:ext uri="{FF2B5EF4-FFF2-40B4-BE49-F238E27FC236}">
                <a16:creationId xmlns:a16="http://schemas.microsoft.com/office/drawing/2014/main" id="{E3337CCC-B031-4D7B-92D8-7E789E25D492}"/>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a:t>
            </a:r>
          </a:p>
        </p:txBody>
      </p:sp>
      <p:sp>
        <p:nvSpPr>
          <p:cNvPr id="13" name="code-line-6">
            <a:extLst>
              <a:ext uri="{FF2B5EF4-FFF2-40B4-BE49-F238E27FC236}">
                <a16:creationId xmlns:a16="http://schemas.microsoft.com/office/drawing/2014/main" id="{A233E562-18C1-46DE-B29F-281CFFA77E1F}"/>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a:t>
            </a:r>
            <a:r>
              <a:rPr sz="1650" b="0">
                <a:solidFill>
                  <a:srgbClr val="A7C2FF"/>
                </a:solidFill>
                <a:latin typeface="Menlo"/>
                <a:ea typeface="Menlo"/>
                <a:cs typeface="Menlo"/>
              </a:rPr>
              <a:t>class</a:t>
            </a:r>
            <a:r>
              <a:rPr sz="1650" b="0">
                <a:solidFill>
                  <a:srgbClr val="FFFFFF"/>
                </a:solidFill>
                <a:latin typeface="Menlo"/>
                <a:ea typeface="Menlo"/>
                <a:cs typeface="Menlo"/>
              </a:rPr>
              <a:t> Meta:</a:t>
            </a:r>
          </a:p>
        </p:txBody>
      </p:sp>
      <p:sp>
        <p:nvSpPr>
          <p:cNvPr id="14" name="code-line-7">
            <a:extLst>
              <a:ext uri="{FF2B5EF4-FFF2-40B4-BE49-F238E27FC236}">
                <a16:creationId xmlns:a16="http://schemas.microsoft.com/office/drawing/2014/main" id="{3770C10D-169B-431A-A3A9-6336DBF27C4A}"/>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constraints = [models.UniqueConstraint(</a:t>
            </a:r>
          </a:p>
        </p:txBody>
      </p:sp>
      <p:sp>
        <p:nvSpPr>
          <p:cNvPr id="15" name="code-line-8">
            <a:extLst>
              <a:ext uri="{FF2B5EF4-FFF2-40B4-BE49-F238E27FC236}">
                <a16:creationId xmlns:a16="http://schemas.microsoft.com/office/drawing/2014/main" id="{EEEFA6EF-6BCF-4107-9696-B3B2967853F7}"/>
              </a:ext>
            </a:extLst>
          </p:cNvPr>
          <p:cNvSpPr>
            <a:spLocks noGrp="1"/>
          </p:cNvSpPr>
          <p:nvPr/>
        </p:nvSpPr>
        <p:spPr>
          <a:xfrm>
            <a:off x="914400" y="559117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fields=["owner", "key"],</a:t>
            </a:r>
          </a:p>
        </p:txBody>
      </p:sp>
      <p:sp>
        <p:nvSpPr>
          <p:cNvPr id="16" name="code-line-9">
            <a:extLst>
              <a:ext uri="{FF2B5EF4-FFF2-40B4-BE49-F238E27FC236}">
                <a16:creationId xmlns:a16="http://schemas.microsoft.com/office/drawing/2014/main" id="{1F66D238-3A7B-44B5-9B83-914274203F56}"/>
              </a:ext>
            </a:extLst>
          </p:cNvPr>
          <p:cNvSpPr>
            <a:spLocks noGrp="1"/>
          </p:cNvSpPr>
          <p:nvPr/>
        </p:nvSpPr>
        <p:spPr>
          <a:xfrm>
            <a:off x="914400" y="5924550"/>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name="unique_owner_entry_key",</a:t>
            </a:r>
          </a:p>
        </p:txBody>
      </p:sp>
      <p:sp>
        <p:nvSpPr>
          <p:cNvPr id="17" name="code-line-10">
            <a:extLst>
              <a:ext uri="{FF2B5EF4-FFF2-40B4-BE49-F238E27FC236}">
                <a16:creationId xmlns:a16="http://schemas.microsoft.com/office/drawing/2014/main" id="{1DCBA410-BF2A-4CC2-B4C5-EC427006305C}"/>
              </a:ext>
            </a:extLst>
          </p:cNvPr>
          <p:cNvSpPr>
            <a:spLocks noGrp="1"/>
          </p:cNvSpPr>
          <p:nvPr/>
        </p:nvSpPr>
        <p:spPr>
          <a:xfrm>
            <a:off x="914400" y="625792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a:t>
            </a:r>
          </a:p>
        </p:txBody>
      </p:sp>
      <p:sp>
        <p:nvSpPr>
          <p:cNvPr id="18" name="reveal-1-output-1">
            <a:extLst>
              <a:ext uri="{FF2B5EF4-FFF2-40B4-BE49-F238E27FC236}">
                <a16:creationId xmlns:a16="http://schemas.microsoft.com/office/drawing/2014/main" id="{DC213FC2-1CDC-489C-84FC-A5AD8D52AC56}"/>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Example entries</a:t>
            </a:r>
          </a:p>
        </p:txBody>
      </p:sp>
      <p:graphicFrame>
        <p:nvGraphicFramePr>
          <p:cNvPr id="39" name="reveal-1-output-2"/>
          <p:cNvGraphicFramePr/>
          <p:nvPr/>
        </p:nvGraphicFramePr>
        <p:xfrm>
          <a:off x="9239250" y="2952750"/>
          <a:ext cx="5295900" cy="3714750"/>
        </p:xfrm>
        <a:graphic>
          <a:graphicData uri="http://schemas.openxmlformats.org/drawingml/2006/table">
            <a:tbl>
              <a:tblPr firstRow="1"/>
              <a:tblGrid>
                <a:gridCol w="1765300">
                  <a:extLst>
                    <a:ext uri="{9D8B030D-6E8A-4147-A177-3AD203B41FA5}">
                      <a16:colId xmlns:a16="http://schemas.microsoft.com/office/drawing/2014/main" val="20000"/>
                    </a:ext>
                  </a:extLst>
                </a:gridCol>
                <a:gridCol w="1765300">
                  <a:extLst>
                    <a:ext uri="{9D8B030D-6E8A-4147-A177-3AD203B41FA5}">
                      <a16:colId xmlns:a16="http://schemas.microsoft.com/office/drawing/2014/main" val="20001"/>
                    </a:ext>
                  </a:extLst>
                </a:gridCol>
                <a:gridCol w="1765300">
                  <a:extLst>
                    <a:ext uri="{9D8B030D-6E8A-4147-A177-3AD203B41FA5}">
                      <a16:colId xmlns:a16="http://schemas.microsoft.com/office/drawing/2014/main" val="20002"/>
                    </a:ext>
                  </a:extLst>
                </a:gridCol>
              </a:tblGrid>
              <a:tr h="1238250">
                <a:tc>
                  <a:txBody>
                    <a:bodyPr/>
                    <a:lstStyle/>
                    <a:p>
                      <a:r>
                        <a:rPr sz="1575" b="1">
                          <a:solidFill>
                            <a:srgbClr val="FFFFFF"/>
                          </a:solidFill>
                          <a:latin typeface="Helvetica Neue"/>
                          <a:ea typeface="Helvetica Neue"/>
                          <a:cs typeface="Helvetica Neue"/>
                        </a:rPr>
                        <a:t>owner</a:t>
                      </a:r>
                    </a:p>
                  </a:txBody>
                  <a:tcPr anchor="ctr">
                    <a:solidFill>
                      <a:srgbClr val="242C35"/>
                    </a:solidFill>
                  </a:tcPr>
                </a:tc>
                <a:tc>
                  <a:txBody>
                    <a:bodyPr/>
                    <a:lstStyle/>
                    <a:p>
                      <a:r>
                        <a:rPr sz="1575" b="1">
                          <a:solidFill>
                            <a:srgbClr val="FFFFFF"/>
                          </a:solidFill>
                          <a:latin typeface="Helvetica Neue"/>
                          <a:ea typeface="Helvetica Neue"/>
                          <a:cs typeface="Helvetica Neue"/>
                        </a:rPr>
                        <a:t>key</a:t>
                      </a:r>
                    </a:p>
                  </a:txBody>
                  <a:tcPr anchor="ctr">
                    <a:solidFill>
                      <a:srgbClr val="242C35"/>
                    </a:solidFill>
                  </a:tcPr>
                </a:tc>
                <a:tc>
                  <a:txBody>
                    <a:bodyPr/>
                    <a:lstStyle/>
                    <a:p>
                      <a:r>
                        <a:rPr sz="1575" b="1">
                          <a:solidFill>
                            <a:srgbClr val="FFFFFF"/>
                          </a:solidFill>
                          <a:latin typeface="Helvetica Neue"/>
                          <a:ea typeface="Helvetica Neue"/>
                          <a:cs typeface="Helvetica Neue"/>
                        </a:rPr>
                        <a:t>value</a:t>
                      </a:r>
                    </a:p>
                  </a:txBody>
                  <a:tcPr anchor="ctr">
                    <a:solidFill>
                      <a:srgbClr val="242C35"/>
                    </a:solidFill>
                  </a:tcPr>
                </a:tc>
                <a:extLst>
                  <a:ext uri="{0D108BD9-81ED-4DB2-BD59-A6C34878D82A}">
                    <a16:rowId xmlns:a16="http://schemas.microsoft.com/office/drawing/2014/main" val="10000"/>
                  </a:ext>
                </a:extLst>
              </a:tr>
              <a:tr h="1238250">
                <a:tc>
                  <a:txBody>
                    <a:bodyPr/>
                    <a:lstStyle/>
                    <a:p>
                      <a:r>
                        <a:rPr sz="1575" b="0">
                          <a:solidFill>
                            <a:srgbClr val="242C35"/>
                          </a:solidFill>
                          <a:latin typeface="Helvetica Neue"/>
                          <a:ea typeface="Helvetica Neue"/>
                          <a:cs typeface="Helvetica Neue"/>
                        </a:rPr>
                        <a:t>asha</a:t>
                      </a:r>
                    </a:p>
                  </a:txBody>
                  <a:tcPr anchor="ctr">
                    <a:solidFill>
                      <a:srgbClr val="FFFFFF"/>
                    </a:solidFill>
                  </a:tcPr>
                </a:tc>
                <a:tc>
                  <a:txBody>
                    <a:bodyPr/>
                    <a:lstStyle/>
                    <a:p>
                      <a:r>
                        <a:rPr sz="1575" b="0">
                          <a:solidFill>
                            <a:srgbClr val="242C35"/>
                          </a:solidFill>
                          <a:latin typeface="Helvetica Neue"/>
                          <a:ea typeface="Helvetica Neue"/>
                          <a:cs typeface="Helvetica Neue"/>
                        </a:rPr>
                        <a:t>course_link</a:t>
                      </a:r>
                    </a:p>
                  </a:txBody>
                  <a:tcPr anchor="ctr">
                    <a:solidFill>
                      <a:srgbClr val="FFFFFF"/>
                    </a:solidFill>
                  </a:tcPr>
                </a:tc>
                <a:tc>
                  <a:txBody>
                    <a:bodyPr/>
                    <a:lstStyle/>
                    <a:p>
                      <a:r>
                        <a:rPr sz="1575" b="0">
                          <a:solidFill>
                            <a:srgbClr val="242C35"/>
                          </a:solidFill>
                          <a:latin typeface="Helvetica Neue"/>
                          <a:ea typeface="Helvetica Neue"/>
                          <a:cs typeface="Helvetica Neue"/>
                        </a:rPr>
                        <a:t>https://docs.djangoproject.com/en/5.2/</a:t>
                      </a:r>
                    </a:p>
                  </a:txBody>
                  <a:tcPr anchor="ctr">
                    <a:solidFill>
                      <a:srgbClr val="FFFFFF"/>
                    </a:solidFill>
                  </a:tcPr>
                </a:tc>
                <a:extLst>
                  <a:ext uri="{0D108BD9-81ED-4DB2-BD59-A6C34878D82A}">
                    <a16:rowId xmlns:a16="http://schemas.microsoft.com/office/drawing/2014/main" val="10001"/>
                  </a:ext>
                </a:extLst>
              </a:tr>
              <a:tr h="1238250">
                <a:tc>
                  <a:txBody>
                    <a:bodyPr/>
                    <a:lstStyle/>
                    <a:p>
                      <a:r>
                        <a:rPr sz="1575" b="0">
                          <a:solidFill>
                            <a:srgbClr val="242C35"/>
                          </a:solidFill>
                          <a:latin typeface="Helvetica Neue"/>
                          <a:ea typeface="Helvetica Neue"/>
                          <a:cs typeface="Helvetica Neue"/>
                        </a:rPr>
                        <a:t>bob</a:t>
                      </a:r>
                    </a:p>
                  </a:txBody>
                  <a:tcPr anchor="ctr">
                    <a:solidFill>
                      <a:srgbClr val="F8F5EF"/>
                    </a:solidFill>
                  </a:tcPr>
                </a:tc>
                <a:tc>
                  <a:txBody>
                    <a:bodyPr/>
                    <a:lstStyle/>
                    <a:p>
                      <a:r>
                        <a:rPr sz="1575" b="0">
                          <a:solidFill>
                            <a:srgbClr val="242C35"/>
                          </a:solidFill>
                          <a:latin typeface="Helvetica Neue"/>
                          <a:ea typeface="Helvetica Neue"/>
                          <a:cs typeface="Helvetica Neue"/>
                        </a:rPr>
                        <a:t>course_link</a:t>
                      </a:r>
                    </a:p>
                  </a:txBody>
                  <a:tcPr anchor="ctr">
                    <a:solidFill>
                      <a:srgbClr val="F8F5EF"/>
                    </a:solidFill>
                  </a:tcPr>
                </a:tc>
                <a:tc>
                  <a:txBody>
                    <a:bodyPr/>
                    <a:lstStyle/>
                    <a:p>
                      <a:r>
                        <a:rPr sz="1575" b="0">
                          <a:solidFill>
                            <a:srgbClr val="242C35"/>
                          </a:solidFill>
                          <a:latin typeface="Helvetica Neue"/>
                          <a:ea typeface="Helvetica Neue"/>
                          <a:cs typeface="Helvetica Neue"/>
                        </a:rPr>
                        <a:t>https://docs.python.org/3/</a:t>
                      </a:r>
                    </a:p>
                  </a:txBody>
                  <a:tcPr anchor="ctr">
                    <a:solidFill>
                      <a:srgbClr val="F8F5EF"/>
                    </a:solidFill>
                  </a:tcPr>
                </a:tc>
                <a:extLst>
                  <a:ext uri="{0D108BD9-81ED-4DB2-BD59-A6C34878D82A}">
                    <a16:rowId xmlns:a16="http://schemas.microsoft.com/office/drawing/2014/main" val="10002"/>
                  </a:ext>
                </a:extLst>
              </a:tr>
            </a:tbl>
          </a:graphicData>
        </a:graphic>
      </p:graphicFrame>
      <p:sp>
        <p:nvSpPr>
          <p:cNvPr id="20" name="fade-1-takeaway">
            <a:extLst>
              <a:ext uri="{FF2B5EF4-FFF2-40B4-BE49-F238E27FC236}">
                <a16:creationId xmlns:a16="http://schemas.microsoft.com/office/drawing/2014/main" id="{C8046F38-C4C6-4A75-9AEB-7170A6DC2973}"/>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Asha and Bob may both use course_link.</a:t>
            </a:r>
          </a:p>
        </p:txBody>
      </p:sp>
    </p:spTree>
    <p:extLst>
      <p:ext uri="{BB962C8B-B14F-4D97-AF65-F5344CB8AC3E}">
        <p14:creationId xmlns:p14="http://schemas.microsoft.com/office/powerpoint/2010/main" val="1749142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350" fill="hold">
                                          <p:stCondLst>
                                            <p:cond delay="0"/>
                                          </p:stCondLst>
                                        </p:cTn>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3" name="text-192">
            <a:extLst>
              <a:ext uri="{FF2B5EF4-FFF2-40B4-BE49-F238E27FC236}">
                <a16:creationId xmlns:a16="http://schemas.microsoft.com/office/drawing/2014/main" id="{C69509F4-7A8E-4689-9364-E4095DEE00CE}"/>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03 / Forms and CRUD</a:t>
            </a:r>
          </a:p>
        </p:txBody>
      </p:sp>
      <p:sp>
        <p:nvSpPr>
          <p:cNvPr id="2" name="text-193">
            <a:extLst>
              <a:ext uri="{FF2B5EF4-FFF2-40B4-BE49-F238E27FC236}">
                <a16:creationId xmlns:a16="http://schemas.microsoft.com/office/drawing/2014/main" id="{856C1091-01A0-47ED-947A-C6F7EA61E1EB}"/>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A form validates a task title</a:t>
            </a:r>
          </a:p>
        </p:txBody>
      </p:sp>
      <p:sp>
        <p:nvSpPr>
          <p:cNvPr id="3" name="text-194">
            <a:extLst>
              <a:ext uri="{FF2B5EF4-FFF2-40B4-BE49-F238E27FC236}">
                <a16:creationId xmlns:a16="http://schemas.microsoft.com/office/drawing/2014/main" id="{0AE16DFD-09AA-4AD8-B687-3BEFC63F8E78}"/>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195">
            <a:extLst>
              <a:ext uri="{FF2B5EF4-FFF2-40B4-BE49-F238E27FC236}">
                <a16:creationId xmlns:a16="http://schemas.microsoft.com/office/drawing/2014/main" id="{7EE849CB-FE76-4608-BC1C-3613F08B3051}"/>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26</a:t>
            </a:r>
          </a:p>
        </p:txBody>
      </p:sp>
      <p:sp>
        <p:nvSpPr>
          <p:cNvPr id="5" name="text-196">
            <a:extLst>
              <a:ext uri="{FF2B5EF4-FFF2-40B4-BE49-F238E27FC236}">
                <a16:creationId xmlns:a16="http://schemas.microsoft.com/office/drawing/2014/main" id="{CBAD6463-BDAA-44DD-9A52-06B758C37440}"/>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tasks/forms.py</a:t>
            </a:r>
          </a:p>
        </p:txBody>
      </p:sp>
      <p:sp>
        <p:nvSpPr>
          <p:cNvPr id="6" name="code-panel-197">
            <a:extLst>
              <a:ext uri="{FF2B5EF4-FFF2-40B4-BE49-F238E27FC236}">
                <a16:creationId xmlns:a16="http://schemas.microsoft.com/office/drawing/2014/main" id="{92218545-1617-472C-9615-51664CB5A46B}"/>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444BDF56-FE59-4FAE-ACED-1B0BBC2B7B1D}"/>
              </a:ext>
            </a:extLst>
          </p:cNvPr>
          <p:cNvSpPr>
            <a:spLocks noGrp="1"/>
          </p:cNvSpPr>
          <p:nvPr/>
        </p:nvSpPr>
        <p:spPr>
          <a:xfrm>
            <a:off x="914400" y="2924175"/>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class</a:t>
            </a:r>
            <a:r>
              <a:rPr sz="1725" b="0">
                <a:solidFill>
                  <a:srgbClr val="FFFFFF"/>
                </a:solidFill>
                <a:latin typeface="Menlo"/>
                <a:ea typeface="Menlo"/>
                <a:cs typeface="Menlo"/>
              </a:rPr>
              <a:t> TaskForm(forms.ModelForm):</a:t>
            </a:r>
          </a:p>
        </p:txBody>
      </p:sp>
      <p:sp>
        <p:nvSpPr>
          <p:cNvPr id="8" name="code-line-1">
            <a:extLst>
              <a:ext uri="{FF2B5EF4-FFF2-40B4-BE49-F238E27FC236}">
                <a16:creationId xmlns:a16="http://schemas.microsoft.com/office/drawing/2014/main" id="{C5ECD7BE-29D3-4052-941F-0B62D1770E1C}"/>
              </a:ext>
            </a:extLst>
          </p:cNvPr>
          <p:cNvSpPr>
            <a:spLocks noGrp="1"/>
          </p:cNvSpPr>
          <p:nvPr/>
        </p:nvSpPr>
        <p:spPr>
          <a:xfrm>
            <a:off x="914400" y="3247231"/>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class</a:t>
            </a:r>
            <a:r>
              <a:rPr sz="1725" b="0">
                <a:solidFill>
                  <a:srgbClr val="FFFFFF"/>
                </a:solidFill>
                <a:latin typeface="Menlo"/>
                <a:ea typeface="Menlo"/>
                <a:cs typeface="Menlo"/>
              </a:rPr>
              <a:t> Meta:</a:t>
            </a:r>
          </a:p>
        </p:txBody>
      </p:sp>
      <p:sp>
        <p:nvSpPr>
          <p:cNvPr id="9" name="code-line-2">
            <a:extLst>
              <a:ext uri="{FF2B5EF4-FFF2-40B4-BE49-F238E27FC236}">
                <a16:creationId xmlns:a16="http://schemas.microsoft.com/office/drawing/2014/main" id="{0B31C91A-D6BD-4896-A678-C0675A16EAFE}"/>
              </a:ext>
            </a:extLst>
          </p:cNvPr>
          <p:cNvSpPr>
            <a:spLocks noGrp="1"/>
          </p:cNvSpPr>
          <p:nvPr/>
        </p:nvSpPr>
        <p:spPr>
          <a:xfrm>
            <a:off x="914400" y="3570288"/>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model = Task</a:t>
            </a:r>
          </a:p>
        </p:txBody>
      </p:sp>
      <p:sp>
        <p:nvSpPr>
          <p:cNvPr id="10" name="code-line-3">
            <a:extLst>
              <a:ext uri="{FF2B5EF4-FFF2-40B4-BE49-F238E27FC236}">
                <a16:creationId xmlns:a16="http://schemas.microsoft.com/office/drawing/2014/main" id="{5FC01216-FEFA-47C7-B7B9-6E3C8287494B}"/>
              </a:ext>
            </a:extLst>
          </p:cNvPr>
          <p:cNvSpPr>
            <a:spLocks noGrp="1"/>
          </p:cNvSpPr>
          <p:nvPr/>
        </p:nvSpPr>
        <p:spPr>
          <a:xfrm>
            <a:off x="914400" y="3893344"/>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fields = ["title", "completed"]</a:t>
            </a:r>
          </a:p>
        </p:txBody>
      </p:sp>
      <p:sp>
        <p:nvSpPr>
          <p:cNvPr id="11" name="code-line-4">
            <a:extLst>
              <a:ext uri="{FF2B5EF4-FFF2-40B4-BE49-F238E27FC236}">
                <a16:creationId xmlns:a16="http://schemas.microsoft.com/office/drawing/2014/main" id="{9752D1FF-B894-4EE2-AC14-654FBA405D56}"/>
              </a:ext>
            </a:extLst>
          </p:cNvPr>
          <p:cNvSpPr>
            <a:spLocks noGrp="1"/>
          </p:cNvSpPr>
          <p:nvPr/>
        </p:nvSpPr>
        <p:spPr>
          <a:xfrm>
            <a:off x="914400" y="4216400"/>
            <a:ext cx="7639050" cy="351631"/>
          </a:xfrm>
          <a:prstGeom prst="rect">
            <a:avLst/>
          </a:prstGeom>
          <a:noFill/>
          <a:ln w="0">
            <a:noFill/>
          </a:ln>
        </p:spPr>
        <p:txBody>
          <a:bodyPr wrap="none" lIns="0" tIns="0" rIns="0" bIns="0" anchor="t">
            <a:noAutofit/>
          </a:bodyPr>
          <a:lstStyle/>
          <a:p>
            <a:endParaRPr/>
          </a:p>
        </p:txBody>
      </p:sp>
      <p:sp>
        <p:nvSpPr>
          <p:cNvPr id="12" name="code-line-5">
            <a:extLst>
              <a:ext uri="{FF2B5EF4-FFF2-40B4-BE49-F238E27FC236}">
                <a16:creationId xmlns:a16="http://schemas.microsoft.com/office/drawing/2014/main" id="{7EE61A8C-FBBC-4EC6-AB35-CEC1DB3DDAF8}"/>
              </a:ext>
            </a:extLst>
          </p:cNvPr>
          <p:cNvSpPr>
            <a:spLocks noGrp="1"/>
          </p:cNvSpPr>
          <p:nvPr/>
        </p:nvSpPr>
        <p:spPr>
          <a:xfrm>
            <a:off x="914400" y="4539456"/>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def</a:t>
            </a:r>
            <a:r>
              <a:rPr sz="1725" b="0">
                <a:solidFill>
                  <a:srgbClr val="FFFFFF"/>
                </a:solidFill>
                <a:latin typeface="Menlo"/>
                <a:ea typeface="Menlo"/>
                <a:cs typeface="Menlo"/>
              </a:rPr>
              <a:t> clean_title(self):</a:t>
            </a:r>
          </a:p>
        </p:txBody>
      </p:sp>
      <p:sp>
        <p:nvSpPr>
          <p:cNvPr id="13" name="code-line-6">
            <a:extLst>
              <a:ext uri="{FF2B5EF4-FFF2-40B4-BE49-F238E27FC236}">
                <a16:creationId xmlns:a16="http://schemas.microsoft.com/office/drawing/2014/main" id="{C902B5DE-C140-49C5-A49E-9FEB96D1FB65}"/>
              </a:ext>
            </a:extLst>
          </p:cNvPr>
          <p:cNvSpPr>
            <a:spLocks noGrp="1"/>
          </p:cNvSpPr>
          <p:nvPr/>
        </p:nvSpPr>
        <p:spPr>
          <a:xfrm>
            <a:off x="914400" y="4862513"/>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value = self.cleaned_data["title"].strip()</a:t>
            </a:r>
          </a:p>
        </p:txBody>
      </p:sp>
      <p:sp>
        <p:nvSpPr>
          <p:cNvPr id="14" name="code-line-7">
            <a:extLst>
              <a:ext uri="{FF2B5EF4-FFF2-40B4-BE49-F238E27FC236}">
                <a16:creationId xmlns:a16="http://schemas.microsoft.com/office/drawing/2014/main" id="{6F3A1EBB-1820-41DA-B5B1-F6DDF38135BC}"/>
              </a:ext>
            </a:extLst>
          </p:cNvPr>
          <p:cNvSpPr>
            <a:spLocks noGrp="1"/>
          </p:cNvSpPr>
          <p:nvPr/>
        </p:nvSpPr>
        <p:spPr>
          <a:xfrm>
            <a:off x="914400" y="5185569"/>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if</a:t>
            </a:r>
            <a:r>
              <a:rPr sz="1725" b="0">
                <a:solidFill>
                  <a:srgbClr val="FFFFFF"/>
                </a:solidFill>
                <a:latin typeface="Menlo"/>
                <a:ea typeface="Menlo"/>
                <a:cs typeface="Menlo"/>
              </a:rPr>
              <a:t> len(value) &lt; 3:</a:t>
            </a:r>
          </a:p>
        </p:txBody>
      </p:sp>
      <p:sp>
        <p:nvSpPr>
          <p:cNvPr id="15" name="code-line-8">
            <a:extLst>
              <a:ext uri="{FF2B5EF4-FFF2-40B4-BE49-F238E27FC236}">
                <a16:creationId xmlns:a16="http://schemas.microsoft.com/office/drawing/2014/main" id="{EA04B887-F9CF-46F5-A119-940A7160FAD9}"/>
              </a:ext>
            </a:extLst>
          </p:cNvPr>
          <p:cNvSpPr>
            <a:spLocks noGrp="1"/>
          </p:cNvSpPr>
          <p:nvPr/>
        </p:nvSpPr>
        <p:spPr>
          <a:xfrm>
            <a:off x="914400" y="5508625"/>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raise</a:t>
            </a:r>
            <a:r>
              <a:rPr sz="1725" b="0">
                <a:solidFill>
                  <a:srgbClr val="FFFFFF"/>
                </a:solidFill>
                <a:latin typeface="Menlo"/>
                <a:ea typeface="Menlo"/>
                <a:cs typeface="Menlo"/>
              </a:rPr>
              <a:t> forms.ValidationError(</a:t>
            </a:r>
          </a:p>
        </p:txBody>
      </p:sp>
      <p:sp>
        <p:nvSpPr>
          <p:cNvPr id="16" name="code-line-9">
            <a:extLst>
              <a:ext uri="{FF2B5EF4-FFF2-40B4-BE49-F238E27FC236}">
                <a16:creationId xmlns:a16="http://schemas.microsoft.com/office/drawing/2014/main" id="{8C85998C-DE3D-43B5-8FF4-20DCDE0CD65E}"/>
              </a:ext>
            </a:extLst>
          </p:cNvPr>
          <p:cNvSpPr>
            <a:spLocks noGrp="1"/>
          </p:cNvSpPr>
          <p:nvPr/>
        </p:nvSpPr>
        <p:spPr>
          <a:xfrm>
            <a:off x="914400" y="5831681"/>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"Use at least 3 characters."</a:t>
            </a:r>
          </a:p>
        </p:txBody>
      </p:sp>
      <p:sp>
        <p:nvSpPr>
          <p:cNvPr id="17" name="code-line-10">
            <a:extLst>
              <a:ext uri="{FF2B5EF4-FFF2-40B4-BE49-F238E27FC236}">
                <a16:creationId xmlns:a16="http://schemas.microsoft.com/office/drawing/2014/main" id="{0A382288-E097-438F-847F-1126A9D38B26}"/>
              </a:ext>
            </a:extLst>
          </p:cNvPr>
          <p:cNvSpPr>
            <a:spLocks noGrp="1"/>
          </p:cNvSpPr>
          <p:nvPr/>
        </p:nvSpPr>
        <p:spPr>
          <a:xfrm>
            <a:off x="914400" y="6154738"/>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p>
        </p:txBody>
      </p:sp>
      <p:sp>
        <p:nvSpPr>
          <p:cNvPr id="18" name="code-line-11">
            <a:extLst>
              <a:ext uri="{FF2B5EF4-FFF2-40B4-BE49-F238E27FC236}">
                <a16:creationId xmlns:a16="http://schemas.microsoft.com/office/drawing/2014/main" id="{783820FC-BAF7-41A6-B145-B769D95449EE}"/>
              </a:ext>
            </a:extLst>
          </p:cNvPr>
          <p:cNvSpPr>
            <a:spLocks noGrp="1"/>
          </p:cNvSpPr>
          <p:nvPr/>
        </p:nvSpPr>
        <p:spPr>
          <a:xfrm>
            <a:off x="914400" y="6477794"/>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return</a:t>
            </a:r>
            <a:r>
              <a:rPr sz="1725" b="0">
                <a:solidFill>
                  <a:srgbClr val="FFFFFF"/>
                </a:solidFill>
                <a:latin typeface="Menlo"/>
                <a:ea typeface="Menlo"/>
                <a:cs typeface="Menlo"/>
              </a:rPr>
              <a:t> value</a:t>
            </a:r>
          </a:p>
        </p:txBody>
      </p:sp>
      <p:sp>
        <p:nvSpPr>
          <p:cNvPr id="19" name="reveal-1-output-1">
            <a:extLst>
              <a:ext uri="{FF2B5EF4-FFF2-40B4-BE49-F238E27FC236}">
                <a16:creationId xmlns:a16="http://schemas.microsoft.com/office/drawing/2014/main" id="{3AD18898-2A9A-41CC-A99F-671DDCFFFFF0}"/>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Title “Go” fails validation</a:t>
            </a:r>
          </a:p>
        </p:txBody>
      </p:sp>
      <p:pic>
        <p:nvPicPr>
          <p:cNvPr id="42" name="reveal-1-output-2"/>
          <p:cNvPicPr>
            <a:picLocks noChangeAspect="1"/>
          </p:cNvPicPr>
          <p:nvPr/>
        </p:nvPicPr>
        <p:blipFill>
          <a:blip r:embed="rId3"/>
          <a:srcRect l="23500" t="41000" r="40500" b="30000"/>
          <a:stretch>
            <a:fillRect/>
          </a:stretch>
        </p:blipFill>
        <p:spPr>
          <a:xfrm>
            <a:off x="9239250" y="2952750"/>
            <a:ext cx="5295900" cy="2792384"/>
          </a:xfrm>
          <a:prstGeom prst="rect">
            <a:avLst/>
          </a:prstGeom>
        </p:spPr>
      </p:pic>
      <p:sp>
        <p:nvSpPr>
          <p:cNvPr id="21" name="reveal-1-output-3">
            <a:extLst>
              <a:ext uri="{FF2B5EF4-FFF2-40B4-BE49-F238E27FC236}">
                <a16:creationId xmlns:a16="http://schemas.microsoft.com/office/drawing/2014/main" id="{FF5344AE-7CAD-4A03-9D17-AEC49F20D920}"/>
              </a:ext>
            </a:extLst>
          </p:cNvPr>
          <p:cNvSpPr>
            <a:spLocks noGrp="1"/>
          </p:cNvSpPr>
          <p:nvPr/>
        </p:nvSpPr>
        <p:spPr>
          <a:xfrm>
            <a:off x="9239250" y="6610350"/>
            <a:ext cx="5295900" cy="285750"/>
          </a:xfrm>
          <a:prstGeom prst="rect">
            <a:avLst/>
          </a:prstGeom>
          <a:noFill/>
          <a:ln w="0">
            <a:noFill/>
          </a:ln>
        </p:spPr>
        <p:txBody>
          <a:bodyPr wrap="none" lIns="0" tIns="0" rIns="0" bIns="0" anchor="t">
            <a:noAutofit/>
          </a:bodyPr>
          <a:lstStyle/>
          <a:p>
            <a:pPr algn="l">
              <a:defRPr sz="1350" b="0">
                <a:solidFill>
                  <a:srgbClr val="65717A"/>
                </a:solidFill>
                <a:latin typeface="Helvetica Neue"/>
                <a:ea typeface="Helvetica Neue"/>
                <a:cs typeface="Helvetica Neue"/>
              </a:defRPr>
            </a:pPr>
            <a:r>
              <a:rPr sz="1350" b="0">
                <a:solidFill>
                  <a:srgbClr val="65717A"/>
                </a:solidFill>
                <a:latin typeface="Helvetica Neue"/>
                <a:ea typeface="Helvetica Neue"/>
                <a:cs typeface="Helvetica Neue"/>
              </a:rPr>
              <a:t>Illustrative UI detail</a:t>
            </a:r>
          </a:p>
        </p:txBody>
      </p:sp>
      <p:sp>
        <p:nvSpPr>
          <p:cNvPr id="22" name="fade-1-takeaway">
            <a:extLst>
              <a:ext uri="{FF2B5EF4-FFF2-40B4-BE49-F238E27FC236}">
                <a16:creationId xmlns:a16="http://schemas.microsoft.com/office/drawing/2014/main" id="{C35F4537-49A6-44E8-B2AA-8C97AAA0369C}"/>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The form accepts title and completed only.</a:t>
            </a:r>
          </a:p>
        </p:txBody>
      </p:sp>
    </p:spTree>
    <p:extLst>
      <p:ext uri="{BB962C8B-B14F-4D97-AF65-F5344CB8AC3E}">
        <p14:creationId xmlns:p14="http://schemas.microsoft.com/office/powerpoint/2010/main" val="19708228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350" fill="hold">
                                          <p:stCondLst>
                                            <p:cond delay="0"/>
                                          </p:stCondLst>
                                        </p:cTn>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0" name="text-200">
            <a:extLst>
              <a:ext uri="{FF2B5EF4-FFF2-40B4-BE49-F238E27FC236}">
                <a16:creationId xmlns:a16="http://schemas.microsoft.com/office/drawing/2014/main" id="{E5E2C5E7-4A63-458F-B95F-24A987989E38}"/>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03 / Forms and CRUD</a:t>
            </a:r>
          </a:p>
        </p:txBody>
      </p:sp>
      <p:sp>
        <p:nvSpPr>
          <p:cNvPr id="2" name="text-201">
            <a:extLst>
              <a:ext uri="{FF2B5EF4-FFF2-40B4-BE49-F238E27FC236}">
                <a16:creationId xmlns:a16="http://schemas.microsoft.com/office/drawing/2014/main" id="{92579719-CEBB-465B-B5F1-31E10FCF7379}"/>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A valid form creates a task</a:t>
            </a:r>
          </a:p>
        </p:txBody>
      </p:sp>
      <p:sp>
        <p:nvSpPr>
          <p:cNvPr id="3" name="text-202">
            <a:extLst>
              <a:ext uri="{FF2B5EF4-FFF2-40B4-BE49-F238E27FC236}">
                <a16:creationId xmlns:a16="http://schemas.microsoft.com/office/drawing/2014/main" id="{B368B7F1-44D3-40EE-A620-9FBDFBF8F329}"/>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203">
            <a:extLst>
              <a:ext uri="{FF2B5EF4-FFF2-40B4-BE49-F238E27FC236}">
                <a16:creationId xmlns:a16="http://schemas.microsoft.com/office/drawing/2014/main" id="{FEDBC8D0-A5CA-40E8-9B2D-32CC750F2DB4}"/>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27</a:t>
            </a:r>
          </a:p>
        </p:txBody>
      </p:sp>
      <p:sp>
        <p:nvSpPr>
          <p:cNvPr id="5" name="text-204">
            <a:extLst>
              <a:ext uri="{FF2B5EF4-FFF2-40B4-BE49-F238E27FC236}">
                <a16:creationId xmlns:a16="http://schemas.microsoft.com/office/drawing/2014/main" id="{0E1EDADF-4505-4CB8-8EE5-9E350A21518D}"/>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tasks/views.py</a:t>
            </a:r>
          </a:p>
        </p:txBody>
      </p:sp>
      <p:sp>
        <p:nvSpPr>
          <p:cNvPr id="6" name="code-panel-205">
            <a:extLst>
              <a:ext uri="{FF2B5EF4-FFF2-40B4-BE49-F238E27FC236}">
                <a16:creationId xmlns:a16="http://schemas.microsoft.com/office/drawing/2014/main" id="{372219B7-D349-418F-BC23-9A8A1C17B686}"/>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957E6451-3937-4922-B159-520D65E0D361}"/>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form = TaskForm(</a:t>
            </a:r>
          </a:p>
        </p:txBody>
      </p:sp>
      <p:sp>
        <p:nvSpPr>
          <p:cNvPr id="8" name="code-line-1">
            <a:extLst>
              <a:ext uri="{FF2B5EF4-FFF2-40B4-BE49-F238E27FC236}">
                <a16:creationId xmlns:a16="http://schemas.microsoft.com/office/drawing/2014/main" id="{9D8E293D-4956-4785-A4C6-15A782E74556}"/>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request.POST </a:t>
            </a:r>
            <a:r>
              <a:rPr sz="1725" b="0">
                <a:solidFill>
                  <a:srgbClr val="A7C2FF"/>
                </a:solidFill>
                <a:latin typeface="Menlo"/>
                <a:ea typeface="Menlo"/>
                <a:cs typeface="Menlo"/>
              </a:rPr>
              <a:t>if</a:t>
            </a:r>
            <a:r>
              <a:rPr sz="1725" b="0">
                <a:solidFill>
                  <a:srgbClr val="FFFFFF"/>
                </a:solidFill>
                <a:latin typeface="Menlo"/>
                <a:ea typeface="Menlo"/>
                <a:cs typeface="Menlo"/>
              </a:rPr>
              <a:t> request.method == "POST" </a:t>
            </a:r>
            <a:r>
              <a:rPr sz="1725" b="0">
                <a:solidFill>
                  <a:srgbClr val="A7C2FF"/>
                </a:solidFill>
                <a:latin typeface="Menlo"/>
                <a:ea typeface="Menlo"/>
                <a:cs typeface="Menlo"/>
              </a:rPr>
              <a:t>else</a:t>
            </a:r>
            <a:r>
              <a:rPr sz="1725" b="0">
                <a:solidFill>
                  <a:srgbClr val="FFFFFF"/>
                </a:solidFill>
                <a:latin typeface="Menlo"/>
                <a:ea typeface="Menlo"/>
                <a:cs typeface="Menlo"/>
              </a:rPr>
              <a:t> </a:t>
            </a:r>
            <a:r>
              <a:rPr sz="1725" b="0">
                <a:solidFill>
                  <a:srgbClr val="A7C2FF"/>
                </a:solidFill>
                <a:latin typeface="Menlo"/>
                <a:ea typeface="Menlo"/>
                <a:cs typeface="Menlo"/>
              </a:rPr>
              <a:t>None</a:t>
            </a:r>
          </a:p>
        </p:txBody>
      </p:sp>
      <p:sp>
        <p:nvSpPr>
          <p:cNvPr id="9" name="code-line-2">
            <a:extLst>
              <a:ext uri="{FF2B5EF4-FFF2-40B4-BE49-F238E27FC236}">
                <a16:creationId xmlns:a16="http://schemas.microsoft.com/office/drawing/2014/main" id="{CDEAF9E9-1653-4FD9-B2B6-545B177CF5CC}"/>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a:t>
            </a:r>
          </a:p>
        </p:txBody>
      </p:sp>
      <p:sp>
        <p:nvSpPr>
          <p:cNvPr id="10" name="code-line-3">
            <a:extLst>
              <a:ext uri="{FF2B5EF4-FFF2-40B4-BE49-F238E27FC236}">
                <a16:creationId xmlns:a16="http://schemas.microsoft.com/office/drawing/2014/main" id="{2E2D783D-26EF-4B0F-9D03-36DD2BFB9843}"/>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if</a:t>
            </a:r>
            <a:r>
              <a:rPr sz="1725" b="0">
                <a:solidFill>
                  <a:srgbClr val="FFFFFF"/>
                </a:solidFill>
                <a:latin typeface="Menlo"/>
                <a:ea typeface="Menlo"/>
                <a:cs typeface="Menlo"/>
              </a:rPr>
              <a:t> request.method == "POST" and form.is_valid():</a:t>
            </a:r>
          </a:p>
        </p:txBody>
      </p:sp>
      <p:sp>
        <p:nvSpPr>
          <p:cNvPr id="11" name="code-line-4">
            <a:extLst>
              <a:ext uri="{FF2B5EF4-FFF2-40B4-BE49-F238E27FC236}">
                <a16:creationId xmlns:a16="http://schemas.microsoft.com/office/drawing/2014/main" id="{B402E759-0FE5-4D34-8063-3B26CA20EC86}"/>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task = form.save(commit=</a:t>
            </a:r>
            <a:r>
              <a:rPr sz="1725" b="0">
                <a:solidFill>
                  <a:srgbClr val="A7C2FF"/>
                </a:solidFill>
                <a:latin typeface="Menlo"/>
                <a:ea typeface="Menlo"/>
                <a:cs typeface="Menlo"/>
              </a:rPr>
              <a:t>False</a:t>
            </a:r>
            <a:r>
              <a:rPr sz="1725" b="0">
                <a:solidFill>
                  <a:srgbClr val="FFFFFF"/>
                </a:solidFill>
                <a:latin typeface="Menlo"/>
                <a:ea typeface="Menlo"/>
                <a:cs typeface="Menlo"/>
              </a:rPr>
              <a:t>)</a:t>
            </a:r>
          </a:p>
        </p:txBody>
      </p:sp>
      <p:sp>
        <p:nvSpPr>
          <p:cNvPr id="12" name="code-line-5">
            <a:extLst>
              <a:ext uri="{FF2B5EF4-FFF2-40B4-BE49-F238E27FC236}">
                <a16:creationId xmlns:a16="http://schemas.microsoft.com/office/drawing/2014/main" id="{3B78C26D-AF6E-4985-A805-967312E9C449}"/>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task.owner = request.user</a:t>
            </a:r>
          </a:p>
        </p:txBody>
      </p:sp>
      <p:sp>
        <p:nvSpPr>
          <p:cNvPr id="13" name="code-line-6">
            <a:extLst>
              <a:ext uri="{FF2B5EF4-FFF2-40B4-BE49-F238E27FC236}">
                <a16:creationId xmlns:a16="http://schemas.microsoft.com/office/drawing/2014/main" id="{50FC3B00-B116-4DD0-BDD7-77882286BC41}"/>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task.save()</a:t>
            </a:r>
          </a:p>
        </p:txBody>
      </p:sp>
      <p:sp>
        <p:nvSpPr>
          <p:cNvPr id="14" name="code-line-7">
            <a:extLst>
              <a:ext uri="{FF2B5EF4-FFF2-40B4-BE49-F238E27FC236}">
                <a16:creationId xmlns:a16="http://schemas.microsoft.com/office/drawing/2014/main" id="{DB21C000-748A-4529-B41C-7FF6B78A6290}"/>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return</a:t>
            </a:r>
            <a:r>
              <a:rPr sz="1725" b="0">
                <a:solidFill>
                  <a:srgbClr val="FFFFFF"/>
                </a:solidFill>
                <a:latin typeface="Menlo"/>
                <a:ea typeface="Menlo"/>
                <a:cs typeface="Menlo"/>
              </a:rPr>
              <a:t> redirect("tasks:list")</a:t>
            </a:r>
          </a:p>
        </p:txBody>
      </p:sp>
      <p:sp>
        <p:nvSpPr>
          <p:cNvPr id="15" name="code-line-8">
            <a:extLst>
              <a:ext uri="{FF2B5EF4-FFF2-40B4-BE49-F238E27FC236}">
                <a16:creationId xmlns:a16="http://schemas.microsoft.com/office/drawing/2014/main" id="{2C0EC70D-EF0D-449E-B1ED-1E7E4B5E8204}"/>
              </a:ext>
            </a:extLst>
          </p:cNvPr>
          <p:cNvSpPr>
            <a:spLocks noGrp="1"/>
          </p:cNvSpPr>
          <p:nvPr/>
        </p:nvSpPr>
        <p:spPr>
          <a:xfrm>
            <a:off x="914400" y="5591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return</a:t>
            </a:r>
            <a:r>
              <a:rPr sz="1725" b="0">
                <a:solidFill>
                  <a:srgbClr val="FFFFFF"/>
                </a:solidFill>
                <a:latin typeface="Menlo"/>
                <a:ea typeface="Menlo"/>
                <a:cs typeface="Menlo"/>
              </a:rPr>
              <a:t> render(request, "tasks/form.html", {"form": form})</a:t>
            </a:r>
          </a:p>
        </p:txBody>
      </p:sp>
      <p:sp>
        <p:nvSpPr>
          <p:cNvPr id="16" name="reveal-1-output-1">
            <a:extLst>
              <a:ext uri="{FF2B5EF4-FFF2-40B4-BE49-F238E27FC236}">
                <a16:creationId xmlns:a16="http://schemas.microsoft.com/office/drawing/2014/main" id="{E4224E5A-A3C1-4EE4-94FB-7B61082C5DF4}"/>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The new task appears in My Tasks</a:t>
            </a:r>
          </a:p>
        </p:txBody>
      </p:sp>
      <p:pic>
        <p:nvPicPr>
          <p:cNvPr id="36" name="reveal-1-output-2"/>
          <p:cNvPicPr>
            <a:picLocks noChangeAspect="1"/>
          </p:cNvPicPr>
          <p:nvPr/>
        </p:nvPicPr>
        <p:blipFill>
          <a:blip r:embed="rId3"/>
          <a:srcRect l="21500" t="45000" r="39000" b="16000"/>
          <a:stretch>
            <a:fillRect/>
          </a:stretch>
        </p:blipFill>
        <p:spPr>
          <a:xfrm>
            <a:off x="9239250" y="2952750"/>
            <a:ext cx="5295900" cy="3422529"/>
          </a:xfrm>
          <a:prstGeom prst="rect">
            <a:avLst/>
          </a:prstGeom>
        </p:spPr>
      </p:pic>
      <p:sp>
        <p:nvSpPr>
          <p:cNvPr id="18" name="reveal-1-output-3">
            <a:extLst>
              <a:ext uri="{FF2B5EF4-FFF2-40B4-BE49-F238E27FC236}">
                <a16:creationId xmlns:a16="http://schemas.microsoft.com/office/drawing/2014/main" id="{35DB514F-CCC4-4BE7-A747-D27031A093AB}"/>
              </a:ext>
            </a:extLst>
          </p:cNvPr>
          <p:cNvSpPr>
            <a:spLocks noGrp="1"/>
          </p:cNvSpPr>
          <p:nvPr/>
        </p:nvSpPr>
        <p:spPr>
          <a:xfrm>
            <a:off x="9239250" y="6610350"/>
            <a:ext cx="5295900" cy="285750"/>
          </a:xfrm>
          <a:prstGeom prst="rect">
            <a:avLst/>
          </a:prstGeom>
          <a:noFill/>
          <a:ln w="0">
            <a:noFill/>
          </a:ln>
        </p:spPr>
        <p:txBody>
          <a:bodyPr wrap="none" lIns="0" tIns="0" rIns="0" bIns="0" anchor="t">
            <a:noAutofit/>
          </a:bodyPr>
          <a:lstStyle/>
          <a:p>
            <a:pPr algn="l">
              <a:defRPr sz="1350" b="0">
                <a:solidFill>
                  <a:srgbClr val="65717A"/>
                </a:solidFill>
                <a:latin typeface="Helvetica Neue"/>
                <a:ea typeface="Helvetica Neue"/>
                <a:cs typeface="Helvetica Neue"/>
              </a:defRPr>
            </a:pPr>
            <a:r>
              <a:rPr sz="1350" b="0">
                <a:solidFill>
                  <a:srgbClr val="65717A"/>
                </a:solidFill>
                <a:latin typeface="Helvetica Neue"/>
                <a:ea typeface="Helvetica Neue"/>
                <a:cs typeface="Helvetica Neue"/>
              </a:rPr>
              <a:t>Illustrative UI detail</a:t>
            </a:r>
          </a:p>
        </p:txBody>
      </p:sp>
      <p:sp>
        <p:nvSpPr>
          <p:cNvPr id="19" name="fade-1-takeaway">
            <a:extLst>
              <a:ext uri="{FF2B5EF4-FFF2-40B4-BE49-F238E27FC236}">
                <a16:creationId xmlns:a16="http://schemas.microsoft.com/office/drawing/2014/main" id="{868A20D9-105D-4EB9-B217-9E582C431C57}"/>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Validate, assign the user, save, then redirect.</a:t>
            </a:r>
          </a:p>
        </p:txBody>
      </p:sp>
    </p:spTree>
    <p:extLst>
      <p:ext uri="{BB962C8B-B14F-4D97-AF65-F5344CB8AC3E}">
        <p14:creationId xmlns:p14="http://schemas.microsoft.com/office/powerpoint/2010/main" val="11913916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350" fill="hold">
                                          <p:stCondLst>
                                            <p:cond delay="0"/>
                                          </p:stCondLst>
                                        </p:cTn>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1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1" name="text-208">
            <a:extLst>
              <a:ext uri="{FF2B5EF4-FFF2-40B4-BE49-F238E27FC236}">
                <a16:creationId xmlns:a16="http://schemas.microsoft.com/office/drawing/2014/main" id="{901B13BF-324F-4746-B78C-891B332C369F}"/>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03 / Forms and CRUD</a:t>
            </a:r>
          </a:p>
        </p:txBody>
      </p:sp>
      <p:sp>
        <p:nvSpPr>
          <p:cNvPr id="2" name="text-209">
            <a:extLst>
              <a:ext uri="{FF2B5EF4-FFF2-40B4-BE49-F238E27FC236}">
                <a16:creationId xmlns:a16="http://schemas.microsoft.com/office/drawing/2014/main" id="{9D173CDB-441D-4397-9173-F4D3CABDFAD2}"/>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The browser sends the form</a:t>
            </a:r>
          </a:p>
        </p:txBody>
      </p:sp>
      <p:sp>
        <p:nvSpPr>
          <p:cNvPr id="3" name="text-210">
            <a:extLst>
              <a:ext uri="{FF2B5EF4-FFF2-40B4-BE49-F238E27FC236}">
                <a16:creationId xmlns:a16="http://schemas.microsoft.com/office/drawing/2014/main" id="{B50F26D4-B2E6-4FFE-B1B5-9BA6DA09A042}"/>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211">
            <a:extLst>
              <a:ext uri="{FF2B5EF4-FFF2-40B4-BE49-F238E27FC236}">
                <a16:creationId xmlns:a16="http://schemas.microsoft.com/office/drawing/2014/main" id="{F8E31E3D-F7E8-49EB-B0BF-CE0824083490}"/>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28</a:t>
            </a:r>
          </a:p>
        </p:txBody>
      </p:sp>
      <p:sp>
        <p:nvSpPr>
          <p:cNvPr id="5" name="text-212">
            <a:extLst>
              <a:ext uri="{FF2B5EF4-FFF2-40B4-BE49-F238E27FC236}">
                <a16:creationId xmlns:a16="http://schemas.microsoft.com/office/drawing/2014/main" id="{41E14744-6E3E-4009-8266-8E9A4A1BF030}"/>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tasks/templates/tasks/form.html</a:t>
            </a:r>
          </a:p>
        </p:txBody>
      </p:sp>
      <p:sp>
        <p:nvSpPr>
          <p:cNvPr id="6" name="code-panel-213">
            <a:extLst>
              <a:ext uri="{FF2B5EF4-FFF2-40B4-BE49-F238E27FC236}">
                <a16:creationId xmlns:a16="http://schemas.microsoft.com/office/drawing/2014/main" id="{1CFB4FB6-4D8B-4DBB-A64F-E2151256491C}"/>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C9EFD66A-C814-4863-9BC1-42692807F199}"/>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extends "base.html" %}</a:t>
            </a:r>
          </a:p>
        </p:txBody>
      </p:sp>
      <p:sp>
        <p:nvSpPr>
          <p:cNvPr id="8" name="code-line-1">
            <a:extLst>
              <a:ext uri="{FF2B5EF4-FFF2-40B4-BE49-F238E27FC236}">
                <a16:creationId xmlns:a16="http://schemas.microsoft.com/office/drawing/2014/main" id="{B4DCFE0E-6283-4C69-B22A-8371720422F1}"/>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block content %}</a:t>
            </a:r>
          </a:p>
        </p:txBody>
      </p:sp>
      <p:sp>
        <p:nvSpPr>
          <p:cNvPr id="9" name="code-line-2">
            <a:extLst>
              <a:ext uri="{FF2B5EF4-FFF2-40B4-BE49-F238E27FC236}">
                <a16:creationId xmlns:a16="http://schemas.microsoft.com/office/drawing/2014/main" id="{65D187D7-F119-450A-A2AC-2F9B9FED168D}"/>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&lt;h1&gt;Task details&lt;/h1&gt;</a:t>
            </a:r>
          </a:p>
        </p:txBody>
      </p:sp>
      <p:sp>
        <p:nvSpPr>
          <p:cNvPr id="10" name="code-line-3">
            <a:extLst>
              <a:ext uri="{FF2B5EF4-FFF2-40B4-BE49-F238E27FC236}">
                <a16:creationId xmlns:a16="http://schemas.microsoft.com/office/drawing/2014/main" id="{81E05845-AE2D-4184-9413-2622F7ABE4D2}"/>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&lt;form method="post"&gt;</a:t>
            </a:r>
          </a:p>
        </p:txBody>
      </p:sp>
      <p:sp>
        <p:nvSpPr>
          <p:cNvPr id="11" name="code-line-4">
            <a:extLst>
              <a:ext uri="{FF2B5EF4-FFF2-40B4-BE49-F238E27FC236}">
                <a16:creationId xmlns:a16="http://schemas.microsoft.com/office/drawing/2014/main" id="{E1C885B1-E9A2-4F73-901B-5DC07CA9C94D}"/>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 csrf_token %}</a:t>
            </a:r>
          </a:p>
        </p:txBody>
      </p:sp>
      <p:sp>
        <p:nvSpPr>
          <p:cNvPr id="12" name="code-line-5">
            <a:extLst>
              <a:ext uri="{FF2B5EF4-FFF2-40B4-BE49-F238E27FC236}">
                <a16:creationId xmlns:a16="http://schemas.microsoft.com/office/drawing/2014/main" id="{50073255-20D5-443A-8638-2E7838D39A6D}"/>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 form.as_p }}</a:t>
            </a:r>
          </a:p>
        </p:txBody>
      </p:sp>
      <p:sp>
        <p:nvSpPr>
          <p:cNvPr id="13" name="code-line-6">
            <a:extLst>
              <a:ext uri="{FF2B5EF4-FFF2-40B4-BE49-F238E27FC236}">
                <a16:creationId xmlns:a16="http://schemas.microsoft.com/office/drawing/2014/main" id="{E92920AC-CCD8-498A-A6BD-04BC32C0B376}"/>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&lt;button type="submit"&gt;Save task&lt;/button&gt;</a:t>
            </a:r>
          </a:p>
        </p:txBody>
      </p:sp>
      <p:sp>
        <p:nvSpPr>
          <p:cNvPr id="14" name="code-line-7">
            <a:extLst>
              <a:ext uri="{FF2B5EF4-FFF2-40B4-BE49-F238E27FC236}">
                <a16:creationId xmlns:a16="http://schemas.microsoft.com/office/drawing/2014/main" id="{E5B51977-C531-49B8-9191-AD51EC3C4A3D}"/>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&lt;/form&gt;</a:t>
            </a:r>
          </a:p>
        </p:txBody>
      </p:sp>
      <p:sp>
        <p:nvSpPr>
          <p:cNvPr id="15" name="code-line-8">
            <a:extLst>
              <a:ext uri="{FF2B5EF4-FFF2-40B4-BE49-F238E27FC236}">
                <a16:creationId xmlns:a16="http://schemas.microsoft.com/office/drawing/2014/main" id="{CBCAC735-04E1-4BEB-834E-EED10A5EF75E}"/>
              </a:ext>
            </a:extLst>
          </p:cNvPr>
          <p:cNvSpPr>
            <a:spLocks noGrp="1"/>
          </p:cNvSpPr>
          <p:nvPr/>
        </p:nvSpPr>
        <p:spPr>
          <a:xfrm>
            <a:off x="914400" y="5591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&lt;a href="{% url 'tasks:list' %}"&gt;Cancel&lt;/a&gt;</a:t>
            </a:r>
          </a:p>
        </p:txBody>
      </p:sp>
      <p:sp>
        <p:nvSpPr>
          <p:cNvPr id="16" name="code-line-9">
            <a:extLst>
              <a:ext uri="{FF2B5EF4-FFF2-40B4-BE49-F238E27FC236}">
                <a16:creationId xmlns:a16="http://schemas.microsoft.com/office/drawing/2014/main" id="{84DEE129-FDAF-4B55-BE2E-EDC450F51C96}"/>
              </a:ext>
            </a:extLst>
          </p:cNvPr>
          <p:cNvSpPr>
            <a:spLocks noGrp="1"/>
          </p:cNvSpPr>
          <p:nvPr/>
        </p:nvSpPr>
        <p:spPr>
          <a:xfrm>
            <a:off x="914400" y="5924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endblock %}</a:t>
            </a:r>
          </a:p>
        </p:txBody>
      </p:sp>
      <p:sp>
        <p:nvSpPr>
          <p:cNvPr id="17" name="reveal-1-output-1">
            <a:extLst>
              <a:ext uri="{FF2B5EF4-FFF2-40B4-BE49-F238E27FC236}">
                <a16:creationId xmlns:a16="http://schemas.microsoft.com/office/drawing/2014/main" id="{EAF8097D-6A10-4B5C-AFF5-14DC5ADD7819}"/>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Task details</a:t>
            </a:r>
          </a:p>
        </p:txBody>
      </p:sp>
      <p:pic>
        <p:nvPicPr>
          <p:cNvPr id="38" name="reveal-1-output-2"/>
          <p:cNvPicPr>
            <a:picLocks noChangeAspect="1"/>
          </p:cNvPicPr>
          <p:nvPr/>
        </p:nvPicPr>
        <p:blipFill>
          <a:blip r:embed="rId3"/>
          <a:srcRect l="23500" t="40000" r="40500" b="23000"/>
          <a:stretch>
            <a:fillRect/>
          </a:stretch>
        </p:blipFill>
        <p:spPr>
          <a:xfrm>
            <a:off x="9267825" y="2952750"/>
            <a:ext cx="5238750" cy="3524250"/>
          </a:xfrm>
          <a:prstGeom prst="rect">
            <a:avLst/>
          </a:prstGeom>
        </p:spPr>
      </p:pic>
      <p:sp>
        <p:nvSpPr>
          <p:cNvPr id="19" name="reveal-1-output-3">
            <a:extLst>
              <a:ext uri="{FF2B5EF4-FFF2-40B4-BE49-F238E27FC236}">
                <a16:creationId xmlns:a16="http://schemas.microsoft.com/office/drawing/2014/main" id="{0249696D-00D5-4918-B277-5EA362F74576}"/>
              </a:ext>
            </a:extLst>
          </p:cNvPr>
          <p:cNvSpPr>
            <a:spLocks noGrp="1"/>
          </p:cNvSpPr>
          <p:nvPr/>
        </p:nvSpPr>
        <p:spPr>
          <a:xfrm>
            <a:off x="9239250" y="6610350"/>
            <a:ext cx="5295900" cy="285750"/>
          </a:xfrm>
          <a:prstGeom prst="rect">
            <a:avLst/>
          </a:prstGeom>
          <a:noFill/>
          <a:ln w="0">
            <a:noFill/>
          </a:ln>
        </p:spPr>
        <p:txBody>
          <a:bodyPr wrap="none" lIns="0" tIns="0" rIns="0" bIns="0" anchor="t">
            <a:noAutofit/>
          </a:bodyPr>
          <a:lstStyle/>
          <a:p>
            <a:pPr algn="l">
              <a:defRPr sz="1350" b="0">
                <a:solidFill>
                  <a:srgbClr val="65717A"/>
                </a:solidFill>
                <a:latin typeface="Helvetica Neue"/>
                <a:ea typeface="Helvetica Neue"/>
                <a:cs typeface="Helvetica Neue"/>
              </a:defRPr>
            </a:pPr>
            <a:r>
              <a:rPr sz="1350" b="0">
                <a:solidFill>
                  <a:srgbClr val="65717A"/>
                </a:solidFill>
                <a:latin typeface="Helvetica Neue"/>
                <a:ea typeface="Helvetica Neue"/>
                <a:cs typeface="Helvetica Neue"/>
              </a:rPr>
              <a:t>Illustrative UI detail</a:t>
            </a:r>
          </a:p>
        </p:txBody>
      </p:sp>
      <p:sp>
        <p:nvSpPr>
          <p:cNvPr id="20" name="fade-1-takeaway">
            <a:extLst>
              <a:ext uri="{FF2B5EF4-FFF2-40B4-BE49-F238E27FC236}">
                <a16:creationId xmlns:a16="http://schemas.microsoft.com/office/drawing/2014/main" id="{1D179CB2-5E61-41A4-BA75-2B56E20F9056}"/>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A state-changing form includes the CSRF token.</a:t>
            </a:r>
          </a:p>
        </p:txBody>
      </p:sp>
    </p:spTree>
    <p:extLst>
      <p:ext uri="{BB962C8B-B14F-4D97-AF65-F5344CB8AC3E}">
        <p14:creationId xmlns:p14="http://schemas.microsoft.com/office/powerpoint/2010/main" val="15225991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350" fill="hold">
                                          <p:stCondLst>
                                            <p:cond delay="0"/>
                                          </p:stCondLst>
                                        </p:cTn>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1" name="text-216">
            <a:extLst>
              <a:ext uri="{FF2B5EF4-FFF2-40B4-BE49-F238E27FC236}">
                <a16:creationId xmlns:a16="http://schemas.microsoft.com/office/drawing/2014/main" id="{1AFEF9B0-6B6F-462E-95FE-F9072B765EEB}"/>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03 / Forms and CRUD</a:t>
            </a:r>
          </a:p>
        </p:txBody>
      </p:sp>
      <p:sp>
        <p:nvSpPr>
          <p:cNvPr id="2" name="text-217">
            <a:extLst>
              <a:ext uri="{FF2B5EF4-FFF2-40B4-BE49-F238E27FC236}">
                <a16:creationId xmlns:a16="http://schemas.microsoft.com/office/drawing/2014/main" id="{FF367496-8CAD-4725-A216-B3D379B2C908}"/>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The same form edits a task</a:t>
            </a:r>
          </a:p>
        </p:txBody>
      </p:sp>
      <p:sp>
        <p:nvSpPr>
          <p:cNvPr id="3" name="text-218">
            <a:extLst>
              <a:ext uri="{FF2B5EF4-FFF2-40B4-BE49-F238E27FC236}">
                <a16:creationId xmlns:a16="http://schemas.microsoft.com/office/drawing/2014/main" id="{97A4FD1A-7518-4A4D-BC68-707F9A619DA6}"/>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219">
            <a:extLst>
              <a:ext uri="{FF2B5EF4-FFF2-40B4-BE49-F238E27FC236}">
                <a16:creationId xmlns:a16="http://schemas.microsoft.com/office/drawing/2014/main" id="{0C1B3219-A3F2-496D-85E4-2AC320CC6E40}"/>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29</a:t>
            </a:r>
          </a:p>
        </p:txBody>
      </p:sp>
      <p:sp>
        <p:nvSpPr>
          <p:cNvPr id="5" name="text-220">
            <a:extLst>
              <a:ext uri="{FF2B5EF4-FFF2-40B4-BE49-F238E27FC236}">
                <a16:creationId xmlns:a16="http://schemas.microsoft.com/office/drawing/2014/main" id="{C355C622-7160-42A9-B195-A663717AC1FF}"/>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tasks/views.py</a:t>
            </a:r>
          </a:p>
        </p:txBody>
      </p:sp>
      <p:sp>
        <p:nvSpPr>
          <p:cNvPr id="6" name="code-panel-221">
            <a:extLst>
              <a:ext uri="{FF2B5EF4-FFF2-40B4-BE49-F238E27FC236}">
                <a16:creationId xmlns:a16="http://schemas.microsoft.com/office/drawing/2014/main" id="{D12E33DF-0D9F-412A-B013-8F78CC5800A6}"/>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6F5AE1C0-CACE-442F-B92F-C66FAC45FE0D}"/>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Inside task_edit(request, pk)</a:t>
            </a:r>
          </a:p>
        </p:txBody>
      </p:sp>
      <p:sp>
        <p:nvSpPr>
          <p:cNvPr id="8" name="code-line-1">
            <a:extLst>
              <a:ext uri="{FF2B5EF4-FFF2-40B4-BE49-F238E27FC236}">
                <a16:creationId xmlns:a16="http://schemas.microsoft.com/office/drawing/2014/main" id="{4A1CA7A9-AB76-4ABC-805F-D02014415B0A}"/>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task = get_object_or_404(</a:t>
            </a:r>
          </a:p>
        </p:txBody>
      </p:sp>
      <p:sp>
        <p:nvSpPr>
          <p:cNvPr id="9" name="code-line-2">
            <a:extLst>
              <a:ext uri="{FF2B5EF4-FFF2-40B4-BE49-F238E27FC236}">
                <a16:creationId xmlns:a16="http://schemas.microsoft.com/office/drawing/2014/main" id="{6FBFCFC0-C7B0-4BA4-B286-505A65ED4D3F}"/>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Task, pk=pk, owner=request.user</a:t>
            </a:r>
          </a:p>
        </p:txBody>
      </p:sp>
      <p:sp>
        <p:nvSpPr>
          <p:cNvPr id="10" name="code-line-3">
            <a:extLst>
              <a:ext uri="{FF2B5EF4-FFF2-40B4-BE49-F238E27FC236}">
                <a16:creationId xmlns:a16="http://schemas.microsoft.com/office/drawing/2014/main" id="{96130A54-F8CB-442D-B3BD-0025026C26A5}"/>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a:t>
            </a:r>
          </a:p>
        </p:txBody>
      </p:sp>
      <p:sp>
        <p:nvSpPr>
          <p:cNvPr id="11" name="code-line-4">
            <a:extLst>
              <a:ext uri="{FF2B5EF4-FFF2-40B4-BE49-F238E27FC236}">
                <a16:creationId xmlns:a16="http://schemas.microsoft.com/office/drawing/2014/main" id="{1933B6A2-2C55-40EE-B632-0FF30B48A69E}"/>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form = TaskForm(</a:t>
            </a:r>
          </a:p>
        </p:txBody>
      </p:sp>
      <p:sp>
        <p:nvSpPr>
          <p:cNvPr id="12" name="code-line-5">
            <a:extLst>
              <a:ext uri="{FF2B5EF4-FFF2-40B4-BE49-F238E27FC236}">
                <a16:creationId xmlns:a16="http://schemas.microsoft.com/office/drawing/2014/main" id="{FAE50179-922D-41F1-91F0-0D7160D1E9E7}"/>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request.POST </a:t>
            </a:r>
            <a:r>
              <a:rPr sz="1725" b="0">
                <a:solidFill>
                  <a:srgbClr val="A7C2FF"/>
                </a:solidFill>
                <a:latin typeface="Menlo"/>
                <a:ea typeface="Menlo"/>
                <a:cs typeface="Menlo"/>
              </a:rPr>
              <a:t>if</a:t>
            </a:r>
            <a:r>
              <a:rPr sz="1725" b="0">
                <a:solidFill>
                  <a:srgbClr val="FFFFFF"/>
                </a:solidFill>
                <a:latin typeface="Menlo"/>
                <a:ea typeface="Menlo"/>
                <a:cs typeface="Menlo"/>
              </a:rPr>
              <a:t> request.method == "POST" </a:t>
            </a:r>
            <a:r>
              <a:rPr sz="1725" b="0">
                <a:solidFill>
                  <a:srgbClr val="A7C2FF"/>
                </a:solidFill>
                <a:latin typeface="Menlo"/>
                <a:ea typeface="Menlo"/>
                <a:cs typeface="Menlo"/>
              </a:rPr>
              <a:t>else</a:t>
            </a:r>
            <a:r>
              <a:rPr sz="1725" b="0">
                <a:solidFill>
                  <a:srgbClr val="FFFFFF"/>
                </a:solidFill>
                <a:latin typeface="Menlo"/>
                <a:ea typeface="Menlo"/>
                <a:cs typeface="Menlo"/>
              </a:rPr>
              <a:t> </a:t>
            </a:r>
            <a:r>
              <a:rPr sz="1725" b="0">
                <a:solidFill>
                  <a:srgbClr val="A7C2FF"/>
                </a:solidFill>
                <a:latin typeface="Menlo"/>
                <a:ea typeface="Menlo"/>
                <a:cs typeface="Menlo"/>
              </a:rPr>
              <a:t>None</a:t>
            </a:r>
            <a:r>
              <a:rPr sz="1725" b="0">
                <a:solidFill>
                  <a:srgbClr val="FFFFFF"/>
                </a:solidFill>
                <a:latin typeface="Menlo"/>
                <a:ea typeface="Menlo"/>
                <a:cs typeface="Menlo"/>
              </a:rPr>
              <a:t>,</a:t>
            </a:r>
          </a:p>
        </p:txBody>
      </p:sp>
      <p:sp>
        <p:nvSpPr>
          <p:cNvPr id="13" name="code-line-6">
            <a:extLst>
              <a:ext uri="{FF2B5EF4-FFF2-40B4-BE49-F238E27FC236}">
                <a16:creationId xmlns:a16="http://schemas.microsoft.com/office/drawing/2014/main" id="{D40C5A51-113F-478E-8B8D-6399E0FA5FDD}"/>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instance=task,</a:t>
            </a:r>
          </a:p>
        </p:txBody>
      </p:sp>
      <p:sp>
        <p:nvSpPr>
          <p:cNvPr id="14" name="code-line-7">
            <a:extLst>
              <a:ext uri="{FF2B5EF4-FFF2-40B4-BE49-F238E27FC236}">
                <a16:creationId xmlns:a16="http://schemas.microsoft.com/office/drawing/2014/main" id="{FA21C76F-D6F7-4FB0-B9BD-F9AEA3B8E819}"/>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a:t>
            </a:r>
          </a:p>
        </p:txBody>
      </p:sp>
      <p:sp>
        <p:nvSpPr>
          <p:cNvPr id="15" name="code-line-8">
            <a:extLst>
              <a:ext uri="{FF2B5EF4-FFF2-40B4-BE49-F238E27FC236}">
                <a16:creationId xmlns:a16="http://schemas.microsoft.com/office/drawing/2014/main" id="{2847C603-BA3F-45E1-9405-630DBF9F8C75}"/>
              </a:ext>
            </a:extLst>
          </p:cNvPr>
          <p:cNvSpPr>
            <a:spLocks noGrp="1"/>
          </p:cNvSpPr>
          <p:nvPr/>
        </p:nvSpPr>
        <p:spPr>
          <a:xfrm>
            <a:off x="914400" y="5591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if</a:t>
            </a:r>
            <a:r>
              <a:rPr sz="1725" b="0">
                <a:solidFill>
                  <a:srgbClr val="FFFFFF"/>
                </a:solidFill>
                <a:latin typeface="Menlo"/>
                <a:ea typeface="Menlo"/>
                <a:cs typeface="Menlo"/>
              </a:rPr>
              <a:t> request.method == "POST" and form.is_valid():</a:t>
            </a:r>
          </a:p>
        </p:txBody>
      </p:sp>
      <p:sp>
        <p:nvSpPr>
          <p:cNvPr id="16" name="code-line-9">
            <a:extLst>
              <a:ext uri="{FF2B5EF4-FFF2-40B4-BE49-F238E27FC236}">
                <a16:creationId xmlns:a16="http://schemas.microsoft.com/office/drawing/2014/main" id="{649F134E-E23B-43AD-A45F-62B77D521742}"/>
              </a:ext>
            </a:extLst>
          </p:cNvPr>
          <p:cNvSpPr>
            <a:spLocks noGrp="1"/>
          </p:cNvSpPr>
          <p:nvPr/>
        </p:nvSpPr>
        <p:spPr>
          <a:xfrm>
            <a:off x="914400" y="5924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form.save()</a:t>
            </a:r>
          </a:p>
        </p:txBody>
      </p:sp>
      <p:sp>
        <p:nvSpPr>
          <p:cNvPr id="17" name="code-line-10">
            <a:extLst>
              <a:ext uri="{FF2B5EF4-FFF2-40B4-BE49-F238E27FC236}">
                <a16:creationId xmlns:a16="http://schemas.microsoft.com/office/drawing/2014/main" id="{601D44A1-5BBD-4766-978E-0459ACA19C38}"/>
              </a:ext>
            </a:extLst>
          </p:cNvPr>
          <p:cNvSpPr>
            <a:spLocks noGrp="1"/>
          </p:cNvSpPr>
          <p:nvPr/>
        </p:nvSpPr>
        <p:spPr>
          <a:xfrm>
            <a:off x="914400" y="62579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return</a:t>
            </a:r>
            <a:r>
              <a:rPr sz="1725" b="0">
                <a:solidFill>
                  <a:srgbClr val="FFFFFF"/>
                </a:solidFill>
                <a:latin typeface="Menlo"/>
                <a:ea typeface="Menlo"/>
                <a:cs typeface="Menlo"/>
              </a:rPr>
              <a:t> redirect("tasks:list")</a:t>
            </a:r>
          </a:p>
        </p:txBody>
      </p:sp>
      <p:sp>
        <p:nvSpPr>
          <p:cNvPr id="18" name="reveal-1-output-1">
            <a:extLst>
              <a:ext uri="{FF2B5EF4-FFF2-40B4-BE49-F238E27FC236}">
                <a16:creationId xmlns:a16="http://schemas.microsoft.com/office/drawing/2014/main" id="{7ED88386-E515-4D3E-B5AB-7D991CBFDDEF}"/>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After Save: the same row changes</a:t>
            </a:r>
          </a:p>
        </p:txBody>
      </p:sp>
      <p:graphicFrame>
        <p:nvGraphicFramePr>
          <p:cNvPr id="39" name="reveal-1-output-2"/>
          <p:cNvGraphicFramePr/>
          <p:nvPr/>
        </p:nvGraphicFramePr>
        <p:xfrm>
          <a:off x="9239250" y="2952750"/>
          <a:ext cx="5295900" cy="3714750"/>
        </p:xfrm>
        <a:graphic>
          <a:graphicData uri="http://schemas.openxmlformats.org/drawingml/2006/table">
            <a:tbl>
              <a:tblPr firstRow="1"/>
              <a:tblGrid>
                <a:gridCol w="2647950">
                  <a:extLst>
                    <a:ext uri="{9D8B030D-6E8A-4147-A177-3AD203B41FA5}">
                      <a16:colId xmlns:a16="http://schemas.microsoft.com/office/drawing/2014/main" val="20000"/>
                    </a:ext>
                  </a:extLst>
                </a:gridCol>
                <a:gridCol w="2647950">
                  <a:extLst>
                    <a:ext uri="{9D8B030D-6E8A-4147-A177-3AD203B41FA5}">
                      <a16:colId xmlns:a16="http://schemas.microsoft.com/office/drawing/2014/main" val="20001"/>
                    </a:ext>
                  </a:extLst>
                </a:gridCol>
              </a:tblGrid>
              <a:tr h="928688">
                <a:tc>
                  <a:txBody>
                    <a:bodyPr/>
                    <a:lstStyle/>
                    <a:p>
                      <a:r>
                        <a:rPr sz="1575" b="1">
                          <a:solidFill>
                            <a:srgbClr val="FFFFFF"/>
                          </a:solidFill>
                          <a:latin typeface="Helvetica Neue"/>
                          <a:ea typeface="Helvetica Neue"/>
                          <a:cs typeface="Helvetica Neue"/>
                        </a:rPr>
                        <a:t>Field</a:t>
                      </a:r>
                    </a:p>
                  </a:txBody>
                  <a:tcPr anchor="ctr">
                    <a:solidFill>
                      <a:srgbClr val="242C35"/>
                    </a:solidFill>
                  </a:tcPr>
                </a:tc>
                <a:tc>
                  <a:txBody>
                    <a:bodyPr/>
                    <a:lstStyle/>
                    <a:p>
                      <a:r>
                        <a:rPr sz="1575" b="1">
                          <a:solidFill>
                            <a:srgbClr val="FFFFFF"/>
                          </a:solidFill>
                          <a:latin typeface="Helvetica Neue"/>
                          <a:ea typeface="Helvetica Neue"/>
                          <a:cs typeface="Helvetica Neue"/>
                        </a:rPr>
                        <a:t>Stored value</a:t>
                      </a:r>
                    </a:p>
                  </a:txBody>
                  <a:tcPr anchor="ctr">
                    <a:solidFill>
                      <a:srgbClr val="242C35"/>
                    </a:solidFill>
                  </a:tcPr>
                </a:tc>
                <a:extLst>
                  <a:ext uri="{0D108BD9-81ED-4DB2-BD59-A6C34878D82A}">
                    <a16:rowId xmlns:a16="http://schemas.microsoft.com/office/drawing/2014/main" val="10000"/>
                  </a:ext>
                </a:extLst>
              </a:tr>
              <a:tr h="928688">
                <a:tc>
                  <a:txBody>
                    <a:bodyPr/>
                    <a:lstStyle/>
                    <a:p>
                      <a:r>
                        <a:rPr sz="1575" b="0">
                          <a:solidFill>
                            <a:srgbClr val="242C35"/>
                          </a:solidFill>
                          <a:latin typeface="Helvetica Neue"/>
                          <a:ea typeface="Helvetica Neue"/>
                          <a:cs typeface="Helvetica Neue"/>
                        </a:rPr>
                        <a:t>id</a:t>
                      </a:r>
                    </a:p>
                  </a:txBody>
                  <a:tcPr anchor="ctr">
                    <a:solidFill>
                      <a:srgbClr val="FFFFFF"/>
                    </a:solidFill>
                  </a:tcPr>
                </a:tc>
                <a:tc>
                  <a:txBody>
                    <a:bodyPr/>
                    <a:lstStyle/>
                    <a:p>
                      <a:r>
                        <a:rPr sz="1575" b="0">
                          <a:solidFill>
                            <a:srgbClr val="242C35"/>
                          </a:solidFill>
                          <a:latin typeface="Helvetica Neue"/>
                          <a:ea typeface="Helvetica Neue"/>
                          <a:cs typeface="Helvetica Neue"/>
                        </a:rPr>
                        <a:t>1</a:t>
                      </a:r>
                    </a:p>
                  </a:txBody>
                  <a:tcPr anchor="ctr">
                    <a:solidFill>
                      <a:srgbClr val="FFFFFF"/>
                    </a:solidFill>
                  </a:tcPr>
                </a:tc>
                <a:extLst>
                  <a:ext uri="{0D108BD9-81ED-4DB2-BD59-A6C34878D82A}">
                    <a16:rowId xmlns:a16="http://schemas.microsoft.com/office/drawing/2014/main" val="10001"/>
                  </a:ext>
                </a:extLst>
              </a:tr>
              <a:tr h="928688">
                <a:tc>
                  <a:txBody>
                    <a:bodyPr/>
                    <a:lstStyle/>
                    <a:p>
                      <a:r>
                        <a:rPr sz="1575" b="0">
                          <a:solidFill>
                            <a:srgbClr val="242C35"/>
                          </a:solidFill>
                          <a:latin typeface="Helvetica Neue"/>
                          <a:ea typeface="Helvetica Neue"/>
                          <a:cs typeface="Helvetica Neue"/>
                        </a:rPr>
                        <a:t>title</a:t>
                      </a:r>
                    </a:p>
                  </a:txBody>
                  <a:tcPr anchor="ctr">
                    <a:solidFill>
                      <a:srgbClr val="F8F5EF"/>
                    </a:solidFill>
                  </a:tcPr>
                </a:tc>
                <a:tc>
                  <a:txBody>
                    <a:bodyPr/>
                    <a:lstStyle/>
                    <a:p>
                      <a:r>
                        <a:rPr sz="1575" b="0">
                          <a:solidFill>
                            <a:srgbClr val="242C35"/>
                          </a:solidFill>
                          <a:latin typeface="Helvetica Neue"/>
                          <a:ea typeface="Helvetica Neue"/>
                          <a:cs typeface="Helvetica Neue"/>
                        </a:rPr>
                        <a:t>Prepare Django demo</a:t>
                      </a:r>
                    </a:p>
                  </a:txBody>
                  <a:tcPr anchor="ctr">
                    <a:solidFill>
                      <a:srgbClr val="F8F5EF"/>
                    </a:solidFill>
                  </a:tcPr>
                </a:tc>
                <a:extLst>
                  <a:ext uri="{0D108BD9-81ED-4DB2-BD59-A6C34878D82A}">
                    <a16:rowId xmlns:a16="http://schemas.microsoft.com/office/drawing/2014/main" val="10002"/>
                  </a:ext>
                </a:extLst>
              </a:tr>
              <a:tr h="928688">
                <a:tc>
                  <a:txBody>
                    <a:bodyPr/>
                    <a:lstStyle/>
                    <a:p>
                      <a:r>
                        <a:rPr sz="1575" b="0">
                          <a:solidFill>
                            <a:srgbClr val="242C35"/>
                          </a:solidFill>
                          <a:latin typeface="Helvetica Neue"/>
                          <a:ea typeface="Helvetica Neue"/>
                          <a:cs typeface="Helvetica Neue"/>
                        </a:rPr>
                        <a:t>completed</a:t>
                      </a:r>
                    </a:p>
                  </a:txBody>
                  <a:tcPr anchor="ctr">
                    <a:solidFill>
                      <a:srgbClr val="FFFFFF"/>
                    </a:solidFill>
                  </a:tcPr>
                </a:tc>
                <a:tc>
                  <a:txBody>
                    <a:bodyPr/>
                    <a:lstStyle/>
                    <a:p>
                      <a:r>
                        <a:rPr sz="1575" b="0">
                          <a:solidFill>
                            <a:srgbClr val="242C35"/>
                          </a:solidFill>
                          <a:latin typeface="Helvetica Neue"/>
                          <a:ea typeface="Helvetica Neue"/>
                          <a:cs typeface="Helvetica Neue"/>
                        </a:rPr>
                        <a:t>True</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20" name="fade-1-takeaway">
            <a:extLst>
              <a:ext uri="{FF2B5EF4-FFF2-40B4-BE49-F238E27FC236}">
                <a16:creationId xmlns:a16="http://schemas.microsoft.com/office/drawing/2014/main" id="{5942D437-3CC7-4EDB-AA9D-6DFF94D0AD5D}"/>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instance=task updates the selected row.</a:t>
            </a:r>
          </a:p>
        </p:txBody>
      </p:sp>
    </p:spTree>
    <p:extLst>
      <p:ext uri="{BB962C8B-B14F-4D97-AF65-F5344CB8AC3E}">
        <p14:creationId xmlns:p14="http://schemas.microsoft.com/office/powerpoint/2010/main" val="13720864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350" fill="hold">
                                          <p:stCondLst>
                                            <p:cond delay="0"/>
                                          </p:stCondLst>
                                        </p:cTn>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9" name="text-223">
            <a:extLst>
              <a:ext uri="{FF2B5EF4-FFF2-40B4-BE49-F238E27FC236}">
                <a16:creationId xmlns:a16="http://schemas.microsoft.com/office/drawing/2014/main" id="{00E4100A-26C4-4A32-A130-9EF15B773C43}"/>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03 / Forms and CRUD</a:t>
            </a:r>
          </a:p>
        </p:txBody>
      </p:sp>
      <p:sp>
        <p:nvSpPr>
          <p:cNvPr id="2" name="text-224">
            <a:extLst>
              <a:ext uri="{FF2B5EF4-FFF2-40B4-BE49-F238E27FC236}">
                <a16:creationId xmlns:a16="http://schemas.microsoft.com/office/drawing/2014/main" id="{5640A4AC-27B1-4857-92A1-55B03D8F2103}"/>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Deletion requires a deliberate POST</a:t>
            </a:r>
          </a:p>
        </p:txBody>
      </p:sp>
      <p:sp>
        <p:nvSpPr>
          <p:cNvPr id="3" name="text-225">
            <a:extLst>
              <a:ext uri="{FF2B5EF4-FFF2-40B4-BE49-F238E27FC236}">
                <a16:creationId xmlns:a16="http://schemas.microsoft.com/office/drawing/2014/main" id="{6EACFFB2-77E9-444E-B218-73B53DDF63FF}"/>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226">
            <a:extLst>
              <a:ext uri="{FF2B5EF4-FFF2-40B4-BE49-F238E27FC236}">
                <a16:creationId xmlns:a16="http://schemas.microsoft.com/office/drawing/2014/main" id="{8F11153C-2572-4BC4-9C84-8CA1209FB632}"/>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30</a:t>
            </a:r>
          </a:p>
        </p:txBody>
      </p:sp>
      <p:sp>
        <p:nvSpPr>
          <p:cNvPr id="5" name="text-227">
            <a:extLst>
              <a:ext uri="{FF2B5EF4-FFF2-40B4-BE49-F238E27FC236}">
                <a16:creationId xmlns:a16="http://schemas.microsoft.com/office/drawing/2014/main" id="{839A3CF4-EABC-4D4C-9F4A-C0F136041D53}"/>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tasks/views.py and a row action</a:t>
            </a:r>
          </a:p>
        </p:txBody>
      </p:sp>
      <p:sp>
        <p:nvSpPr>
          <p:cNvPr id="6" name="code-panel-228">
            <a:extLst>
              <a:ext uri="{FF2B5EF4-FFF2-40B4-BE49-F238E27FC236}">
                <a16:creationId xmlns:a16="http://schemas.microsoft.com/office/drawing/2014/main" id="{81B0B4D1-C218-4B19-B9FD-D4DBB226AC6A}"/>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26837980-9CF2-40FF-97C6-DAC17DC156AE}"/>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@login_required</a:t>
            </a:r>
          </a:p>
        </p:txBody>
      </p:sp>
      <p:sp>
        <p:nvSpPr>
          <p:cNvPr id="8" name="code-line-1">
            <a:extLst>
              <a:ext uri="{FF2B5EF4-FFF2-40B4-BE49-F238E27FC236}">
                <a16:creationId xmlns:a16="http://schemas.microsoft.com/office/drawing/2014/main" id="{6ABDF693-9729-41C4-9754-F7308623C6E5}"/>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@require_POST</a:t>
            </a:r>
          </a:p>
        </p:txBody>
      </p:sp>
      <p:sp>
        <p:nvSpPr>
          <p:cNvPr id="9" name="code-line-2">
            <a:extLst>
              <a:ext uri="{FF2B5EF4-FFF2-40B4-BE49-F238E27FC236}">
                <a16:creationId xmlns:a16="http://schemas.microsoft.com/office/drawing/2014/main" id="{BDDE17BB-2E00-4292-9375-BBA95C873C1A}"/>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def</a:t>
            </a:r>
            <a:r>
              <a:rPr sz="1725" b="0">
                <a:solidFill>
                  <a:srgbClr val="FFFFFF"/>
                </a:solidFill>
                <a:latin typeface="Menlo"/>
                <a:ea typeface="Menlo"/>
                <a:cs typeface="Menlo"/>
              </a:rPr>
              <a:t> task_delete(request, pk):</a:t>
            </a:r>
          </a:p>
        </p:txBody>
      </p:sp>
      <p:sp>
        <p:nvSpPr>
          <p:cNvPr id="10" name="code-line-3">
            <a:extLst>
              <a:ext uri="{FF2B5EF4-FFF2-40B4-BE49-F238E27FC236}">
                <a16:creationId xmlns:a16="http://schemas.microsoft.com/office/drawing/2014/main" id="{47DE55D8-D8CC-4918-8705-B2F9197DBE7E}"/>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task = get_object_or_404(</a:t>
            </a:r>
          </a:p>
        </p:txBody>
      </p:sp>
      <p:sp>
        <p:nvSpPr>
          <p:cNvPr id="11" name="code-line-4">
            <a:extLst>
              <a:ext uri="{FF2B5EF4-FFF2-40B4-BE49-F238E27FC236}">
                <a16:creationId xmlns:a16="http://schemas.microsoft.com/office/drawing/2014/main" id="{21DCF96A-B836-4D76-8870-28DCAC308877}"/>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Task, pk=pk, owner=request.user</a:t>
            </a:r>
          </a:p>
        </p:txBody>
      </p:sp>
      <p:sp>
        <p:nvSpPr>
          <p:cNvPr id="12" name="code-line-5">
            <a:extLst>
              <a:ext uri="{FF2B5EF4-FFF2-40B4-BE49-F238E27FC236}">
                <a16:creationId xmlns:a16="http://schemas.microsoft.com/office/drawing/2014/main" id="{B10DA647-E7AD-48F6-B9A9-DB7A64BD701D}"/>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p>
        </p:txBody>
      </p:sp>
      <p:sp>
        <p:nvSpPr>
          <p:cNvPr id="13" name="code-line-6">
            <a:extLst>
              <a:ext uri="{FF2B5EF4-FFF2-40B4-BE49-F238E27FC236}">
                <a16:creationId xmlns:a16="http://schemas.microsoft.com/office/drawing/2014/main" id="{1A38CC4C-DFA9-4BA3-AEDE-C888E823180D}"/>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task.delete()</a:t>
            </a:r>
          </a:p>
        </p:txBody>
      </p:sp>
      <p:sp>
        <p:nvSpPr>
          <p:cNvPr id="14" name="code-line-7">
            <a:extLst>
              <a:ext uri="{FF2B5EF4-FFF2-40B4-BE49-F238E27FC236}">
                <a16:creationId xmlns:a16="http://schemas.microsoft.com/office/drawing/2014/main" id="{18848D70-25DC-4771-891A-9273CB8F00F0}"/>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return</a:t>
            </a:r>
            <a:r>
              <a:rPr sz="1725" b="0">
                <a:solidFill>
                  <a:srgbClr val="FFFFFF"/>
                </a:solidFill>
                <a:latin typeface="Menlo"/>
                <a:ea typeface="Menlo"/>
                <a:cs typeface="Menlo"/>
              </a:rPr>
              <a:t> redirect("tasks:list")</a:t>
            </a:r>
          </a:p>
        </p:txBody>
      </p:sp>
      <p:sp>
        <p:nvSpPr>
          <p:cNvPr id="15" name="reveal-1-output-1">
            <a:extLst>
              <a:ext uri="{FF2B5EF4-FFF2-40B4-BE49-F238E27FC236}">
                <a16:creationId xmlns:a16="http://schemas.microsoft.com/office/drawing/2014/main" id="{73032319-0301-415D-B6DF-7950A93930C1}"/>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Expected requests</a:t>
            </a:r>
          </a:p>
        </p:txBody>
      </p:sp>
      <p:sp>
        <p:nvSpPr>
          <p:cNvPr id="16" name="reveal-1-output-2">
            <a:extLst>
              <a:ext uri="{FF2B5EF4-FFF2-40B4-BE49-F238E27FC236}">
                <a16:creationId xmlns:a16="http://schemas.microsoft.com/office/drawing/2014/main" id="{8CC00308-D237-4BBA-A7C3-F88DF307EC90}"/>
              </a:ext>
            </a:extLst>
          </p:cNvPr>
          <p:cNvSpPr>
            <a:spLocks noGrp="1"/>
          </p:cNvSpPr>
          <p:nvPr/>
        </p:nvSpPr>
        <p:spPr>
          <a:xfrm>
            <a:off x="9239250" y="2952750"/>
            <a:ext cx="5295900" cy="3810000"/>
          </a:xfrm>
          <a:prstGeom prst="rect">
            <a:avLst/>
          </a:prstGeom>
          <a:solidFill>
            <a:srgbClr val="ECEFF7"/>
          </a:solidFill>
          <a:ln w="0">
            <a:noFill/>
          </a:ln>
        </p:spPr>
      </p:sp>
      <p:sp>
        <p:nvSpPr>
          <p:cNvPr id="17" name="reveal-1-output-3">
            <a:extLst>
              <a:ext uri="{FF2B5EF4-FFF2-40B4-BE49-F238E27FC236}">
                <a16:creationId xmlns:a16="http://schemas.microsoft.com/office/drawing/2014/main" id="{07DA902B-9A7C-40A0-AC78-E234D8C61F95}"/>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650" b="0">
                <a:solidFill>
                  <a:srgbClr val="242C35"/>
                </a:solidFill>
                <a:latin typeface="Menlo"/>
                <a:ea typeface="Menlo"/>
                <a:cs typeface="Menlo"/>
              </a:defRPr>
            </a:pPr>
            <a:r>
              <a:rPr sz="1650" b="0">
                <a:solidFill>
                  <a:srgbClr val="242C35"/>
                </a:solidFill>
                <a:latin typeface="Menlo"/>
                <a:ea typeface="Menlo"/>
                <a:cs typeface="Menlo"/>
              </a:rPr>
              <a:t>GET /tasks/1/delete/ 405</a:t>
            </a:r>
          </a:p>
          <a:p>
            <a:pPr algn="l">
              <a:defRPr sz="1650" b="0">
                <a:solidFill>
                  <a:srgbClr val="242C35"/>
                </a:solidFill>
                <a:latin typeface="Menlo"/>
                <a:ea typeface="Menlo"/>
                <a:cs typeface="Menlo"/>
              </a:defRPr>
            </a:pPr>
            <a:r>
              <a:rPr sz="1650" b="0">
                <a:solidFill>
                  <a:srgbClr val="242C35"/>
                </a:solidFill>
                <a:latin typeface="Menlo"/>
                <a:ea typeface="Menlo"/>
                <a:cs typeface="Menlo"/>
              </a:rPr>
              <a:t>POST owned task 302 to /tasks/</a:t>
            </a:r>
          </a:p>
          <a:p>
            <a:pPr algn="l">
              <a:defRPr sz="1650" b="0">
                <a:solidFill>
                  <a:srgbClr val="242C35"/>
                </a:solidFill>
                <a:latin typeface="Menlo"/>
                <a:ea typeface="Menlo"/>
                <a:cs typeface="Menlo"/>
              </a:defRPr>
            </a:pPr>
            <a:r>
              <a:rPr sz="1650" b="0">
                <a:solidFill>
                  <a:srgbClr val="242C35"/>
                </a:solidFill>
                <a:latin typeface="Menlo"/>
                <a:ea typeface="Menlo"/>
                <a:cs typeface="Menlo"/>
              </a:rPr>
              <a:t>POST other user task 404</a:t>
            </a:r>
          </a:p>
        </p:txBody>
      </p:sp>
      <p:sp>
        <p:nvSpPr>
          <p:cNvPr id="18" name="fade-1-takeaway">
            <a:extLst>
              <a:ext uri="{FF2B5EF4-FFF2-40B4-BE49-F238E27FC236}">
                <a16:creationId xmlns:a16="http://schemas.microsoft.com/office/drawing/2014/main" id="{CB927962-2068-46B6-85E0-C9C0FE9253E1}"/>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The request method and record ownership both matter.</a:t>
            </a:r>
          </a:p>
        </p:txBody>
      </p:sp>
    </p:spTree>
    <p:extLst>
      <p:ext uri="{BB962C8B-B14F-4D97-AF65-F5344CB8AC3E}">
        <p14:creationId xmlns:p14="http://schemas.microsoft.com/office/powerpoint/2010/main" val="7134459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350" fill="hold">
                                          <p:stCondLst>
                                            <p:cond delay="0"/>
                                          </p:stCondLst>
                                        </p:cTn>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9" name="text-232">
            <a:extLst>
              <a:ext uri="{FF2B5EF4-FFF2-40B4-BE49-F238E27FC236}">
                <a16:creationId xmlns:a16="http://schemas.microsoft.com/office/drawing/2014/main" id="{E0023124-B738-47E2-9C24-A3853E12C5EC}"/>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03 / Forms and CRUD</a:t>
            </a:r>
          </a:p>
        </p:txBody>
      </p:sp>
      <p:sp>
        <p:nvSpPr>
          <p:cNvPr id="2" name="text-233">
            <a:extLst>
              <a:ext uri="{FF2B5EF4-FFF2-40B4-BE49-F238E27FC236}">
                <a16:creationId xmlns:a16="http://schemas.microsoft.com/office/drawing/2014/main" id="{163342E1-6B19-4BF8-962F-A4CD93BC0EFB}"/>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URLs connect the task actions</a:t>
            </a:r>
          </a:p>
        </p:txBody>
      </p:sp>
      <p:sp>
        <p:nvSpPr>
          <p:cNvPr id="3" name="text-234">
            <a:extLst>
              <a:ext uri="{FF2B5EF4-FFF2-40B4-BE49-F238E27FC236}">
                <a16:creationId xmlns:a16="http://schemas.microsoft.com/office/drawing/2014/main" id="{599657FA-4FF0-4C3F-ABD8-593553A30B20}"/>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235">
            <a:extLst>
              <a:ext uri="{FF2B5EF4-FFF2-40B4-BE49-F238E27FC236}">
                <a16:creationId xmlns:a16="http://schemas.microsoft.com/office/drawing/2014/main" id="{3DF539CD-9F97-480A-A07D-FBE3B97D10B1}"/>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31</a:t>
            </a:r>
          </a:p>
        </p:txBody>
      </p:sp>
      <p:sp>
        <p:nvSpPr>
          <p:cNvPr id="5" name="text-236">
            <a:extLst>
              <a:ext uri="{FF2B5EF4-FFF2-40B4-BE49-F238E27FC236}">
                <a16:creationId xmlns:a16="http://schemas.microsoft.com/office/drawing/2014/main" id="{10B07B6B-56E7-4A60-957A-EB71287FAD35}"/>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tasks/urls.py</a:t>
            </a:r>
          </a:p>
        </p:txBody>
      </p:sp>
      <p:sp>
        <p:nvSpPr>
          <p:cNvPr id="6" name="code-panel-237">
            <a:extLst>
              <a:ext uri="{FF2B5EF4-FFF2-40B4-BE49-F238E27FC236}">
                <a16:creationId xmlns:a16="http://schemas.microsoft.com/office/drawing/2014/main" id="{48EA85CD-736B-4E98-AEB0-555CB2696582}"/>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6BCBEF19-E778-41D5-8ED6-BA067B1597EC}"/>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app_name = "tasks"</a:t>
            </a:r>
          </a:p>
        </p:txBody>
      </p:sp>
      <p:sp>
        <p:nvSpPr>
          <p:cNvPr id="8" name="code-line-1">
            <a:extLst>
              <a:ext uri="{FF2B5EF4-FFF2-40B4-BE49-F238E27FC236}">
                <a16:creationId xmlns:a16="http://schemas.microsoft.com/office/drawing/2014/main" id="{5DB675A6-887A-485E-8F80-7281A0267379}"/>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urlpatterns = [</a:t>
            </a:r>
          </a:p>
        </p:txBody>
      </p:sp>
      <p:sp>
        <p:nvSpPr>
          <p:cNvPr id="9" name="code-line-2">
            <a:extLst>
              <a:ext uri="{FF2B5EF4-FFF2-40B4-BE49-F238E27FC236}">
                <a16:creationId xmlns:a16="http://schemas.microsoft.com/office/drawing/2014/main" id="{99D1D0C4-7D62-4895-A5E8-27417F2AC488}"/>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path("", views.task_list, name="list"),</a:t>
            </a:r>
          </a:p>
        </p:txBody>
      </p:sp>
      <p:sp>
        <p:nvSpPr>
          <p:cNvPr id="10" name="code-line-3">
            <a:extLst>
              <a:ext uri="{FF2B5EF4-FFF2-40B4-BE49-F238E27FC236}">
                <a16:creationId xmlns:a16="http://schemas.microsoft.com/office/drawing/2014/main" id="{01A200DA-EA04-4EBC-A425-0925956032C1}"/>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path("new/", views.task_create, name="create"),</a:t>
            </a:r>
          </a:p>
        </p:txBody>
      </p:sp>
      <p:sp>
        <p:nvSpPr>
          <p:cNvPr id="11" name="code-line-4">
            <a:extLst>
              <a:ext uri="{FF2B5EF4-FFF2-40B4-BE49-F238E27FC236}">
                <a16:creationId xmlns:a16="http://schemas.microsoft.com/office/drawing/2014/main" id="{94893DE1-1E6F-49C6-BDAC-9C6972FB088E}"/>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path("&lt;int:pk&gt;/edit/", views.task_edit, name="edit"),</a:t>
            </a:r>
          </a:p>
        </p:txBody>
      </p:sp>
      <p:sp>
        <p:nvSpPr>
          <p:cNvPr id="12" name="code-line-5">
            <a:extLst>
              <a:ext uri="{FF2B5EF4-FFF2-40B4-BE49-F238E27FC236}">
                <a16:creationId xmlns:a16="http://schemas.microsoft.com/office/drawing/2014/main" id="{EB7C966C-2E52-4724-A7D0-7B5170059CED}"/>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path(</a:t>
            </a:r>
          </a:p>
        </p:txBody>
      </p:sp>
      <p:sp>
        <p:nvSpPr>
          <p:cNvPr id="13" name="code-line-6">
            <a:extLst>
              <a:ext uri="{FF2B5EF4-FFF2-40B4-BE49-F238E27FC236}">
                <a16:creationId xmlns:a16="http://schemas.microsoft.com/office/drawing/2014/main" id="{A410AA0C-AB52-4250-9FCD-BECBCF91FDAE}"/>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"&lt;int:pk&gt;/delete/", views.task_delete, name="delete"</a:t>
            </a:r>
          </a:p>
        </p:txBody>
      </p:sp>
      <p:sp>
        <p:nvSpPr>
          <p:cNvPr id="14" name="code-line-7">
            <a:extLst>
              <a:ext uri="{FF2B5EF4-FFF2-40B4-BE49-F238E27FC236}">
                <a16:creationId xmlns:a16="http://schemas.microsoft.com/office/drawing/2014/main" id="{C9DA9A69-882A-4E63-9EA7-25B2A8C0B42A}"/>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a:t>
            </a:r>
          </a:p>
        </p:txBody>
      </p:sp>
      <p:sp>
        <p:nvSpPr>
          <p:cNvPr id="15" name="code-line-8">
            <a:extLst>
              <a:ext uri="{FF2B5EF4-FFF2-40B4-BE49-F238E27FC236}">
                <a16:creationId xmlns:a16="http://schemas.microsoft.com/office/drawing/2014/main" id="{B7E53E69-4800-4965-AC73-4BCAAC409DBA}"/>
              </a:ext>
            </a:extLst>
          </p:cNvPr>
          <p:cNvSpPr>
            <a:spLocks noGrp="1"/>
          </p:cNvSpPr>
          <p:nvPr/>
        </p:nvSpPr>
        <p:spPr>
          <a:xfrm>
            <a:off x="914400" y="559117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a:t>
            </a:r>
          </a:p>
        </p:txBody>
      </p:sp>
      <p:sp>
        <p:nvSpPr>
          <p:cNvPr id="16" name="reveal-1-output-1">
            <a:extLst>
              <a:ext uri="{FF2B5EF4-FFF2-40B4-BE49-F238E27FC236}">
                <a16:creationId xmlns:a16="http://schemas.microsoft.com/office/drawing/2014/main" id="{3FA2F23C-2C25-482A-8DFA-79A03B94DA5E}"/>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Browser endpoints</a:t>
            </a:r>
          </a:p>
        </p:txBody>
      </p:sp>
      <p:graphicFrame>
        <p:nvGraphicFramePr>
          <p:cNvPr id="35" name="reveal-1-output-2"/>
          <p:cNvGraphicFramePr/>
          <p:nvPr/>
        </p:nvGraphicFramePr>
        <p:xfrm>
          <a:off x="9239250" y="2952750"/>
          <a:ext cx="5295900" cy="3714750"/>
        </p:xfrm>
        <a:graphic>
          <a:graphicData uri="http://schemas.openxmlformats.org/drawingml/2006/table">
            <a:tbl>
              <a:tblPr firstRow="1"/>
              <a:tblGrid>
                <a:gridCol w="2647950">
                  <a:extLst>
                    <a:ext uri="{9D8B030D-6E8A-4147-A177-3AD203B41FA5}">
                      <a16:colId xmlns:a16="http://schemas.microsoft.com/office/drawing/2014/main" val="20000"/>
                    </a:ext>
                  </a:extLst>
                </a:gridCol>
                <a:gridCol w="2647950">
                  <a:extLst>
                    <a:ext uri="{9D8B030D-6E8A-4147-A177-3AD203B41FA5}">
                      <a16:colId xmlns:a16="http://schemas.microsoft.com/office/drawing/2014/main" val="20001"/>
                    </a:ext>
                  </a:extLst>
                </a:gridCol>
              </a:tblGrid>
              <a:tr h="742950">
                <a:tc>
                  <a:txBody>
                    <a:bodyPr/>
                    <a:lstStyle/>
                    <a:p>
                      <a:r>
                        <a:rPr sz="1575" b="1">
                          <a:solidFill>
                            <a:srgbClr val="FFFFFF"/>
                          </a:solidFill>
                          <a:latin typeface="Helvetica Neue"/>
                          <a:ea typeface="Helvetica Neue"/>
                          <a:cs typeface="Helvetica Neue"/>
                        </a:rPr>
                        <a:t>URL</a:t>
                      </a:r>
                    </a:p>
                  </a:txBody>
                  <a:tcPr anchor="ctr">
                    <a:solidFill>
                      <a:srgbClr val="242C35"/>
                    </a:solidFill>
                  </a:tcPr>
                </a:tc>
                <a:tc>
                  <a:txBody>
                    <a:bodyPr/>
                    <a:lstStyle/>
                    <a:p>
                      <a:r>
                        <a:rPr sz="1575" b="1">
                          <a:solidFill>
                            <a:srgbClr val="FFFFFF"/>
                          </a:solidFill>
                          <a:latin typeface="Helvetica Neue"/>
                          <a:ea typeface="Helvetica Neue"/>
                          <a:cs typeface="Helvetica Neue"/>
                        </a:rPr>
                        <a:t>Action</a:t>
                      </a:r>
                    </a:p>
                  </a:txBody>
                  <a:tcPr anchor="ctr">
                    <a:solidFill>
                      <a:srgbClr val="242C35"/>
                    </a:solidFill>
                  </a:tcPr>
                </a:tc>
                <a:extLst>
                  <a:ext uri="{0D108BD9-81ED-4DB2-BD59-A6C34878D82A}">
                    <a16:rowId xmlns:a16="http://schemas.microsoft.com/office/drawing/2014/main" val="10000"/>
                  </a:ext>
                </a:extLst>
              </a:tr>
              <a:tr h="742950">
                <a:tc>
                  <a:txBody>
                    <a:bodyPr/>
                    <a:lstStyle/>
                    <a:p>
                      <a:r>
                        <a:rPr sz="1575" b="0">
                          <a:solidFill>
                            <a:srgbClr val="242C35"/>
                          </a:solidFill>
                          <a:latin typeface="Helvetica Neue"/>
                          <a:ea typeface="Helvetica Neue"/>
                          <a:cs typeface="Helvetica Neue"/>
                        </a:rPr>
                        <a:t>/tasks/</a:t>
                      </a:r>
                    </a:p>
                  </a:txBody>
                  <a:tcPr anchor="ctr">
                    <a:solidFill>
                      <a:srgbClr val="FFFFFF"/>
                    </a:solidFill>
                  </a:tcPr>
                </a:tc>
                <a:tc>
                  <a:txBody>
                    <a:bodyPr/>
                    <a:lstStyle/>
                    <a:p>
                      <a:r>
                        <a:rPr sz="1575" b="0">
                          <a:solidFill>
                            <a:srgbClr val="242C35"/>
                          </a:solidFill>
                          <a:latin typeface="Helvetica Neue"/>
                          <a:ea typeface="Helvetica Neue"/>
                          <a:cs typeface="Helvetica Neue"/>
                        </a:rPr>
                        <a:t>List</a:t>
                      </a:r>
                    </a:p>
                  </a:txBody>
                  <a:tcPr anchor="ctr">
                    <a:solidFill>
                      <a:srgbClr val="FFFFFF"/>
                    </a:solidFill>
                  </a:tcPr>
                </a:tc>
                <a:extLst>
                  <a:ext uri="{0D108BD9-81ED-4DB2-BD59-A6C34878D82A}">
                    <a16:rowId xmlns:a16="http://schemas.microsoft.com/office/drawing/2014/main" val="10001"/>
                  </a:ext>
                </a:extLst>
              </a:tr>
              <a:tr h="742950">
                <a:tc>
                  <a:txBody>
                    <a:bodyPr/>
                    <a:lstStyle/>
                    <a:p>
                      <a:r>
                        <a:rPr sz="1575" b="0">
                          <a:solidFill>
                            <a:srgbClr val="242C35"/>
                          </a:solidFill>
                          <a:latin typeface="Helvetica Neue"/>
                          <a:ea typeface="Helvetica Neue"/>
                          <a:cs typeface="Helvetica Neue"/>
                        </a:rPr>
                        <a:t>/tasks/new/</a:t>
                      </a:r>
                    </a:p>
                  </a:txBody>
                  <a:tcPr anchor="ctr">
                    <a:solidFill>
                      <a:srgbClr val="F8F5EF"/>
                    </a:solidFill>
                  </a:tcPr>
                </a:tc>
                <a:tc>
                  <a:txBody>
                    <a:bodyPr/>
                    <a:lstStyle/>
                    <a:p>
                      <a:r>
                        <a:rPr sz="1575" b="0">
                          <a:solidFill>
                            <a:srgbClr val="242C35"/>
                          </a:solidFill>
                          <a:latin typeface="Helvetica Neue"/>
                          <a:ea typeface="Helvetica Neue"/>
                          <a:cs typeface="Helvetica Neue"/>
                        </a:rPr>
                        <a:t>Create</a:t>
                      </a:r>
                    </a:p>
                  </a:txBody>
                  <a:tcPr anchor="ctr">
                    <a:solidFill>
                      <a:srgbClr val="F8F5EF"/>
                    </a:solidFill>
                  </a:tcPr>
                </a:tc>
                <a:extLst>
                  <a:ext uri="{0D108BD9-81ED-4DB2-BD59-A6C34878D82A}">
                    <a16:rowId xmlns:a16="http://schemas.microsoft.com/office/drawing/2014/main" val="10002"/>
                  </a:ext>
                </a:extLst>
              </a:tr>
              <a:tr h="742950">
                <a:tc>
                  <a:txBody>
                    <a:bodyPr/>
                    <a:lstStyle/>
                    <a:p>
                      <a:r>
                        <a:rPr sz="1575" b="0">
                          <a:solidFill>
                            <a:srgbClr val="242C35"/>
                          </a:solidFill>
                          <a:latin typeface="Helvetica Neue"/>
                          <a:ea typeface="Helvetica Neue"/>
                          <a:cs typeface="Helvetica Neue"/>
                        </a:rPr>
                        <a:t>/tasks/1/edit/</a:t>
                      </a:r>
                    </a:p>
                  </a:txBody>
                  <a:tcPr anchor="ctr">
                    <a:solidFill>
                      <a:srgbClr val="FFFFFF"/>
                    </a:solidFill>
                  </a:tcPr>
                </a:tc>
                <a:tc>
                  <a:txBody>
                    <a:bodyPr/>
                    <a:lstStyle/>
                    <a:p>
                      <a:r>
                        <a:rPr sz="1575" b="0">
                          <a:solidFill>
                            <a:srgbClr val="242C35"/>
                          </a:solidFill>
                          <a:latin typeface="Helvetica Neue"/>
                          <a:ea typeface="Helvetica Neue"/>
                          <a:cs typeface="Helvetica Neue"/>
                        </a:rPr>
                        <a:t>Edit</a:t>
                      </a:r>
                    </a:p>
                  </a:txBody>
                  <a:tcPr anchor="ctr">
                    <a:solidFill>
                      <a:srgbClr val="FFFFFF"/>
                    </a:solidFill>
                  </a:tcPr>
                </a:tc>
                <a:extLst>
                  <a:ext uri="{0D108BD9-81ED-4DB2-BD59-A6C34878D82A}">
                    <a16:rowId xmlns:a16="http://schemas.microsoft.com/office/drawing/2014/main" val="10003"/>
                  </a:ext>
                </a:extLst>
              </a:tr>
              <a:tr h="742950">
                <a:tc>
                  <a:txBody>
                    <a:bodyPr/>
                    <a:lstStyle/>
                    <a:p>
                      <a:r>
                        <a:rPr sz="1575" b="0">
                          <a:solidFill>
                            <a:srgbClr val="242C35"/>
                          </a:solidFill>
                          <a:latin typeface="Helvetica Neue"/>
                          <a:ea typeface="Helvetica Neue"/>
                          <a:cs typeface="Helvetica Neue"/>
                        </a:rPr>
                        <a:t>/tasks/1/delete/</a:t>
                      </a:r>
                    </a:p>
                  </a:txBody>
                  <a:tcPr anchor="ctr">
                    <a:solidFill>
                      <a:srgbClr val="F8F5EF"/>
                    </a:solidFill>
                  </a:tcPr>
                </a:tc>
                <a:tc>
                  <a:txBody>
                    <a:bodyPr/>
                    <a:lstStyle/>
                    <a:p>
                      <a:r>
                        <a:rPr sz="1575" b="0">
                          <a:solidFill>
                            <a:srgbClr val="242C35"/>
                          </a:solidFill>
                          <a:latin typeface="Helvetica Neue"/>
                          <a:ea typeface="Helvetica Neue"/>
                          <a:cs typeface="Helvetica Neue"/>
                        </a:rPr>
                        <a:t>POST delete</a:t>
                      </a:r>
                    </a:p>
                  </a:txBody>
                  <a:tcPr anchor="ctr">
                    <a:solidFill>
                      <a:srgbClr val="F8F5EF"/>
                    </a:solidFill>
                  </a:tcPr>
                </a:tc>
                <a:extLst>
                  <a:ext uri="{0D108BD9-81ED-4DB2-BD59-A6C34878D82A}">
                    <a16:rowId xmlns:a16="http://schemas.microsoft.com/office/drawing/2014/main" val="10004"/>
                  </a:ext>
                </a:extLst>
              </a:tr>
            </a:tbl>
          </a:graphicData>
        </a:graphic>
      </p:graphicFrame>
      <p:sp>
        <p:nvSpPr>
          <p:cNvPr id="18" name="fade-1-takeaway">
            <a:extLst>
              <a:ext uri="{FF2B5EF4-FFF2-40B4-BE49-F238E27FC236}">
                <a16:creationId xmlns:a16="http://schemas.microsoft.com/office/drawing/2014/main" id="{346E518C-BB62-4DEC-B0DF-7C20A8C9BCA4}"/>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Templates and redirects use tasks:create or tasks:edit.</a:t>
            </a:r>
          </a:p>
        </p:txBody>
      </p:sp>
    </p:spTree>
    <p:extLst>
      <p:ext uri="{BB962C8B-B14F-4D97-AF65-F5344CB8AC3E}">
        <p14:creationId xmlns:p14="http://schemas.microsoft.com/office/powerpoint/2010/main" val="20418682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0"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350" fill="hold">
                                          <p:stCondLst>
                                            <p:cond delay="0"/>
                                          </p:stCondLst>
                                        </p:cTn>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2" name="text-239">
            <a:extLst>
              <a:ext uri="{FF2B5EF4-FFF2-40B4-BE49-F238E27FC236}">
                <a16:creationId xmlns:a16="http://schemas.microsoft.com/office/drawing/2014/main" id="{0FA8045A-B21F-4069-83B8-59824D1C684F}"/>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03 / Forms and CRUD</a:t>
            </a:r>
          </a:p>
        </p:txBody>
      </p:sp>
      <p:sp>
        <p:nvSpPr>
          <p:cNvPr id="2" name="text-240">
            <a:extLst>
              <a:ext uri="{FF2B5EF4-FFF2-40B4-BE49-F238E27FC236}">
                <a16:creationId xmlns:a16="http://schemas.microsoft.com/office/drawing/2014/main" id="{D63BE9EB-A453-4BAB-9636-999B355DB091}"/>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Search and pagination for My Tasks</a:t>
            </a:r>
          </a:p>
        </p:txBody>
      </p:sp>
      <p:sp>
        <p:nvSpPr>
          <p:cNvPr id="3" name="text-241">
            <a:extLst>
              <a:ext uri="{FF2B5EF4-FFF2-40B4-BE49-F238E27FC236}">
                <a16:creationId xmlns:a16="http://schemas.microsoft.com/office/drawing/2014/main" id="{AAB6D066-E1D7-4EEE-8F08-B5FC3FA06B32}"/>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242">
            <a:extLst>
              <a:ext uri="{FF2B5EF4-FFF2-40B4-BE49-F238E27FC236}">
                <a16:creationId xmlns:a16="http://schemas.microsoft.com/office/drawing/2014/main" id="{1C3C6B24-36D9-4302-8586-0CED1F497652}"/>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32</a:t>
            </a:r>
          </a:p>
        </p:txBody>
      </p:sp>
      <p:sp>
        <p:nvSpPr>
          <p:cNvPr id="5" name="text-243">
            <a:extLst>
              <a:ext uri="{FF2B5EF4-FFF2-40B4-BE49-F238E27FC236}">
                <a16:creationId xmlns:a16="http://schemas.microsoft.com/office/drawing/2014/main" id="{98F1E441-1CFE-4033-B164-8F4E8557C0E7}"/>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Body of task_list()</a:t>
            </a:r>
          </a:p>
        </p:txBody>
      </p:sp>
      <p:sp>
        <p:nvSpPr>
          <p:cNvPr id="6" name="code-panel-244">
            <a:extLst>
              <a:ext uri="{FF2B5EF4-FFF2-40B4-BE49-F238E27FC236}">
                <a16:creationId xmlns:a16="http://schemas.microsoft.com/office/drawing/2014/main" id="{C3DBB841-81BE-4A90-AFBE-DE178BF4AB32}"/>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3547D8EF-EFAA-4FAB-BADB-30EB0AC944FE}"/>
              </a:ext>
            </a:extLst>
          </p:cNvPr>
          <p:cNvSpPr>
            <a:spLocks noGrp="1"/>
          </p:cNvSpPr>
          <p:nvPr/>
        </p:nvSpPr>
        <p:spPr>
          <a:xfrm>
            <a:off x="914400" y="2924175"/>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query = request.GET.get("q", "").strip()</a:t>
            </a:r>
          </a:p>
        </p:txBody>
      </p:sp>
      <p:sp>
        <p:nvSpPr>
          <p:cNvPr id="8" name="code-line-1">
            <a:extLst>
              <a:ext uri="{FF2B5EF4-FFF2-40B4-BE49-F238E27FC236}">
                <a16:creationId xmlns:a16="http://schemas.microsoft.com/office/drawing/2014/main" id="{775CAB1C-7527-4735-84E2-698AF2D9AEAE}"/>
              </a:ext>
            </a:extLst>
          </p:cNvPr>
          <p:cNvSpPr>
            <a:spLocks noGrp="1"/>
          </p:cNvSpPr>
          <p:nvPr/>
        </p:nvSpPr>
        <p:spPr>
          <a:xfrm>
            <a:off x="914400" y="3247231"/>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tasks = Task.objects.filter(owner=request.user)</a:t>
            </a:r>
          </a:p>
        </p:txBody>
      </p:sp>
      <p:sp>
        <p:nvSpPr>
          <p:cNvPr id="9" name="code-line-2">
            <a:extLst>
              <a:ext uri="{FF2B5EF4-FFF2-40B4-BE49-F238E27FC236}">
                <a16:creationId xmlns:a16="http://schemas.microsoft.com/office/drawing/2014/main" id="{11596EB8-4E97-4DB2-B32D-52DA94E4C470}"/>
              </a:ext>
            </a:extLst>
          </p:cNvPr>
          <p:cNvSpPr>
            <a:spLocks noGrp="1"/>
          </p:cNvSpPr>
          <p:nvPr/>
        </p:nvSpPr>
        <p:spPr>
          <a:xfrm>
            <a:off x="914400" y="3570288"/>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if</a:t>
            </a:r>
            <a:r>
              <a:rPr sz="1725" b="0">
                <a:solidFill>
                  <a:srgbClr val="FFFFFF"/>
                </a:solidFill>
                <a:latin typeface="Menlo"/>
                <a:ea typeface="Menlo"/>
                <a:cs typeface="Menlo"/>
              </a:rPr>
              <a:t> query:</a:t>
            </a:r>
          </a:p>
        </p:txBody>
      </p:sp>
      <p:sp>
        <p:nvSpPr>
          <p:cNvPr id="10" name="code-line-3">
            <a:extLst>
              <a:ext uri="{FF2B5EF4-FFF2-40B4-BE49-F238E27FC236}">
                <a16:creationId xmlns:a16="http://schemas.microsoft.com/office/drawing/2014/main" id="{D513EDE7-08DB-490B-8CC8-67BD11DD5441}"/>
              </a:ext>
            </a:extLst>
          </p:cNvPr>
          <p:cNvSpPr>
            <a:spLocks noGrp="1"/>
          </p:cNvSpPr>
          <p:nvPr/>
        </p:nvSpPr>
        <p:spPr>
          <a:xfrm>
            <a:off x="914400" y="3893344"/>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tasks = tasks.filter(title__icontains=query)</a:t>
            </a:r>
          </a:p>
        </p:txBody>
      </p:sp>
      <p:sp>
        <p:nvSpPr>
          <p:cNvPr id="11" name="code-line-4">
            <a:extLst>
              <a:ext uri="{FF2B5EF4-FFF2-40B4-BE49-F238E27FC236}">
                <a16:creationId xmlns:a16="http://schemas.microsoft.com/office/drawing/2014/main" id="{A2E70522-92A0-4EF8-A73A-21417B4EC168}"/>
              </a:ext>
            </a:extLst>
          </p:cNvPr>
          <p:cNvSpPr>
            <a:spLocks noGrp="1"/>
          </p:cNvSpPr>
          <p:nvPr/>
        </p:nvSpPr>
        <p:spPr>
          <a:xfrm>
            <a:off x="914400" y="4216400"/>
            <a:ext cx="7639050" cy="351631"/>
          </a:xfrm>
          <a:prstGeom prst="rect">
            <a:avLst/>
          </a:prstGeom>
          <a:noFill/>
          <a:ln w="0">
            <a:noFill/>
          </a:ln>
        </p:spPr>
        <p:txBody>
          <a:bodyPr wrap="none" lIns="0" tIns="0" rIns="0" bIns="0" anchor="t">
            <a:noAutofit/>
          </a:bodyPr>
          <a:lstStyle/>
          <a:p>
            <a:endParaRPr/>
          </a:p>
        </p:txBody>
      </p:sp>
      <p:sp>
        <p:nvSpPr>
          <p:cNvPr id="12" name="code-line-5">
            <a:extLst>
              <a:ext uri="{FF2B5EF4-FFF2-40B4-BE49-F238E27FC236}">
                <a16:creationId xmlns:a16="http://schemas.microsoft.com/office/drawing/2014/main" id="{651EBA46-F9AC-4116-9F38-5EF39D1AFD6A}"/>
              </a:ext>
            </a:extLst>
          </p:cNvPr>
          <p:cNvSpPr>
            <a:spLocks noGrp="1"/>
          </p:cNvSpPr>
          <p:nvPr/>
        </p:nvSpPr>
        <p:spPr>
          <a:xfrm>
            <a:off x="914400" y="4539456"/>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page = Paginator(tasks.order_by("completed", "id"), 10)</a:t>
            </a:r>
          </a:p>
        </p:txBody>
      </p:sp>
      <p:sp>
        <p:nvSpPr>
          <p:cNvPr id="13" name="code-line-6">
            <a:extLst>
              <a:ext uri="{FF2B5EF4-FFF2-40B4-BE49-F238E27FC236}">
                <a16:creationId xmlns:a16="http://schemas.microsoft.com/office/drawing/2014/main" id="{172A59F9-4FA4-47A4-AFBD-ADB301431995}"/>
              </a:ext>
            </a:extLst>
          </p:cNvPr>
          <p:cNvSpPr>
            <a:spLocks noGrp="1"/>
          </p:cNvSpPr>
          <p:nvPr/>
        </p:nvSpPr>
        <p:spPr>
          <a:xfrm>
            <a:off x="914400" y="4862513"/>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page_obj = page.get_page(request.GET.get("page"))</a:t>
            </a:r>
          </a:p>
        </p:txBody>
      </p:sp>
      <p:sp>
        <p:nvSpPr>
          <p:cNvPr id="14" name="code-line-7">
            <a:extLst>
              <a:ext uri="{FF2B5EF4-FFF2-40B4-BE49-F238E27FC236}">
                <a16:creationId xmlns:a16="http://schemas.microsoft.com/office/drawing/2014/main" id="{6C646F9D-3A31-445E-A2A9-7FC97A5C06C7}"/>
              </a:ext>
            </a:extLst>
          </p:cNvPr>
          <p:cNvSpPr>
            <a:spLocks noGrp="1"/>
          </p:cNvSpPr>
          <p:nvPr/>
        </p:nvSpPr>
        <p:spPr>
          <a:xfrm>
            <a:off x="914400" y="5185569"/>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return</a:t>
            </a:r>
            <a:r>
              <a:rPr sz="1725" b="0">
                <a:solidFill>
                  <a:srgbClr val="FFFFFF"/>
                </a:solidFill>
                <a:latin typeface="Menlo"/>
                <a:ea typeface="Menlo"/>
                <a:cs typeface="Menlo"/>
              </a:rPr>
              <a:t> render(request, "tasks/list.html", {</a:t>
            </a:r>
          </a:p>
        </p:txBody>
      </p:sp>
      <p:sp>
        <p:nvSpPr>
          <p:cNvPr id="15" name="code-line-8">
            <a:extLst>
              <a:ext uri="{FF2B5EF4-FFF2-40B4-BE49-F238E27FC236}">
                <a16:creationId xmlns:a16="http://schemas.microsoft.com/office/drawing/2014/main" id="{AAAA857E-896C-4628-A2CB-3F890070AD4C}"/>
              </a:ext>
            </a:extLst>
          </p:cNvPr>
          <p:cNvSpPr>
            <a:spLocks noGrp="1"/>
          </p:cNvSpPr>
          <p:nvPr/>
        </p:nvSpPr>
        <p:spPr>
          <a:xfrm>
            <a:off x="914400" y="5508625"/>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"tasks": page_obj,</a:t>
            </a:r>
          </a:p>
        </p:txBody>
      </p:sp>
      <p:sp>
        <p:nvSpPr>
          <p:cNvPr id="16" name="code-line-9">
            <a:extLst>
              <a:ext uri="{FF2B5EF4-FFF2-40B4-BE49-F238E27FC236}">
                <a16:creationId xmlns:a16="http://schemas.microsoft.com/office/drawing/2014/main" id="{82AAC90D-9F2A-42FA-9F6B-C50BA52ACDE8}"/>
              </a:ext>
            </a:extLst>
          </p:cNvPr>
          <p:cNvSpPr>
            <a:spLocks noGrp="1"/>
          </p:cNvSpPr>
          <p:nvPr/>
        </p:nvSpPr>
        <p:spPr>
          <a:xfrm>
            <a:off x="914400" y="5831681"/>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"page_obj": page_obj,</a:t>
            </a:r>
          </a:p>
        </p:txBody>
      </p:sp>
      <p:sp>
        <p:nvSpPr>
          <p:cNvPr id="17" name="code-line-10">
            <a:extLst>
              <a:ext uri="{FF2B5EF4-FFF2-40B4-BE49-F238E27FC236}">
                <a16:creationId xmlns:a16="http://schemas.microsoft.com/office/drawing/2014/main" id="{EE7E70BF-F18D-42F0-AEB8-1A64927E76A0}"/>
              </a:ext>
            </a:extLst>
          </p:cNvPr>
          <p:cNvSpPr>
            <a:spLocks noGrp="1"/>
          </p:cNvSpPr>
          <p:nvPr/>
        </p:nvSpPr>
        <p:spPr>
          <a:xfrm>
            <a:off x="914400" y="6154738"/>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"q": query,</a:t>
            </a:r>
          </a:p>
        </p:txBody>
      </p:sp>
      <p:sp>
        <p:nvSpPr>
          <p:cNvPr id="18" name="code-line-11">
            <a:extLst>
              <a:ext uri="{FF2B5EF4-FFF2-40B4-BE49-F238E27FC236}">
                <a16:creationId xmlns:a16="http://schemas.microsoft.com/office/drawing/2014/main" id="{4957AC35-4EDC-492F-845C-92349789E730}"/>
              </a:ext>
            </a:extLst>
          </p:cNvPr>
          <p:cNvSpPr>
            <a:spLocks noGrp="1"/>
          </p:cNvSpPr>
          <p:nvPr/>
        </p:nvSpPr>
        <p:spPr>
          <a:xfrm>
            <a:off x="914400" y="6477794"/>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a:t>
            </a:r>
          </a:p>
        </p:txBody>
      </p:sp>
      <p:sp>
        <p:nvSpPr>
          <p:cNvPr id="19" name="reveal-1-output-1">
            <a:extLst>
              <a:ext uri="{FF2B5EF4-FFF2-40B4-BE49-F238E27FC236}">
                <a16:creationId xmlns:a16="http://schemas.microsoft.com/office/drawing/2014/main" id="{54762004-FAD2-4FC5-BF83-A02090B56AAC}"/>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GET /tasks/?q=django&amp;page=1</a:t>
            </a:r>
          </a:p>
        </p:txBody>
      </p:sp>
      <p:graphicFrame>
        <p:nvGraphicFramePr>
          <p:cNvPr id="41" name="reveal-1-output-2"/>
          <p:cNvGraphicFramePr/>
          <p:nvPr/>
        </p:nvGraphicFramePr>
        <p:xfrm>
          <a:off x="9239250" y="2952750"/>
          <a:ext cx="5295900" cy="3714750"/>
        </p:xfrm>
        <a:graphic>
          <a:graphicData uri="http://schemas.openxmlformats.org/drawingml/2006/table">
            <a:tbl>
              <a:tblPr firstRow="1"/>
              <a:tblGrid>
                <a:gridCol w="2647950">
                  <a:extLst>
                    <a:ext uri="{9D8B030D-6E8A-4147-A177-3AD203B41FA5}">
                      <a16:colId xmlns:a16="http://schemas.microsoft.com/office/drawing/2014/main" val="20000"/>
                    </a:ext>
                  </a:extLst>
                </a:gridCol>
                <a:gridCol w="2647950">
                  <a:extLst>
                    <a:ext uri="{9D8B030D-6E8A-4147-A177-3AD203B41FA5}">
                      <a16:colId xmlns:a16="http://schemas.microsoft.com/office/drawing/2014/main" val="20001"/>
                    </a:ext>
                  </a:extLst>
                </a:gridCol>
              </a:tblGrid>
              <a:tr h="1857375">
                <a:tc>
                  <a:txBody>
                    <a:bodyPr/>
                    <a:lstStyle/>
                    <a:p>
                      <a:r>
                        <a:rPr sz="1575" b="1">
                          <a:solidFill>
                            <a:srgbClr val="FFFFFF"/>
                          </a:solidFill>
                          <a:latin typeface="Helvetica Neue"/>
                          <a:ea typeface="Helvetica Neue"/>
                          <a:cs typeface="Helvetica Neue"/>
                        </a:rPr>
                        <a:t>id</a:t>
                      </a:r>
                    </a:p>
                  </a:txBody>
                  <a:tcPr anchor="ctr">
                    <a:solidFill>
                      <a:srgbClr val="242C35"/>
                    </a:solidFill>
                  </a:tcPr>
                </a:tc>
                <a:tc>
                  <a:txBody>
                    <a:bodyPr/>
                    <a:lstStyle/>
                    <a:p>
                      <a:r>
                        <a:rPr sz="1575" b="1">
                          <a:solidFill>
                            <a:srgbClr val="FFFFFF"/>
                          </a:solidFill>
                          <a:latin typeface="Helvetica Neue"/>
                          <a:ea typeface="Helvetica Neue"/>
                          <a:cs typeface="Helvetica Neue"/>
                        </a:rPr>
                        <a:t>Matching title</a:t>
                      </a:r>
                    </a:p>
                  </a:txBody>
                  <a:tcPr anchor="ctr">
                    <a:solidFill>
                      <a:srgbClr val="242C35"/>
                    </a:solidFill>
                  </a:tcPr>
                </a:tc>
                <a:extLst>
                  <a:ext uri="{0D108BD9-81ED-4DB2-BD59-A6C34878D82A}">
                    <a16:rowId xmlns:a16="http://schemas.microsoft.com/office/drawing/2014/main" val="10000"/>
                  </a:ext>
                </a:extLst>
              </a:tr>
              <a:tr h="1857375">
                <a:tc>
                  <a:txBody>
                    <a:bodyPr/>
                    <a:lstStyle/>
                    <a:p>
                      <a:r>
                        <a:rPr sz="1575" b="0">
                          <a:solidFill>
                            <a:srgbClr val="242C35"/>
                          </a:solidFill>
                          <a:latin typeface="Helvetica Neue"/>
                          <a:ea typeface="Helvetica Neue"/>
                          <a:cs typeface="Helvetica Neue"/>
                        </a:rPr>
                        <a:t>1</a:t>
                      </a:r>
                    </a:p>
                  </a:txBody>
                  <a:tcPr anchor="ctr">
                    <a:solidFill>
                      <a:srgbClr val="FFFFFF"/>
                    </a:solidFill>
                  </a:tcPr>
                </a:tc>
                <a:tc>
                  <a:txBody>
                    <a:bodyPr/>
                    <a:lstStyle/>
                    <a:p>
                      <a:r>
                        <a:rPr sz="1575" b="0">
                          <a:solidFill>
                            <a:srgbClr val="242C35"/>
                          </a:solidFill>
                          <a:latin typeface="Helvetica Neue"/>
                          <a:ea typeface="Helvetica Neue"/>
                          <a:cs typeface="Helvetica Neue"/>
                        </a:rPr>
                        <a:t>Prepare Django demo</a:t>
                      </a:r>
                    </a:p>
                  </a:txBody>
                  <a:tcPr anchor="ctr">
                    <a:solidFill>
                      <a:srgbClr val="FFFFFF"/>
                    </a:solidFill>
                  </a:tcPr>
                </a:tc>
                <a:extLst>
                  <a:ext uri="{0D108BD9-81ED-4DB2-BD59-A6C34878D82A}">
                    <a16:rowId xmlns:a16="http://schemas.microsoft.com/office/drawing/2014/main" val="10001"/>
                  </a:ext>
                </a:extLst>
              </a:tr>
            </a:tbl>
          </a:graphicData>
        </a:graphic>
      </p:graphicFrame>
      <p:sp>
        <p:nvSpPr>
          <p:cNvPr id="21" name="fade-1-takeaway">
            <a:extLst>
              <a:ext uri="{FF2B5EF4-FFF2-40B4-BE49-F238E27FC236}">
                <a16:creationId xmlns:a16="http://schemas.microsoft.com/office/drawing/2014/main" id="{A34052A6-D495-40DC-8144-A452463A27A3}"/>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Filter your own records, then limit the page size.</a:t>
            </a:r>
          </a:p>
        </p:txBody>
      </p:sp>
    </p:spTree>
    <p:extLst>
      <p:ext uri="{BB962C8B-B14F-4D97-AF65-F5344CB8AC3E}">
        <p14:creationId xmlns:p14="http://schemas.microsoft.com/office/powerpoint/2010/main" val="19977157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350" fill="hold">
                                          <p:stCondLst>
                                            <p:cond delay="0"/>
                                          </p:stCondLst>
                                        </p:cTn>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242C35"/>
        </a:solidFill>
        <a:effectLst/>
      </p:bgPr>
    </p:bg>
    <p:spTree>
      <p:nvGrpSpPr>
        <p:cNvPr id="1" name=""/>
        <p:cNvGrpSpPr/>
        <p:nvPr/>
      </p:nvGrpSpPr>
      <p:grpSpPr>
        <a:xfrm>
          <a:off x="0" y="0"/>
          <a:ext cx="0" cy="0"/>
          <a:chOff x="0" y="0"/>
          <a:chExt cx="0" cy="0"/>
        </a:xfrm>
      </p:grpSpPr>
      <p:sp>
        <p:nvSpPr>
          <p:cNvPr id="11" name="text-246">
            <a:extLst>
              <a:ext uri="{FF2B5EF4-FFF2-40B4-BE49-F238E27FC236}">
                <a16:creationId xmlns:a16="http://schemas.microsoft.com/office/drawing/2014/main" id="{D6E5FB94-B7BE-4847-A521-A7512FD68D6F}"/>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CDD4DD"/>
                </a:solidFill>
                <a:latin typeface="Helvetica Neue"/>
                <a:ea typeface="Helvetica Neue"/>
                <a:cs typeface="Helvetica Neue"/>
              </a:defRPr>
            </a:pPr>
            <a:r>
              <a:rPr sz="1500" b="0">
                <a:solidFill>
                  <a:srgbClr val="CDD4DD"/>
                </a:solidFill>
                <a:latin typeface="Helvetica Neue"/>
                <a:ea typeface="Helvetica Neue"/>
                <a:cs typeface="Helvetica Neue"/>
              </a:rPr>
              <a:t>03 / Forms and CRUD</a:t>
            </a:r>
          </a:p>
        </p:txBody>
      </p:sp>
      <p:sp>
        <p:nvSpPr>
          <p:cNvPr id="2" name="text-247">
            <a:extLst>
              <a:ext uri="{FF2B5EF4-FFF2-40B4-BE49-F238E27FC236}">
                <a16:creationId xmlns:a16="http://schemas.microsoft.com/office/drawing/2014/main" id="{630FCFEC-8F9F-461D-BA0C-06904438AB23}"/>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F8F5EF"/>
                </a:solidFill>
                <a:latin typeface="Georgia"/>
                <a:ea typeface="Georgia"/>
                <a:cs typeface="Georgia"/>
              </a:defRPr>
            </a:pPr>
            <a:r>
              <a:rPr sz="3525" b="0">
                <a:solidFill>
                  <a:srgbClr val="F8F5EF"/>
                </a:solidFill>
                <a:latin typeface="Georgia"/>
                <a:ea typeface="Georgia"/>
                <a:cs typeface="Georgia"/>
              </a:rPr>
              <a:t>Lab: a useful TODO workflow</a:t>
            </a:r>
          </a:p>
        </p:txBody>
      </p:sp>
      <p:sp>
        <p:nvSpPr>
          <p:cNvPr id="3" name="text-248">
            <a:extLst>
              <a:ext uri="{FF2B5EF4-FFF2-40B4-BE49-F238E27FC236}">
                <a16:creationId xmlns:a16="http://schemas.microsoft.com/office/drawing/2014/main" id="{EDDE3FF1-9379-4D72-91F6-A5718F2A88A2}"/>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BAC3CF"/>
                </a:solidFill>
                <a:latin typeface="Helvetica Neue"/>
                <a:ea typeface="Helvetica Neue"/>
                <a:cs typeface="Helvetica Neue"/>
              </a:defRPr>
            </a:pPr>
            <a:r>
              <a:rPr sz="1125" b="0">
                <a:solidFill>
                  <a:srgbClr val="BAC3CF"/>
                </a:solidFill>
                <a:latin typeface="Helvetica Neue"/>
                <a:ea typeface="Helvetica Neue"/>
                <a:cs typeface="Helvetica Neue"/>
              </a:rPr>
              <a:t>BHAVYA SHAH / DJANGO WORKSHOP</a:t>
            </a:r>
          </a:p>
        </p:txBody>
      </p:sp>
      <p:sp>
        <p:nvSpPr>
          <p:cNvPr id="4" name="text-249">
            <a:extLst>
              <a:ext uri="{FF2B5EF4-FFF2-40B4-BE49-F238E27FC236}">
                <a16:creationId xmlns:a16="http://schemas.microsoft.com/office/drawing/2014/main" id="{B23A2BDD-001F-4683-A8D6-57DD233AF63D}"/>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BAC3CF"/>
                </a:solidFill>
                <a:latin typeface="Helvetica Neue"/>
                <a:ea typeface="Helvetica Neue"/>
                <a:cs typeface="Helvetica Neue"/>
              </a:defRPr>
            </a:pPr>
            <a:r>
              <a:rPr sz="1575" b="0">
                <a:solidFill>
                  <a:srgbClr val="BAC3CF"/>
                </a:solidFill>
                <a:latin typeface="Helvetica Neue"/>
                <a:ea typeface="Helvetica Neue"/>
                <a:cs typeface="Helvetica Neue"/>
              </a:rPr>
              <a:t>33</a:t>
            </a:r>
          </a:p>
        </p:txBody>
      </p:sp>
      <p:sp>
        <p:nvSpPr>
          <p:cNvPr id="5" name="text-250">
            <a:extLst>
              <a:ext uri="{FF2B5EF4-FFF2-40B4-BE49-F238E27FC236}">
                <a16:creationId xmlns:a16="http://schemas.microsoft.com/office/drawing/2014/main" id="{F79512C6-0F3E-4490-8B84-572B38D300EC}"/>
              </a:ext>
            </a:extLst>
          </p:cNvPr>
          <p:cNvSpPr>
            <a:spLocks noGrp="1"/>
          </p:cNvSpPr>
          <p:nvPr/>
        </p:nvSpPr>
        <p:spPr>
          <a:xfrm>
            <a:off x="685800" y="2228850"/>
            <a:ext cx="13573125" cy="1123950"/>
          </a:xfrm>
          <a:prstGeom prst="rect">
            <a:avLst/>
          </a:prstGeom>
          <a:noFill/>
          <a:ln w="0">
            <a:noFill/>
          </a:ln>
        </p:spPr>
        <p:txBody>
          <a:bodyPr wrap="none" lIns="0" tIns="0" rIns="0" bIns="0" anchor="t">
            <a:noAutofit/>
          </a:bodyPr>
          <a:lstStyle/>
          <a:p>
            <a:pPr algn="l">
              <a:defRPr sz="2850" b="0">
                <a:solidFill>
                  <a:srgbClr val="F8F5EF"/>
                </a:solidFill>
                <a:latin typeface="Georgia"/>
                <a:ea typeface="Georgia"/>
                <a:cs typeface="Georgia"/>
              </a:defRPr>
            </a:pPr>
            <a:r>
              <a:rPr sz="2850" b="0">
                <a:solidFill>
                  <a:srgbClr val="F8F5EF"/>
                </a:solidFill>
                <a:latin typeface="Georgia"/>
                <a:ea typeface="Georgia"/>
                <a:cs typeface="Georgia"/>
              </a:rPr>
              <a:t>Your task list should save valid input and explain rejected input.</a:t>
            </a:r>
          </a:p>
        </p:txBody>
      </p:sp>
      <p:sp>
        <p:nvSpPr>
          <p:cNvPr id="6" name="reveal-1-number">
            <a:extLst>
              <a:ext uri="{FF2B5EF4-FFF2-40B4-BE49-F238E27FC236}">
                <a16:creationId xmlns:a16="http://schemas.microsoft.com/office/drawing/2014/main" id="{0D17942B-65A8-47BF-90B2-F11819EEC7C2}"/>
              </a:ext>
            </a:extLst>
          </p:cNvPr>
          <p:cNvSpPr>
            <a:spLocks noGrp="1"/>
          </p:cNvSpPr>
          <p:nvPr/>
        </p:nvSpPr>
        <p:spPr>
          <a:xfrm>
            <a:off x="685800" y="3876675"/>
            <a:ext cx="714375" cy="581025"/>
          </a:xfrm>
          <a:prstGeom prst="rect">
            <a:avLst/>
          </a:prstGeom>
          <a:noFill/>
          <a:ln w="0">
            <a:noFill/>
          </a:ln>
        </p:spPr>
        <p:txBody>
          <a:bodyPr wrap="none" lIns="0" tIns="0" rIns="0" bIns="0" anchor="t">
            <a:noAutofit/>
          </a:bodyPr>
          <a:lstStyle/>
          <a:p>
            <a:pPr algn="l">
              <a:defRPr sz="3075" b="0">
                <a:solidFill>
                  <a:srgbClr val="ED9D7C"/>
                </a:solidFill>
                <a:latin typeface="Georgia"/>
                <a:ea typeface="Georgia"/>
                <a:cs typeface="Georgia"/>
              </a:defRPr>
            </a:pPr>
            <a:r>
              <a:rPr sz="3075" b="0">
                <a:solidFill>
                  <a:srgbClr val="ED9D7C"/>
                </a:solidFill>
                <a:latin typeface="Georgia"/>
                <a:ea typeface="Georgia"/>
                <a:cs typeface="Georgia"/>
              </a:rPr>
              <a:t>1</a:t>
            </a:r>
          </a:p>
        </p:txBody>
      </p:sp>
      <p:sp>
        <p:nvSpPr>
          <p:cNvPr id="7" name="reveal-1-task">
            <a:extLst>
              <a:ext uri="{FF2B5EF4-FFF2-40B4-BE49-F238E27FC236}">
                <a16:creationId xmlns:a16="http://schemas.microsoft.com/office/drawing/2014/main" id="{BD504413-2F82-49C3-807A-20B34EA8688E}"/>
              </a:ext>
            </a:extLst>
          </p:cNvPr>
          <p:cNvSpPr>
            <a:spLocks noGrp="1"/>
          </p:cNvSpPr>
          <p:nvPr/>
        </p:nvSpPr>
        <p:spPr>
          <a:xfrm>
            <a:off x="1733550" y="3905250"/>
            <a:ext cx="12801600" cy="857250"/>
          </a:xfrm>
          <a:prstGeom prst="rect">
            <a:avLst/>
          </a:prstGeom>
          <a:noFill/>
          <a:ln w="0">
            <a:noFill/>
          </a:ln>
        </p:spPr>
        <p:txBody>
          <a:bodyPr wrap="none" lIns="0" tIns="0" rIns="0" bIns="0" anchor="t">
            <a:noAutofit/>
          </a:bodyPr>
          <a:lstStyle/>
          <a:p>
            <a:pPr algn="l">
              <a:defRPr sz="2325" b="0">
                <a:solidFill>
                  <a:srgbClr val="F8F5EF"/>
                </a:solidFill>
                <a:latin typeface="Helvetica Neue"/>
                <a:ea typeface="Helvetica Neue"/>
                <a:cs typeface="Helvetica Neue"/>
              </a:defRPr>
            </a:pPr>
            <a:r>
              <a:rPr sz="2325" b="0">
                <a:solidFill>
                  <a:srgbClr val="F8F5EF"/>
                </a:solidFill>
                <a:latin typeface="Helvetica Neue"/>
                <a:ea typeface="Helvetica Neue"/>
                <a:cs typeface="Helvetica Neue"/>
              </a:rPr>
              <a:t>Create a task, mark it done and find it by title.</a:t>
            </a:r>
          </a:p>
        </p:txBody>
      </p:sp>
      <p:sp>
        <p:nvSpPr>
          <p:cNvPr id="8" name="reveal-2-number">
            <a:extLst>
              <a:ext uri="{FF2B5EF4-FFF2-40B4-BE49-F238E27FC236}">
                <a16:creationId xmlns:a16="http://schemas.microsoft.com/office/drawing/2014/main" id="{3A670590-08E2-4F55-98F2-B6036234D030}"/>
              </a:ext>
            </a:extLst>
          </p:cNvPr>
          <p:cNvSpPr>
            <a:spLocks noGrp="1"/>
          </p:cNvSpPr>
          <p:nvPr/>
        </p:nvSpPr>
        <p:spPr>
          <a:xfrm>
            <a:off x="685800" y="4838700"/>
            <a:ext cx="714375" cy="581025"/>
          </a:xfrm>
          <a:prstGeom prst="rect">
            <a:avLst/>
          </a:prstGeom>
          <a:noFill/>
          <a:ln w="0">
            <a:noFill/>
          </a:ln>
        </p:spPr>
        <p:txBody>
          <a:bodyPr wrap="none" lIns="0" tIns="0" rIns="0" bIns="0" anchor="t">
            <a:noAutofit/>
          </a:bodyPr>
          <a:lstStyle/>
          <a:p>
            <a:pPr algn="l">
              <a:defRPr sz="3075" b="0">
                <a:solidFill>
                  <a:srgbClr val="ED9D7C"/>
                </a:solidFill>
                <a:latin typeface="Georgia"/>
                <a:ea typeface="Georgia"/>
                <a:cs typeface="Georgia"/>
              </a:defRPr>
            </a:pPr>
            <a:r>
              <a:rPr sz="3075" b="0">
                <a:solidFill>
                  <a:srgbClr val="ED9D7C"/>
                </a:solidFill>
                <a:latin typeface="Georgia"/>
                <a:ea typeface="Georgia"/>
                <a:cs typeface="Georgia"/>
              </a:rPr>
              <a:t>2</a:t>
            </a:r>
          </a:p>
        </p:txBody>
      </p:sp>
      <p:sp>
        <p:nvSpPr>
          <p:cNvPr id="9" name="reveal-2-task">
            <a:extLst>
              <a:ext uri="{FF2B5EF4-FFF2-40B4-BE49-F238E27FC236}">
                <a16:creationId xmlns:a16="http://schemas.microsoft.com/office/drawing/2014/main" id="{0A8F37B1-0EE1-45D1-828F-57603C3EFF22}"/>
              </a:ext>
            </a:extLst>
          </p:cNvPr>
          <p:cNvSpPr>
            <a:spLocks noGrp="1"/>
          </p:cNvSpPr>
          <p:nvPr/>
        </p:nvSpPr>
        <p:spPr>
          <a:xfrm>
            <a:off x="1733550" y="4867275"/>
            <a:ext cx="12801600" cy="857250"/>
          </a:xfrm>
          <a:prstGeom prst="rect">
            <a:avLst/>
          </a:prstGeom>
          <a:noFill/>
          <a:ln w="0">
            <a:noFill/>
          </a:ln>
        </p:spPr>
        <p:txBody>
          <a:bodyPr wrap="none" lIns="0" tIns="0" rIns="0" bIns="0" anchor="t">
            <a:noAutofit/>
          </a:bodyPr>
          <a:lstStyle/>
          <a:p>
            <a:pPr algn="l">
              <a:defRPr sz="2325" b="0">
                <a:solidFill>
                  <a:srgbClr val="F8F5EF"/>
                </a:solidFill>
                <a:latin typeface="Helvetica Neue"/>
                <a:ea typeface="Helvetica Neue"/>
                <a:cs typeface="Helvetica Neue"/>
              </a:defRPr>
            </a:pPr>
            <a:r>
              <a:rPr sz="2325" b="0">
                <a:solidFill>
                  <a:srgbClr val="F8F5EF"/>
                </a:solidFill>
                <a:latin typeface="Helvetica Neue"/>
                <a:ea typeface="Helvetica Neue"/>
                <a:cs typeface="Helvetica Neue"/>
              </a:rPr>
              <a:t>Submit “Go”, then a blank title. Confirm no invalid change saves.</a:t>
            </a:r>
          </a:p>
        </p:txBody>
      </p:sp>
      <p:sp>
        <p:nvSpPr>
          <p:cNvPr id="10" name="reveal-4-result">
            <a:extLst>
              <a:ext uri="{FF2B5EF4-FFF2-40B4-BE49-F238E27FC236}">
                <a16:creationId xmlns:a16="http://schemas.microsoft.com/office/drawing/2014/main" id="{5FBB1553-B9A6-42D7-BC52-A212ED17F2BF}"/>
              </a:ext>
            </a:extLst>
          </p:cNvPr>
          <p:cNvSpPr>
            <a:spLocks noGrp="1"/>
          </p:cNvSpPr>
          <p:nvPr/>
        </p:nvSpPr>
        <p:spPr>
          <a:xfrm>
            <a:off x="685800" y="7353300"/>
            <a:ext cx="13868400" cy="657225"/>
          </a:xfrm>
          <a:prstGeom prst="rect">
            <a:avLst/>
          </a:prstGeom>
          <a:noFill/>
          <a:ln w="0">
            <a:noFill/>
          </a:ln>
        </p:spPr>
        <p:txBody>
          <a:bodyPr wrap="none" lIns="0" tIns="0" rIns="0" bIns="0" anchor="t">
            <a:noAutofit/>
          </a:bodyPr>
          <a:lstStyle/>
          <a:p>
            <a:pPr algn="l">
              <a:defRPr sz="1950" b="0">
                <a:solidFill>
                  <a:srgbClr val="BED0FF"/>
                </a:solidFill>
                <a:latin typeface="Helvetica Neue"/>
                <a:ea typeface="Helvetica Neue"/>
                <a:cs typeface="Helvetica Neue"/>
              </a:defRPr>
            </a:pPr>
            <a:r>
              <a:rPr sz="1950" b="0">
                <a:solidFill>
                  <a:srgbClr val="BED0FF"/>
                </a:solidFill>
                <a:latin typeface="Helvetica Neue"/>
                <a:ea typeface="Helvetica Neue"/>
                <a:cs typeface="Helvetica Neue"/>
              </a:rPr>
              <a:t>Challenge: filter Open and Done tasks without losing search.</a:t>
            </a:r>
          </a:p>
        </p:txBody>
      </p:sp>
    </p:spTree>
    <p:extLst>
      <p:ext uri="{BB962C8B-B14F-4D97-AF65-F5344CB8AC3E}">
        <p14:creationId xmlns:p14="http://schemas.microsoft.com/office/powerpoint/2010/main" val="693913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3" name="text-251">
            <a:extLst>
              <a:ext uri="{FF2B5EF4-FFF2-40B4-BE49-F238E27FC236}">
                <a16:creationId xmlns:a16="http://schemas.microsoft.com/office/drawing/2014/main" id="{098CEA5D-1317-4914-8992-2A0FECCFDAAF}"/>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04 / Identity and security</a:t>
            </a:r>
          </a:p>
        </p:txBody>
      </p:sp>
      <p:sp>
        <p:nvSpPr>
          <p:cNvPr id="2" name="text-252">
            <a:extLst>
              <a:ext uri="{FF2B5EF4-FFF2-40B4-BE49-F238E27FC236}">
                <a16:creationId xmlns:a16="http://schemas.microsoft.com/office/drawing/2014/main" id="{32358AB4-6D74-4286-8C0B-0FDB239DA697}"/>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Built-in login routes</a:t>
            </a:r>
          </a:p>
        </p:txBody>
      </p:sp>
      <p:sp>
        <p:nvSpPr>
          <p:cNvPr id="3" name="text-253">
            <a:extLst>
              <a:ext uri="{FF2B5EF4-FFF2-40B4-BE49-F238E27FC236}">
                <a16:creationId xmlns:a16="http://schemas.microsoft.com/office/drawing/2014/main" id="{18FE8109-6A3B-4A3A-98CB-1ACABF4966F5}"/>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254">
            <a:extLst>
              <a:ext uri="{FF2B5EF4-FFF2-40B4-BE49-F238E27FC236}">
                <a16:creationId xmlns:a16="http://schemas.microsoft.com/office/drawing/2014/main" id="{84A106D9-6320-46EF-9D53-4F3E4CA65090}"/>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34</a:t>
            </a:r>
          </a:p>
        </p:txBody>
      </p:sp>
      <p:sp>
        <p:nvSpPr>
          <p:cNvPr id="5" name="text-255">
            <a:extLst>
              <a:ext uri="{FF2B5EF4-FFF2-40B4-BE49-F238E27FC236}">
                <a16:creationId xmlns:a16="http://schemas.microsoft.com/office/drawing/2014/main" id="{A042CC43-BD16-4BF5-B12F-8D3BA784B99C}"/>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config/urls.py and config/settings.py</a:t>
            </a:r>
          </a:p>
        </p:txBody>
      </p:sp>
      <p:sp>
        <p:nvSpPr>
          <p:cNvPr id="6" name="code-panel-256">
            <a:extLst>
              <a:ext uri="{FF2B5EF4-FFF2-40B4-BE49-F238E27FC236}">
                <a16:creationId xmlns:a16="http://schemas.microsoft.com/office/drawing/2014/main" id="{0E0AC09F-2E0C-4B1A-A741-C19E5D3AECF8}"/>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74AAFDB8-AB91-4A87-A7F0-D7E6314A460A}"/>
              </a:ext>
            </a:extLst>
          </p:cNvPr>
          <p:cNvSpPr>
            <a:spLocks noGrp="1"/>
          </p:cNvSpPr>
          <p:nvPr/>
        </p:nvSpPr>
        <p:spPr>
          <a:xfrm>
            <a:off x="914400" y="2924175"/>
            <a:ext cx="7639050" cy="351631"/>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config/urls.py</a:t>
            </a:r>
          </a:p>
        </p:txBody>
      </p:sp>
      <p:sp>
        <p:nvSpPr>
          <p:cNvPr id="8" name="code-line-1">
            <a:extLst>
              <a:ext uri="{FF2B5EF4-FFF2-40B4-BE49-F238E27FC236}">
                <a16:creationId xmlns:a16="http://schemas.microsoft.com/office/drawing/2014/main" id="{FBB24014-20D7-4347-AABC-91AD28D49ED9}"/>
              </a:ext>
            </a:extLst>
          </p:cNvPr>
          <p:cNvSpPr>
            <a:spLocks noGrp="1"/>
          </p:cNvSpPr>
          <p:nvPr/>
        </p:nvSpPr>
        <p:spPr>
          <a:xfrm>
            <a:off x="914400" y="3247231"/>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path("accounts/", include("django.contrib.auth.urls")),</a:t>
            </a:r>
          </a:p>
        </p:txBody>
      </p:sp>
      <p:sp>
        <p:nvSpPr>
          <p:cNvPr id="9" name="code-line-2">
            <a:extLst>
              <a:ext uri="{FF2B5EF4-FFF2-40B4-BE49-F238E27FC236}">
                <a16:creationId xmlns:a16="http://schemas.microsoft.com/office/drawing/2014/main" id="{735E54B5-6237-427E-85CD-2D191C951142}"/>
              </a:ext>
            </a:extLst>
          </p:cNvPr>
          <p:cNvSpPr>
            <a:spLocks noGrp="1"/>
          </p:cNvSpPr>
          <p:nvPr/>
        </p:nvSpPr>
        <p:spPr>
          <a:xfrm>
            <a:off x="914400" y="3570288"/>
            <a:ext cx="7639050" cy="351631"/>
          </a:xfrm>
          <a:prstGeom prst="rect">
            <a:avLst/>
          </a:prstGeom>
          <a:noFill/>
          <a:ln w="0">
            <a:noFill/>
          </a:ln>
        </p:spPr>
        <p:txBody>
          <a:bodyPr wrap="none" lIns="0" tIns="0" rIns="0" bIns="0" anchor="t">
            <a:noAutofit/>
          </a:bodyPr>
          <a:lstStyle/>
          <a:p>
            <a:endParaRPr/>
          </a:p>
        </p:txBody>
      </p:sp>
      <p:sp>
        <p:nvSpPr>
          <p:cNvPr id="10" name="code-line-3">
            <a:extLst>
              <a:ext uri="{FF2B5EF4-FFF2-40B4-BE49-F238E27FC236}">
                <a16:creationId xmlns:a16="http://schemas.microsoft.com/office/drawing/2014/main" id="{B87C53BA-5629-43D1-B423-80947B0B97C6}"/>
              </a:ext>
            </a:extLst>
          </p:cNvPr>
          <p:cNvSpPr>
            <a:spLocks noGrp="1"/>
          </p:cNvSpPr>
          <p:nvPr/>
        </p:nvSpPr>
        <p:spPr>
          <a:xfrm>
            <a:off x="914400" y="3893344"/>
            <a:ext cx="7639050" cy="351631"/>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config/settings.py</a:t>
            </a:r>
          </a:p>
        </p:txBody>
      </p:sp>
      <p:sp>
        <p:nvSpPr>
          <p:cNvPr id="11" name="code-line-4">
            <a:extLst>
              <a:ext uri="{FF2B5EF4-FFF2-40B4-BE49-F238E27FC236}">
                <a16:creationId xmlns:a16="http://schemas.microsoft.com/office/drawing/2014/main" id="{CCDB5D11-A540-408C-98CE-67EF8DFFB359}"/>
              </a:ext>
            </a:extLst>
          </p:cNvPr>
          <p:cNvSpPr>
            <a:spLocks noGrp="1"/>
          </p:cNvSpPr>
          <p:nvPr/>
        </p:nvSpPr>
        <p:spPr>
          <a:xfrm>
            <a:off x="914400" y="4216400"/>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LOGIN_URL = "login"</a:t>
            </a:r>
          </a:p>
        </p:txBody>
      </p:sp>
      <p:sp>
        <p:nvSpPr>
          <p:cNvPr id="12" name="code-line-5">
            <a:extLst>
              <a:ext uri="{FF2B5EF4-FFF2-40B4-BE49-F238E27FC236}">
                <a16:creationId xmlns:a16="http://schemas.microsoft.com/office/drawing/2014/main" id="{1F87768D-6A45-4510-9C4C-EF73ABDD5481}"/>
              </a:ext>
            </a:extLst>
          </p:cNvPr>
          <p:cNvSpPr>
            <a:spLocks noGrp="1"/>
          </p:cNvSpPr>
          <p:nvPr/>
        </p:nvSpPr>
        <p:spPr>
          <a:xfrm>
            <a:off x="914400" y="4539456"/>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LOGIN_REDIRECT_URL = "tasks:list"</a:t>
            </a:r>
          </a:p>
        </p:txBody>
      </p:sp>
      <p:sp>
        <p:nvSpPr>
          <p:cNvPr id="13" name="code-line-6">
            <a:extLst>
              <a:ext uri="{FF2B5EF4-FFF2-40B4-BE49-F238E27FC236}">
                <a16:creationId xmlns:a16="http://schemas.microsoft.com/office/drawing/2014/main" id="{08F98230-1CB5-45FD-BE65-7D1916B03D59}"/>
              </a:ext>
            </a:extLst>
          </p:cNvPr>
          <p:cNvSpPr>
            <a:spLocks noGrp="1"/>
          </p:cNvSpPr>
          <p:nvPr/>
        </p:nvSpPr>
        <p:spPr>
          <a:xfrm>
            <a:off x="914400" y="4862513"/>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LOGOUT_REDIRECT_URL = "login"</a:t>
            </a:r>
          </a:p>
        </p:txBody>
      </p:sp>
      <p:sp>
        <p:nvSpPr>
          <p:cNvPr id="14" name="code-line-7">
            <a:extLst>
              <a:ext uri="{FF2B5EF4-FFF2-40B4-BE49-F238E27FC236}">
                <a16:creationId xmlns:a16="http://schemas.microsoft.com/office/drawing/2014/main" id="{C02A8E68-EA71-4BED-AEAF-67D0653C75FD}"/>
              </a:ext>
            </a:extLst>
          </p:cNvPr>
          <p:cNvSpPr>
            <a:spLocks noGrp="1"/>
          </p:cNvSpPr>
          <p:nvPr/>
        </p:nvSpPr>
        <p:spPr>
          <a:xfrm>
            <a:off x="914400" y="5185569"/>
            <a:ext cx="7639050" cy="351631"/>
          </a:xfrm>
          <a:prstGeom prst="rect">
            <a:avLst/>
          </a:prstGeom>
          <a:noFill/>
          <a:ln w="0">
            <a:noFill/>
          </a:ln>
        </p:spPr>
        <p:txBody>
          <a:bodyPr wrap="none" lIns="0" tIns="0" rIns="0" bIns="0" anchor="t">
            <a:noAutofit/>
          </a:bodyPr>
          <a:lstStyle/>
          <a:p>
            <a:endParaRPr/>
          </a:p>
        </p:txBody>
      </p:sp>
      <p:sp>
        <p:nvSpPr>
          <p:cNvPr id="15" name="code-line-8">
            <a:extLst>
              <a:ext uri="{FF2B5EF4-FFF2-40B4-BE49-F238E27FC236}">
                <a16:creationId xmlns:a16="http://schemas.microsoft.com/office/drawing/2014/main" id="{EC9365D6-CFB6-4CD9-ACCF-C6F6A7BB52AA}"/>
              </a:ext>
            </a:extLst>
          </p:cNvPr>
          <p:cNvSpPr>
            <a:spLocks noGrp="1"/>
          </p:cNvSpPr>
          <p:nvPr/>
        </p:nvSpPr>
        <p:spPr>
          <a:xfrm>
            <a:off x="914400" y="5508625"/>
            <a:ext cx="7639050" cy="351631"/>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Application view</a:t>
            </a:r>
          </a:p>
        </p:txBody>
      </p:sp>
      <p:sp>
        <p:nvSpPr>
          <p:cNvPr id="16" name="code-line-9">
            <a:extLst>
              <a:ext uri="{FF2B5EF4-FFF2-40B4-BE49-F238E27FC236}">
                <a16:creationId xmlns:a16="http://schemas.microsoft.com/office/drawing/2014/main" id="{CD7514E1-8A9A-4E27-84DE-4BC120D5F688}"/>
              </a:ext>
            </a:extLst>
          </p:cNvPr>
          <p:cNvSpPr>
            <a:spLocks noGrp="1"/>
          </p:cNvSpPr>
          <p:nvPr/>
        </p:nvSpPr>
        <p:spPr>
          <a:xfrm>
            <a:off x="914400" y="5831681"/>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@login_required</a:t>
            </a:r>
          </a:p>
        </p:txBody>
      </p:sp>
      <p:sp>
        <p:nvSpPr>
          <p:cNvPr id="17" name="code-line-10">
            <a:extLst>
              <a:ext uri="{FF2B5EF4-FFF2-40B4-BE49-F238E27FC236}">
                <a16:creationId xmlns:a16="http://schemas.microsoft.com/office/drawing/2014/main" id="{0201F124-E2E7-49AA-B153-C5B8331969F7}"/>
              </a:ext>
            </a:extLst>
          </p:cNvPr>
          <p:cNvSpPr>
            <a:spLocks noGrp="1"/>
          </p:cNvSpPr>
          <p:nvPr/>
        </p:nvSpPr>
        <p:spPr>
          <a:xfrm>
            <a:off x="914400" y="6154738"/>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def</a:t>
            </a:r>
            <a:r>
              <a:rPr sz="1725" b="0">
                <a:solidFill>
                  <a:srgbClr val="FFFFFF"/>
                </a:solidFill>
                <a:latin typeface="Menlo"/>
                <a:ea typeface="Menlo"/>
                <a:cs typeface="Menlo"/>
              </a:rPr>
              <a:t> task_list(request):</a:t>
            </a:r>
          </a:p>
        </p:txBody>
      </p:sp>
      <p:sp>
        <p:nvSpPr>
          <p:cNvPr id="18" name="code-line-11">
            <a:extLst>
              <a:ext uri="{FF2B5EF4-FFF2-40B4-BE49-F238E27FC236}">
                <a16:creationId xmlns:a16="http://schemas.microsoft.com/office/drawing/2014/main" id="{7F45AD6B-695F-4303-A112-4B663AA1471B}"/>
              </a:ext>
            </a:extLst>
          </p:cNvPr>
          <p:cNvSpPr>
            <a:spLocks noGrp="1"/>
          </p:cNvSpPr>
          <p:nvPr/>
        </p:nvSpPr>
        <p:spPr>
          <a:xfrm>
            <a:off x="914400" y="6477794"/>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p>
        </p:txBody>
      </p:sp>
      <p:sp>
        <p:nvSpPr>
          <p:cNvPr id="19" name="reveal-1-output-1">
            <a:extLst>
              <a:ext uri="{FF2B5EF4-FFF2-40B4-BE49-F238E27FC236}">
                <a16:creationId xmlns:a16="http://schemas.microsoft.com/office/drawing/2014/main" id="{97FC5177-1F33-49ED-8CA7-C9A693D55E3B}"/>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Protected pages redirect to Login</a:t>
            </a:r>
          </a:p>
        </p:txBody>
      </p:sp>
      <p:pic>
        <p:nvPicPr>
          <p:cNvPr id="42" name="reveal-1-output-2"/>
          <p:cNvPicPr>
            <a:picLocks noChangeAspect="1"/>
          </p:cNvPicPr>
          <p:nvPr/>
        </p:nvPicPr>
        <p:blipFill>
          <a:blip r:embed="rId3"/>
          <a:srcRect l="54000" t="32500" r="5500" b="19500"/>
          <a:stretch>
            <a:fillRect/>
          </a:stretch>
        </p:blipFill>
        <p:spPr>
          <a:xfrm>
            <a:off x="9615711" y="2952750"/>
            <a:ext cx="4542979" cy="3524250"/>
          </a:xfrm>
          <a:prstGeom prst="rect">
            <a:avLst/>
          </a:prstGeom>
        </p:spPr>
      </p:pic>
      <p:sp>
        <p:nvSpPr>
          <p:cNvPr id="21" name="reveal-1-output-3">
            <a:extLst>
              <a:ext uri="{FF2B5EF4-FFF2-40B4-BE49-F238E27FC236}">
                <a16:creationId xmlns:a16="http://schemas.microsoft.com/office/drawing/2014/main" id="{2095C79A-A5CC-41A8-87C4-D0D9698C3D60}"/>
              </a:ext>
            </a:extLst>
          </p:cNvPr>
          <p:cNvSpPr>
            <a:spLocks noGrp="1"/>
          </p:cNvSpPr>
          <p:nvPr/>
        </p:nvSpPr>
        <p:spPr>
          <a:xfrm>
            <a:off x="9239250" y="6610350"/>
            <a:ext cx="5295900" cy="285750"/>
          </a:xfrm>
          <a:prstGeom prst="rect">
            <a:avLst/>
          </a:prstGeom>
          <a:noFill/>
          <a:ln w="0">
            <a:noFill/>
          </a:ln>
        </p:spPr>
        <p:txBody>
          <a:bodyPr wrap="none" lIns="0" tIns="0" rIns="0" bIns="0" anchor="t">
            <a:noAutofit/>
          </a:bodyPr>
          <a:lstStyle/>
          <a:p>
            <a:pPr algn="l">
              <a:defRPr sz="1350" b="0">
                <a:solidFill>
                  <a:srgbClr val="65717A"/>
                </a:solidFill>
                <a:latin typeface="Helvetica Neue"/>
                <a:ea typeface="Helvetica Neue"/>
                <a:cs typeface="Helvetica Neue"/>
              </a:defRPr>
            </a:pPr>
            <a:r>
              <a:rPr sz="1350" b="0">
                <a:solidFill>
                  <a:srgbClr val="65717A"/>
                </a:solidFill>
                <a:latin typeface="Helvetica Neue"/>
                <a:ea typeface="Helvetica Neue"/>
                <a:cs typeface="Helvetica Neue"/>
              </a:rPr>
              <a:t>Illustrative UI detail</a:t>
            </a:r>
          </a:p>
        </p:txBody>
      </p:sp>
      <p:sp>
        <p:nvSpPr>
          <p:cNvPr id="22" name="fade-1-takeaway">
            <a:extLst>
              <a:ext uri="{FF2B5EF4-FFF2-40B4-BE49-F238E27FC236}">
                <a16:creationId xmlns:a16="http://schemas.microsoft.com/office/drawing/2014/main" id="{D924DB74-0913-4EA3-9AF3-284D8A3A81B3}"/>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Django supplies views and session handling.</a:t>
            </a:r>
          </a:p>
        </p:txBody>
      </p:sp>
    </p:spTree>
    <p:extLst>
      <p:ext uri="{BB962C8B-B14F-4D97-AF65-F5344CB8AC3E}">
        <p14:creationId xmlns:p14="http://schemas.microsoft.com/office/powerpoint/2010/main" val="3153161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350" fill="hold">
                                          <p:stCondLst>
                                            <p:cond delay="0"/>
                                          </p:stCondLst>
                                        </p:cTn>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3" name="text-259">
            <a:extLst>
              <a:ext uri="{FF2B5EF4-FFF2-40B4-BE49-F238E27FC236}">
                <a16:creationId xmlns:a16="http://schemas.microsoft.com/office/drawing/2014/main" id="{9BB9F9AA-A3F2-433F-A2FE-EE9C92338751}"/>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04 / Identity and security</a:t>
            </a:r>
          </a:p>
        </p:txBody>
      </p:sp>
      <p:sp>
        <p:nvSpPr>
          <p:cNvPr id="2" name="text-260">
            <a:extLst>
              <a:ext uri="{FF2B5EF4-FFF2-40B4-BE49-F238E27FC236}">
                <a16:creationId xmlns:a16="http://schemas.microsoft.com/office/drawing/2014/main" id="{DDB622CD-29B3-459F-A2AB-7FA54FCFEF5B}"/>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Login and logout templates</a:t>
            </a:r>
          </a:p>
        </p:txBody>
      </p:sp>
      <p:sp>
        <p:nvSpPr>
          <p:cNvPr id="3" name="text-261">
            <a:extLst>
              <a:ext uri="{FF2B5EF4-FFF2-40B4-BE49-F238E27FC236}">
                <a16:creationId xmlns:a16="http://schemas.microsoft.com/office/drawing/2014/main" id="{26787FB2-47A7-482D-94AD-E7A4D1F25F90}"/>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262">
            <a:extLst>
              <a:ext uri="{FF2B5EF4-FFF2-40B4-BE49-F238E27FC236}">
                <a16:creationId xmlns:a16="http://schemas.microsoft.com/office/drawing/2014/main" id="{812B4A94-C305-4857-B606-564412AABE62}"/>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35</a:t>
            </a:r>
          </a:p>
        </p:txBody>
      </p:sp>
      <p:sp>
        <p:nvSpPr>
          <p:cNvPr id="5" name="text-263">
            <a:extLst>
              <a:ext uri="{FF2B5EF4-FFF2-40B4-BE49-F238E27FC236}">
                <a16:creationId xmlns:a16="http://schemas.microsoft.com/office/drawing/2014/main" id="{7AC0326F-1DDB-4429-A828-1FE5168FD65D}"/>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registration/login.html and base.html</a:t>
            </a:r>
          </a:p>
        </p:txBody>
      </p:sp>
      <p:sp>
        <p:nvSpPr>
          <p:cNvPr id="6" name="code-panel-264">
            <a:extLst>
              <a:ext uri="{FF2B5EF4-FFF2-40B4-BE49-F238E27FC236}">
                <a16:creationId xmlns:a16="http://schemas.microsoft.com/office/drawing/2014/main" id="{5A5D2E29-0094-49C6-9674-EB1AE809BC3A}"/>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8D70EFFB-31C9-44BB-BB74-A065B0F12E2A}"/>
              </a:ext>
            </a:extLst>
          </p:cNvPr>
          <p:cNvSpPr>
            <a:spLocks noGrp="1"/>
          </p:cNvSpPr>
          <p:nvPr/>
        </p:nvSpPr>
        <p:spPr>
          <a:xfrm>
            <a:off x="914400" y="2924175"/>
            <a:ext cx="7639050" cy="351631"/>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&lt;!-- tasks/templates/registration/login.html --&gt;</a:t>
            </a:r>
          </a:p>
        </p:txBody>
      </p:sp>
      <p:sp>
        <p:nvSpPr>
          <p:cNvPr id="8" name="code-line-1">
            <a:extLst>
              <a:ext uri="{FF2B5EF4-FFF2-40B4-BE49-F238E27FC236}">
                <a16:creationId xmlns:a16="http://schemas.microsoft.com/office/drawing/2014/main" id="{B6F46E91-7586-4585-9E4B-E9808B8C76D4}"/>
              </a:ext>
            </a:extLst>
          </p:cNvPr>
          <p:cNvSpPr>
            <a:spLocks noGrp="1"/>
          </p:cNvSpPr>
          <p:nvPr/>
        </p:nvSpPr>
        <p:spPr>
          <a:xfrm>
            <a:off x="914400" y="3247231"/>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&lt;form method="post"&gt;</a:t>
            </a:r>
          </a:p>
        </p:txBody>
      </p:sp>
      <p:sp>
        <p:nvSpPr>
          <p:cNvPr id="9" name="code-line-2">
            <a:extLst>
              <a:ext uri="{FF2B5EF4-FFF2-40B4-BE49-F238E27FC236}">
                <a16:creationId xmlns:a16="http://schemas.microsoft.com/office/drawing/2014/main" id="{C1A5CC49-BB9D-4ABC-955A-B5E1D0EE15DA}"/>
              </a:ext>
            </a:extLst>
          </p:cNvPr>
          <p:cNvSpPr>
            <a:spLocks noGrp="1"/>
          </p:cNvSpPr>
          <p:nvPr/>
        </p:nvSpPr>
        <p:spPr>
          <a:xfrm>
            <a:off x="914400" y="3570288"/>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 csrf_token %}</a:t>
            </a:r>
          </a:p>
        </p:txBody>
      </p:sp>
      <p:sp>
        <p:nvSpPr>
          <p:cNvPr id="10" name="code-line-3">
            <a:extLst>
              <a:ext uri="{FF2B5EF4-FFF2-40B4-BE49-F238E27FC236}">
                <a16:creationId xmlns:a16="http://schemas.microsoft.com/office/drawing/2014/main" id="{7F02ECC1-E7DF-415A-81BF-7CF78DD7D338}"/>
              </a:ext>
            </a:extLst>
          </p:cNvPr>
          <p:cNvSpPr>
            <a:spLocks noGrp="1"/>
          </p:cNvSpPr>
          <p:nvPr/>
        </p:nvSpPr>
        <p:spPr>
          <a:xfrm>
            <a:off x="914400" y="3893344"/>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 form.as_p }}</a:t>
            </a:r>
          </a:p>
        </p:txBody>
      </p:sp>
      <p:sp>
        <p:nvSpPr>
          <p:cNvPr id="11" name="code-line-4">
            <a:extLst>
              <a:ext uri="{FF2B5EF4-FFF2-40B4-BE49-F238E27FC236}">
                <a16:creationId xmlns:a16="http://schemas.microsoft.com/office/drawing/2014/main" id="{41F37514-3330-4BB2-889F-803C3AF9027E}"/>
              </a:ext>
            </a:extLst>
          </p:cNvPr>
          <p:cNvSpPr>
            <a:spLocks noGrp="1"/>
          </p:cNvSpPr>
          <p:nvPr/>
        </p:nvSpPr>
        <p:spPr>
          <a:xfrm>
            <a:off x="914400" y="4216400"/>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&lt;input type="hidden" name="next" value="{{ next }}"&gt;</a:t>
            </a:r>
          </a:p>
        </p:txBody>
      </p:sp>
      <p:sp>
        <p:nvSpPr>
          <p:cNvPr id="12" name="code-line-5">
            <a:extLst>
              <a:ext uri="{FF2B5EF4-FFF2-40B4-BE49-F238E27FC236}">
                <a16:creationId xmlns:a16="http://schemas.microsoft.com/office/drawing/2014/main" id="{63731A92-5332-4F20-9B6C-EECCF608019B}"/>
              </a:ext>
            </a:extLst>
          </p:cNvPr>
          <p:cNvSpPr>
            <a:spLocks noGrp="1"/>
          </p:cNvSpPr>
          <p:nvPr/>
        </p:nvSpPr>
        <p:spPr>
          <a:xfrm>
            <a:off x="914400" y="4539456"/>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&lt;button type="submit"&gt;Log </a:t>
            </a:r>
            <a:r>
              <a:rPr sz="1725" b="0">
                <a:solidFill>
                  <a:srgbClr val="A7C2FF"/>
                </a:solidFill>
                <a:latin typeface="Menlo"/>
                <a:ea typeface="Menlo"/>
                <a:cs typeface="Menlo"/>
              </a:rPr>
              <a:t>in</a:t>
            </a:r>
            <a:r>
              <a:rPr sz="1725" b="0">
                <a:solidFill>
                  <a:srgbClr val="FFFFFF"/>
                </a:solidFill>
                <a:latin typeface="Menlo"/>
                <a:ea typeface="Menlo"/>
                <a:cs typeface="Menlo"/>
              </a:rPr>
              <a:t>&lt;/button&gt;</a:t>
            </a:r>
          </a:p>
        </p:txBody>
      </p:sp>
      <p:sp>
        <p:nvSpPr>
          <p:cNvPr id="13" name="code-line-6">
            <a:extLst>
              <a:ext uri="{FF2B5EF4-FFF2-40B4-BE49-F238E27FC236}">
                <a16:creationId xmlns:a16="http://schemas.microsoft.com/office/drawing/2014/main" id="{CFB78EC4-54D5-4975-B6E4-1E6867DF73EF}"/>
              </a:ext>
            </a:extLst>
          </p:cNvPr>
          <p:cNvSpPr>
            <a:spLocks noGrp="1"/>
          </p:cNvSpPr>
          <p:nvPr/>
        </p:nvSpPr>
        <p:spPr>
          <a:xfrm>
            <a:off x="914400" y="4862513"/>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&lt;/form&gt;</a:t>
            </a:r>
          </a:p>
        </p:txBody>
      </p:sp>
      <p:sp>
        <p:nvSpPr>
          <p:cNvPr id="14" name="code-line-7">
            <a:extLst>
              <a:ext uri="{FF2B5EF4-FFF2-40B4-BE49-F238E27FC236}">
                <a16:creationId xmlns:a16="http://schemas.microsoft.com/office/drawing/2014/main" id="{7CD3BC36-E943-4926-A4A7-F44A90E48AA2}"/>
              </a:ext>
            </a:extLst>
          </p:cNvPr>
          <p:cNvSpPr>
            <a:spLocks noGrp="1"/>
          </p:cNvSpPr>
          <p:nvPr/>
        </p:nvSpPr>
        <p:spPr>
          <a:xfrm>
            <a:off x="914400" y="5185569"/>
            <a:ext cx="7639050" cy="351631"/>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&lt;!-- base.html, when user.is_authenticated --&gt;</a:t>
            </a:r>
          </a:p>
        </p:txBody>
      </p:sp>
      <p:sp>
        <p:nvSpPr>
          <p:cNvPr id="15" name="code-line-8">
            <a:extLst>
              <a:ext uri="{FF2B5EF4-FFF2-40B4-BE49-F238E27FC236}">
                <a16:creationId xmlns:a16="http://schemas.microsoft.com/office/drawing/2014/main" id="{14499130-FD6A-4A5F-B412-214C67DFD70D}"/>
              </a:ext>
            </a:extLst>
          </p:cNvPr>
          <p:cNvSpPr>
            <a:spLocks noGrp="1"/>
          </p:cNvSpPr>
          <p:nvPr/>
        </p:nvSpPr>
        <p:spPr>
          <a:xfrm>
            <a:off x="914400" y="5508625"/>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&lt;form method="post" action="{% url 'logout' %}"&gt;</a:t>
            </a:r>
          </a:p>
        </p:txBody>
      </p:sp>
      <p:sp>
        <p:nvSpPr>
          <p:cNvPr id="16" name="code-line-9">
            <a:extLst>
              <a:ext uri="{FF2B5EF4-FFF2-40B4-BE49-F238E27FC236}">
                <a16:creationId xmlns:a16="http://schemas.microsoft.com/office/drawing/2014/main" id="{70FCEF42-62EB-4521-8844-14BCB92DBD43}"/>
              </a:ext>
            </a:extLst>
          </p:cNvPr>
          <p:cNvSpPr>
            <a:spLocks noGrp="1"/>
          </p:cNvSpPr>
          <p:nvPr/>
        </p:nvSpPr>
        <p:spPr>
          <a:xfrm>
            <a:off x="914400" y="5831681"/>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 csrf_token %}</a:t>
            </a:r>
          </a:p>
        </p:txBody>
      </p:sp>
      <p:sp>
        <p:nvSpPr>
          <p:cNvPr id="17" name="code-line-10">
            <a:extLst>
              <a:ext uri="{FF2B5EF4-FFF2-40B4-BE49-F238E27FC236}">
                <a16:creationId xmlns:a16="http://schemas.microsoft.com/office/drawing/2014/main" id="{C2E2AE0B-530A-4E73-A350-25E8AEF3A8FC}"/>
              </a:ext>
            </a:extLst>
          </p:cNvPr>
          <p:cNvSpPr>
            <a:spLocks noGrp="1"/>
          </p:cNvSpPr>
          <p:nvPr/>
        </p:nvSpPr>
        <p:spPr>
          <a:xfrm>
            <a:off x="914400" y="6154738"/>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&lt;button type="submit"&gt;Log out&lt;/button&gt;</a:t>
            </a:r>
          </a:p>
        </p:txBody>
      </p:sp>
      <p:sp>
        <p:nvSpPr>
          <p:cNvPr id="18" name="code-line-11">
            <a:extLst>
              <a:ext uri="{FF2B5EF4-FFF2-40B4-BE49-F238E27FC236}">
                <a16:creationId xmlns:a16="http://schemas.microsoft.com/office/drawing/2014/main" id="{967413DF-1B80-40C8-BD7F-3E29621AE762}"/>
              </a:ext>
            </a:extLst>
          </p:cNvPr>
          <p:cNvSpPr>
            <a:spLocks noGrp="1"/>
          </p:cNvSpPr>
          <p:nvPr/>
        </p:nvSpPr>
        <p:spPr>
          <a:xfrm>
            <a:off x="914400" y="6477794"/>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&lt;/form&gt;</a:t>
            </a:r>
          </a:p>
        </p:txBody>
      </p:sp>
      <p:sp>
        <p:nvSpPr>
          <p:cNvPr id="19" name="reveal-1-output-1">
            <a:extLst>
              <a:ext uri="{FF2B5EF4-FFF2-40B4-BE49-F238E27FC236}">
                <a16:creationId xmlns:a16="http://schemas.microsoft.com/office/drawing/2014/main" id="{1E3C273C-032F-4475-B55B-7600FDB138B3}"/>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PocketDesk login form</a:t>
            </a:r>
          </a:p>
        </p:txBody>
      </p:sp>
      <p:pic>
        <p:nvPicPr>
          <p:cNvPr id="42" name="reveal-1-output-2"/>
          <p:cNvPicPr>
            <a:picLocks noChangeAspect="1"/>
          </p:cNvPicPr>
          <p:nvPr/>
        </p:nvPicPr>
        <p:blipFill>
          <a:blip r:embed="rId3"/>
          <a:srcRect l="54000" t="32500" r="5500" b="19500"/>
          <a:stretch>
            <a:fillRect/>
          </a:stretch>
        </p:blipFill>
        <p:spPr>
          <a:xfrm>
            <a:off x="9615711" y="2952750"/>
            <a:ext cx="4542979" cy="3524250"/>
          </a:xfrm>
          <a:prstGeom prst="rect">
            <a:avLst/>
          </a:prstGeom>
        </p:spPr>
      </p:pic>
      <p:sp>
        <p:nvSpPr>
          <p:cNvPr id="21" name="reveal-1-output-3">
            <a:extLst>
              <a:ext uri="{FF2B5EF4-FFF2-40B4-BE49-F238E27FC236}">
                <a16:creationId xmlns:a16="http://schemas.microsoft.com/office/drawing/2014/main" id="{C6CF9D40-D827-49A2-9411-E15527426F6E}"/>
              </a:ext>
            </a:extLst>
          </p:cNvPr>
          <p:cNvSpPr>
            <a:spLocks noGrp="1"/>
          </p:cNvSpPr>
          <p:nvPr/>
        </p:nvSpPr>
        <p:spPr>
          <a:xfrm>
            <a:off x="9239250" y="6610350"/>
            <a:ext cx="5295900" cy="285750"/>
          </a:xfrm>
          <a:prstGeom prst="rect">
            <a:avLst/>
          </a:prstGeom>
          <a:noFill/>
          <a:ln w="0">
            <a:noFill/>
          </a:ln>
        </p:spPr>
        <p:txBody>
          <a:bodyPr wrap="none" lIns="0" tIns="0" rIns="0" bIns="0" anchor="t">
            <a:noAutofit/>
          </a:bodyPr>
          <a:lstStyle/>
          <a:p>
            <a:pPr algn="l">
              <a:defRPr sz="1350" b="0">
                <a:solidFill>
                  <a:srgbClr val="65717A"/>
                </a:solidFill>
                <a:latin typeface="Helvetica Neue"/>
                <a:ea typeface="Helvetica Neue"/>
                <a:cs typeface="Helvetica Neue"/>
              </a:defRPr>
            </a:pPr>
            <a:r>
              <a:rPr sz="1350" b="0">
                <a:solidFill>
                  <a:srgbClr val="65717A"/>
                </a:solidFill>
                <a:latin typeface="Helvetica Neue"/>
                <a:ea typeface="Helvetica Neue"/>
                <a:cs typeface="Helvetica Neue"/>
              </a:rPr>
              <a:t>Illustrative UI detail</a:t>
            </a:r>
          </a:p>
        </p:txBody>
      </p:sp>
      <p:sp>
        <p:nvSpPr>
          <p:cNvPr id="22" name="fade-1-takeaway">
            <a:extLst>
              <a:ext uri="{FF2B5EF4-FFF2-40B4-BE49-F238E27FC236}">
                <a16:creationId xmlns:a16="http://schemas.microsoft.com/office/drawing/2014/main" id="{BCD40FAA-0436-4364-B6B4-3D78868EB4B2}"/>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Use a POST form with a CSRF token.</a:t>
            </a:r>
          </a:p>
        </p:txBody>
      </p:sp>
    </p:spTree>
    <p:extLst>
      <p:ext uri="{BB962C8B-B14F-4D97-AF65-F5344CB8AC3E}">
        <p14:creationId xmlns:p14="http://schemas.microsoft.com/office/powerpoint/2010/main" val="16151969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350" fill="hold">
                                          <p:stCondLst>
                                            <p:cond delay="0"/>
                                          </p:stCondLst>
                                        </p:cTn>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3" name="text-267">
            <a:extLst>
              <a:ext uri="{FF2B5EF4-FFF2-40B4-BE49-F238E27FC236}">
                <a16:creationId xmlns:a16="http://schemas.microsoft.com/office/drawing/2014/main" id="{9A646877-7B34-420C-9C62-884EEE62F4BF}"/>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04 / Identity and security</a:t>
            </a:r>
          </a:p>
        </p:txBody>
      </p:sp>
      <p:sp>
        <p:nvSpPr>
          <p:cNvPr id="2" name="text-268">
            <a:extLst>
              <a:ext uri="{FF2B5EF4-FFF2-40B4-BE49-F238E27FC236}">
                <a16:creationId xmlns:a16="http://schemas.microsoft.com/office/drawing/2014/main" id="{B310D7A1-412F-4513-B4E0-8EC79BA8E36A}"/>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A basic registration view</a:t>
            </a:r>
          </a:p>
        </p:txBody>
      </p:sp>
      <p:sp>
        <p:nvSpPr>
          <p:cNvPr id="3" name="text-269">
            <a:extLst>
              <a:ext uri="{FF2B5EF4-FFF2-40B4-BE49-F238E27FC236}">
                <a16:creationId xmlns:a16="http://schemas.microsoft.com/office/drawing/2014/main" id="{828A21FE-D50D-4267-B7F2-11DF5FD151A4}"/>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270">
            <a:extLst>
              <a:ext uri="{FF2B5EF4-FFF2-40B4-BE49-F238E27FC236}">
                <a16:creationId xmlns:a16="http://schemas.microsoft.com/office/drawing/2014/main" id="{AA5F8A59-0994-43B5-A014-1426692532CD}"/>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36</a:t>
            </a:r>
          </a:p>
        </p:txBody>
      </p:sp>
      <p:sp>
        <p:nvSpPr>
          <p:cNvPr id="5" name="text-271">
            <a:extLst>
              <a:ext uri="{FF2B5EF4-FFF2-40B4-BE49-F238E27FC236}">
                <a16:creationId xmlns:a16="http://schemas.microsoft.com/office/drawing/2014/main" id="{C243165A-B5EB-4A06-8604-3F368E423C72}"/>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tasks/views.py</a:t>
            </a:r>
          </a:p>
        </p:txBody>
      </p:sp>
      <p:sp>
        <p:nvSpPr>
          <p:cNvPr id="6" name="code-panel-272">
            <a:extLst>
              <a:ext uri="{FF2B5EF4-FFF2-40B4-BE49-F238E27FC236}">
                <a16:creationId xmlns:a16="http://schemas.microsoft.com/office/drawing/2014/main" id="{9B396796-494A-43B2-AA1F-104603B867A8}"/>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83AB421C-318C-429A-BB3D-D9634ECF18D7}"/>
              </a:ext>
            </a:extLst>
          </p:cNvPr>
          <p:cNvSpPr>
            <a:spLocks noGrp="1"/>
          </p:cNvSpPr>
          <p:nvPr/>
        </p:nvSpPr>
        <p:spPr>
          <a:xfrm>
            <a:off x="914400" y="2924175"/>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A7C2FF"/>
                </a:solidFill>
                <a:latin typeface="Menlo"/>
                <a:ea typeface="Menlo"/>
                <a:cs typeface="Menlo"/>
              </a:rPr>
              <a:t>from</a:t>
            </a:r>
            <a:r>
              <a:rPr sz="1650" b="0">
                <a:solidFill>
                  <a:srgbClr val="FFFFFF"/>
                </a:solidFill>
                <a:latin typeface="Menlo"/>
                <a:ea typeface="Menlo"/>
                <a:cs typeface="Menlo"/>
              </a:rPr>
              <a:t> django.contrib.auth.forms </a:t>
            </a:r>
            <a:r>
              <a:rPr sz="1650" b="0">
                <a:solidFill>
                  <a:srgbClr val="A7C2FF"/>
                </a:solidFill>
                <a:latin typeface="Menlo"/>
                <a:ea typeface="Menlo"/>
                <a:cs typeface="Menlo"/>
              </a:rPr>
              <a:t>import</a:t>
            </a:r>
            <a:r>
              <a:rPr sz="1650" b="0">
                <a:solidFill>
                  <a:srgbClr val="FFFFFF"/>
                </a:solidFill>
                <a:latin typeface="Menlo"/>
                <a:ea typeface="Menlo"/>
                <a:cs typeface="Menlo"/>
              </a:rPr>
              <a:t> UserCreationForm</a:t>
            </a:r>
          </a:p>
        </p:txBody>
      </p:sp>
      <p:sp>
        <p:nvSpPr>
          <p:cNvPr id="8" name="code-line-1">
            <a:extLst>
              <a:ext uri="{FF2B5EF4-FFF2-40B4-BE49-F238E27FC236}">
                <a16:creationId xmlns:a16="http://schemas.microsoft.com/office/drawing/2014/main" id="{73C7563A-15FF-4D2E-99CF-C59A9938A3D4}"/>
              </a:ext>
            </a:extLst>
          </p:cNvPr>
          <p:cNvSpPr>
            <a:spLocks noGrp="1"/>
          </p:cNvSpPr>
          <p:nvPr/>
        </p:nvSpPr>
        <p:spPr>
          <a:xfrm>
            <a:off x="914400" y="3247231"/>
            <a:ext cx="7639050" cy="351631"/>
          </a:xfrm>
          <a:prstGeom prst="rect">
            <a:avLst/>
          </a:prstGeom>
          <a:noFill/>
          <a:ln w="0">
            <a:noFill/>
          </a:ln>
        </p:spPr>
        <p:txBody>
          <a:bodyPr wrap="none" lIns="0" tIns="0" rIns="0" bIns="0" anchor="t">
            <a:noAutofit/>
          </a:bodyPr>
          <a:lstStyle/>
          <a:p>
            <a:endParaRPr/>
          </a:p>
        </p:txBody>
      </p:sp>
      <p:sp>
        <p:nvSpPr>
          <p:cNvPr id="9" name="code-line-2">
            <a:extLst>
              <a:ext uri="{FF2B5EF4-FFF2-40B4-BE49-F238E27FC236}">
                <a16:creationId xmlns:a16="http://schemas.microsoft.com/office/drawing/2014/main" id="{A5E33ED6-3EDA-4C1F-BA3E-928581A1806D}"/>
              </a:ext>
            </a:extLst>
          </p:cNvPr>
          <p:cNvSpPr>
            <a:spLocks noGrp="1"/>
          </p:cNvSpPr>
          <p:nvPr/>
        </p:nvSpPr>
        <p:spPr>
          <a:xfrm>
            <a:off x="914400" y="3570288"/>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A7C2FF"/>
                </a:solidFill>
                <a:latin typeface="Menlo"/>
                <a:ea typeface="Menlo"/>
                <a:cs typeface="Menlo"/>
              </a:rPr>
              <a:t>def</a:t>
            </a:r>
            <a:r>
              <a:rPr sz="1650" b="0">
                <a:solidFill>
                  <a:srgbClr val="FFFFFF"/>
                </a:solidFill>
                <a:latin typeface="Menlo"/>
                <a:ea typeface="Menlo"/>
                <a:cs typeface="Menlo"/>
              </a:rPr>
              <a:t> signup(request):</a:t>
            </a:r>
          </a:p>
        </p:txBody>
      </p:sp>
      <p:sp>
        <p:nvSpPr>
          <p:cNvPr id="10" name="code-line-3">
            <a:extLst>
              <a:ext uri="{FF2B5EF4-FFF2-40B4-BE49-F238E27FC236}">
                <a16:creationId xmlns:a16="http://schemas.microsoft.com/office/drawing/2014/main" id="{5D44E176-8549-4BCC-9B2C-B6CB911440B7}"/>
              </a:ext>
            </a:extLst>
          </p:cNvPr>
          <p:cNvSpPr>
            <a:spLocks noGrp="1"/>
          </p:cNvSpPr>
          <p:nvPr/>
        </p:nvSpPr>
        <p:spPr>
          <a:xfrm>
            <a:off x="914400" y="3893344"/>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form = UserCreationForm(</a:t>
            </a:r>
          </a:p>
        </p:txBody>
      </p:sp>
      <p:sp>
        <p:nvSpPr>
          <p:cNvPr id="11" name="code-line-4">
            <a:extLst>
              <a:ext uri="{FF2B5EF4-FFF2-40B4-BE49-F238E27FC236}">
                <a16:creationId xmlns:a16="http://schemas.microsoft.com/office/drawing/2014/main" id="{01A24FA7-3B72-4966-B170-D7F48C996563}"/>
              </a:ext>
            </a:extLst>
          </p:cNvPr>
          <p:cNvSpPr>
            <a:spLocks noGrp="1"/>
          </p:cNvSpPr>
          <p:nvPr/>
        </p:nvSpPr>
        <p:spPr>
          <a:xfrm>
            <a:off x="914400" y="4216400"/>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request.POST </a:t>
            </a:r>
            <a:r>
              <a:rPr sz="1650" b="0">
                <a:solidFill>
                  <a:srgbClr val="A7C2FF"/>
                </a:solidFill>
                <a:latin typeface="Menlo"/>
                <a:ea typeface="Menlo"/>
                <a:cs typeface="Menlo"/>
              </a:rPr>
              <a:t>if</a:t>
            </a:r>
            <a:r>
              <a:rPr sz="1650" b="0">
                <a:solidFill>
                  <a:srgbClr val="FFFFFF"/>
                </a:solidFill>
                <a:latin typeface="Menlo"/>
                <a:ea typeface="Menlo"/>
                <a:cs typeface="Menlo"/>
              </a:rPr>
              <a:t> request.method == "POST" </a:t>
            </a:r>
            <a:r>
              <a:rPr sz="1650" b="0">
                <a:solidFill>
                  <a:srgbClr val="A7C2FF"/>
                </a:solidFill>
                <a:latin typeface="Menlo"/>
                <a:ea typeface="Menlo"/>
                <a:cs typeface="Menlo"/>
              </a:rPr>
              <a:t>else</a:t>
            </a:r>
            <a:r>
              <a:rPr sz="1650" b="0">
                <a:solidFill>
                  <a:srgbClr val="FFFFFF"/>
                </a:solidFill>
                <a:latin typeface="Menlo"/>
                <a:ea typeface="Menlo"/>
                <a:cs typeface="Menlo"/>
              </a:rPr>
              <a:t> </a:t>
            </a:r>
            <a:r>
              <a:rPr sz="1650" b="0">
                <a:solidFill>
                  <a:srgbClr val="A7C2FF"/>
                </a:solidFill>
                <a:latin typeface="Menlo"/>
                <a:ea typeface="Menlo"/>
                <a:cs typeface="Menlo"/>
              </a:rPr>
              <a:t>None</a:t>
            </a:r>
          </a:p>
        </p:txBody>
      </p:sp>
      <p:sp>
        <p:nvSpPr>
          <p:cNvPr id="12" name="code-line-5">
            <a:extLst>
              <a:ext uri="{FF2B5EF4-FFF2-40B4-BE49-F238E27FC236}">
                <a16:creationId xmlns:a16="http://schemas.microsoft.com/office/drawing/2014/main" id="{3EA86EB0-B4CD-4229-BF26-09C1C7CDBE0F}"/>
              </a:ext>
            </a:extLst>
          </p:cNvPr>
          <p:cNvSpPr>
            <a:spLocks noGrp="1"/>
          </p:cNvSpPr>
          <p:nvPr/>
        </p:nvSpPr>
        <p:spPr>
          <a:xfrm>
            <a:off x="914400" y="4539456"/>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a:t>
            </a:r>
          </a:p>
        </p:txBody>
      </p:sp>
      <p:sp>
        <p:nvSpPr>
          <p:cNvPr id="13" name="code-line-6">
            <a:extLst>
              <a:ext uri="{FF2B5EF4-FFF2-40B4-BE49-F238E27FC236}">
                <a16:creationId xmlns:a16="http://schemas.microsoft.com/office/drawing/2014/main" id="{81130C02-171E-45A1-B1CC-5DC168AE8334}"/>
              </a:ext>
            </a:extLst>
          </p:cNvPr>
          <p:cNvSpPr>
            <a:spLocks noGrp="1"/>
          </p:cNvSpPr>
          <p:nvPr/>
        </p:nvSpPr>
        <p:spPr>
          <a:xfrm>
            <a:off x="914400" y="4862513"/>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a:t>
            </a:r>
            <a:r>
              <a:rPr sz="1650" b="0">
                <a:solidFill>
                  <a:srgbClr val="A7C2FF"/>
                </a:solidFill>
                <a:latin typeface="Menlo"/>
                <a:ea typeface="Menlo"/>
                <a:cs typeface="Menlo"/>
              </a:rPr>
              <a:t>if</a:t>
            </a:r>
            <a:r>
              <a:rPr sz="1650" b="0">
                <a:solidFill>
                  <a:srgbClr val="FFFFFF"/>
                </a:solidFill>
                <a:latin typeface="Menlo"/>
                <a:ea typeface="Menlo"/>
                <a:cs typeface="Menlo"/>
              </a:rPr>
              <a:t> request.method == "POST" and form.is_valid():</a:t>
            </a:r>
          </a:p>
        </p:txBody>
      </p:sp>
      <p:sp>
        <p:nvSpPr>
          <p:cNvPr id="14" name="code-line-7">
            <a:extLst>
              <a:ext uri="{FF2B5EF4-FFF2-40B4-BE49-F238E27FC236}">
                <a16:creationId xmlns:a16="http://schemas.microsoft.com/office/drawing/2014/main" id="{924FA68C-DC35-49C9-831E-13EC0CDBFD52}"/>
              </a:ext>
            </a:extLst>
          </p:cNvPr>
          <p:cNvSpPr>
            <a:spLocks noGrp="1"/>
          </p:cNvSpPr>
          <p:nvPr/>
        </p:nvSpPr>
        <p:spPr>
          <a:xfrm>
            <a:off x="914400" y="5185569"/>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form.save()</a:t>
            </a:r>
          </a:p>
        </p:txBody>
      </p:sp>
      <p:sp>
        <p:nvSpPr>
          <p:cNvPr id="15" name="code-line-8">
            <a:extLst>
              <a:ext uri="{FF2B5EF4-FFF2-40B4-BE49-F238E27FC236}">
                <a16:creationId xmlns:a16="http://schemas.microsoft.com/office/drawing/2014/main" id="{C3F53F35-9401-4CC2-B1B5-4424C8AAB691}"/>
              </a:ext>
            </a:extLst>
          </p:cNvPr>
          <p:cNvSpPr>
            <a:spLocks noGrp="1"/>
          </p:cNvSpPr>
          <p:nvPr/>
        </p:nvSpPr>
        <p:spPr>
          <a:xfrm>
            <a:off x="914400" y="5508625"/>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a:t>
            </a:r>
            <a:r>
              <a:rPr sz="1650" b="0">
                <a:solidFill>
                  <a:srgbClr val="A7C2FF"/>
                </a:solidFill>
                <a:latin typeface="Menlo"/>
                <a:ea typeface="Menlo"/>
                <a:cs typeface="Menlo"/>
              </a:rPr>
              <a:t>return</a:t>
            </a:r>
            <a:r>
              <a:rPr sz="1650" b="0">
                <a:solidFill>
                  <a:srgbClr val="FFFFFF"/>
                </a:solidFill>
                <a:latin typeface="Menlo"/>
                <a:ea typeface="Menlo"/>
                <a:cs typeface="Menlo"/>
              </a:rPr>
              <a:t> redirect("login")</a:t>
            </a:r>
          </a:p>
        </p:txBody>
      </p:sp>
      <p:sp>
        <p:nvSpPr>
          <p:cNvPr id="16" name="code-line-9">
            <a:extLst>
              <a:ext uri="{FF2B5EF4-FFF2-40B4-BE49-F238E27FC236}">
                <a16:creationId xmlns:a16="http://schemas.microsoft.com/office/drawing/2014/main" id="{3FAB333E-528E-4982-8171-38DE742CC086}"/>
              </a:ext>
            </a:extLst>
          </p:cNvPr>
          <p:cNvSpPr>
            <a:spLocks noGrp="1"/>
          </p:cNvSpPr>
          <p:nvPr/>
        </p:nvSpPr>
        <p:spPr>
          <a:xfrm>
            <a:off x="914400" y="5831681"/>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a:t>
            </a:r>
            <a:r>
              <a:rPr sz="1650" b="0">
                <a:solidFill>
                  <a:srgbClr val="A7C2FF"/>
                </a:solidFill>
                <a:latin typeface="Menlo"/>
                <a:ea typeface="Menlo"/>
                <a:cs typeface="Menlo"/>
              </a:rPr>
              <a:t>return</a:t>
            </a:r>
            <a:r>
              <a:rPr sz="1650" b="0">
                <a:solidFill>
                  <a:srgbClr val="FFFFFF"/>
                </a:solidFill>
                <a:latin typeface="Menlo"/>
                <a:ea typeface="Menlo"/>
                <a:cs typeface="Menlo"/>
              </a:rPr>
              <a:t> render(request, "registration/signup.html", {</a:t>
            </a:r>
          </a:p>
        </p:txBody>
      </p:sp>
      <p:sp>
        <p:nvSpPr>
          <p:cNvPr id="17" name="code-line-10">
            <a:extLst>
              <a:ext uri="{FF2B5EF4-FFF2-40B4-BE49-F238E27FC236}">
                <a16:creationId xmlns:a16="http://schemas.microsoft.com/office/drawing/2014/main" id="{A86B10D3-9B8B-4656-85B6-EB07EDB14287}"/>
              </a:ext>
            </a:extLst>
          </p:cNvPr>
          <p:cNvSpPr>
            <a:spLocks noGrp="1"/>
          </p:cNvSpPr>
          <p:nvPr/>
        </p:nvSpPr>
        <p:spPr>
          <a:xfrm>
            <a:off x="914400" y="6154738"/>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"form": form,</a:t>
            </a:r>
          </a:p>
        </p:txBody>
      </p:sp>
      <p:sp>
        <p:nvSpPr>
          <p:cNvPr id="18" name="code-line-11">
            <a:extLst>
              <a:ext uri="{FF2B5EF4-FFF2-40B4-BE49-F238E27FC236}">
                <a16:creationId xmlns:a16="http://schemas.microsoft.com/office/drawing/2014/main" id="{4CB731F9-B08B-4014-B99A-359E34A2ABAF}"/>
              </a:ext>
            </a:extLst>
          </p:cNvPr>
          <p:cNvSpPr>
            <a:spLocks noGrp="1"/>
          </p:cNvSpPr>
          <p:nvPr/>
        </p:nvSpPr>
        <p:spPr>
          <a:xfrm>
            <a:off x="914400" y="6477794"/>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a:t>
            </a:r>
          </a:p>
        </p:txBody>
      </p:sp>
      <p:sp>
        <p:nvSpPr>
          <p:cNvPr id="19" name="reveal-1-output-1">
            <a:extLst>
              <a:ext uri="{FF2B5EF4-FFF2-40B4-BE49-F238E27FC236}">
                <a16:creationId xmlns:a16="http://schemas.microsoft.com/office/drawing/2014/main" id="{83FCE01F-3904-4987-9A05-A0A411DED18B}"/>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Successful signup</a:t>
            </a:r>
          </a:p>
        </p:txBody>
      </p:sp>
      <p:sp>
        <p:nvSpPr>
          <p:cNvPr id="20" name="reveal-1-output-2">
            <a:extLst>
              <a:ext uri="{FF2B5EF4-FFF2-40B4-BE49-F238E27FC236}">
                <a16:creationId xmlns:a16="http://schemas.microsoft.com/office/drawing/2014/main" id="{82B093E3-DE25-4A94-ACA1-7D10F09532D6}"/>
              </a:ext>
            </a:extLst>
          </p:cNvPr>
          <p:cNvSpPr>
            <a:spLocks noGrp="1"/>
          </p:cNvSpPr>
          <p:nvPr/>
        </p:nvSpPr>
        <p:spPr>
          <a:xfrm>
            <a:off x="9239250" y="2952750"/>
            <a:ext cx="5295900" cy="3810000"/>
          </a:xfrm>
          <a:prstGeom prst="rect">
            <a:avLst/>
          </a:prstGeom>
          <a:solidFill>
            <a:srgbClr val="ECEFF7"/>
          </a:solidFill>
          <a:ln w="0">
            <a:noFill/>
          </a:ln>
        </p:spPr>
      </p:sp>
      <p:sp>
        <p:nvSpPr>
          <p:cNvPr id="21" name="reveal-1-output-3">
            <a:extLst>
              <a:ext uri="{FF2B5EF4-FFF2-40B4-BE49-F238E27FC236}">
                <a16:creationId xmlns:a16="http://schemas.microsoft.com/office/drawing/2014/main" id="{EF8F1BD6-12FC-46DC-BC3B-2F0354E4E1E7}"/>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650" b="0">
                <a:solidFill>
                  <a:srgbClr val="242C35"/>
                </a:solidFill>
                <a:latin typeface="Menlo"/>
                <a:ea typeface="Menlo"/>
                <a:cs typeface="Menlo"/>
              </a:defRPr>
            </a:pPr>
            <a:r>
              <a:rPr sz="1650" b="0">
                <a:solidFill>
                  <a:srgbClr val="242C35"/>
                </a:solidFill>
                <a:latin typeface="Menlo"/>
                <a:ea typeface="Menlo"/>
                <a:cs typeface="Menlo"/>
              </a:rPr>
              <a:t>Password saved as a hash</a:t>
            </a:r>
          </a:p>
          <a:p>
            <a:pPr algn="l">
              <a:defRPr sz="1650" b="0">
                <a:solidFill>
                  <a:srgbClr val="242C35"/>
                </a:solidFill>
                <a:latin typeface="Menlo"/>
                <a:ea typeface="Menlo"/>
                <a:cs typeface="Menlo"/>
              </a:defRPr>
            </a:pPr>
            <a:r>
              <a:rPr sz="1650" b="0">
                <a:solidFill>
                  <a:srgbClr val="242C35"/>
                </a:solidFill>
                <a:latin typeface="Menlo"/>
                <a:ea typeface="Menlo"/>
                <a:cs typeface="Menlo"/>
              </a:rPr>
              <a:t>302 redirect to /accounts/login/</a:t>
            </a:r>
          </a:p>
        </p:txBody>
      </p:sp>
      <p:sp>
        <p:nvSpPr>
          <p:cNvPr id="22" name="fade-1-takeaway">
            <a:extLst>
              <a:ext uri="{FF2B5EF4-FFF2-40B4-BE49-F238E27FC236}">
                <a16:creationId xmlns:a16="http://schemas.microsoft.com/office/drawing/2014/main" id="{B5A760DA-1DF6-43FB-864E-B3FC2B368517}"/>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The form creates a user. You choose who may sign up.</a:t>
            </a:r>
          </a:p>
        </p:txBody>
      </p:sp>
    </p:spTree>
    <p:extLst>
      <p:ext uri="{BB962C8B-B14F-4D97-AF65-F5344CB8AC3E}">
        <p14:creationId xmlns:p14="http://schemas.microsoft.com/office/powerpoint/2010/main" val="20921648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350" fill="hold">
                                          <p:stCondLst>
                                            <p:cond delay="0"/>
                                          </p:stCondLst>
                                        </p:cTn>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2" name="text-276">
            <a:extLst>
              <a:ext uri="{FF2B5EF4-FFF2-40B4-BE49-F238E27FC236}">
                <a16:creationId xmlns:a16="http://schemas.microsoft.com/office/drawing/2014/main" id="{F0FD2F67-2711-4D3D-8B03-C7B1488BD274}"/>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04 / Identity and security</a:t>
            </a:r>
          </a:p>
        </p:txBody>
      </p:sp>
      <p:sp>
        <p:nvSpPr>
          <p:cNvPr id="2" name="text-277">
            <a:extLst>
              <a:ext uri="{FF2B5EF4-FFF2-40B4-BE49-F238E27FC236}">
                <a16:creationId xmlns:a16="http://schemas.microsoft.com/office/drawing/2014/main" id="{7C4443AF-64D6-4402-B0BA-0A3BDEC43A81}"/>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Login identifies you. Ownership limits your records.</a:t>
            </a:r>
          </a:p>
        </p:txBody>
      </p:sp>
      <p:sp>
        <p:nvSpPr>
          <p:cNvPr id="3" name="text-278">
            <a:extLst>
              <a:ext uri="{FF2B5EF4-FFF2-40B4-BE49-F238E27FC236}">
                <a16:creationId xmlns:a16="http://schemas.microsoft.com/office/drawing/2014/main" id="{ABD4B2A8-9A47-469A-9511-8EAA65B582E5}"/>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279">
            <a:extLst>
              <a:ext uri="{FF2B5EF4-FFF2-40B4-BE49-F238E27FC236}">
                <a16:creationId xmlns:a16="http://schemas.microsoft.com/office/drawing/2014/main" id="{4F2153AC-D617-4CE8-A85D-B92D8A8441BB}"/>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37</a:t>
            </a:r>
          </a:p>
        </p:txBody>
      </p:sp>
      <p:sp>
        <p:nvSpPr>
          <p:cNvPr id="5" name="text-280">
            <a:extLst>
              <a:ext uri="{FF2B5EF4-FFF2-40B4-BE49-F238E27FC236}">
                <a16:creationId xmlns:a16="http://schemas.microsoft.com/office/drawing/2014/main" id="{0C87C0FA-BEBA-491F-8655-2785C2A9F914}"/>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The same access rule on every query</a:t>
            </a:r>
          </a:p>
        </p:txBody>
      </p:sp>
      <p:sp>
        <p:nvSpPr>
          <p:cNvPr id="6" name="code-panel-281">
            <a:extLst>
              <a:ext uri="{FF2B5EF4-FFF2-40B4-BE49-F238E27FC236}">
                <a16:creationId xmlns:a16="http://schemas.microsoft.com/office/drawing/2014/main" id="{EC4E9522-82E6-44A9-AD83-73F634DAE998}"/>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4A86D0AD-6F5B-4859-A197-77AF122372CC}"/>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Authentication: is there a signed-in user?</a:t>
            </a:r>
          </a:p>
        </p:txBody>
      </p:sp>
      <p:sp>
        <p:nvSpPr>
          <p:cNvPr id="8" name="code-line-1">
            <a:extLst>
              <a:ext uri="{FF2B5EF4-FFF2-40B4-BE49-F238E27FC236}">
                <a16:creationId xmlns:a16="http://schemas.microsoft.com/office/drawing/2014/main" id="{5FB74845-F1EE-4CD7-9B89-6BEC84F8C440}"/>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@login_required</a:t>
            </a:r>
          </a:p>
        </p:txBody>
      </p:sp>
      <p:sp>
        <p:nvSpPr>
          <p:cNvPr id="9" name="code-line-2">
            <a:extLst>
              <a:ext uri="{FF2B5EF4-FFF2-40B4-BE49-F238E27FC236}">
                <a16:creationId xmlns:a16="http://schemas.microsoft.com/office/drawing/2014/main" id="{5FFEA024-7DDB-4212-8D25-4E053CC64C9D}"/>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def</a:t>
            </a:r>
            <a:r>
              <a:rPr sz="1725" b="0">
                <a:solidFill>
                  <a:srgbClr val="FFFFFF"/>
                </a:solidFill>
                <a:latin typeface="Menlo"/>
                <a:ea typeface="Menlo"/>
                <a:cs typeface="Menlo"/>
              </a:rPr>
              <a:t> task_edit(request, pk):</a:t>
            </a:r>
          </a:p>
        </p:txBody>
      </p:sp>
      <p:sp>
        <p:nvSpPr>
          <p:cNvPr id="10" name="code-line-3">
            <a:extLst>
              <a:ext uri="{FF2B5EF4-FFF2-40B4-BE49-F238E27FC236}">
                <a16:creationId xmlns:a16="http://schemas.microsoft.com/office/drawing/2014/main" id="{6B39F060-3E37-4E92-A6EC-B7D159BCC35E}"/>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 Authorization: may this user access this record?</a:t>
            </a:r>
          </a:p>
        </p:txBody>
      </p:sp>
      <p:sp>
        <p:nvSpPr>
          <p:cNvPr id="11" name="code-line-4">
            <a:extLst>
              <a:ext uri="{FF2B5EF4-FFF2-40B4-BE49-F238E27FC236}">
                <a16:creationId xmlns:a16="http://schemas.microsoft.com/office/drawing/2014/main" id="{FF38C92F-C7A7-4412-B4AF-1D5FD1841FC1}"/>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task = get_object_or_404(</a:t>
            </a:r>
          </a:p>
        </p:txBody>
      </p:sp>
      <p:sp>
        <p:nvSpPr>
          <p:cNvPr id="12" name="code-line-5">
            <a:extLst>
              <a:ext uri="{FF2B5EF4-FFF2-40B4-BE49-F238E27FC236}">
                <a16:creationId xmlns:a16="http://schemas.microsoft.com/office/drawing/2014/main" id="{8170B283-EDC9-4318-9074-433DA19BC2EA}"/>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Task, pk=pk, owner=request.user</a:t>
            </a:r>
          </a:p>
        </p:txBody>
      </p:sp>
      <p:sp>
        <p:nvSpPr>
          <p:cNvPr id="13" name="code-line-6">
            <a:extLst>
              <a:ext uri="{FF2B5EF4-FFF2-40B4-BE49-F238E27FC236}">
                <a16:creationId xmlns:a16="http://schemas.microsoft.com/office/drawing/2014/main" id="{59026A6E-98EB-4098-B711-57F81AEFFE6D}"/>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p>
        </p:txBody>
      </p:sp>
      <p:sp>
        <p:nvSpPr>
          <p:cNvPr id="14" name="code-line-7">
            <a:extLst>
              <a:ext uri="{FF2B5EF4-FFF2-40B4-BE49-F238E27FC236}">
                <a16:creationId xmlns:a16="http://schemas.microsoft.com/office/drawing/2014/main" id="{A40B69C5-15BE-455D-828F-3243DFAE756D}"/>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p>
        </p:txBody>
      </p:sp>
      <p:sp>
        <p:nvSpPr>
          <p:cNvPr id="15" name="code-line-8">
            <a:extLst>
              <a:ext uri="{FF2B5EF4-FFF2-40B4-BE49-F238E27FC236}">
                <a16:creationId xmlns:a16="http://schemas.microsoft.com/office/drawing/2014/main" id="{DDF4C8D8-1C8F-4452-83F6-619102F4D677}"/>
              </a:ext>
            </a:extLst>
          </p:cNvPr>
          <p:cNvSpPr>
            <a:spLocks noGrp="1"/>
          </p:cNvSpPr>
          <p:nvPr/>
        </p:nvSpPr>
        <p:spPr>
          <a:xfrm>
            <a:off x="914400" y="5591175"/>
            <a:ext cx="7639050" cy="361950"/>
          </a:xfrm>
          <a:prstGeom prst="rect">
            <a:avLst/>
          </a:prstGeom>
          <a:noFill/>
          <a:ln w="0">
            <a:noFill/>
          </a:ln>
        </p:spPr>
        <p:txBody>
          <a:bodyPr wrap="none" lIns="0" tIns="0" rIns="0" bIns="0" anchor="t">
            <a:noAutofit/>
          </a:bodyPr>
          <a:lstStyle/>
          <a:p>
            <a:endParaRPr/>
          </a:p>
        </p:txBody>
      </p:sp>
      <p:sp>
        <p:nvSpPr>
          <p:cNvPr id="16" name="code-line-9">
            <a:extLst>
              <a:ext uri="{FF2B5EF4-FFF2-40B4-BE49-F238E27FC236}">
                <a16:creationId xmlns:a16="http://schemas.microsoft.com/office/drawing/2014/main" id="{B3F0A85A-7030-4741-945A-12A09BB14842}"/>
              </a:ext>
            </a:extLst>
          </p:cNvPr>
          <p:cNvSpPr>
            <a:spLocks noGrp="1"/>
          </p:cNvSpPr>
          <p:nvPr/>
        </p:nvSpPr>
        <p:spPr>
          <a:xfrm>
            <a:off x="914400" y="5924550"/>
            <a:ext cx="7639050" cy="361950"/>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Collection visibility uses the same policy</a:t>
            </a:r>
          </a:p>
        </p:txBody>
      </p:sp>
      <p:sp>
        <p:nvSpPr>
          <p:cNvPr id="17" name="code-line-10">
            <a:extLst>
              <a:ext uri="{FF2B5EF4-FFF2-40B4-BE49-F238E27FC236}">
                <a16:creationId xmlns:a16="http://schemas.microsoft.com/office/drawing/2014/main" id="{00E94416-A54F-431C-AE1F-B1F7DF9890BC}"/>
              </a:ext>
            </a:extLst>
          </p:cNvPr>
          <p:cNvSpPr>
            <a:spLocks noGrp="1"/>
          </p:cNvSpPr>
          <p:nvPr/>
        </p:nvSpPr>
        <p:spPr>
          <a:xfrm>
            <a:off x="914400" y="62579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Task.objects.filter(owner=request.user)</a:t>
            </a:r>
          </a:p>
        </p:txBody>
      </p:sp>
      <p:sp>
        <p:nvSpPr>
          <p:cNvPr id="18" name="reveal-1-output-1">
            <a:extLst>
              <a:ext uri="{FF2B5EF4-FFF2-40B4-BE49-F238E27FC236}">
                <a16:creationId xmlns:a16="http://schemas.microsoft.com/office/drawing/2014/main" id="{370D901B-43AF-4032-99F1-13E5EFFE0A62}"/>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Bob requests Asha’s task</a:t>
            </a:r>
          </a:p>
        </p:txBody>
      </p:sp>
      <p:sp>
        <p:nvSpPr>
          <p:cNvPr id="19" name="reveal-1-output-2">
            <a:extLst>
              <a:ext uri="{FF2B5EF4-FFF2-40B4-BE49-F238E27FC236}">
                <a16:creationId xmlns:a16="http://schemas.microsoft.com/office/drawing/2014/main" id="{B6992A51-63E1-45A1-BAC2-CEB3E13AE976}"/>
              </a:ext>
            </a:extLst>
          </p:cNvPr>
          <p:cNvSpPr>
            <a:spLocks noGrp="1"/>
          </p:cNvSpPr>
          <p:nvPr/>
        </p:nvSpPr>
        <p:spPr>
          <a:xfrm>
            <a:off x="9239250" y="2952750"/>
            <a:ext cx="5295900" cy="3810000"/>
          </a:xfrm>
          <a:prstGeom prst="rect">
            <a:avLst/>
          </a:prstGeom>
          <a:solidFill>
            <a:srgbClr val="ECEFF7"/>
          </a:solidFill>
          <a:ln w="0">
            <a:noFill/>
          </a:ln>
        </p:spPr>
      </p:sp>
      <p:sp>
        <p:nvSpPr>
          <p:cNvPr id="20" name="reveal-1-output-3">
            <a:extLst>
              <a:ext uri="{FF2B5EF4-FFF2-40B4-BE49-F238E27FC236}">
                <a16:creationId xmlns:a16="http://schemas.microsoft.com/office/drawing/2014/main" id="{D17B028F-F63C-4FBD-BB75-D6642361B108}"/>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650" b="0">
                <a:solidFill>
                  <a:srgbClr val="242C35"/>
                </a:solidFill>
                <a:latin typeface="Menlo"/>
                <a:ea typeface="Menlo"/>
                <a:cs typeface="Menlo"/>
              </a:defRPr>
            </a:pPr>
            <a:r>
              <a:rPr sz="1650" b="0">
                <a:solidFill>
                  <a:srgbClr val="242C35"/>
                </a:solidFill>
                <a:latin typeface="Menlo"/>
                <a:ea typeface="Menlo"/>
                <a:cs typeface="Menlo"/>
              </a:rPr>
              <a:t>GET /tasks/1/edit/</a:t>
            </a:r>
          </a:p>
          <a:p>
            <a:pPr algn="l">
              <a:defRPr sz="1650" b="0">
                <a:solidFill>
                  <a:srgbClr val="242C35"/>
                </a:solidFill>
                <a:latin typeface="Menlo"/>
                <a:ea typeface="Menlo"/>
                <a:cs typeface="Menlo"/>
              </a:defRPr>
            </a:pPr>
            <a:r>
              <a:rPr sz="1650" b="0">
                <a:solidFill>
                  <a:srgbClr val="242C35"/>
                </a:solidFill>
                <a:latin typeface="Menlo"/>
                <a:ea typeface="Menlo"/>
                <a:cs typeface="Menlo"/>
              </a:rPr>
              <a:t>404 Not Found</a:t>
            </a:r>
          </a:p>
          <a:p>
            <a:pPr algn="l">
              <a:defRPr sz="1650" b="0">
                <a:solidFill>
                  <a:srgbClr val="242C35"/>
                </a:solidFill>
                <a:latin typeface="Menlo"/>
                <a:ea typeface="Menlo"/>
                <a:cs typeface="Menlo"/>
              </a:defRPr>
            </a:pPr>
            <a:r>
              <a:rPr sz="1650" b="0">
                <a:solidFill>
                  <a:srgbClr val="242C35"/>
                </a:solidFill>
                <a:latin typeface="Menlo"/>
                <a:ea typeface="Menlo"/>
                <a:cs typeface="Menlo"/>
              </a:rPr>
              <a:t>Asha’s task stays unchanged</a:t>
            </a:r>
          </a:p>
        </p:txBody>
      </p:sp>
      <p:sp>
        <p:nvSpPr>
          <p:cNvPr id="21" name="fade-1-takeaway">
            <a:extLst>
              <a:ext uri="{FF2B5EF4-FFF2-40B4-BE49-F238E27FC236}">
                <a16:creationId xmlns:a16="http://schemas.microsoft.com/office/drawing/2014/main" id="{378ADAA2-072F-4BB1-81C4-1ED4CD379442}"/>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Apply owner=request.user on lists and object lookups.</a:t>
            </a:r>
          </a:p>
        </p:txBody>
      </p:sp>
    </p:spTree>
    <p:extLst>
      <p:ext uri="{BB962C8B-B14F-4D97-AF65-F5344CB8AC3E}">
        <p14:creationId xmlns:p14="http://schemas.microsoft.com/office/powerpoint/2010/main" val="3520274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350" fill="hold">
                                          <p:stCondLst>
                                            <p:cond delay="0"/>
                                          </p:stCondLst>
                                        </p:cTn>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242C35"/>
        </a:solidFill>
        <a:effectLst/>
      </p:bgPr>
    </p:bg>
    <p:spTree>
      <p:nvGrpSpPr>
        <p:cNvPr id="1" name=""/>
        <p:cNvGrpSpPr/>
        <p:nvPr/>
      </p:nvGrpSpPr>
      <p:grpSpPr>
        <a:xfrm>
          <a:off x="0" y="0"/>
          <a:ext cx="0" cy="0"/>
          <a:chOff x="0" y="0"/>
          <a:chExt cx="0" cy="0"/>
        </a:xfrm>
      </p:grpSpPr>
      <p:sp>
        <p:nvSpPr>
          <p:cNvPr id="20" name="text-285">
            <a:extLst>
              <a:ext uri="{FF2B5EF4-FFF2-40B4-BE49-F238E27FC236}">
                <a16:creationId xmlns:a16="http://schemas.microsoft.com/office/drawing/2014/main" id="{F6D044AD-A1E7-4F37-9475-5C545924AE8E}"/>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CDD4DD"/>
                </a:solidFill>
                <a:latin typeface="Helvetica Neue"/>
                <a:ea typeface="Helvetica Neue"/>
                <a:cs typeface="Helvetica Neue"/>
              </a:defRPr>
            </a:pPr>
            <a:r>
              <a:rPr sz="1500" b="0">
                <a:solidFill>
                  <a:srgbClr val="CDD4DD"/>
                </a:solidFill>
                <a:latin typeface="Helvetica Neue"/>
                <a:ea typeface="Helvetica Neue"/>
                <a:cs typeface="Helvetica Neue"/>
              </a:rPr>
              <a:t>04 / Identity and security</a:t>
            </a:r>
          </a:p>
        </p:txBody>
      </p:sp>
      <p:sp>
        <p:nvSpPr>
          <p:cNvPr id="2" name="text-286">
            <a:extLst>
              <a:ext uri="{FF2B5EF4-FFF2-40B4-BE49-F238E27FC236}">
                <a16:creationId xmlns:a16="http://schemas.microsoft.com/office/drawing/2014/main" id="{76161683-B3BE-4812-A6CD-96C9F6EC8547}"/>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F8F5EF"/>
                </a:solidFill>
                <a:latin typeface="Georgia"/>
                <a:ea typeface="Georgia"/>
                <a:cs typeface="Georgia"/>
              </a:defRPr>
            </a:pPr>
            <a:r>
              <a:rPr sz="3525" b="0">
                <a:solidFill>
                  <a:srgbClr val="F8F5EF"/>
                </a:solidFill>
                <a:latin typeface="Georgia"/>
                <a:ea typeface="Georgia"/>
                <a:cs typeface="Georgia"/>
              </a:rPr>
              <a:t>Two different checks stop two different requests</a:t>
            </a:r>
          </a:p>
        </p:txBody>
      </p:sp>
      <p:sp>
        <p:nvSpPr>
          <p:cNvPr id="3" name="text-287">
            <a:extLst>
              <a:ext uri="{FF2B5EF4-FFF2-40B4-BE49-F238E27FC236}">
                <a16:creationId xmlns:a16="http://schemas.microsoft.com/office/drawing/2014/main" id="{D478FE49-E431-45BD-807B-A5ACF6D45489}"/>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BAC3CF"/>
                </a:solidFill>
                <a:latin typeface="Helvetica Neue"/>
                <a:ea typeface="Helvetica Neue"/>
                <a:cs typeface="Helvetica Neue"/>
              </a:defRPr>
            </a:pPr>
            <a:r>
              <a:rPr sz="1125" b="0">
                <a:solidFill>
                  <a:srgbClr val="BAC3CF"/>
                </a:solidFill>
                <a:latin typeface="Helvetica Neue"/>
                <a:ea typeface="Helvetica Neue"/>
                <a:cs typeface="Helvetica Neue"/>
              </a:rPr>
              <a:t>BHAVYA SHAH / DJANGO WORKSHOP</a:t>
            </a:r>
          </a:p>
        </p:txBody>
      </p:sp>
      <p:sp>
        <p:nvSpPr>
          <p:cNvPr id="4" name="text-288">
            <a:extLst>
              <a:ext uri="{FF2B5EF4-FFF2-40B4-BE49-F238E27FC236}">
                <a16:creationId xmlns:a16="http://schemas.microsoft.com/office/drawing/2014/main" id="{6B2E0E14-2A5A-4005-A0C2-42C0A934F185}"/>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BAC3CF"/>
                </a:solidFill>
                <a:latin typeface="Helvetica Neue"/>
                <a:ea typeface="Helvetica Neue"/>
                <a:cs typeface="Helvetica Neue"/>
              </a:defRPr>
            </a:pPr>
            <a:r>
              <a:rPr sz="1575" b="0">
                <a:solidFill>
                  <a:srgbClr val="BAC3CF"/>
                </a:solidFill>
                <a:latin typeface="Helvetica Neue"/>
                <a:ea typeface="Helvetica Neue"/>
                <a:cs typeface="Helvetica Neue"/>
              </a:rPr>
              <a:t>38</a:t>
            </a:r>
          </a:p>
        </p:txBody>
      </p:sp>
      <p:sp>
        <p:nvSpPr>
          <p:cNvPr id="5" name="text-289">
            <a:extLst>
              <a:ext uri="{FF2B5EF4-FFF2-40B4-BE49-F238E27FC236}">
                <a16:creationId xmlns:a16="http://schemas.microsoft.com/office/drawing/2014/main" id="{80CC970C-F892-4E2A-9CF2-79B211774E73}"/>
              </a:ext>
            </a:extLst>
          </p:cNvPr>
          <p:cNvSpPr>
            <a:spLocks noGrp="1"/>
          </p:cNvSpPr>
          <p:nvPr/>
        </p:nvSpPr>
        <p:spPr>
          <a:xfrm>
            <a:off x="685800" y="2571750"/>
            <a:ext cx="3381375" cy="495300"/>
          </a:xfrm>
          <a:prstGeom prst="rect">
            <a:avLst/>
          </a:prstGeom>
          <a:noFill/>
          <a:ln w="0">
            <a:noFill/>
          </a:ln>
        </p:spPr>
        <p:txBody>
          <a:bodyPr wrap="none" lIns="0" tIns="0" rIns="0" bIns="0" anchor="t">
            <a:noAutofit/>
          </a:bodyPr>
          <a:lstStyle/>
          <a:p>
            <a:pPr algn="l">
              <a:defRPr sz="2400" b="0">
                <a:solidFill>
                  <a:srgbClr val="F8F5EF"/>
                </a:solidFill>
                <a:latin typeface="Georgia"/>
                <a:ea typeface="Georgia"/>
                <a:cs typeface="Georgia"/>
              </a:defRPr>
            </a:pPr>
            <a:r>
              <a:rPr sz="2400" b="0">
                <a:solidFill>
                  <a:srgbClr val="F8F5EF"/>
                </a:solidFill>
                <a:latin typeface="Georgia"/>
                <a:ea typeface="Georgia"/>
                <a:cs typeface="Georgia"/>
              </a:rPr>
              <a:t>01 / Forged form</a:t>
            </a:r>
          </a:p>
        </p:txBody>
      </p:sp>
      <p:sp>
        <p:nvSpPr>
          <p:cNvPr id="6" name="text-290">
            <a:extLst>
              <a:ext uri="{FF2B5EF4-FFF2-40B4-BE49-F238E27FC236}">
                <a16:creationId xmlns:a16="http://schemas.microsoft.com/office/drawing/2014/main" id="{BB7CB307-8C0D-434F-AC59-1A8C868BB823}"/>
              </a:ext>
            </a:extLst>
          </p:cNvPr>
          <p:cNvSpPr>
            <a:spLocks noGrp="1"/>
          </p:cNvSpPr>
          <p:nvPr/>
        </p:nvSpPr>
        <p:spPr>
          <a:xfrm>
            <a:off x="685800" y="3276600"/>
            <a:ext cx="3381375" cy="1047750"/>
          </a:xfrm>
          <a:prstGeom prst="rect">
            <a:avLst/>
          </a:prstGeom>
          <a:noFill/>
          <a:ln w="0">
            <a:noFill/>
          </a:ln>
        </p:spPr>
        <p:txBody>
          <a:bodyPr wrap="none" lIns="0" tIns="0" rIns="0" bIns="0" anchor="t">
            <a:noAutofit/>
          </a:bodyPr>
          <a:lstStyle/>
          <a:p>
            <a:pPr algn="l">
              <a:defRPr sz="1950" b="0">
                <a:solidFill>
                  <a:srgbClr val="CDD4DD"/>
                </a:solidFill>
                <a:latin typeface="Helvetica Neue"/>
                <a:ea typeface="Helvetica Neue"/>
                <a:cs typeface="Helvetica Neue"/>
              </a:defRPr>
            </a:pPr>
            <a:r>
              <a:rPr sz="1950" b="0">
                <a:solidFill>
                  <a:srgbClr val="CDD4DD"/>
                </a:solidFill>
                <a:latin typeface="Helvetica Neue"/>
                <a:ea typeface="Helvetica Neue"/>
                <a:cs typeface="Helvetica Neue"/>
              </a:rPr>
              <a:t>A browser sends a POST</a:t>
            </a:r>
          </a:p>
          <a:p>
            <a:pPr algn="l">
              <a:defRPr sz="1950" b="0">
                <a:solidFill>
                  <a:srgbClr val="CDD4DD"/>
                </a:solidFill>
                <a:latin typeface="Helvetica Neue"/>
                <a:ea typeface="Helvetica Neue"/>
                <a:cs typeface="Helvetica Neue"/>
              </a:defRPr>
            </a:pPr>
            <a:r>
              <a:rPr sz="1950" b="0">
                <a:solidFill>
                  <a:srgbClr val="CDD4DD"/>
                </a:solidFill>
                <a:latin typeface="Helvetica Neue"/>
                <a:ea typeface="Helvetica Neue"/>
                <a:cs typeface="Helvetica Neue"/>
              </a:rPr>
              <a:t>without a valid CSRF token.</a:t>
            </a:r>
          </a:p>
        </p:txBody>
      </p:sp>
      <p:grpSp>
        <p:nvGrpSpPr>
          <p:cNvPr id="35" name="motion-1-packet"/>
          <p:cNvGrpSpPr/>
          <p:nvPr/>
        </p:nvGrpSpPr>
        <p:grpSpPr>
          <a:xfrm>
            <a:off x="6048375" y="3486150"/>
            <a:ext cx="3009900" cy="619125"/>
            <a:chOff x="6048375" y="3486150"/>
            <a:chExt cx="3009900" cy="619125"/>
          </a:xfrm>
        </p:grpSpPr>
        <p:sp>
          <p:nvSpPr>
            <p:cNvPr id="7" name="motion-content-7">
              <a:extLst>
                <a:ext uri="{FF2B5EF4-FFF2-40B4-BE49-F238E27FC236}">
                  <a16:creationId xmlns:a16="http://schemas.microsoft.com/office/drawing/2014/main" id="{0F985B73-7047-4D23-8B7B-8421B8242ED7}"/>
                </a:ext>
              </a:extLst>
            </p:cNvPr>
            <p:cNvSpPr>
              <a:spLocks noGrp="1"/>
            </p:cNvSpPr>
            <p:nvPr/>
          </p:nvSpPr>
          <p:spPr>
            <a:xfrm>
              <a:off x="6048375" y="3486150"/>
              <a:ext cx="3009900" cy="619125"/>
            </a:xfrm>
            <a:prstGeom prst="rect">
              <a:avLst/>
            </a:prstGeom>
            <a:solidFill>
              <a:srgbClr val="D8663D"/>
            </a:solidFill>
            <a:ln w="0">
              <a:noFill/>
            </a:ln>
          </p:spPr>
          <p:txBody>
            <a:bodyPr wrap="none" lIns="161925" tIns="161925" rIns="161925" bIns="161925"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POST /tasks/new/</a:t>
              </a:r>
            </a:p>
          </p:txBody>
        </p:sp>
      </p:grpSp>
      <p:pic>
        <p:nvPicPr>
          <p:cNvPr id="27" name="Picture 26"/>
          <p:cNvPicPr>
            <a:picLocks noChangeAspect="1"/>
          </p:cNvPicPr>
          <p:nvPr/>
        </p:nvPicPr>
        <p:blipFill>
          <a:blip r:embed="rId3"/>
          <a:stretch/>
        </p:blipFill>
        <p:spPr>
          <a:xfrm>
            <a:off x="9353550" y="2781300"/>
            <a:ext cx="1162050" cy="1162050"/>
          </a:xfrm>
          <a:prstGeom prst="rect">
            <a:avLst/>
          </a:prstGeom>
        </p:spPr>
      </p:pic>
      <p:sp>
        <p:nvSpPr>
          <p:cNvPr id="9" name="text-291">
            <a:extLst>
              <a:ext uri="{FF2B5EF4-FFF2-40B4-BE49-F238E27FC236}">
                <a16:creationId xmlns:a16="http://schemas.microsoft.com/office/drawing/2014/main" id="{7F12CF3A-21B7-4CF0-9A82-32FE4A2BCECC}"/>
              </a:ext>
            </a:extLst>
          </p:cNvPr>
          <p:cNvSpPr>
            <a:spLocks noGrp="1"/>
          </p:cNvSpPr>
          <p:nvPr/>
        </p:nvSpPr>
        <p:spPr>
          <a:xfrm>
            <a:off x="8753475" y="4171950"/>
            <a:ext cx="2419350" cy="457200"/>
          </a:xfrm>
          <a:prstGeom prst="rect">
            <a:avLst/>
          </a:prstGeom>
          <a:noFill/>
          <a:ln w="0">
            <a:noFill/>
          </a:ln>
        </p:spPr>
        <p:txBody>
          <a:bodyPr wrap="none" lIns="0" tIns="0" rIns="0" bIns="0" anchor="t">
            <a:noAutofit/>
          </a:bodyPr>
          <a:lstStyle/>
          <a:p>
            <a:pPr algn="ctr">
              <a:defRPr sz="2025" b="0">
                <a:solidFill>
                  <a:srgbClr val="F8F5EF"/>
                </a:solidFill>
                <a:latin typeface="Helvetica Neue"/>
                <a:ea typeface="Helvetica Neue"/>
                <a:cs typeface="Helvetica Neue"/>
              </a:defRPr>
            </a:pPr>
            <a:r>
              <a:rPr sz="2025" b="0">
                <a:solidFill>
                  <a:srgbClr val="F8F5EF"/>
                </a:solidFill>
                <a:latin typeface="Helvetica Neue"/>
                <a:ea typeface="Helvetica Neue"/>
                <a:cs typeface="Helvetica Neue"/>
              </a:rPr>
              <a:t>CSRF check</a:t>
            </a:r>
          </a:p>
        </p:txBody>
      </p:sp>
      <p:sp>
        <p:nvSpPr>
          <p:cNvPr id="10" name="reveal-2-blocked">
            <a:extLst>
              <a:ext uri="{FF2B5EF4-FFF2-40B4-BE49-F238E27FC236}">
                <a16:creationId xmlns:a16="http://schemas.microsoft.com/office/drawing/2014/main" id="{5737B0FE-6A7C-4BEA-BE6E-3562A29AA9B1}"/>
              </a:ext>
            </a:extLst>
          </p:cNvPr>
          <p:cNvSpPr>
            <a:spLocks noGrp="1"/>
          </p:cNvSpPr>
          <p:nvPr/>
        </p:nvSpPr>
        <p:spPr>
          <a:xfrm>
            <a:off x="11449050" y="2838450"/>
            <a:ext cx="3086100" cy="1219200"/>
          </a:xfrm>
          <a:prstGeom prst="rect">
            <a:avLst/>
          </a:prstGeom>
          <a:noFill/>
          <a:ln w="0">
            <a:noFill/>
          </a:ln>
        </p:spPr>
        <p:txBody>
          <a:bodyPr wrap="none" lIns="0" tIns="0" rIns="0" bIns="0" anchor="t">
            <a:noAutofit/>
          </a:bodyPr>
          <a:lstStyle/>
          <a:p>
            <a:pPr algn="l">
              <a:defRPr sz="3225" b="0">
                <a:solidFill>
                  <a:srgbClr val="F09B81"/>
                </a:solidFill>
                <a:latin typeface="Georgia"/>
                <a:ea typeface="Georgia"/>
                <a:cs typeface="Georgia"/>
              </a:defRPr>
            </a:pPr>
            <a:r>
              <a:rPr sz="3225" b="0">
                <a:solidFill>
                  <a:srgbClr val="F09B81"/>
                </a:solidFill>
                <a:latin typeface="Georgia"/>
                <a:ea typeface="Georgia"/>
                <a:cs typeface="Georgia"/>
              </a:rPr>
              <a:t>403 Forbidden</a:t>
            </a:r>
          </a:p>
        </p:txBody>
      </p:sp>
      <p:sp>
        <p:nvSpPr>
          <p:cNvPr id="11" name="reveal-2-safe">
            <a:extLst>
              <a:ext uri="{FF2B5EF4-FFF2-40B4-BE49-F238E27FC236}">
                <a16:creationId xmlns:a16="http://schemas.microsoft.com/office/drawing/2014/main" id="{39C81BA7-D4FC-4D67-BFE5-2B28D22ED26A}"/>
              </a:ext>
            </a:extLst>
          </p:cNvPr>
          <p:cNvSpPr>
            <a:spLocks noGrp="1"/>
          </p:cNvSpPr>
          <p:nvPr/>
        </p:nvSpPr>
        <p:spPr>
          <a:xfrm>
            <a:off x="11449050" y="3876675"/>
            <a:ext cx="3086100" cy="762000"/>
          </a:xfrm>
          <a:prstGeom prst="rect">
            <a:avLst/>
          </a:prstGeom>
          <a:noFill/>
          <a:ln w="0">
            <a:noFill/>
          </a:ln>
        </p:spPr>
        <p:txBody>
          <a:bodyPr wrap="none" lIns="0" tIns="0" rIns="0" bIns="0" anchor="t">
            <a:noAutofit/>
          </a:bodyPr>
          <a:lstStyle/>
          <a:p>
            <a:pPr algn="l">
              <a:defRPr sz="1950" b="0">
                <a:solidFill>
                  <a:srgbClr val="F8F5EF"/>
                </a:solidFill>
                <a:latin typeface="Helvetica Neue"/>
                <a:ea typeface="Helvetica Neue"/>
                <a:cs typeface="Helvetica Neue"/>
              </a:defRPr>
            </a:pPr>
            <a:r>
              <a:rPr sz="1950" b="0">
                <a:solidFill>
                  <a:srgbClr val="F8F5EF"/>
                </a:solidFill>
                <a:latin typeface="Helvetica Neue"/>
                <a:ea typeface="Helvetica Neue"/>
                <a:cs typeface="Helvetica Neue"/>
              </a:rPr>
              <a:t>Rejected before</a:t>
            </a:r>
          </a:p>
          <a:p>
            <a:pPr algn="l">
              <a:defRPr sz="1950" b="0">
                <a:solidFill>
                  <a:srgbClr val="F8F5EF"/>
                </a:solidFill>
                <a:latin typeface="Helvetica Neue"/>
                <a:ea typeface="Helvetica Neue"/>
                <a:cs typeface="Helvetica Neue"/>
              </a:defRPr>
            </a:pPr>
            <a:r>
              <a:rPr sz="1950" b="0">
                <a:solidFill>
                  <a:srgbClr val="F8F5EF"/>
                </a:solidFill>
                <a:latin typeface="Helvetica Neue"/>
                <a:ea typeface="Helvetica Neue"/>
                <a:cs typeface="Helvetica Neue"/>
              </a:rPr>
              <a:t>the view runs.</a:t>
            </a:r>
          </a:p>
        </p:txBody>
      </p:sp>
      <p:sp>
        <p:nvSpPr>
          <p:cNvPr id="12" name="text-292">
            <a:extLst>
              <a:ext uri="{FF2B5EF4-FFF2-40B4-BE49-F238E27FC236}">
                <a16:creationId xmlns:a16="http://schemas.microsoft.com/office/drawing/2014/main" id="{2726FCFC-5080-4790-A7A0-D573C61E26A2}"/>
              </a:ext>
            </a:extLst>
          </p:cNvPr>
          <p:cNvSpPr>
            <a:spLocks noGrp="1"/>
          </p:cNvSpPr>
          <p:nvPr/>
        </p:nvSpPr>
        <p:spPr>
          <a:xfrm>
            <a:off x="685800" y="5248275"/>
            <a:ext cx="3381375" cy="809625"/>
          </a:xfrm>
          <a:prstGeom prst="rect">
            <a:avLst/>
          </a:prstGeom>
          <a:noFill/>
          <a:ln w="0">
            <a:noFill/>
          </a:ln>
        </p:spPr>
        <p:txBody>
          <a:bodyPr wrap="none" lIns="0" tIns="0" rIns="0" bIns="0" anchor="t">
            <a:noAutofit/>
          </a:bodyPr>
          <a:lstStyle/>
          <a:p>
            <a:pPr algn="l">
              <a:defRPr sz="2325" b="0">
                <a:solidFill>
                  <a:srgbClr val="F8F5EF"/>
                </a:solidFill>
                <a:latin typeface="Georgia"/>
                <a:ea typeface="Georgia"/>
                <a:cs typeface="Georgia"/>
              </a:defRPr>
            </a:pPr>
            <a:r>
              <a:rPr sz="2325" b="0">
                <a:solidFill>
                  <a:srgbClr val="F8F5EF"/>
                </a:solidFill>
                <a:latin typeface="Georgia"/>
                <a:ea typeface="Georgia"/>
                <a:cs typeface="Georgia"/>
              </a:rPr>
              <a:t>02 / Someone else’s task</a:t>
            </a:r>
          </a:p>
        </p:txBody>
      </p:sp>
      <p:sp>
        <p:nvSpPr>
          <p:cNvPr id="13" name="text-293">
            <a:extLst>
              <a:ext uri="{FF2B5EF4-FFF2-40B4-BE49-F238E27FC236}">
                <a16:creationId xmlns:a16="http://schemas.microsoft.com/office/drawing/2014/main" id="{293D6ED0-2FE6-47EF-BFF5-5A2B9143CE86}"/>
              </a:ext>
            </a:extLst>
          </p:cNvPr>
          <p:cNvSpPr>
            <a:spLocks noGrp="1"/>
          </p:cNvSpPr>
          <p:nvPr/>
        </p:nvSpPr>
        <p:spPr>
          <a:xfrm>
            <a:off x="685800" y="6248400"/>
            <a:ext cx="3381375" cy="857250"/>
          </a:xfrm>
          <a:prstGeom prst="rect">
            <a:avLst/>
          </a:prstGeom>
          <a:noFill/>
          <a:ln w="0">
            <a:noFill/>
          </a:ln>
        </p:spPr>
        <p:txBody>
          <a:bodyPr wrap="none" lIns="0" tIns="0" rIns="0" bIns="0" anchor="t">
            <a:noAutofit/>
          </a:bodyPr>
          <a:lstStyle/>
          <a:p>
            <a:pPr algn="l">
              <a:defRPr sz="1950" b="0">
                <a:solidFill>
                  <a:srgbClr val="CDD4DD"/>
                </a:solidFill>
                <a:latin typeface="Helvetica Neue"/>
                <a:ea typeface="Helvetica Neue"/>
                <a:cs typeface="Helvetica Neue"/>
              </a:defRPr>
            </a:pPr>
            <a:r>
              <a:rPr sz="1950" b="0">
                <a:solidFill>
                  <a:srgbClr val="CDD4DD"/>
                </a:solidFill>
                <a:latin typeface="Helvetica Neue"/>
                <a:ea typeface="Helvetica Neue"/>
                <a:cs typeface="Helvetica Neue"/>
              </a:rPr>
              <a:t>Bob is signed in, but the</a:t>
            </a:r>
          </a:p>
          <a:p>
            <a:pPr algn="l">
              <a:defRPr sz="1950" b="0">
                <a:solidFill>
                  <a:srgbClr val="CDD4DD"/>
                </a:solidFill>
                <a:latin typeface="Helvetica Neue"/>
                <a:ea typeface="Helvetica Neue"/>
                <a:cs typeface="Helvetica Neue"/>
              </a:defRPr>
            </a:pPr>
            <a:r>
              <a:rPr sz="1950" b="0">
                <a:solidFill>
                  <a:srgbClr val="CDD4DD"/>
                </a:solidFill>
                <a:latin typeface="Helvetica Neue"/>
                <a:ea typeface="Helvetica Neue"/>
                <a:cs typeface="Helvetica Neue"/>
              </a:rPr>
              <a:t>task belongs to Asha.</a:t>
            </a:r>
          </a:p>
        </p:txBody>
      </p:sp>
      <p:grpSp>
        <p:nvGrpSpPr>
          <p:cNvPr id="36" name="motion-3-packet"/>
          <p:cNvGrpSpPr/>
          <p:nvPr/>
        </p:nvGrpSpPr>
        <p:grpSpPr>
          <a:xfrm>
            <a:off x="6048375" y="6143625"/>
            <a:ext cx="3009900" cy="619125"/>
            <a:chOff x="6048375" y="6143625"/>
            <a:chExt cx="3009900" cy="619125"/>
          </a:xfrm>
        </p:grpSpPr>
        <p:sp>
          <p:nvSpPr>
            <p:cNvPr id="14" name="motion-content-14">
              <a:extLst>
                <a:ext uri="{FF2B5EF4-FFF2-40B4-BE49-F238E27FC236}">
                  <a16:creationId xmlns:a16="http://schemas.microsoft.com/office/drawing/2014/main" id="{54777F6D-FAF6-4717-91F3-A89D14C60518}"/>
                </a:ext>
              </a:extLst>
            </p:cNvPr>
            <p:cNvSpPr>
              <a:spLocks noGrp="1"/>
            </p:cNvSpPr>
            <p:nvPr/>
          </p:nvSpPr>
          <p:spPr>
            <a:xfrm>
              <a:off x="6048375" y="6143625"/>
              <a:ext cx="3009900" cy="619125"/>
            </a:xfrm>
            <a:prstGeom prst="rect">
              <a:avLst/>
            </a:prstGeom>
            <a:solidFill>
              <a:srgbClr val="D8663D"/>
            </a:solidFill>
            <a:ln w="0">
              <a:noFill/>
            </a:ln>
          </p:spPr>
          <p:txBody>
            <a:bodyPr wrap="none" lIns="161925" tIns="161925" rIns="161925" bIns="161925" anchor="t">
              <a:noAutofit/>
            </a:bodyPr>
            <a:lstStyle/>
            <a:p>
              <a:pPr algn="l">
                <a:defRPr sz="1575" b="0">
                  <a:solidFill>
                    <a:srgbClr val="FFFFFF"/>
                  </a:solidFill>
                  <a:latin typeface="Menlo"/>
                  <a:ea typeface="Menlo"/>
                  <a:cs typeface="Menlo"/>
                </a:defRPr>
              </a:pPr>
              <a:r>
                <a:rPr sz="1575" b="0">
                  <a:solidFill>
                    <a:srgbClr val="FFFFFF"/>
                  </a:solidFill>
                  <a:latin typeface="Menlo"/>
                  <a:ea typeface="Menlo"/>
                  <a:cs typeface="Menlo"/>
                </a:rPr>
                <a:t>POST /tasks/1/edit/</a:t>
              </a:r>
            </a:p>
          </p:txBody>
        </p:sp>
      </p:grpSp>
      <p:pic>
        <p:nvPicPr>
          <p:cNvPr id="34" name="Picture 33"/>
          <p:cNvPicPr>
            <a:picLocks noChangeAspect="1"/>
          </p:cNvPicPr>
          <p:nvPr/>
        </p:nvPicPr>
        <p:blipFill>
          <a:blip r:embed="rId3"/>
          <a:stretch/>
        </p:blipFill>
        <p:spPr>
          <a:xfrm>
            <a:off x="9353550" y="5438775"/>
            <a:ext cx="1162050" cy="1162050"/>
          </a:xfrm>
          <a:prstGeom prst="rect">
            <a:avLst/>
          </a:prstGeom>
        </p:spPr>
      </p:pic>
      <p:sp>
        <p:nvSpPr>
          <p:cNvPr id="16" name="text-294">
            <a:extLst>
              <a:ext uri="{FF2B5EF4-FFF2-40B4-BE49-F238E27FC236}">
                <a16:creationId xmlns:a16="http://schemas.microsoft.com/office/drawing/2014/main" id="{2B1167D5-E074-40D5-A8CF-7DAF8A9E6EC7}"/>
              </a:ext>
            </a:extLst>
          </p:cNvPr>
          <p:cNvSpPr>
            <a:spLocks noGrp="1"/>
          </p:cNvSpPr>
          <p:nvPr/>
        </p:nvSpPr>
        <p:spPr>
          <a:xfrm>
            <a:off x="8753475" y="6838950"/>
            <a:ext cx="2419350" cy="457200"/>
          </a:xfrm>
          <a:prstGeom prst="rect">
            <a:avLst/>
          </a:prstGeom>
          <a:noFill/>
          <a:ln w="0">
            <a:noFill/>
          </a:ln>
        </p:spPr>
        <p:txBody>
          <a:bodyPr wrap="none" lIns="0" tIns="0" rIns="0" bIns="0" anchor="t">
            <a:noAutofit/>
          </a:bodyPr>
          <a:lstStyle/>
          <a:p>
            <a:pPr algn="ctr">
              <a:defRPr sz="2025" b="0">
                <a:solidFill>
                  <a:srgbClr val="F8F5EF"/>
                </a:solidFill>
                <a:latin typeface="Helvetica Neue"/>
                <a:ea typeface="Helvetica Neue"/>
                <a:cs typeface="Helvetica Neue"/>
              </a:defRPr>
            </a:pPr>
            <a:r>
              <a:rPr sz="2025" b="0">
                <a:solidFill>
                  <a:srgbClr val="F8F5EF"/>
                </a:solidFill>
                <a:latin typeface="Helvetica Neue"/>
                <a:ea typeface="Helvetica Neue"/>
                <a:cs typeface="Helvetica Neue"/>
              </a:rPr>
              <a:t>Owner lookup</a:t>
            </a:r>
          </a:p>
        </p:txBody>
      </p:sp>
      <p:sp>
        <p:nvSpPr>
          <p:cNvPr id="17" name="reveal-4-blocked">
            <a:extLst>
              <a:ext uri="{FF2B5EF4-FFF2-40B4-BE49-F238E27FC236}">
                <a16:creationId xmlns:a16="http://schemas.microsoft.com/office/drawing/2014/main" id="{75318AE2-827A-4140-8400-620B1D0A447D}"/>
              </a:ext>
            </a:extLst>
          </p:cNvPr>
          <p:cNvSpPr>
            <a:spLocks noGrp="1"/>
          </p:cNvSpPr>
          <p:nvPr/>
        </p:nvSpPr>
        <p:spPr>
          <a:xfrm>
            <a:off x="11449050" y="5495925"/>
            <a:ext cx="3086100" cy="1219200"/>
          </a:xfrm>
          <a:prstGeom prst="rect">
            <a:avLst/>
          </a:prstGeom>
          <a:noFill/>
          <a:ln w="0">
            <a:noFill/>
          </a:ln>
        </p:spPr>
        <p:txBody>
          <a:bodyPr wrap="none" lIns="0" tIns="0" rIns="0" bIns="0" anchor="t">
            <a:noAutofit/>
          </a:bodyPr>
          <a:lstStyle/>
          <a:p>
            <a:pPr algn="l">
              <a:defRPr sz="3225" b="0">
                <a:solidFill>
                  <a:srgbClr val="F09B81"/>
                </a:solidFill>
                <a:latin typeface="Georgia"/>
                <a:ea typeface="Georgia"/>
                <a:cs typeface="Georgia"/>
              </a:defRPr>
            </a:pPr>
            <a:r>
              <a:rPr sz="3225" b="0">
                <a:solidFill>
                  <a:srgbClr val="F09B81"/>
                </a:solidFill>
                <a:latin typeface="Georgia"/>
                <a:ea typeface="Georgia"/>
                <a:cs typeface="Georgia"/>
              </a:rPr>
              <a:t>404 Not Found</a:t>
            </a:r>
          </a:p>
        </p:txBody>
      </p:sp>
      <p:sp>
        <p:nvSpPr>
          <p:cNvPr id="18" name="reveal-4-safe">
            <a:extLst>
              <a:ext uri="{FF2B5EF4-FFF2-40B4-BE49-F238E27FC236}">
                <a16:creationId xmlns:a16="http://schemas.microsoft.com/office/drawing/2014/main" id="{06AC989A-E2D9-459E-9504-59C146363B40}"/>
              </a:ext>
            </a:extLst>
          </p:cNvPr>
          <p:cNvSpPr>
            <a:spLocks noGrp="1"/>
          </p:cNvSpPr>
          <p:nvPr/>
        </p:nvSpPr>
        <p:spPr>
          <a:xfrm>
            <a:off x="11449050" y="6534150"/>
            <a:ext cx="3086100" cy="762000"/>
          </a:xfrm>
          <a:prstGeom prst="rect">
            <a:avLst/>
          </a:prstGeom>
          <a:noFill/>
          <a:ln w="0">
            <a:noFill/>
          </a:ln>
        </p:spPr>
        <p:txBody>
          <a:bodyPr wrap="none" lIns="0" tIns="0" rIns="0" bIns="0" anchor="t">
            <a:noAutofit/>
          </a:bodyPr>
          <a:lstStyle/>
          <a:p>
            <a:pPr algn="l">
              <a:defRPr sz="1950" b="0">
                <a:solidFill>
                  <a:srgbClr val="F8F5EF"/>
                </a:solidFill>
                <a:latin typeface="Helvetica Neue"/>
                <a:ea typeface="Helvetica Neue"/>
                <a:cs typeface="Helvetica Neue"/>
              </a:defRPr>
            </a:pPr>
            <a:r>
              <a:rPr sz="1950" b="0">
                <a:solidFill>
                  <a:srgbClr val="F8F5EF"/>
                </a:solidFill>
                <a:latin typeface="Helvetica Neue"/>
                <a:ea typeface="Helvetica Neue"/>
                <a:cs typeface="Helvetica Neue"/>
              </a:rPr>
              <a:t>Asha’s record</a:t>
            </a:r>
          </a:p>
          <a:p>
            <a:pPr algn="l">
              <a:defRPr sz="1950" b="0">
                <a:solidFill>
                  <a:srgbClr val="F8F5EF"/>
                </a:solidFill>
                <a:latin typeface="Helvetica Neue"/>
                <a:ea typeface="Helvetica Neue"/>
                <a:cs typeface="Helvetica Neue"/>
              </a:defRPr>
            </a:pPr>
            <a:r>
              <a:rPr sz="1950" b="0">
                <a:solidFill>
                  <a:srgbClr val="F8F5EF"/>
                </a:solidFill>
                <a:latin typeface="Helvetica Neue"/>
                <a:ea typeface="Helvetica Neue"/>
                <a:cs typeface="Helvetica Neue"/>
              </a:rPr>
              <a:t>stays unchanged.</a:t>
            </a:r>
          </a:p>
        </p:txBody>
      </p:sp>
      <p:sp>
        <p:nvSpPr>
          <p:cNvPr id="19" name="text-295">
            <a:extLst>
              <a:ext uri="{FF2B5EF4-FFF2-40B4-BE49-F238E27FC236}">
                <a16:creationId xmlns:a16="http://schemas.microsoft.com/office/drawing/2014/main" id="{820684DB-C29F-417E-8A67-99265F0BD80F}"/>
              </a:ext>
            </a:extLst>
          </p:cNvPr>
          <p:cNvSpPr>
            <a:spLocks noGrp="1"/>
          </p:cNvSpPr>
          <p:nvPr/>
        </p:nvSpPr>
        <p:spPr>
          <a:xfrm>
            <a:off x="685800" y="7562850"/>
            <a:ext cx="13868400" cy="447675"/>
          </a:xfrm>
          <a:prstGeom prst="rect">
            <a:avLst/>
          </a:prstGeom>
          <a:noFill/>
          <a:ln w="0">
            <a:noFill/>
          </a:ln>
        </p:spPr>
        <p:txBody>
          <a:bodyPr wrap="none" lIns="0" tIns="0" rIns="0" bIns="0" anchor="t">
            <a:noAutofit/>
          </a:bodyPr>
          <a:lstStyle/>
          <a:p>
            <a:pPr algn="l">
              <a:defRPr sz="1800" b="0">
                <a:solidFill>
                  <a:srgbClr val="BED0FF"/>
                </a:solidFill>
                <a:latin typeface="Helvetica Neue"/>
                <a:ea typeface="Helvetica Neue"/>
                <a:cs typeface="Helvetica Neue"/>
              </a:defRPr>
            </a:pPr>
            <a:r>
              <a:rPr sz="1800" b="0">
                <a:solidFill>
                  <a:srgbClr val="BED0FF"/>
                </a:solidFill>
                <a:latin typeface="Helvetica Neue"/>
                <a:ea typeface="Helvetica Neue"/>
                <a:cs typeface="Helvetica Neue"/>
              </a:rPr>
              <a:t>Also keep template escaping and parameterized queries: they address different attacks.</a:t>
            </a:r>
          </a:p>
        </p:txBody>
      </p:sp>
    </p:spTree>
    <p:extLst>
      <p:ext uri="{BB962C8B-B14F-4D97-AF65-F5344CB8AC3E}">
        <p14:creationId xmlns:p14="http://schemas.microsoft.com/office/powerpoint/2010/main" val="3584760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0" presetClass="path" presetSubtype="0" fill="hold" nodeType="withEffect">
                                  <p:stCondLst>
                                    <p:cond delay="0"/>
                                  </p:stCondLst>
                                  <p:childTnLst>
                                    <p:animMotion origin="layout" path="M -0.125 0 L 0 0 E" pathEditMode="relative" rAng="0">
                                      <p:cBhvr>
                                        <p:cTn id="8" dur="800" fill="hold">
                                          <p:stCondLst>
                                            <p:cond delay="0"/>
                                          </p:stCondLst>
                                        </p:cTn>
                                        <p:tgtEl>
                                          <p:spTgt spid="35"/>
                                        </p:tgtEl>
                                        <p:attrNameLst>
                                          <p:attrName>ppt_x</p:attrName>
                                          <p:attrName>ppt_y</p:attrName>
                                        </p:attrNameLst>
                                      </p:cBhvr>
                                      <p:rCtr x="0" y="0"/>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0" presetClass="path" presetSubtype="0" fill="hold" nodeType="withEffect">
                                  <p:stCondLst>
                                    <p:cond delay="0"/>
                                  </p:stCondLst>
                                  <p:childTnLst>
                                    <p:animMotion origin="layout" path="M -0.125 0 L 0 0 E" pathEditMode="relative" rAng="0">
                                      <p:cBhvr>
                                        <p:cTn id="20" dur="800" fill="hold">
                                          <p:stCondLst>
                                            <p:cond delay="0"/>
                                          </p:stCondLst>
                                        </p:cTn>
                                        <p:tgtEl>
                                          <p:spTgt spid="36"/>
                                        </p:tgtEl>
                                        <p:attrNameLst>
                                          <p:attrName>ppt_x</p:attrName>
                                          <p:attrName>ppt_y</p:attrName>
                                        </p:attrNameLst>
                                      </p:cBhvr>
                                      <p:rCtr x="0" y="0"/>
                                    </p:animMotion>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7" grpId="0" animBg="1"/>
      <p:bldP spid="1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3" name="text-296">
            <a:extLst>
              <a:ext uri="{FF2B5EF4-FFF2-40B4-BE49-F238E27FC236}">
                <a16:creationId xmlns:a16="http://schemas.microsoft.com/office/drawing/2014/main" id="{AD1A6F40-2186-4496-95D5-8F24D9FD78DB}"/>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04 / Identity and security</a:t>
            </a:r>
          </a:p>
        </p:txBody>
      </p:sp>
      <p:sp>
        <p:nvSpPr>
          <p:cNvPr id="2" name="text-297">
            <a:extLst>
              <a:ext uri="{FF2B5EF4-FFF2-40B4-BE49-F238E27FC236}">
                <a16:creationId xmlns:a16="http://schemas.microsoft.com/office/drawing/2014/main" id="{04CD486F-1AFD-4EBD-91EF-D80E82382AC7}"/>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A session preference and a success message</a:t>
            </a:r>
          </a:p>
        </p:txBody>
      </p:sp>
      <p:sp>
        <p:nvSpPr>
          <p:cNvPr id="3" name="text-298">
            <a:extLst>
              <a:ext uri="{FF2B5EF4-FFF2-40B4-BE49-F238E27FC236}">
                <a16:creationId xmlns:a16="http://schemas.microsoft.com/office/drawing/2014/main" id="{82151D3E-EDF3-4224-BCB6-359E97122904}"/>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299">
            <a:extLst>
              <a:ext uri="{FF2B5EF4-FFF2-40B4-BE49-F238E27FC236}">
                <a16:creationId xmlns:a16="http://schemas.microsoft.com/office/drawing/2014/main" id="{747CF110-36A6-4EE9-B5E2-54FB47E5B320}"/>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39</a:t>
            </a:r>
          </a:p>
        </p:txBody>
      </p:sp>
      <p:sp>
        <p:nvSpPr>
          <p:cNvPr id="5" name="text-300">
            <a:extLst>
              <a:ext uri="{FF2B5EF4-FFF2-40B4-BE49-F238E27FC236}">
                <a16:creationId xmlns:a16="http://schemas.microsoft.com/office/drawing/2014/main" id="{479208F0-9064-481A-8101-5BBC02F35802}"/>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views.py and base.html excerpts</a:t>
            </a:r>
          </a:p>
        </p:txBody>
      </p:sp>
      <p:sp>
        <p:nvSpPr>
          <p:cNvPr id="6" name="code-panel-301">
            <a:extLst>
              <a:ext uri="{FF2B5EF4-FFF2-40B4-BE49-F238E27FC236}">
                <a16:creationId xmlns:a16="http://schemas.microsoft.com/office/drawing/2014/main" id="{BBA720B4-AA9C-4868-B21F-BF85B8BAAD20}"/>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065919AD-240F-42C6-9884-FAAE7F82F7D1}"/>
              </a:ext>
            </a:extLst>
          </p:cNvPr>
          <p:cNvSpPr>
            <a:spLocks noGrp="1"/>
          </p:cNvSpPr>
          <p:nvPr/>
        </p:nvSpPr>
        <p:spPr>
          <a:xfrm>
            <a:off x="914400" y="2924175"/>
            <a:ext cx="7639050" cy="351631"/>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After a successful save, before redirect</a:t>
            </a:r>
          </a:p>
        </p:txBody>
      </p:sp>
      <p:sp>
        <p:nvSpPr>
          <p:cNvPr id="8" name="code-line-1">
            <a:extLst>
              <a:ext uri="{FF2B5EF4-FFF2-40B4-BE49-F238E27FC236}">
                <a16:creationId xmlns:a16="http://schemas.microsoft.com/office/drawing/2014/main" id="{97D2607D-AE9E-4B9F-A9D3-B9016A8477CC}"/>
              </a:ext>
            </a:extLst>
          </p:cNvPr>
          <p:cNvSpPr>
            <a:spLocks noGrp="1"/>
          </p:cNvSpPr>
          <p:nvPr/>
        </p:nvSpPr>
        <p:spPr>
          <a:xfrm>
            <a:off x="914400" y="3247231"/>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from</a:t>
            </a:r>
            <a:r>
              <a:rPr sz="1725" b="0">
                <a:solidFill>
                  <a:srgbClr val="FFFFFF"/>
                </a:solidFill>
                <a:latin typeface="Menlo"/>
                <a:ea typeface="Menlo"/>
                <a:cs typeface="Menlo"/>
              </a:rPr>
              <a:t> django.contrib </a:t>
            </a:r>
            <a:r>
              <a:rPr sz="1725" b="0">
                <a:solidFill>
                  <a:srgbClr val="A7C2FF"/>
                </a:solidFill>
                <a:latin typeface="Menlo"/>
                <a:ea typeface="Menlo"/>
                <a:cs typeface="Menlo"/>
              </a:rPr>
              <a:t>import</a:t>
            </a:r>
            <a:r>
              <a:rPr sz="1725" b="0">
                <a:solidFill>
                  <a:srgbClr val="FFFFFF"/>
                </a:solidFill>
                <a:latin typeface="Menlo"/>
                <a:ea typeface="Menlo"/>
                <a:cs typeface="Menlo"/>
              </a:rPr>
              <a:t> messages</a:t>
            </a:r>
          </a:p>
        </p:txBody>
      </p:sp>
      <p:sp>
        <p:nvSpPr>
          <p:cNvPr id="9" name="code-line-2">
            <a:extLst>
              <a:ext uri="{FF2B5EF4-FFF2-40B4-BE49-F238E27FC236}">
                <a16:creationId xmlns:a16="http://schemas.microsoft.com/office/drawing/2014/main" id="{04A11673-02C7-4DE0-BD9B-E911C6A817F0}"/>
              </a:ext>
            </a:extLst>
          </p:cNvPr>
          <p:cNvSpPr>
            <a:spLocks noGrp="1"/>
          </p:cNvSpPr>
          <p:nvPr/>
        </p:nvSpPr>
        <p:spPr>
          <a:xfrm>
            <a:off x="914400" y="3570288"/>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messages.success(request, "Task saved.")</a:t>
            </a:r>
          </a:p>
        </p:txBody>
      </p:sp>
      <p:sp>
        <p:nvSpPr>
          <p:cNvPr id="10" name="code-line-3">
            <a:extLst>
              <a:ext uri="{FF2B5EF4-FFF2-40B4-BE49-F238E27FC236}">
                <a16:creationId xmlns:a16="http://schemas.microsoft.com/office/drawing/2014/main" id="{CCE367AC-221C-48F0-B0EE-6B1A97809A5A}"/>
              </a:ext>
            </a:extLst>
          </p:cNvPr>
          <p:cNvSpPr>
            <a:spLocks noGrp="1"/>
          </p:cNvSpPr>
          <p:nvPr/>
        </p:nvSpPr>
        <p:spPr>
          <a:xfrm>
            <a:off x="914400" y="3893344"/>
            <a:ext cx="7639050" cy="351631"/>
          </a:xfrm>
          <a:prstGeom prst="rect">
            <a:avLst/>
          </a:prstGeom>
          <a:noFill/>
          <a:ln w="0">
            <a:noFill/>
          </a:ln>
        </p:spPr>
        <p:txBody>
          <a:bodyPr wrap="none" lIns="0" tIns="0" rIns="0" bIns="0" anchor="t">
            <a:noAutofit/>
          </a:bodyPr>
          <a:lstStyle/>
          <a:p>
            <a:endParaRPr/>
          </a:p>
        </p:txBody>
      </p:sp>
      <p:sp>
        <p:nvSpPr>
          <p:cNvPr id="11" name="code-line-4">
            <a:extLst>
              <a:ext uri="{FF2B5EF4-FFF2-40B4-BE49-F238E27FC236}">
                <a16:creationId xmlns:a16="http://schemas.microsoft.com/office/drawing/2014/main" id="{287717CA-A42B-4270-B5A4-222D052FE568}"/>
              </a:ext>
            </a:extLst>
          </p:cNvPr>
          <p:cNvSpPr>
            <a:spLocks noGrp="1"/>
          </p:cNvSpPr>
          <p:nvPr/>
        </p:nvSpPr>
        <p:spPr>
          <a:xfrm>
            <a:off x="914400" y="4216400"/>
            <a:ext cx="7639050" cy="351631"/>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A non-sensitive interface preference</a:t>
            </a:r>
          </a:p>
        </p:txBody>
      </p:sp>
      <p:sp>
        <p:nvSpPr>
          <p:cNvPr id="12" name="code-line-5">
            <a:extLst>
              <a:ext uri="{FF2B5EF4-FFF2-40B4-BE49-F238E27FC236}">
                <a16:creationId xmlns:a16="http://schemas.microsoft.com/office/drawing/2014/main" id="{CD6F86AD-4B8D-4DCB-9C35-C5D9B377D8D7}"/>
              </a:ext>
            </a:extLst>
          </p:cNvPr>
          <p:cNvSpPr>
            <a:spLocks noGrp="1"/>
          </p:cNvSpPr>
          <p:nvPr/>
        </p:nvSpPr>
        <p:spPr>
          <a:xfrm>
            <a:off x="914400" y="4539456"/>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request.session["task_filter"] = "open"</a:t>
            </a:r>
          </a:p>
        </p:txBody>
      </p:sp>
      <p:sp>
        <p:nvSpPr>
          <p:cNvPr id="13" name="code-line-6">
            <a:extLst>
              <a:ext uri="{FF2B5EF4-FFF2-40B4-BE49-F238E27FC236}">
                <a16:creationId xmlns:a16="http://schemas.microsoft.com/office/drawing/2014/main" id="{F25253CC-0701-4169-B4E9-FA8AB9882F95}"/>
              </a:ext>
            </a:extLst>
          </p:cNvPr>
          <p:cNvSpPr>
            <a:spLocks noGrp="1"/>
          </p:cNvSpPr>
          <p:nvPr/>
        </p:nvSpPr>
        <p:spPr>
          <a:xfrm>
            <a:off x="914400" y="4862513"/>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task_filter = request.session.get("task_filter", "all")</a:t>
            </a:r>
          </a:p>
        </p:txBody>
      </p:sp>
      <p:sp>
        <p:nvSpPr>
          <p:cNvPr id="14" name="code-line-7">
            <a:extLst>
              <a:ext uri="{FF2B5EF4-FFF2-40B4-BE49-F238E27FC236}">
                <a16:creationId xmlns:a16="http://schemas.microsoft.com/office/drawing/2014/main" id="{2779F366-7956-43F1-9013-AA73C2498315}"/>
              </a:ext>
            </a:extLst>
          </p:cNvPr>
          <p:cNvSpPr>
            <a:spLocks noGrp="1"/>
          </p:cNvSpPr>
          <p:nvPr/>
        </p:nvSpPr>
        <p:spPr>
          <a:xfrm>
            <a:off x="914400" y="5185569"/>
            <a:ext cx="7639050" cy="351631"/>
          </a:xfrm>
          <a:prstGeom prst="rect">
            <a:avLst/>
          </a:prstGeom>
          <a:noFill/>
          <a:ln w="0">
            <a:noFill/>
          </a:ln>
        </p:spPr>
        <p:txBody>
          <a:bodyPr wrap="none" lIns="0" tIns="0" rIns="0" bIns="0" anchor="t">
            <a:noAutofit/>
          </a:bodyPr>
          <a:lstStyle/>
          <a:p>
            <a:endParaRPr/>
          </a:p>
        </p:txBody>
      </p:sp>
      <p:sp>
        <p:nvSpPr>
          <p:cNvPr id="15" name="code-line-8">
            <a:extLst>
              <a:ext uri="{FF2B5EF4-FFF2-40B4-BE49-F238E27FC236}">
                <a16:creationId xmlns:a16="http://schemas.microsoft.com/office/drawing/2014/main" id="{AE52F284-40FB-49A3-9062-D3847EFE50A5}"/>
              </a:ext>
            </a:extLst>
          </p:cNvPr>
          <p:cNvSpPr>
            <a:spLocks noGrp="1"/>
          </p:cNvSpPr>
          <p:nvPr/>
        </p:nvSpPr>
        <p:spPr>
          <a:xfrm>
            <a:off x="914400" y="5508625"/>
            <a:ext cx="7639050" cy="351631"/>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&lt;!-- base.html --&gt;</a:t>
            </a:r>
          </a:p>
        </p:txBody>
      </p:sp>
      <p:sp>
        <p:nvSpPr>
          <p:cNvPr id="16" name="code-line-9">
            <a:extLst>
              <a:ext uri="{FF2B5EF4-FFF2-40B4-BE49-F238E27FC236}">
                <a16:creationId xmlns:a16="http://schemas.microsoft.com/office/drawing/2014/main" id="{04313017-1D0D-4A17-AD5B-1F59AF4719ED}"/>
              </a:ext>
            </a:extLst>
          </p:cNvPr>
          <p:cNvSpPr>
            <a:spLocks noGrp="1"/>
          </p:cNvSpPr>
          <p:nvPr/>
        </p:nvSpPr>
        <p:spPr>
          <a:xfrm>
            <a:off x="914400" y="5831681"/>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for</a:t>
            </a:r>
            <a:r>
              <a:rPr sz="1725" b="0">
                <a:solidFill>
                  <a:srgbClr val="FFFFFF"/>
                </a:solidFill>
                <a:latin typeface="Menlo"/>
                <a:ea typeface="Menlo"/>
                <a:cs typeface="Menlo"/>
              </a:rPr>
              <a:t> message </a:t>
            </a:r>
            <a:r>
              <a:rPr sz="1725" b="0">
                <a:solidFill>
                  <a:srgbClr val="A7C2FF"/>
                </a:solidFill>
                <a:latin typeface="Menlo"/>
                <a:ea typeface="Menlo"/>
                <a:cs typeface="Menlo"/>
              </a:rPr>
              <a:t>in</a:t>
            </a:r>
            <a:r>
              <a:rPr sz="1725" b="0">
                <a:solidFill>
                  <a:srgbClr val="FFFFFF"/>
                </a:solidFill>
                <a:latin typeface="Menlo"/>
                <a:ea typeface="Menlo"/>
                <a:cs typeface="Menlo"/>
              </a:rPr>
              <a:t> messages %}</a:t>
            </a:r>
          </a:p>
        </p:txBody>
      </p:sp>
      <p:sp>
        <p:nvSpPr>
          <p:cNvPr id="17" name="code-line-10">
            <a:extLst>
              <a:ext uri="{FF2B5EF4-FFF2-40B4-BE49-F238E27FC236}">
                <a16:creationId xmlns:a16="http://schemas.microsoft.com/office/drawing/2014/main" id="{052E6D38-3032-4021-8E6C-A39E45A8870D}"/>
              </a:ext>
            </a:extLst>
          </p:cNvPr>
          <p:cNvSpPr>
            <a:spLocks noGrp="1"/>
          </p:cNvSpPr>
          <p:nvPr/>
        </p:nvSpPr>
        <p:spPr>
          <a:xfrm>
            <a:off x="914400" y="6154738"/>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&lt;p&gt;{{ message }}&lt;/p&gt;</a:t>
            </a:r>
          </a:p>
        </p:txBody>
      </p:sp>
      <p:sp>
        <p:nvSpPr>
          <p:cNvPr id="18" name="code-line-11">
            <a:extLst>
              <a:ext uri="{FF2B5EF4-FFF2-40B4-BE49-F238E27FC236}">
                <a16:creationId xmlns:a16="http://schemas.microsoft.com/office/drawing/2014/main" id="{A8255D48-0DCD-40E6-B773-C39920C96601}"/>
              </a:ext>
            </a:extLst>
          </p:cNvPr>
          <p:cNvSpPr>
            <a:spLocks noGrp="1"/>
          </p:cNvSpPr>
          <p:nvPr/>
        </p:nvSpPr>
        <p:spPr>
          <a:xfrm>
            <a:off x="914400" y="6477794"/>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endfor %}</a:t>
            </a:r>
          </a:p>
        </p:txBody>
      </p:sp>
      <p:sp>
        <p:nvSpPr>
          <p:cNvPr id="19" name="reveal-1-output-1">
            <a:extLst>
              <a:ext uri="{FF2B5EF4-FFF2-40B4-BE49-F238E27FC236}">
                <a16:creationId xmlns:a16="http://schemas.microsoft.com/office/drawing/2014/main" id="{D2111D73-8AD9-49D5-BB8C-9480EA3EA202}"/>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After the redirect</a:t>
            </a:r>
          </a:p>
        </p:txBody>
      </p:sp>
      <p:sp>
        <p:nvSpPr>
          <p:cNvPr id="20" name="reveal-1-output-2">
            <a:extLst>
              <a:ext uri="{FF2B5EF4-FFF2-40B4-BE49-F238E27FC236}">
                <a16:creationId xmlns:a16="http://schemas.microsoft.com/office/drawing/2014/main" id="{9D131877-DD81-44A6-9D63-3B750B1E27DC}"/>
              </a:ext>
            </a:extLst>
          </p:cNvPr>
          <p:cNvSpPr>
            <a:spLocks noGrp="1"/>
          </p:cNvSpPr>
          <p:nvPr/>
        </p:nvSpPr>
        <p:spPr>
          <a:xfrm>
            <a:off x="9239250" y="2952750"/>
            <a:ext cx="5295900" cy="3810000"/>
          </a:xfrm>
          <a:prstGeom prst="rect">
            <a:avLst/>
          </a:prstGeom>
          <a:solidFill>
            <a:srgbClr val="ECEFF7"/>
          </a:solidFill>
          <a:ln w="0">
            <a:noFill/>
          </a:ln>
        </p:spPr>
      </p:sp>
      <p:sp>
        <p:nvSpPr>
          <p:cNvPr id="21" name="reveal-1-output-3">
            <a:extLst>
              <a:ext uri="{FF2B5EF4-FFF2-40B4-BE49-F238E27FC236}">
                <a16:creationId xmlns:a16="http://schemas.microsoft.com/office/drawing/2014/main" id="{871839D1-159A-4C8A-9D8C-E5DD9692E24E}"/>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650" b="0">
                <a:solidFill>
                  <a:srgbClr val="242C35"/>
                </a:solidFill>
                <a:latin typeface="Menlo"/>
                <a:ea typeface="Menlo"/>
                <a:cs typeface="Menlo"/>
              </a:defRPr>
            </a:pPr>
            <a:r>
              <a:rPr sz="1650" b="0">
                <a:solidFill>
                  <a:srgbClr val="242C35"/>
                </a:solidFill>
                <a:latin typeface="Menlo"/>
                <a:ea typeface="Menlo"/>
                <a:cs typeface="Menlo"/>
              </a:rPr>
              <a:t>Visible message:</a:t>
            </a:r>
          </a:p>
          <a:p>
            <a:pPr algn="l">
              <a:defRPr sz="1650" b="0">
                <a:solidFill>
                  <a:srgbClr val="242C35"/>
                </a:solidFill>
                <a:latin typeface="Menlo"/>
                <a:ea typeface="Menlo"/>
                <a:cs typeface="Menlo"/>
              </a:defRPr>
            </a:pPr>
            <a:r>
              <a:rPr sz="1650" b="0">
                <a:solidFill>
                  <a:srgbClr val="242C35"/>
                </a:solidFill>
                <a:latin typeface="Menlo"/>
                <a:ea typeface="Menlo"/>
                <a:cs typeface="Menlo"/>
              </a:rPr>
              <a:t>Task saved.</a:t>
            </a:r>
          </a:p>
          <a:p>
            <a:endParaRPr sz="1650" b="0">
              <a:solidFill>
                <a:srgbClr val="242C35"/>
              </a:solidFill>
              <a:latin typeface="Menlo"/>
              <a:ea typeface="Menlo"/>
              <a:cs typeface="Menlo"/>
            </a:endParaRPr>
          </a:p>
          <a:p>
            <a:pPr algn="l">
              <a:defRPr sz="1650" b="0">
                <a:solidFill>
                  <a:srgbClr val="242C35"/>
                </a:solidFill>
                <a:latin typeface="Menlo"/>
                <a:ea typeface="Menlo"/>
                <a:cs typeface="Menlo"/>
              </a:defRPr>
            </a:pPr>
            <a:r>
              <a:rPr sz="1650" b="0">
                <a:solidFill>
                  <a:srgbClr val="242C35"/>
                </a:solidFill>
                <a:latin typeface="Menlo"/>
                <a:ea typeface="Menlo"/>
                <a:cs typeface="Menlo"/>
              </a:rPr>
              <a:t>Session preference:</a:t>
            </a:r>
          </a:p>
          <a:p>
            <a:pPr algn="l">
              <a:defRPr sz="1650" b="0">
                <a:solidFill>
                  <a:srgbClr val="242C35"/>
                </a:solidFill>
                <a:latin typeface="Menlo"/>
                <a:ea typeface="Menlo"/>
                <a:cs typeface="Menlo"/>
              </a:defRPr>
            </a:pPr>
            <a:r>
              <a:rPr sz="1650" b="0">
                <a:solidFill>
                  <a:srgbClr val="242C35"/>
                </a:solidFill>
                <a:latin typeface="Menlo"/>
                <a:ea typeface="Menlo"/>
                <a:cs typeface="Menlo"/>
              </a:rPr>
              <a:t>task_filter = "open"</a:t>
            </a:r>
          </a:p>
        </p:txBody>
      </p:sp>
      <p:sp>
        <p:nvSpPr>
          <p:cNvPr id="22" name="fade-1-takeaway">
            <a:extLst>
              <a:ext uri="{FF2B5EF4-FFF2-40B4-BE49-F238E27FC236}">
                <a16:creationId xmlns:a16="http://schemas.microsoft.com/office/drawing/2014/main" id="{225A5219-01DD-460C-99EB-5D2A5F70781C}"/>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A session remembers a preference. A message confirms an action.</a:t>
            </a:r>
          </a:p>
        </p:txBody>
      </p:sp>
    </p:spTree>
    <p:extLst>
      <p:ext uri="{BB962C8B-B14F-4D97-AF65-F5344CB8AC3E}">
        <p14:creationId xmlns:p14="http://schemas.microsoft.com/office/powerpoint/2010/main" val="8616164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350" fill="hold">
                                          <p:stCondLst>
                                            <p:cond delay="0"/>
                                          </p:stCondLst>
                                        </p:cTn>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2" name="text-305">
            <a:extLst>
              <a:ext uri="{FF2B5EF4-FFF2-40B4-BE49-F238E27FC236}">
                <a16:creationId xmlns:a16="http://schemas.microsoft.com/office/drawing/2014/main" id="{344ADA20-D94F-470B-BAEE-EC626282F40F}"/>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04 / Identity and security</a:t>
            </a:r>
          </a:p>
        </p:txBody>
      </p:sp>
      <p:sp>
        <p:nvSpPr>
          <p:cNvPr id="2" name="text-306">
            <a:extLst>
              <a:ext uri="{FF2B5EF4-FFF2-40B4-BE49-F238E27FC236}">
                <a16:creationId xmlns:a16="http://schemas.microsoft.com/office/drawing/2014/main" id="{94E19E74-5176-46EE-9F00-DEA7F5979C68}"/>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Middleware wraps the request</a:t>
            </a:r>
          </a:p>
        </p:txBody>
      </p:sp>
      <p:sp>
        <p:nvSpPr>
          <p:cNvPr id="3" name="text-307">
            <a:extLst>
              <a:ext uri="{FF2B5EF4-FFF2-40B4-BE49-F238E27FC236}">
                <a16:creationId xmlns:a16="http://schemas.microsoft.com/office/drawing/2014/main" id="{0C4B02D1-B957-4AF8-BAA2-2939E117D83B}"/>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308">
            <a:extLst>
              <a:ext uri="{FF2B5EF4-FFF2-40B4-BE49-F238E27FC236}">
                <a16:creationId xmlns:a16="http://schemas.microsoft.com/office/drawing/2014/main" id="{055FC785-7F4D-4810-99A1-CCDEA4FCD845}"/>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40</a:t>
            </a:r>
          </a:p>
        </p:txBody>
      </p:sp>
      <p:sp>
        <p:nvSpPr>
          <p:cNvPr id="5" name="text-309">
            <a:extLst>
              <a:ext uri="{FF2B5EF4-FFF2-40B4-BE49-F238E27FC236}">
                <a16:creationId xmlns:a16="http://schemas.microsoft.com/office/drawing/2014/main" id="{BDAC6D72-F756-44EE-9367-CAAAEA4F83D9}"/>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tasks/middleware.py</a:t>
            </a:r>
          </a:p>
        </p:txBody>
      </p:sp>
      <p:sp>
        <p:nvSpPr>
          <p:cNvPr id="6" name="code-panel-310">
            <a:extLst>
              <a:ext uri="{FF2B5EF4-FFF2-40B4-BE49-F238E27FC236}">
                <a16:creationId xmlns:a16="http://schemas.microsoft.com/office/drawing/2014/main" id="{CC627FF1-1CD8-4E32-B1A0-EA9B8A9F0CF4}"/>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9EACD959-CB83-4271-9931-8B7B494D6EA7}"/>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class</a:t>
            </a:r>
            <a:r>
              <a:rPr sz="1725" b="0">
                <a:solidFill>
                  <a:srgbClr val="FFFFFF"/>
                </a:solidFill>
                <a:latin typeface="Menlo"/>
                <a:ea typeface="Menlo"/>
                <a:cs typeface="Menlo"/>
              </a:rPr>
              <a:t> TrainingHeaderMiddleware:</a:t>
            </a:r>
          </a:p>
        </p:txBody>
      </p:sp>
      <p:sp>
        <p:nvSpPr>
          <p:cNvPr id="8" name="code-line-1">
            <a:extLst>
              <a:ext uri="{FF2B5EF4-FFF2-40B4-BE49-F238E27FC236}">
                <a16:creationId xmlns:a16="http://schemas.microsoft.com/office/drawing/2014/main" id="{2812F302-AA39-4B34-A5EE-1BCC0CAB8E90}"/>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def</a:t>
            </a:r>
            <a:r>
              <a:rPr sz="1725" b="0">
                <a:solidFill>
                  <a:srgbClr val="FFFFFF"/>
                </a:solidFill>
                <a:latin typeface="Menlo"/>
                <a:ea typeface="Menlo"/>
                <a:cs typeface="Menlo"/>
              </a:rPr>
              <a:t> __init__(self, get_response):</a:t>
            </a:r>
          </a:p>
        </p:txBody>
      </p:sp>
      <p:sp>
        <p:nvSpPr>
          <p:cNvPr id="9" name="code-line-2">
            <a:extLst>
              <a:ext uri="{FF2B5EF4-FFF2-40B4-BE49-F238E27FC236}">
                <a16:creationId xmlns:a16="http://schemas.microsoft.com/office/drawing/2014/main" id="{CEAF0065-7F02-4650-ABF6-371E3CDD653C}"/>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self.get_response = get_response</a:t>
            </a:r>
          </a:p>
        </p:txBody>
      </p:sp>
      <p:sp>
        <p:nvSpPr>
          <p:cNvPr id="10" name="code-line-3">
            <a:extLst>
              <a:ext uri="{FF2B5EF4-FFF2-40B4-BE49-F238E27FC236}">
                <a16:creationId xmlns:a16="http://schemas.microsoft.com/office/drawing/2014/main" id="{02FAD357-C449-4F3D-BDAC-8FC5EF7AFB07}"/>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endParaRPr/>
          </a:p>
        </p:txBody>
      </p:sp>
      <p:sp>
        <p:nvSpPr>
          <p:cNvPr id="11" name="code-line-4">
            <a:extLst>
              <a:ext uri="{FF2B5EF4-FFF2-40B4-BE49-F238E27FC236}">
                <a16:creationId xmlns:a16="http://schemas.microsoft.com/office/drawing/2014/main" id="{7BD4B422-FD61-46D2-903B-960C8A311658}"/>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def</a:t>
            </a:r>
            <a:r>
              <a:rPr sz="1725" b="0">
                <a:solidFill>
                  <a:srgbClr val="FFFFFF"/>
                </a:solidFill>
                <a:latin typeface="Menlo"/>
                <a:ea typeface="Menlo"/>
                <a:cs typeface="Menlo"/>
              </a:rPr>
              <a:t> __call__(self, request):</a:t>
            </a:r>
          </a:p>
        </p:txBody>
      </p:sp>
      <p:sp>
        <p:nvSpPr>
          <p:cNvPr id="12" name="code-line-5">
            <a:extLst>
              <a:ext uri="{FF2B5EF4-FFF2-40B4-BE49-F238E27FC236}">
                <a16:creationId xmlns:a16="http://schemas.microsoft.com/office/drawing/2014/main" id="{C095521F-BF2E-42E6-86BD-976B63EA5A60}"/>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response = self.get_response(request)</a:t>
            </a:r>
          </a:p>
        </p:txBody>
      </p:sp>
      <p:sp>
        <p:nvSpPr>
          <p:cNvPr id="13" name="code-line-6">
            <a:extLst>
              <a:ext uri="{FF2B5EF4-FFF2-40B4-BE49-F238E27FC236}">
                <a16:creationId xmlns:a16="http://schemas.microsoft.com/office/drawing/2014/main" id="{8969917B-1BFB-42F0-9166-80645665C406}"/>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response["X-Training-App"] = "PocketDesk"</a:t>
            </a:r>
          </a:p>
        </p:txBody>
      </p:sp>
      <p:sp>
        <p:nvSpPr>
          <p:cNvPr id="14" name="code-line-7">
            <a:extLst>
              <a:ext uri="{FF2B5EF4-FFF2-40B4-BE49-F238E27FC236}">
                <a16:creationId xmlns:a16="http://schemas.microsoft.com/office/drawing/2014/main" id="{2B8D7763-A6EC-4D8B-A424-084ACFBFE0DE}"/>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return</a:t>
            </a:r>
            <a:r>
              <a:rPr sz="1725" b="0">
                <a:solidFill>
                  <a:srgbClr val="FFFFFF"/>
                </a:solidFill>
                <a:latin typeface="Menlo"/>
                <a:ea typeface="Menlo"/>
                <a:cs typeface="Menlo"/>
              </a:rPr>
              <a:t> response</a:t>
            </a:r>
          </a:p>
        </p:txBody>
      </p:sp>
      <p:sp>
        <p:nvSpPr>
          <p:cNvPr id="15" name="code-line-8">
            <a:extLst>
              <a:ext uri="{FF2B5EF4-FFF2-40B4-BE49-F238E27FC236}">
                <a16:creationId xmlns:a16="http://schemas.microsoft.com/office/drawing/2014/main" id="{D4B9B430-0BF4-4512-BE74-3D504B2D8CBB}"/>
              </a:ext>
            </a:extLst>
          </p:cNvPr>
          <p:cNvSpPr>
            <a:spLocks noGrp="1"/>
          </p:cNvSpPr>
          <p:nvPr/>
        </p:nvSpPr>
        <p:spPr>
          <a:xfrm>
            <a:off x="914400" y="5591175"/>
            <a:ext cx="7639050" cy="361950"/>
          </a:xfrm>
          <a:prstGeom prst="rect">
            <a:avLst/>
          </a:prstGeom>
          <a:noFill/>
          <a:ln w="0">
            <a:noFill/>
          </a:ln>
        </p:spPr>
        <p:txBody>
          <a:bodyPr wrap="none" lIns="0" tIns="0" rIns="0" bIns="0" anchor="t">
            <a:noAutofit/>
          </a:bodyPr>
          <a:lstStyle/>
          <a:p>
            <a:endParaRPr/>
          </a:p>
        </p:txBody>
      </p:sp>
      <p:sp>
        <p:nvSpPr>
          <p:cNvPr id="16" name="code-line-9">
            <a:extLst>
              <a:ext uri="{FF2B5EF4-FFF2-40B4-BE49-F238E27FC236}">
                <a16:creationId xmlns:a16="http://schemas.microsoft.com/office/drawing/2014/main" id="{647C54A3-873C-491F-B1C8-80C76A250F9B}"/>
              </a:ext>
            </a:extLst>
          </p:cNvPr>
          <p:cNvSpPr>
            <a:spLocks noGrp="1"/>
          </p:cNvSpPr>
          <p:nvPr/>
        </p:nvSpPr>
        <p:spPr>
          <a:xfrm>
            <a:off x="914400" y="5924550"/>
            <a:ext cx="7639050" cy="361950"/>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Append to MIDDLEWARE in config/settings.py</a:t>
            </a:r>
          </a:p>
        </p:txBody>
      </p:sp>
      <p:sp>
        <p:nvSpPr>
          <p:cNvPr id="17" name="code-line-10">
            <a:extLst>
              <a:ext uri="{FF2B5EF4-FFF2-40B4-BE49-F238E27FC236}">
                <a16:creationId xmlns:a16="http://schemas.microsoft.com/office/drawing/2014/main" id="{7DCF8132-1E74-4C08-9B20-60B23B486C01}"/>
              </a:ext>
            </a:extLst>
          </p:cNvPr>
          <p:cNvSpPr>
            <a:spLocks noGrp="1"/>
          </p:cNvSpPr>
          <p:nvPr/>
        </p:nvSpPr>
        <p:spPr>
          <a:xfrm>
            <a:off x="914400" y="6257925"/>
            <a:ext cx="7639050" cy="361950"/>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"tasks.middleware.TrainingHeaderMiddleware",</a:t>
            </a:r>
          </a:p>
        </p:txBody>
      </p:sp>
      <p:sp>
        <p:nvSpPr>
          <p:cNvPr id="18" name="reveal-1-output-1">
            <a:extLst>
              <a:ext uri="{FF2B5EF4-FFF2-40B4-BE49-F238E27FC236}">
                <a16:creationId xmlns:a16="http://schemas.microsoft.com/office/drawing/2014/main" id="{B74CE860-6661-48D6-873C-9627AAAAD8CB}"/>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Response header</a:t>
            </a:r>
          </a:p>
        </p:txBody>
      </p:sp>
      <p:sp>
        <p:nvSpPr>
          <p:cNvPr id="19" name="reveal-1-output-2">
            <a:extLst>
              <a:ext uri="{FF2B5EF4-FFF2-40B4-BE49-F238E27FC236}">
                <a16:creationId xmlns:a16="http://schemas.microsoft.com/office/drawing/2014/main" id="{6FD18999-E502-43AA-8A63-C53AEC4E13AC}"/>
              </a:ext>
            </a:extLst>
          </p:cNvPr>
          <p:cNvSpPr>
            <a:spLocks noGrp="1"/>
          </p:cNvSpPr>
          <p:nvPr/>
        </p:nvSpPr>
        <p:spPr>
          <a:xfrm>
            <a:off x="9239250" y="2952750"/>
            <a:ext cx="5295900" cy="3810000"/>
          </a:xfrm>
          <a:prstGeom prst="rect">
            <a:avLst/>
          </a:prstGeom>
          <a:solidFill>
            <a:srgbClr val="ECEFF7"/>
          </a:solidFill>
          <a:ln w="0">
            <a:noFill/>
          </a:ln>
        </p:spPr>
      </p:sp>
      <p:sp>
        <p:nvSpPr>
          <p:cNvPr id="20" name="reveal-1-output-3">
            <a:extLst>
              <a:ext uri="{FF2B5EF4-FFF2-40B4-BE49-F238E27FC236}">
                <a16:creationId xmlns:a16="http://schemas.microsoft.com/office/drawing/2014/main" id="{FA4D1096-5371-4EC7-91CB-7D2A907E8246}"/>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650" b="0">
                <a:solidFill>
                  <a:srgbClr val="242C35"/>
                </a:solidFill>
                <a:latin typeface="Menlo"/>
                <a:ea typeface="Menlo"/>
                <a:cs typeface="Menlo"/>
              </a:defRPr>
            </a:pPr>
            <a:r>
              <a:rPr sz="1650" b="0">
                <a:solidFill>
                  <a:srgbClr val="242C35"/>
                </a:solidFill>
                <a:latin typeface="Menlo"/>
                <a:ea typeface="Menlo"/>
                <a:cs typeface="Menlo"/>
              </a:rPr>
              <a:t>X-Training-App: PocketDesk</a:t>
            </a:r>
          </a:p>
        </p:txBody>
      </p:sp>
      <p:sp>
        <p:nvSpPr>
          <p:cNvPr id="21" name="fade-1-takeaway">
            <a:extLst>
              <a:ext uri="{FF2B5EF4-FFF2-40B4-BE49-F238E27FC236}">
                <a16:creationId xmlns:a16="http://schemas.microsoft.com/office/drawing/2014/main" id="{3C861476-E766-4A27-8ECE-62540F6411AF}"/>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Inspect the header in browser developer tools.</a:t>
            </a:r>
          </a:p>
        </p:txBody>
      </p:sp>
    </p:spTree>
    <p:extLst>
      <p:ext uri="{BB962C8B-B14F-4D97-AF65-F5344CB8AC3E}">
        <p14:creationId xmlns:p14="http://schemas.microsoft.com/office/powerpoint/2010/main" val="8699277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350" fill="hold">
                                          <p:stCondLst>
                                            <p:cond delay="0"/>
                                          </p:stCondLst>
                                        </p:cTn>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1" name="text-314">
            <a:extLst>
              <a:ext uri="{FF2B5EF4-FFF2-40B4-BE49-F238E27FC236}">
                <a16:creationId xmlns:a16="http://schemas.microsoft.com/office/drawing/2014/main" id="{089023CE-FC01-4DB5-8128-26EC65CF66C5}"/>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04 / Identity and security</a:t>
            </a:r>
          </a:p>
        </p:txBody>
      </p:sp>
      <p:sp>
        <p:nvSpPr>
          <p:cNvPr id="2" name="text-315">
            <a:extLst>
              <a:ext uri="{FF2B5EF4-FFF2-40B4-BE49-F238E27FC236}">
                <a16:creationId xmlns:a16="http://schemas.microsoft.com/office/drawing/2014/main" id="{DF29CD8B-CA9E-4E32-85F3-98F85A7B5FDE}"/>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A test protects the ownership rule</a:t>
            </a:r>
          </a:p>
        </p:txBody>
      </p:sp>
      <p:sp>
        <p:nvSpPr>
          <p:cNvPr id="3" name="text-316">
            <a:extLst>
              <a:ext uri="{FF2B5EF4-FFF2-40B4-BE49-F238E27FC236}">
                <a16:creationId xmlns:a16="http://schemas.microsoft.com/office/drawing/2014/main" id="{6D9D4D40-1042-4273-BD92-009A89670195}"/>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317">
            <a:extLst>
              <a:ext uri="{FF2B5EF4-FFF2-40B4-BE49-F238E27FC236}">
                <a16:creationId xmlns:a16="http://schemas.microsoft.com/office/drawing/2014/main" id="{52966BAF-84EB-412A-AC4B-02D61E5FE383}"/>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41</a:t>
            </a:r>
          </a:p>
        </p:txBody>
      </p:sp>
      <p:sp>
        <p:nvSpPr>
          <p:cNvPr id="5" name="text-318">
            <a:extLst>
              <a:ext uri="{FF2B5EF4-FFF2-40B4-BE49-F238E27FC236}">
                <a16:creationId xmlns:a16="http://schemas.microsoft.com/office/drawing/2014/main" id="{CF28B474-5C12-47CB-B130-63324B255DAD}"/>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tasks/tests.py, test method excerpt</a:t>
            </a:r>
          </a:p>
        </p:txBody>
      </p:sp>
      <p:sp>
        <p:nvSpPr>
          <p:cNvPr id="6" name="code-panel-319">
            <a:extLst>
              <a:ext uri="{FF2B5EF4-FFF2-40B4-BE49-F238E27FC236}">
                <a16:creationId xmlns:a16="http://schemas.microsoft.com/office/drawing/2014/main" id="{6B891A3E-76DC-4244-BF87-28E7FDE939C9}"/>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7B19F1AB-F761-4A6C-A76E-D4A9E7F34B15}"/>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def</a:t>
            </a:r>
            <a:r>
              <a:rPr sz="1725" b="0">
                <a:solidFill>
                  <a:srgbClr val="FFFFFF"/>
                </a:solidFill>
                <a:latin typeface="Menlo"/>
                <a:ea typeface="Menlo"/>
                <a:cs typeface="Menlo"/>
              </a:rPr>
              <a:t> test_other_owner_cannot_edit(self):</a:t>
            </a:r>
          </a:p>
        </p:txBody>
      </p:sp>
      <p:sp>
        <p:nvSpPr>
          <p:cNvPr id="8" name="code-line-1">
            <a:extLst>
              <a:ext uri="{FF2B5EF4-FFF2-40B4-BE49-F238E27FC236}">
                <a16:creationId xmlns:a16="http://schemas.microsoft.com/office/drawing/2014/main" id="{6D602BC8-656A-4E41-9C60-2BF3507F4B0A}"/>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other = User.objects.create_user("bob")</a:t>
            </a:r>
          </a:p>
        </p:txBody>
      </p:sp>
      <p:sp>
        <p:nvSpPr>
          <p:cNvPr id="9" name="code-line-2">
            <a:extLst>
              <a:ext uri="{FF2B5EF4-FFF2-40B4-BE49-F238E27FC236}">
                <a16:creationId xmlns:a16="http://schemas.microsoft.com/office/drawing/2014/main" id="{2B85118A-B52F-41EC-95B5-FF19B69DCB3F}"/>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task = Task.objects.create(</a:t>
            </a:r>
          </a:p>
        </p:txBody>
      </p:sp>
      <p:sp>
        <p:nvSpPr>
          <p:cNvPr id="10" name="code-line-3">
            <a:extLst>
              <a:ext uri="{FF2B5EF4-FFF2-40B4-BE49-F238E27FC236}">
                <a16:creationId xmlns:a16="http://schemas.microsoft.com/office/drawing/2014/main" id="{A7CA2376-E4A3-460B-A46F-FCF65B347D72}"/>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title="Prepare Django demo", owner=other,</a:t>
            </a:r>
          </a:p>
        </p:txBody>
      </p:sp>
      <p:sp>
        <p:nvSpPr>
          <p:cNvPr id="11" name="code-line-4">
            <a:extLst>
              <a:ext uri="{FF2B5EF4-FFF2-40B4-BE49-F238E27FC236}">
                <a16:creationId xmlns:a16="http://schemas.microsoft.com/office/drawing/2014/main" id="{2EBC8702-26C8-4FD0-9D3A-67F7F803F0EB}"/>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p>
        </p:txBody>
      </p:sp>
      <p:sp>
        <p:nvSpPr>
          <p:cNvPr id="12" name="code-line-5">
            <a:extLst>
              <a:ext uri="{FF2B5EF4-FFF2-40B4-BE49-F238E27FC236}">
                <a16:creationId xmlns:a16="http://schemas.microsoft.com/office/drawing/2014/main" id="{40C125ED-C99D-4E79-A240-37CD2F438276}"/>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self.client.force_login(self.user)</a:t>
            </a:r>
          </a:p>
        </p:txBody>
      </p:sp>
      <p:sp>
        <p:nvSpPr>
          <p:cNvPr id="13" name="code-line-6">
            <a:extLst>
              <a:ext uri="{FF2B5EF4-FFF2-40B4-BE49-F238E27FC236}">
                <a16:creationId xmlns:a16="http://schemas.microsoft.com/office/drawing/2014/main" id="{BCE2410C-88FE-4F52-A331-2E0220B4EEE2}"/>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response = self.client.get(reverse(</a:t>
            </a:r>
          </a:p>
        </p:txBody>
      </p:sp>
      <p:sp>
        <p:nvSpPr>
          <p:cNvPr id="14" name="code-line-7">
            <a:extLst>
              <a:ext uri="{FF2B5EF4-FFF2-40B4-BE49-F238E27FC236}">
                <a16:creationId xmlns:a16="http://schemas.microsoft.com/office/drawing/2014/main" id="{49F4B904-9EF9-4B41-B004-9B6B0E6F70DA}"/>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"tasks:edit", args=[task.pk]</a:t>
            </a:r>
          </a:p>
        </p:txBody>
      </p:sp>
      <p:sp>
        <p:nvSpPr>
          <p:cNvPr id="15" name="code-line-8">
            <a:extLst>
              <a:ext uri="{FF2B5EF4-FFF2-40B4-BE49-F238E27FC236}">
                <a16:creationId xmlns:a16="http://schemas.microsoft.com/office/drawing/2014/main" id="{CF1DAA54-8F24-4570-AE40-D51E1EC29523}"/>
              </a:ext>
            </a:extLst>
          </p:cNvPr>
          <p:cNvSpPr>
            <a:spLocks noGrp="1"/>
          </p:cNvSpPr>
          <p:nvPr/>
        </p:nvSpPr>
        <p:spPr>
          <a:xfrm>
            <a:off x="914400" y="5591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p>
        </p:txBody>
      </p:sp>
      <p:sp>
        <p:nvSpPr>
          <p:cNvPr id="16" name="code-line-9">
            <a:extLst>
              <a:ext uri="{FF2B5EF4-FFF2-40B4-BE49-F238E27FC236}">
                <a16:creationId xmlns:a16="http://schemas.microsoft.com/office/drawing/2014/main" id="{FF3B87D8-B421-4010-9D7F-A61D1D6C7355}"/>
              </a:ext>
            </a:extLst>
          </p:cNvPr>
          <p:cNvSpPr>
            <a:spLocks noGrp="1"/>
          </p:cNvSpPr>
          <p:nvPr/>
        </p:nvSpPr>
        <p:spPr>
          <a:xfrm>
            <a:off x="914400" y="5924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self.assertEqual(response.status_code, 404)</a:t>
            </a:r>
          </a:p>
        </p:txBody>
      </p:sp>
      <p:sp>
        <p:nvSpPr>
          <p:cNvPr id="17" name="reveal-1-output-1">
            <a:extLst>
              <a:ext uri="{FF2B5EF4-FFF2-40B4-BE49-F238E27FC236}">
                <a16:creationId xmlns:a16="http://schemas.microsoft.com/office/drawing/2014/main" id="{EBFB7C8E-01CD-45F1-8C9F-FBF8BD2ECC92}"/>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python manage.py test</a:t>
            </a:r>
          </a:p>
        </p:txBody>
      </p:sp>
      <p:sp>
        <p:nvSpPr>
          <p:cNvPr id="18" name="reveal-1-output-2">
            <a:extLst>
              <a:ext uri="{FF2B5EF4-FFF2-40B4-BE49-F238E27FC236}">
                <a16:creationId xmlns:a16="http://schemas.microsoft.com/office/drawing/2014/main" id="{E1238A69-CD63-4B5F-B86A-89EE53550927}"/>
              </a:ext>
            </a:extLst>
          </p:cNvPr>
          <p:cNvSpPr>
            <a:spLocks noGrp="1"/>
          </p:cNvSpPr>
          <p:nvPr/>
        </p:nvSpPr>
        <p:spPr>
          <a:xfrm>
            <a:off x="9239250" y="2952750"/>
            <a:ext cx="5295900" cy="3810000"/>
          </a:xfrm>
          <a:prstGeom prst="rect">
            <a:avLst/>
          </a:prstGeom>
          <a:solidFill>
            <a:srgbClr val="ECEFF7"/>
          </a:solidFill>
          <a:ln w="0">
            <a:noFill/>
          </a:ln>
        </p:spPr>
      </p:sp>
      <p:sp>
        <p:nvSpPr>
          <p:cNvPr id="19" name="reveal-1-output-3">
            <a:extLst>
              <a:ext uri="{FF2B5EF4-FFF2-40B4-BE49-F238E27FC236}">
                <a16:creationId xmlns:a16="http://schemas.microsoft.com/office/drawing/2014/main" id="{8A3035E1-4A26-4CAA-B2C5-47635988AE6D}"/>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650" b="0">
                <a:solidFill>
                  <a:srgbClr val="242C35"/>
                </a:solidFill>
                <a:latin typeface="Menlo"/>
                <a:ea typeface="Menlo"/>
                <a:cs typeface="Menlo"/>
              </a:defRPr>
            </a:pPr>
            <a:r>
              <a:rPr sz="1650" b="0">
                <a:solidFill>
                  <a:srgbClr val="242C35"/>
                </a:solidFill>
                <a:latin typeface="Menlo"/>
                <a:ea typeface="Menlo"/>
                <a:cs typeface="Menlo"/>
              </a:rPr>
              <a:t>Ran 1 test</a:t>
            </a:r>
          </a:p>
          <a:p>
            <a:pPr algn="l">
              <a:defRPr sz="1650" b="0">
                <a:solidFill>
                  <a:srgbClr val="242C35"/>
                </a:solidFill>
                <a:latin typeface="Menlo"/>
                <a:ea typeface="Menlo"/>
                <a:cs typeface="Menlo"/>
              </a:defRPr>
            </a:pPr>
            <a:r>
              <a:rPr sz="1650" b="0">
                <a:solidFill>
                  <a:srgbClr val="242C35"/>
                </a:solidFill>
                <a:latin typeface="Menlo"/>
                <a:ea typeface="Menlo"/>
                <a:cs typeface="Menlo"/>
              </a:rPr>
              <a:t>OK</a:t>
            </a:r>
          </a:p>
        </p:txBody>
      </p:sp>
      <p:sp>
        <p:nvSpPr>
          <p:cNvPr id="20" name="fade-1-takeaway">
            <a:extLst>
              <a:ext uri="{FF2B5EF4-FFF2-40B4-BE49-F238E27FC236}">
                <a16:creationId xmlns:a16="http://schemas.microsoft.com/office/drawing/2014/main" id="{18984CC4-E015-4215-A966-4B5B9B722C12}"/>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A signed-in user cannot edit someone else’s task.</a:t>
            </a:r>
          </a:p>
        </p:txBody>
      </p:sp>
    </p:spTree>
    <p:extLst>
      <p:ext uri="{BB962C8B-B14F-4D97-AF65-F5344CB8AC3E}">
        <p14:creationId xmlns:p14="http://schemas.microsoft.com/office/powerpoint/2010/main" val="1259294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350" fill="hold">
                                          <p:stCondLst>
                                            <p:cond delay="0"/>
                                          </p:stCondLst>
                                        </p:cTn>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242C35"/>
        </a:solidFill>
        <a:effectLst/>
      </p:bgPr>
    </p:bg>
    <p:spTree>
      <p:nvGrpSpPr>
        <p:cNvPr id="1" name=""/>
        <p:cNvGrpSpPr/>
        <p:nvPr/>
      </p:nvGrpSpPr>
      <p:grpSpPr>
        <a:xfrm>
          <a:off x="0" y="0"/>
          <a:ext cx="0" cy="0"/>
          <a:chOff x="0" y="0"/>
          <a:chExt cx="0" cy="0"/>
        </a:xfrm>
      </p:grpSpPr>
      <p:sp>
        <p:nvSpPr>
          <p:cNvPr id="11" name="text-323">
            <a:extLst>
              <a:ext uri="{FF2B5EF4-FFF2-40B4-BE49-F238E27FC236}">
                <a16:creationId xmlns:a16="http://schemas.microsoft.com/office/drawing/2014/main" id="{C5431D07-0228-4BAE-8EAB-793286EADBDC}"/>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CDD4DD"/>
                </a:solidFill>
                <a:latin typeface="Helvetica Neue"/>
                <a:ea typeface="Helvetica Neue"/>
                <a:cs typeface="Helvetica Neue"/>
              </a:defRPr>
            </a:pPr>
            <a:r>
              <a:rPr sz="1500" b="0">
                <a:solidFill>
                  <a:srgbClr val="CDD4DD"/>
                </a:solidFill>
                <a:latin typeface="Helvetica Neue"/>
                <a:ea typeface="Helvetica Neue"/>
                <a:cs typeface="Helvetica Neue"/>
              </a:rPr>
              <a:t>04 / Identity and security</a:t>
            </a:r>
          </a:p>
        </p:txBody>
      </p:sp>
      <p:sp>
        <p:nvSpPr>
          <p:cNvPr id="2" name="text-324">
            <a:extLst>
              <a:ext uri="{FF2B5EF4-FFF2-40B4-BE49-F238E27FC236}">
                <a16:creationId xmlns:a16="http://schemas.microsoft.com/office/drawing/2014/main" id="{AF89F72A-8D59-4495-BDD8-2DE00C29D64F}"/>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F8F5EF"/>
                </a:solidFill>
                <a:latin typeface="Georgia"/>
                <a:ea typeface="Georgia"/>
                <a:cs typeface="Georgia"/>
              </a:defRPr>
            </a:pPr>
            <a:r>
              <a:rPr sz="3525" b="0">
                <a:solidFill>
                  <a:srgbClr val="F8F5EF"/>
                </a:solidFill>
                <a:latin typeface="Georgia"/>
                <a:ea typeface="Georgia"/>
                <a:cs typeface="Georgia"/>
              </a:rPr>
              <a:t>Lab: two accounts, two task lists</a:t>
            </a:r>
          </a:p>
        </p:txBody>
      </p:sp>
      <p:sp>
        <p:nvSpPr>
          <p:cNvPr id="3" name="text-325">
            <a:extLst>
              <a:ext uri="{FF2B5EF4-FFF2-40B4-BE49-F238E27FC236}">
                <a16:creationId xmlns:a16="http://schemas.microsoft.com/office/drawing/2014/main" id="{48EB9710-F4E2-4C91-BDE2-7E7E66F0B08E}"/>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BAC3CF"/>
                </a:solidFill>
                <a:latin typeface="Helvetica Neue"/>
                <a:ea typeface="Helvetica Neue"/>
                <a:cs typeface="Helvetica Neue"/>
              </a:defRPr>
            </a:pPr>
            <a:r>
              <a:rPr sz="1125" b="0">
                <a:solidFill>
                  <a:srgbClr val="BAC3CF"/>
                </a:solidFill>
                <a:latin typeface="Helvetica Neue"/>
                <a:ea typeface="Helvetica Neue"/>
                <a:cs typeface="Helvetica Neue"/>
              </a:rPr>
              <a:t>BHAVYA SHAH / DJANGO WORKSHOP</a:t>
            </a:r>
          </a:p>
        </p:txBody>
      </p:sp>
      <p:sp>
        <p:nvSpPr>
          <p:cNvPr id="4" name="text-326">
            <a:extLst>
              <a:ext uri="{FF2B5EF4-FFF2-40B4-BE49-F238E27FC236}">
                <a16:creationId xmlns:a16="http://schemas.microsoft.com/office/drawing/2014/main" id="{DF0D8B3B-DC42-457B-A6BC-156777FA8516}"/>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BAC3CF"/>
                </a:solidFill>
                <a:latin typeface="Helvetica Neue"/>
                <a:ea typeface="Helvetica Neue"/>
                <a:cs typeface="Helvetica Neue"/>
              </a:defRPr>
            </a:pPr>
            <a:r>
              <a:rPr sz="1575" b="0">
                <a:solidFill>
                  <a:srgbClr val="BAC3CF"/>
                </a:solidFill>
                <a:latin typeface="Helvetica Neue"/>
                <a:ea typeface="Helvetica Neue"/>
                <a:cs typeface="Helvetica Neue"/>
              </a:rPr>
              <a:t>42</a:t>
            </a:r>
          </a:p>
        </p:txBody>
      </p:sp>
      <p:sp>
        <p:nvSpPr>
          <p:cNvPr id="5" name="text-327">
            <a:extLst>
              <a:ext uri="{FF2B5EF4-FFF2-40B4-BE49-F238E27FC236}">
                <a16:creationId xmlns:a16="http://schemas.microsoft.com/office/drawing/2014/main" id="{B59CB49C-D96A-4ADF-BDFA-D7751F18D27D}"/>
              </a:ext>
            </a:extLst>
          </p:cNvPr>
          <p:cNvSpPr>
            <a:spLocks noGrp="1"/>
          </p:cNvSpPr>
          <p:nvPr/>
        </p:nvSpPr>
        <p:spPr>
          <a:xfrm>
            <a:off x="685800" y="2228850"/>
            <a:ext cx="13573125" cy="1123950"/>
          </a:xfrm>
          <a:prstGeom prst="rect">
            <a:avLst/>
          </a:prstGeom>
          <a:noFill/>
          <a:ln w="0">
            <a:noFill/>
          </a:ln>
        </p:spPr>
        <p:txBody>
          <a:bodyPr wrap="none" lIns="0" tIns="0" rIns="0" bIns="0" anchor="t">
            <a:noAutofit/>
          </a:bodyPr>
          <a:lstStyle/>
          <a:p>
            <a:pPr algn="l">
              <a:defRPr sz="2850" b="0">
                <a:solidFill>
                  <a:srgbClr val="F8F5EF"/>
                </a:solidFill>
                <a:latin typeface="Georgia"/>
                <a:ea typeface="Georgia"/>
                <a:cs typeface="Georgia"/>
              </a:defRPr>
            </a:pPr>
            <a:r>
              <a:rPr sz="2850" b="0">
                <a:solidFill>
                  <a:srgbClr val="F8F5EF"/>
                </a:solidFill>
                <a:latin typeface="Georgia"/>
                <a:ea typeface="Georgia"/>
                <a:cs typeface="Georgia"/>
              </a:rPr>
              <a:t>Can Bob see or change a task that Asha created?</a:t>
            </a:r>
          </a:p>
        </p:txBody>
      </p:sp>
      <p:sp>
        <p:nvSpPr>
          <p:cNvPr id="6" name="reveal-1-number">
            <a:extLst>
              <a:ext uri="{FF2B5EF4-FFF2-40B4-BE49-F238E27FC236}">
                <a16:creationId xmlns:a16="http://schemas.microsoft.com/office/drawing/2014/main" id="{176FBB78-E963-49D7-B274-7D85B4BB3622}"/>
              </a:ext>
            </a:extLst>
          </p:cNvPr>
          <p:cNvSpPr>
            <a:spLocks noGrp="1"/>
          </p:cNvSpPr>
          <p:nvPr/>
        </p:nvSpPr>
        <p:spPr>
          <a:xfrm>
            <a:off x="685800" y="3876675"/>
            <a:ext cx="714375" cy="581025"/>
          </a:xfrm>
          <a:prstGeom prst="rect">
            <a:avLst/>
          </a:prstGeom>
          <a:noFill/>
          <a:ln w="0">
            <a:noFill/>
          </a:ln>
        </p:spPr>
        <p:txBody>
          <a:bodyPr wrap="none" lIns="0" tIns="0" rIns="0" bIns="0" anchor="t">
            <a:noAutofit/>
          </a:bodyPr>
          <a:lstStyle/>
          <a:p>
            <a:pPr algn="l">
              <a:defRPr sz="3075" b="0">
                <a:solidFill>
                  <a:srgbClr val="ED9D7C"/>
                </a:solidFill>
                <a:latin typeface="Georgia"/>
                <a:ea typeface="Georgia"/>
                <a:cs typeface="Georgia"/>
              </a:defRPr>
            </a:pPr>
            <a:r>
              <a:rPr sz="3075" b="0">
                <a:solidFill>
                  <a:srgbClr val="ED9D7C"/>
                </a:solidFill>
                <a:latin typeface="Georgia"/>
                <a:ea typeface="Georgia"/>
                <a:cs typeface="Georgia"/>
              </a:rPr>
              <a:t>1</a:t>
            </a:r>
          </a:p>
        </p:txBody>
      </p:sp>
      <p:sp>
        <p:nvSpPr>
          <p:cNvPr id="7" name="reveal-1-task">
            <a:extLst>
              <a:ext uri="{FF2B5EF4-FFF2-40B4-BE49-F238E27FC236}">
                <a16:creationId xmlns:a16="http://schemas.microsoft.com/office/drawing/2014/main" id="{3D75D6D3-87FF-4B53-B401-ADEFF388272F}"/>
              </a:ext>
            </a:extLst>
          </p:cNvPr>
          <p:cNvSpPr>
            <a:spLocks noGrp="1"/>
          </p:cNvSpPr>
          <p:nvPr/>
        </p:nvSpPr>
        <p:spPr>
          <a:xfrm>
            <a:off x="1733550" y="3905250"/>
            <a:ext cx="12801600" cy="857250"/>
          </a:xfrm>
          <a:prstGeom prst="rect">
            <a:avLst/>
          </a:prstGeom>
          <a:noFill/>
          <a:ln w="0">
            <a:noFill/>
          </a:ln>
        </p:spPr>
        <p:txBody>
          <a:bodyPr wrap="none" lIns="0" tIns="0" rIns="0" bIns="0" anchor="t">
            <a:noAutofit/>
          </a:bodyPr>
          <a:lstStyle/>
          <a:p>
            <a:pPr algn="l">
              <a:defRPr sz="2325" b="0">
                <a:solidFill>
                  <a:srgbClr val="F8F5EF"/>
                </a:solidFill>
                <a:latin typeface="Helvetica Neue"/>
                <a:ea typeface="Helvetica Neue"/>
                <a:cs typeface="Helvetica Neue"/>
              </a:defRPr>
            </a:pPr>
            <a:r>
              <a:rPr sz="2325" b="0">
                <a:solidFill>
                  <a:srgbClr val="F8F5EF"/>
                </a:solidFill>
                <a:latin typeface="Helvetica Neue"/>
                <a:ea typeface="Helvetica Neue"/>
                <a:cs typeface="Helvetica Neue"/>
              </a:rPr>
              <a:t>Create one task per account and test each list.</a:t>
            </a:r>
          </a:p>
        </p:txBody>
      </p:sp>
      <p:sp>
        <p:nvSpPr>
          <p:cNvPr id="8" name="reveal-2-number">
            <a:extLst>
              <a:ext uri="{FF2B5EF4-FFF2-40B4-BE49-F238E27FC236}">
                <a16:creationId xmlns:a16="http://schemas.microsoft.com/office/drawing/2014/main" id="{D516A83F-C7AD-429D-A839-0025EB3B6443}"/>
              </a:ext>
            </a:extLst>
          </p:cNvPr>
          <p:cNvSpPr>
            <a:spLocks noGrp="1"/>
          </p:cNvSpPr>
          <p:nvPr/>
        </p:nvSpPr>
        <p:spPr>
          <a:xfrm>
            <a:off x="685800" y="4838700"/>
            <a:ext cx="714375" cy="581025"/>
          </a:xfrm>
          <a:prstGeom prst="rect">
            <a:avLst/>
          </a:prstGeom>
          <a:noFill/>
          <a:ln w="0">
            <a:noFill/>
          </a:ln>
        </p:spPr>
        <p:txBody>
          <a:bodyPr wrap="none" lIns="0" tIns="0" rIns="0" bIns="0" anchor="t">
            <a:noAutofit/>
          </a:bodyPr>
          <a:lstStyle/>
          <a:p>
            <a:pPr algn="l">
              <a:defRPr sz="3075" b="0">
                <a:solidFill>
                  <a:srgbClr val="ED9D7C"/>
                </a:solidFill>
                <a:latin typeface="Georgia"/>
                <a:ea typeface="Georgia"/>
                <a:cs typeface="Georgia"/>
              </a:defRPr>
            </a:pPr>
            <a:r>
              <a:rPr sz="3075" b="0">
                <a:solidFill>
                  <a:srgbClr val="ED9D7C"/>
                </a:solidFill>
                <a:latin typeface="Georgia"/>
                <a:ea typeface="Georgia"/>
                <a:cs typeface="Georgia"/>
              </a:rPr>
              <a:t>2</a:t>
            </a:r>
          </a:p>
        </p:txBody>
      </p:sp>
      <p:sp>
        <p:nvSpPr>
          <p:cNvPr id="9" name="reveal-2-task">
            <a:extLst>
              <a:ext uri="{FF2B5EF4-FFF2-40B4-BE49-F238E27FC236}">
                <a16:creationId xmlns:a16="http://schemas.microsoft.com/office/drawing/2014/main" id="{57FC35B4-FC22-4EF6-AC05-877E4EE78ACE}"/>
              </a:ext>
            </a:extLst>
          </p:cNvPr>
          <p:cNvSpPr>
            <a:spLocks noGrp="1"/>
          </p:cNvSpPr>
          <p:nvPr/>
        </p:nvSpPr>
        <p:spPr>
          <a:xfrm>
            <a:off x="1733550" y="4867275"/>
            <a:ext cx="12801600" cy="857250"/>
          </a:xfrm>
          <a:prstGeom prst="rect">
            <a:avLst/>
          </a:prstGeom>
          <a:noFill/>
          <a:ln w="0">
            <a:noFill/>
          </a:ln>
        </p:spPr>
        <p:txBody>
          <a:bodyPr wrap="none" lIns="0" tIns="0" rIns="0" bIns="0" anchor="t">
            <a:noAutofit/>
          </a:bodyPr>
          <a:lstStyle/>
          <a:p>
            <a:pPr algn="l">
              <a:defRPr sz="2325" b="0">
                <a:solidFill>
                  <a:srgbClr val="F8F5EF"/>
                </a:solidFill>
                <a:latin typeface="Helvetica Neue"/>
                <a:ea typeface="Helvetica Neue"/>
                <a:cs typeface="Helvetica Neue"/>
              </a:defRPr>
            </a:pPr>
            <a:r>
              <a:rPr sz="2325" b="0">
                <a:solidFill>
                  <a:srgbClr val="F8F5EF"/>
                </a:solidFill>
                <a:latin typeface="Helvetica Neue"/>
                <a:ea typeface="Helvetica Neue"/>
                <a:cs typeface="Helvetica Neue"/>
              </a:rPr>
              <a:t>Try the other task’s edit and delete URLs directly.</a:t>
            </a:r>
          </a:p>
        </p:txBody>
      </p:sp>
      <p:sp>
        <p:nvSpPr>
          <p:cNvPr id="10" name="reveal-4-result">
            <a:extLst>
              <a:ext uri="{FF2B5EF4-FFF2-40B4-BE49-F238E27FC236}">
                <a16:creationId xmlns:a16="http://schemas.microsoft.com/office/drawing/2014/main" id="{125A4579-6E11-4680-91BF-530271630FBA}"/>
              </a:ext>
            </a:extLst>
          </p:cNvPr>
          <p:cNvSpPr>
            <a:spLocks noGrp="1"/>
          </p:cNvSpPr>
          <p:nvPr/>
        </p:nvSpPr>
        <p:spPr>
          <a:xfrm>
            <a:off x="685800" y="7353300"/>
            <a:ext cx="13868400" cy="657225"/>
          </a:xfrm>
          <a:prstGeom prst="rect">
            <a:avLst/>
          </a:prstGeom>
          <a:noFill/>
          <a:ln w="0">
            <a:noFill/>
          </a:ln>
        </p:spPr>
        <p:txBody>
          <a:bodyPr wrap="none" lIns="0" tIns="0" rIns="0" bIns="0" anchor="t">
            <a:noAutofit/>
          </a:bodyPr>
          <a:lstStyle/>
          <a:p>
            <a:pPr algn="l">
              <a:defRPr sz="1950" b="0">
                <a:solidFill>
                  <a:srgbClr val="BED0FF"/>
                </a:solidFill>
                <a:latin typeface="Helvetica Neue"/>
                <a:ea typeface="Helvetica Neue"/>
                <a:cs typeface="Helvetica Neue"/>
              </a:defRPr>
            </a:pPr>
            <a:r>
              <a:rPr sz="1950" b="0">
                <a:solidFill>
                  <a:srgbClr val="BED0FF"/>
                </a:solidFill>
                <a:latin typeface="Helvetica Neue"/>
                <a:ea typeface="Helvetica Neue"/>
                <a:cs typeface="Helvetica Neue"/>
              </a:rPr>
              <a:t>Done when: rejected requests leave the data unchanged.</a:t>
            </a:r>
          </a:p>
        </p:txBody>
      </p:sp>
    </p:spTree>
    <p:extLst>
      <p:ext uri="{BB962C8B-B14F-4D97-AF65-F5344CB8AC3E}">
        <p14:creationId xmlns:p14="http://schemas.microsoft.com/office/powerpoint/2010/main" val="14937440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7" name="text-328">
            <a:extLst>
              <a:ext uri="{FF2B5EF4-FFF2-40B4-BE49-F238E27FC236}">
                <a16:creationId xmlns:a16="http://schemas.microsoft.com/office/drawing/2014/main" id="{B63FA891-CFD2-448C-9097-ADCC26B7C652}"/>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05 / REST APIs</a:t>
            </a:r>
          </a:p>
        </p:txBody>
      </p:sp>
      <p:sp>
        <p:nvSpPr>
          <p:cNvPr id="2" name="text-329">
            <a:extLst>
              <a:ext uri="{FF2B5EF4-FFF2-40B4-BE49-F238E27FC236}">
                <a16:creationId xmlns:a16="http://schemas.microsoft.com/office/drawing/2014/main" id="{97097DB2-DA3F-4F9B-B0EC-079D4652DAFC}"/>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HTTP methods for task records</a:t>
            </a:r>
          </a:p>
        </p:txBody>
      </p:sp>
      <p:sp>
        <p:nvSpPr>
          <p:cNvPr id="3" name="text-330">
            <a:extLst>
              <a:ext uri="{FF2B5EF4-FFF2-40B4-BE49-F238E27FC236}">
                <a16:creationId xmlns:a16="http://schemas.microsoft.com/office/drawing/2014/main" id="{A6BF3931-10F5-483F-AD8C-050F60E0108D}"/>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331">
            <a:extLst>
              <a:ext uri="{FF2B5EF4-FFF2-40B4-BE49-F238E27FC236}">
                <a16:creationId xmlns:a16="http://schemas.microsoft.com/office/drawing/2014/main" id="{D96F07F7-B4AD-4AC3-98FF-2BC1A805F357}"/>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43</a:t>
            </a:r>
          </a:p>
        </p:txBody>
      </p:sp>
      <p:graphicFrame>
        <p:nvGraphicFramePr>
          <p:cNvPr id="11" name="Table 10"/>
          <p:cNvGraphicFramePr/>
          <p:nvPr/>
        </p:nvGraphicFramePr>
        <p:xfrm>
          <a:off x="685800" y="2333625"/>
          <a:ext cx="13868400" cy="4572000"/>
        </p:xfrm>
        <a:graphic>
          <a:graphicData uri="http://schemas.openxmlformats.org/drawingml/2006/table">
            <a:tbl>
              <a:tblPr firstRow="1"/>
              <a:tblGrid>
                <a:gridCol w="295275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5581650">
                  <a:extLst>
                    <a:ext uri="{9D8B030D-6E8A-4147-A177-3AD203B41FA5}">
                      <a16:colId xmlns:a16="http://schemas.microsoft.com/office/drawing/2014/main" val="20002"/>
                    </a:ext>
                  </a:extLst>
                </a:gridCol>
              </a:tblGrid>
              <a:tr h="762000">
                <a:tc>
                  <a:txBody>
                    <a:bodyPr/>
                    <a:lstStyle/>
                    <a:p>
                      <a:r>
                        <a:rPr sz="2025" b="1">
                          <a:solidFill>
                            <a:srgbClr val="FFFFFF"/>
                          </a:solidFill>
                          <a:latin typeface="Helvetica Neue"/>
                          <a:ea typeface="Helvetica Neue"/>
                          <a:cs typeface="Helvetica Neue"/>
                        </a:rPr>
                        <a:t>Method</a:t>
                      </a:r>
                    </a:p>
                  </a:txBody>
                  <a:tcPr anchor="ctr">
                    <a:solidFill>
                      <a:srgbClr val="242C35"/>
                    </a:solidFill>
                  </a:tcPr>
                </a:tc>
                <a:tc>
                  <a:txBody>
                    <a:bodyPr/>
                    <a:lstStyle/>
                    <a:p>
                      <a:r>
                        <a:rPr sz="2025" b="1">
                          <a:solidFill>
                            <a:srgbClr val="FFFFFF"/>
                          </a:solidFill>
                          <a:latin typeface="Helvetica Neue"/>
                          <a:ea typeface="Helvetica Neue"/>
                          <a:cs typeface="Helvetica Neue"/>
                        </a:rPr>
                        <a:t>Endpoint</a:t>
                      </a:r>
                    </a:p>
                  </a:txBody>
                  <a:tcPr anchor="ctr">
                    <a:solidFill>
                      <a:srgbClr val="242C35"/>
                    </a:solidFill>
                  </a:tcPr>
                </a:tc>
                <a:tc>
                  <a:txBody>
                    <a:bodyPr/>
                    <a:lstStyle/>
                    <a:p>
                      <a:r>
                        <a:rPr sz="2025" b="1">
                          <a:solidFill>
                            <a:srgbClr val="FFFFFF"/>
                          </a:solidFill>
                          <a:latin typeface="Helvetica Neue"/>
                          <a:ea typeface="Helvetica Neue"/>
                          <a:cs typeface="Helvetica Neue"/>
                        </a:rPr>
                        <a:t>Success</a:t>
                      </a:r>
                    </a:p>
                  </a:txBody>
                  <a:tcPr anchor="ctr">
                    <a:solidFill>
                      <a:srgbClr val="242C35"/>
                    </a:solidFill>
                  </a:tcPr>
                </a:tc>
                <a:extLst>
                  <a:ext uri="{0D108BD9-81ED-4DB2-BD59-A6C34878D82A}">
                    <a16:rowId xmlns:a16="http://schemas.microsoft.com/office/drawing/2014/main" val="10000"/>
                  </a:ext>
                </a:extLst>
              </a:tr>
              <a:tr h="762000">
                <a:tc>
                  <a:txBody>
                    <a:bodyPr/>
                    <a:lstStyle/>
                    <a:p>
                      <a:r>
                        <a:rPr sz="2025" b="0">
                          <a:solidFill>
                            <a:srgbClr val="242C35"/>
                          </a:solidFill>
                          <a:latin typeface="Helvetica Neue"/>
                          <a:ea typeface="Helvetica Neue"/>
                          <a:cs typeface="Helvetica Neue"/>
                        </a:rPr>
                        <a:t>GET</a:t>
                      </a:r>
                    </a:p>
                  </a:txBody>
                  <a:tcPr anchor="ctr">
                    <a:solidFill>
                      <a:srgbClr val="FFFFFF"/>
                    </a:solidFill>
                  </a:tcPr>
                </a:tc>
                <a:tc>
                  <a:txBody>
                    <a:bodyPr/>
                    <a:lstStyle/>
                    <a:p>
                      <a:r>
                        <a:rPr sz="2025" b="0">
                          <a:solidFill>
                            <a:srgbClr val="242C35"/>
                          </a:solidFill>
                          <a:latin typeface="Helvetica Neue"/>
                          <a:ea typeface="Helvetica Neue"/>
                          <a:cs typeface="Helvetica Neue"/>
                        </a:rPr>
                        <a:t>/api/tasks/</a:t>
                      </a:r>
                    </a:p>
                  </a:txBody>
                  <a:tcPr anchor="ctr">
                    <a:solidFill>
                      <a:srgbClr val="FFFFFF"/>
                    </a:solidFill>
                  </a:tcPr>
                </a:tc>
                <a:tc>
                  <a:txBody>
                    <a:bodyPr/>
                    <a:lstStyle/>
                    <a:p>
                      <a:r>
                        <a:rPr sz="2025" b="0">
                          <a:solidFill>
                            <a:srgbClr val="242C35"/>
                          </a:solidFill>
                          <a:latin typeface="Helvetica Neue"/>
                          <a:ea typeface="Helvetica Neue"/>
                          <a:cs typeface="Helvetica Neue"/>
                        </a:rPr>
                        <a:t>200 and a collection</a:t>
                      </a:r>
                    </a:p>
                  </a:txBody>
                  <a:tcPr anchor="ctr">
                    <a:solidFill>
                      <a:srgbClr val="FFFFFF"/>
                    </a:solidFill>
                  </a:tcPr>
                </a:tc>
                <a:extLst>
                  <a:ext uri="{0D108BD9-81ED-4DB2-BD59-A6C34878D82A}">
                    <a16:rowId xmlns:a16="http://schemas.microsoft.com/office/drawing/2014/main" val="10001"/>
                  </a:ext>
                </a:extLst>
              </a:tr>
              <a:tr h="762000">
                <a:tc>
                  <a:txBody>
                    <a:bodyPr/>
                    <a:lstStyle/>
                    <a:p>
                      <a:r>
                        <a:rPr sz="2025" b="0">
                          <a:solidFill>
                            <a:srgbClr val="242C35"/>
                          </a:solidFill>
                          <a:latin typeface="Helvetica Neue"/>
                          <a:ea typeface="Helvetica Neue"/>
                          <a:cs typeface="Helvetica Neue"/>
                        </a:rPr>
                        <a:t>POST</a:t>
                      </a:r>
                    </a:p>
                  </a:txBody>
                  <a:tcPr anchor="ctr">
                    <a:solidFill>
                      <a:srgbClr val="F8F5EF"/>
                    </a:solidFill>
                  </a:tcPr>
                </a:tc>
                <a:tc>
                  <a:txBody>
                    <a:bodyPr/>
                    <a:lstStyle/>
                    <a:p>
                      <a:r>
                        <a:rPr sz="2025" b="0">
                          <a:solidFill>
                            <a:srgbClr val="242C35"/>
                          </a:solidFill>
                          <a:latin typeface="Helvetica Neue"/>
                          <a:ea typeface="Helvetica Neue"/>
                          <a:cs typeface="Helvetica Neue"/>
                        </a:rPr>
                        <a:t>/api/tasks/</a:t>
                      </a:r>
                    </a:p>
                  </a:txBody>
                  <a:tcPr anchor="ctr">
                    <a:solidFill>
                      <a:srgbClr val="F8F5EF"/>
                    </a:solidFill>
                  </a:tcPr>
                </a:tc>
                <a:tc>
                  <a:txBody>
                    <a:bodyPr/>
                    <a:lstStyle/>
                    <a:p>
                      <a:r>
                        <a:rPr sz="2025" b="0">
                          <a:solidFill>
                            <a:srgbClr val="242C35"/>
                          </a:solidFill>
                          <a:latin typeface="Helvetica Neue"/>
                          <a:ea typeface="Helvetica Neue"/>
                          <a:cs typeface="Helvetica Neue"/>
                        </a:rPr>
                        <a:t>201 and the new task</a:t>
                      </a:r>
                    </a:p>
                  </a:txBody>
                  <a:tcPr anchor="ctr">
                    <a:solidFill>
                      <a:srgbClr val="F8F5EF"/>
                    </a:solidFill>
                  </a:tcPr>
                </a:tc>
                <a:extLst>
                  <a:ext uri="{0D108BD9-81ED-4DB2-BD59-A6C34878D82A}">
                    <a16:rowId xmlns:a16="http://schemas.microsoft.com/office/drawing/2014/main" val="10002"/>
                  </a:ext>
                </a:extLst>
              </a:tr>
              <a:tr h="762000">
                <a:tc>
                  <a:txBody>
                    <a:bodyPr/>
                    <a:lstStyle/>
                    <a:p>
                      <a:r>
                        <a:rPr sz="2025" b="0">
                          <a:solidFill>
                            <a:srgbClr val="242C35"/>
                          </a:solidFill>
                          <a:latin typeface="Helvetica Neue"/>
                          <a:ea typeface="Helvetica Neue"/>
                          <a:cs typeface="Helvetica Neue"/>
                        </a:rPr>
                        <a:t>GET</a:t>
                      </a:r>
                    </a:p>
                  </a:txBody>
                  <a:tcPr anchor="ctr">
                    <a:solidFill>
                      <a:srgbClr val="FFFFFF"/>
                    </a:solidFill>
                  </a:tcPr>
                </a:tc>
                <a:tc>
                  <a:txBody>
                    <a:bodyPr/>
                    <a:lstStyle/>
                    <a:p>
                      <a:r>
                        <a:rPr sz="2025" b="0">
                          <a:solidFill>
                            <a:srgbClr val="242C35"/>
                          </a:solidFill>
                          <a:latin typeface="Helvetica Neue"/>
                          <a:ea typeface="Helvetica Neue"/>
                          <a:cs typeface="Helvetica Neue"/>
                        </a:rPr>
                        <a:t>/api/tasks/7/</a:t>
                      </a:r>
                    </a:p>
                  </a:txBody>
                  <a:tcPr anchor="ctr">
                    <a:solidFill>
                      <a:srgbClr val="FFFFFF"/>
                    </a:solidFill>
                  </a:tcPr>
                </a:tc>
                <a:tc>
                  <a:txBody>
                    <a:bodyPr/>
                    <a:lstStyle/>
                    <a:p>
                      <a:r>
                        <a:rPr sz="2025" b="0">
                          <a:solidFill>
                            <a:srgbClr val="242C35"/>
                          </a:solidFill>
                          <a:latin typeface="Helvetica Neue"/>
                          <a:ea typeface="Helvetica Neue"/>
                          <a:cs typeface="Helvetica Neue"/>
                        </a:rPr>
                        <a:t>200 and one task</a:t>
                      </a:r>
                    </a:p>
                  </a:txBody>
                  <a:tcPr anchor="ctr">
                    <a:solidFill>
                      <a:srgbClr val="FFFFFF"/>
                    </a:solidFill>
                  </a:tcPr>
                </a:tc>
                <a:extLst>
                  <a:ext uri="{0D108BD9-81ED-4DB2-BD59-A6C34878D82A}">
                    <a16:rowId xmlns:a16="http://schemas.microsoft.com/office/drawing/2014/main" val="10003"/>
                  </a:ext>
                </a:extLst>
              </a:tr>
              <a:tr h="762000">
                <a:tc>
                  <a:txBody>
                    <a:bodyPr/>
                    <a:lstStyle/>
                    <a:p>
                      <a:r>
                        <a:rPr sz="2025" b="0">
                          <a:solidFill>
                            <a:srgbClr val="242C35"/>
                          </a:solidFill>
                          <a:latin typeface="Helvetica Neue"/>
                          <a:ea typeface="Helvetica Neue"/>
                          <a:cs typeface="Helvetica Neue"/>
                        </a:rPr>
                        <a:t>PUT / PATCH</a:t>
                      </a:r>
                    </a:p>
                  </a:txBody>
                  <a:tcPr anchor="ctr">
                    <a:solidFill>
                      <a:srgbClr val="F8F5EF"/>
                    </a:solidFill>
                  </a:tcPr>
                </a:tc>
                <a:tc>
                  <a:txBody>
                    <a:bodyPr/>
                    <a:lstStyle/>
                    <a:p>
                      <a:r>
                        <a:rPr sz="2025" b="0">
                          <a:solidFill>
                            <a:srgbClr val="242C35"/>
                          </a:solidFill>
                          <a:latin typeface="Helvetica Neue"/>
                          <a:ea typeface="Helvetica Neue"/>
                          <a:cs typeface="Helvetica Neue"/>
                        </a:rPr>
                        <a:t>/api/tasks/7/</a:t>
                      </a:r>
                    </a:p>
                  </a:txBody>
                  <a:tcPr anchor="ctr">
                    <a:solidFill>
                      <a:srgbClr val="F8F5EF"/>
                    </a:solidFill>
                  </a:tcPr>
                </a:tc>
                <a:tc>
                  <a:txBody>
                    <a:bodyPr/>
                    <a:lstStyle/>
                    <a:p>
                      <a:r>
                        <a:rPr sz="2025" b="0">
                          <a:solidFill>
                            <a:srgbClr val="242C35"/>
                          </a:solidFill>
                          <a:latin typeface="Helvetica Neue"/>
                          <a:ea typeface="Helvetica Neue"/>
                          <a:cs typeface="Helvetica Neue"/>
                        </a:rPr>
                        <a:t>200 and the updated task</a:t>
                      </a:r>
                    </a:p>
                  </a:txBody>
                  <a:tcPr anchor="ctr">
                    <a:solidFill>
                      <a:srgbClr val="F8F5EF"/>
                    </a:solidFill>
                  </a:tcPr>
                </a:tc>
                <a:extLst>
                  <a:ext uri="{0D108BD9-81ED-4DB2-BD59-A6C34878D82A}">
                    <a16:rowId xmlns:a16="http://schemas.microsoft.com/office/drawing/2014/main" val="10004"/>
                  </a:ext>
                </a:extLst>
              </a:tr>
              <a:tr h="762000">
                <a:tc>
                  <a:txBody>
                    <a:bodyPr/>
                    <a:lstStyle/>
                    <a:p>
                      <a:r>
                        <a:rPr sz="2025" b="0">
                          <a:solidFill>
                            <a:srgbClr val="242C35"/>
                          </a:solidFill>
                          <a:latin typeface="Helvetica Neue"/>
                          <a:ea typeface="Helvetica Neue"/>
                          <a:cs typeface="Helvetica Neue"/>
                        </a:rPr>
                        <a:t>DELETE</a:t>
                      </a:r>
                    </a:p>
                  </a:txBody>
                  <a:tcPr anchor="ctr">
                    <a:solidFill>
                      <a:srgbClr val="FFFFFF"/>
                    </a:solidFill>
                  </a:tcPr>
                </a:tc>
                <a:tc>
                  <a:txBody>
                    <a:bodyPr/>
                    <a:lstStyle/>
                    <a:p>
                      <a:r>
                        <a:rPr sz="2025" b="0">
                          <a:solidFill>
                            <a:srgbClr val="242C35"/>
                          </a:solidFill>
                          <a:latin typeface="Helvetica Neue"/>
                          <a:ea typeface="Helvetica Neue"/>
                          <a:cs typeface="Helvetica Neue"/>
                        </a:rPr>
                        <a:t>/api/tasks/7/</a:t>
                      </a:r>
                    </a:p>
                  </a:txBody>
                  <a:tcPr anchor="ctr">
                    <a:solidFill>
                      <a:srgbClr val="FFFFFF"/>
                    </a:solidFill>
                  </a:tcPr>
                </a:tc>
                <a:tc>
                  <a:txBody>
                    <a:bodyPr/>
                    <a:lstStyle/>
                    <a:p>
                      <a:r>
                        <a:rPr sz="2025" b="0">
                          <a:solidFill>
                            <a:srgbClr val="242C35"/>
                          </a:solidFill>
                          <a:latin typeface="Helvetica Neue"/>
                          <a:ea typeface="Helvetica Neue"/>
                          <a:cs typeface="Helvetica Neue"/>
                        </a:rPr>
                        <a:t>204 without a body</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6" name="fade-1-takeaway">
            <a:extLst>
              <a:ext uri="{FF2B5EF4-FFF2-40B4-BE49-F238E27FC236}">
                <a16:creationId xmlns:a16="http://schemas.microsoft.com/office/drawing/2014/main" id="{9A1588C4-18B4-498D-92BC-0FE292B6CD6F}"/>
              </a:ext>
            </a:extLst>
          </p:cNvPr>
          <p:cNvSpPr>
            <a:spLocks noGrp="1"/>
          </p:cNvSpPr>
          <p:nvPr/>
        </p:nvSpPr>
        <p:spPr>
          <a:xfrm>
            <a:off x="685800" y="7477125"/>
            <a:ext cx="13868400" cy="571500"/>
          </a:xfrm>
          <a:prstGeom prst="rect">
            <a:avLst/>
          </a:prstGeom>
          <a:noFill/>
          <a:ln w="0">
            <a:noFill/>
          </a:ln>
        </p:spPr>
        <p:txBody>
          <a:bodyPr wrap="none" lIns="0" tIns="0" rIns="0" bIns="0" anchor="t">
            <a:noAutofit/>
          </a:bodyPr>
          <a:lstStyle/>
          <a:p>
            <a:pPr algn="l">
              <a:defRPr sz="2025" b="0">
                <a:solidFill>
                  <a:srgbClr val="65717A"/>
                </a:solidFill>
                <a:latin typeface="Helvetica Neue"/>
                <a:ea typeface="Helvetica Neue"/>
                <a:cs typeface="Helvetica Neue"/>
              </a:defRPr>
            </a:pPr>
            <a:r>
              <a:rPr sz="2025" b="0">
                <a:solidFill>
                  <a:srgbClr val="65717A"/>
                </a:solidFill>
                <a:latin typeface="Helvetica Neue"/>
                <a:ea typeface="Helvetica Neue"/>
                <a:cs typeface="Helvetica Neue"/>
              </a:rPr>
              <a:t>PUT replaces the writable representation. PATCH changes selected fields.</a:t>
            </a:r>
          </a:p>
        </p:txBody>
      </p:sp>
    </p:spTree>
    <p:extLst>
      <p:ext uri="{BB962C8B-B14F-4D97-AF65-F5344CB8AC3E}">
        <p14:creationId xmlns:p14="http://schemas.microsoft.com/office/powerpoint/2010/main" val="5842255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fill="hold">
                                          <p:stCondLst>
                                            <p:cond delay="0"/>
                                          </p:stCondLst>
                                        </p:cTn>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2" name="text-332">
            <a:extLst>
              <a:ext uri="{FF2B5EF4-FFF2-40B4-BE49-F238E27FC236}">
                <a16:creationId xmlns:a16="http://schemas.microsoft.com/office/drawing/2014/main" id="{BAE210A5-FB16-4866-987E-2E3DFE8AC217}"/>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05 / REST APIs</a:t>
            </a:r>
          </a:p>
        </p:txBody>
      </p:sp>
      <p:sp>
        <p:nvSpPr>
          <p:cNvPr id="2" name="text-333">
            <a:extLst>
              <a:ext uri="{FF2B5EF4-FFF2-40B4-BE49-F238E27FC236}">
                <a16:creationId xmlns:a16="http://schemas.microsoft.com/office/drawing/2014/main" id="{BA39E9DA-AE51-49DE-A2EC-54F0AE8DF25C}"/>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A serializer describes the task API</a:t>
            </a:r>
          </a:p>
        </p:txBody>
      </p:sp>
      <p:sp>
        <p:nvSpPr>
          <p:cNvPr id="3" name="text-334">
            <a:extLst>
              <a:ext uri="{FF2B5EF4-FFF2-40B4-BE49-F238E27FC236}">
                <a16:creationId xmlns:a16="http://schemas.microsoft.com/office/drawing/2014/main" id="{3E6F9E64-4485-4812-88E7-9EBAAF29906B}"/>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335">
            <a:extLst>
              <a:ext uri="{FF2B5EF4-FFF2-40B4-BE49-F238E27FC236}">
                <a16:creationId xmlns:a16="http://schemas.microsoft.com/office/drawing/2014/main" id="{1D7B5A1F-1D87-43ED-8ED1-2ED554D88E11}"/>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44</a:t>
            </a:r>
          </a:p>
        </p:txBody>
      </p:sp>
      <p:sp>
        <p:nvSpPr>
          <p:cNvPr id="5" name="text-336">
            <a:extLst>
              <a:ext uri="{FF2B5EF4-FFF2-40B4-BE49-F238E27FC236}">
                <a16:creationId xmlns:a16="http://schemas.microsoft.com/office/drawing/2014/main" id="{B317AC0D-D6D1-4DF8-8E58-CCE47101710A}"/>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tasks/serializers.py</a:t>
            </a:r>
          </a:p>
        </p:txBody>
      </p:sp>
      <p:sp>
        <p:nvSpPr>
          <p:cNvPr id="6" name="code-panel-337">
            <a:extLst>
              <a:ext uri="{FF2B5EF4-FFF2-40B4-BE49-F238E27FC236}">
                <a16:creationId xmlns:a16="http://schemas.microsoft.com/office/drawing/2014/main" id="{8F5CA1AC-AB92-429B-9B2D-1650BBF6D9BE}"/>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86B72D10-DADB-4767-A999-18FD406EEC22}"/>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from</a:t>
            </a:r>
            <a:r>
              <a:rPr sz="1725" b="0">
                <a:solidFill>
                  <a:srgbClr val="FFFFFF"/>
                </a:solidFill>
                <a:latin typeface="Menlo"/>
                <a:ea typeface="Menlo"/>
                <a:cs typeface="Menlo"/>
              </a:rPr>
              <a:t> rest_framework </a:t>
            </a:r>
            <a:r>
              <a:rPr sz="1725" b="0">
                <a:solidFill>
                  <a:srgbClr val="A7C2FF"/>
                </a:solidFill>
                <a:latin typeface="Menlo"/>
                <a:ea typeface="Menlo"/>
                <a:cs typeface="Menlo"/>
              </a:rPr>
              <a:t>import</a:t>
            </a:r>
            <a:r>
              <a:rPr sz="1725" b="0">
                <a:solidFill>
                  <a:srgbClr val="FFFFFF"/>
                </a:solidFill>
                <a:latin typeface="Menlo"/>
                <a:ea typeface="Menlo"/>
                <a:cs typeface="Menlo"/>
              </a:rPr>
              <a:t> serializers</a:t>
            </a:r>
          </a:p>
        </p:txBody>
      </p:sp>
      <p:sp>
        <p:nvSpPr>
          <p:cNvPr id="8" name="code-line-1">
            <a:extLst>
              <a:ext uri="{FF2B5EF4-FFF2-40B4-BE49-F238E27FC236}">
                <a16:creationId xmlns:a16="http://schemas.microsoft.com/office/drawing/2014/main" id="{4E0D6067-6E17-4A70-937F-CD95F1ED8531}"/>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from</a:t>
            </a:r>
            <a:r>
              <a:rPr sz="1725" b="0">
                <a:solidFill>
                  <a:srgbClr val="FFFFFF"/>
                </a:solidFill>
                <a:latin typeface="Menlo"/>
                <a:ea typeface="Menlo"/>
                <a:cs typeface="Menlo"/>
              </a:rPr>
              <a:t> .models </a:t>
            </a:r>
            <a:r>
              <a:rPr sz="1725" b="0">
                <a:solidFill>
                  <a:srgbClr val="A7C2FF"/>
                </a:solidFill>
                <a:latin typeface="Menlo"/>
                <a:ea typeface="Menlo"/>
                <a:cs typeface="Menlo"/>
              </a:rPr>
              <a:t>import</a:t>
            </a:r>
            <a:r>
              <a:rPr sz="1725" b="0">
                <a:solidFill>
                  <a:srgbClr val="FFFFFF"/>
                </a:solidFill>
                <a:latin typeface="Menlo"/>
                <a:ea typeface="Menlo"/>
                <a:cs typeface="Menlo"/>
              </a:rPr>
              <a:t> Task</a:t>
            </a:r>
          </a:p>
        </p:txBody>
      </p:sp>
      <p:sp>
        <p:nvSpPr>
          <p:cNvPr id="9" name="code-line-2">
            <a:extLst>
              <a:ext uri="{FF2B5EF4-FFF2-40B4-BE49-F238E27FC236}">
                <a16:creationId xmlns:a16="http://schemas.microsoft.com/office/drawing/2014/main" id="{975C1B3F-E21C-47D0-9F14-80A843DBB39C}"/>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endParaRPr/>
          </a:p>
        </p:txBody>
      </p:sp>
      <p:sp>
        <p:nvSpPr>
          <p:cNvPr id="10" name="code-line-3">
            <a:extLst>
              <a:ext uri="{FF2B5EF4-FFF2-40B4-BE49-F238E27FC236}">
                <a16:creationId xmlns:a16="http://schemas.microsoft.com/office/drawing/2014/main" id="{FA30CAC4-9484-4A59-B89C-1A70BC91BD1B}"/>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class</a:t>
            </a:r>
            <a:r>
              <a:rPr sz="1725" b="0">
                <a:solidFill>
                  <a:srgbClr val="FFFFFF"/>
                </a:solidFill>
                <a:latin typeface="Menlo"/>
                <a:ea typeface="Menlo"/>
                <a:cs typeface="Menlo"/>
              </a:rPr>
              <a:t> TaskSerializer(serializers.ModelSerializer):</a:t>
            </a:r>
          </a:p>
        </p:txBody>
      </p:sp>
      <p:sp>
        <p:nvSpPr>
          <p:cNvPr id="11" name="code-line-4">
            <a:extLst>
              <a:ext uri="{FF2B5EF4-FFF2-40B4-BE49-F238E27FC236}">
                <a16:creationId xmlns:a16="http://schemas.microsoft.com/office/drawing/2014/main" id="{23DB4F12-3653-4002-A1B3-FC3CF9694142}"/>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class</a:t>
            </a:r>
            <a:r>
              <a:rPr sz="1725" b="0">
                <a:solidFill>
                  <a:srgbClr val="FFFFFF"/>
                </a:solidFill>
                <a:latin typeface="Menlo"/>
                <a:ea typeface="Menlo"/>
                <a:cs typeface="Menlo"/>
              </a:rPr>
              <a:t> Meta:</a:t>
            </a:r>
          </a:p>
        </p:txBody>
      </p:sp>
      <p:sp>
        <p:nvSpPr>
          <p:cNvPr id="12" name="code-line-5">
            <a:extLst>
              <a:ext uri="{FF2B5EF4-FFF2-40B4-BE49-F238E27FC236}">
                <a16:creationId xmlns:a16="http://schemas.microsoft.com/office/drawing/2014/main" id="{6879CB59-959A-4366-A7F2-3BC791452024}"/>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model = Task</a:t>
            </a:r>
          </a:p>
        </p:txBody>
      </p:sp>
      <p:sp>
        <p:nvSpPr>
          <p:cNvPr id="13" name="code-line-6">
            <a:extLst>
              <a:ext uri="{FF2B5EF4-FFF2-40B4-BE49-F238E27FC236}">
                <a16:creationId xmlns:a16="http://schemas.microsoft.com/office/drawing/2014/main" id="{77AA9CC2-F5C5-4F14-AD29-F0EC88D71AA9}"/>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fields = ["id", "title", "completed"]</a:t>
            </a:r>
          </a:p>
        </p:txBody>
      </p:sp>
      <p:sp>
        <p:nvSpPr>
          <p:cNvPr id="14" name="code-line-7">
            <a:extLst>
              <a:ext uri="{FF2B5EF4-FFF2-40B4-BE49-F238E27FC236}">
                <a16:creationId xmlns:a16="http://schemas.microsoft.com/office/drawing/2014/main" id="{57E02A7F-189E-4FD4-8461-3E67874E03D6}"/>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read_only_fields = ["id"]</a:t>
            </a:r>
          </a:p>
        </p:txBody>
      </p:sp>
      <p:sp>
        <p:nvSpPr>
          <p:cNvPr id="15" name="code-line-8">
            <a:extLst>
              <a:ext uri="{FF2B5EF4-FFF2-40B4-BE49-F238E27FC236}">
                <a16:creationId xmlns:a16="http://schemas.microsoft.com/office/drawing/2014/main" id="{A6DC66C1-B148-4F9F-9D4A-A2AC371DA18B}"/>
              </a:ext>
            </a:extLst>
          </p:cNvPr>
          <p:cNvSpPr>
            <a:spLocks noGrp="1"/>
          </p:cNvSpPr>
          <p:nvPr/>
        </p:nvSpPr>
        <p:spPr>
          <a:xfrm>
            <a:off x="914400" y="5591175"/>
            <a:ext cx="7639050" cy="361950"/>
          </a:xfrm>
          <a:prstGeom prst="rect">
            <a:avLst/>
          </a:prstGeom>
          <a:noFill/>
          <a:ln w="0">
            <a:noFill/>
          </a:ln>
        </p:spPr>
        <p:txBody>
          <a:bodyPr wrap="none" lIns="0" tIns="0" rIns="0" bIns="0" anchor="t">
            <a:noAutofit/>
          </a:bodyPr>
          <a:lstStyle/>
          <a:p>
            <a:endParaRPr/>
          </a:p>
        </p:txBody>
      </p:sp>
      <p:sp>
        <p:nvSpPr>
          <p:cNvPr id="16" name="code-line-9">
            <a:extLst>
              <a:ext uri="{FF2B5EF4-FFF2-40B4-BE49-F238E27FC236}">
                <a16:creationId xmlns:a16="http://schemas.microsoft.com/office/drawing/2014/main" id="{DF0386C4-D0ED-43B4-A31F-ED05635274ED}"/>
              </a:ext>
            </a:extLst>
          </p:cNvPr>
          <p:cNvSpPr>
            <a:spLocks noGrp="1"/>
          </p:cNvSpPr>
          <p:nvPr/>
        </p:nvSpPr>
        <p:spPr>
          <a:xfrm>
            <a:off x="914400" y="5924550"/>
            <a:ext cx="7639050" cy="361950"/>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python -m pip install djangorestframework</a:t>
            </a:r>
          </a:p>
        </p:txBody>
      </p:sp>
      <p:sp>
        <p:nvSpPr>
          <p:cNvPr id="17" name="code-line-10">
            <a:extLst>
              <a:ext uri="{FF2B5EF4-FFF2-40B4-BE49-F238E27FC236}">
                <a16:creationId xmlns:a16="http://schemas.microsoft.com/office/drawing/2014/main" id="{1C86B78F-C635-40C3-ACB4-40958ED05133}"/>
              </a:ext>
            </a:extLst>
          </p:cNvPr>
          <p:cNvSpPr>
            <a:spLocks noGrp="1"/>
          </p:cNvSpPr>
          <p:nvPr/>
        </p:nvSpPr>
        <p:spPr>
          <a:xfrm>
            <a:off x="914400" y="6257925"/>
            <a:ext cx="7639050" cy="361950"/>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Append "rest_framework" to INSTALLED_APPS</a:t>
            </a:r>
          </a:p>
        </p:txBody>
      </p:sp>
      <p:sp>
        <p:nvSpPr>
          <p:cNvPr id="18" name="reveal-1-output-1">
            <a:extLst>
              <a:ext uri="{FF2B5EF4-FFF2-40B4-BE49-F238E27FC236}">
                <a16:creationId xmlns:a16="http://schemas.microsoft.com/office/drawing/2014/main" id="{7F7E655F-BF33-47C7-AD61-2BF5949DC22D}"/>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Example JSON representation</a:t>
            </a:r>
          </a:p>
        </p:txBody>
      </p:sp>
      <p:sp>
        <p:nvSpPr>
          <p:cNvPr id="19" name="reveal-1-output-2">
            <a:extLst>
              <a:ext uri="{FF2B5EF4-FFF2-40B4-BE49-F238E27FC236}">
                <a16:creationId xmlns:a16="http://schemas.microsoft.com/office/drawing/2014/main" id="{56BEBE04-D8AD-4CC4-9532-601D95430F96}"/>
              </a:ext>
            </a:extLst>
          </p:cNvPr>
          <p:cNvSpPr>
            <a:spLocks noGrp="1"/>
          </p:cNvSpPr>
          <p:nvPr/>
        </p:nvSpPr>
        <p:spPr>
          <a:xfrm>
            <a:off x="9239250" y="2952750"/>
            <a:ext cx="5295900" cy="3810000"/>
          </a:xfrm>
          <a:prstGeom prst="rect">
            <a:avLst/>
          </a:prstGeom>
          <a:solidFill>
            <a:srgbClr val="ECEFF7"/>
          </a:solidFill>
          <a:ln w="0">
            <a:noFill/>
          </a:ln>
        </p:spPr>
      </p:sp>
      <p:sp>
        <p:nvSpPr>
          <p:cNvPr id="20" name="reveal-1-output-3">
            <a:extLst>
              <a:ext uri="{FF2B5EF4-FFF2-40B4-BE49-F238E27FC236}">
                <a16:creationId xmlns:a16="http://schemas.microsoft.com/office/drawing/2014/main" id="{7CCA7E70-4ED0-45E6-B10A-5DF60DE2115C}"/>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650" b="0">
                <a:solidFill>
                  <a:srgbClr val="242C35"/>
                </a:solidFill>
                <a:latin typeface="Menlo"/>
                <a:ea typeface="Menlo"/>
                <a:cs typeface="Menlo"/>
              </a:defRPr>
            </a:pPr>
            <a:r>
              <a:rPr sz="1650" b="0">
                <a:solidFill>
                  <a:srgbClr val="242C35"/>
                </a:solidFill>
                <a:latin typeface="Menlo"/>
                <a:ea typeface="Menlo"/>
                <a:cs typeface="Menlo"/>
              </a:rPr>
              <a:t>{</a:t>
            </a:r>
          </a:p>
          <a:p>
            <a:pPr algn="l">
              <a:defRPr sz="1650" b="0">
                <a:solidFill>
                  <a:srgbClr val="242C35"/>
                </a:solidFill>
                <a:latin typeface="Menlo"/>
                <a:ea typeface="Menlo"/>
                <a:cs typeface="Menlo"/>
              </a:defRPr>
            </a:pPr>
            <a:r>
              <a:rPr sz="1650" b="0">
                <a:solidFill>
                  <a:srgbClr val="242C35"/>
                </a:solidFill>
                <a:latin typeface="Menlo"/>
                <a:ea typeface="Menlo"/>
                <a:cs typeface="Menlo"/>
              </a:rPr>
              <a:t>"id": 1,</a:t>
            </a:r>
          </a:p>
          <a:p>
            <a:pPr algn="l">
              <a:defRPr sz="1650" b="0">
                <a:solidFill>
                  <a:srgbClr val="242C35"/>
                </a:solidFill>
                <a:latin typeface="Menlo"/>
                <a:ea typeface="Menlo"/>
                <a:cs typeface="Menlo"/>
              </a:defRPr>
            </a:pPr>
            <a:r>
              <a:rPr sz="1650" b="0">
                <a:solidFill>
                  <a:srgbClr val="242C35"/>
                </a:solidFill>
                <a:latin typeface="Menlo"/>
                <a:ea typeface="Menlo"/>
                <a:cs typeface="Menlo"/>
              </a:rPr>
              <a:t>"title": "Prepare Django demo",</a:t>
            </a:r>
          </a:p>
          <a:p>
            <a:pPr algn="l">
              <a:defRPr sz="1650" b="0">
                <a:solidFill>
                  <a:srgbClr val="242C35"/>
                </a:solidFill>
                <a:latin typeface="Menlo"/>
                <a:ea typeface="Menlo"/>
                <a:cs typeface="Menlo"/>
              </a:defRPr>
            </a:pPr>
            <a:r>
              <a:rPr sz="1650" b="0">
                <a:solidFill>
                  <a:srgbClr val="242C35"/>
                </a:solidFill>
                <a:latin typeface="Menlo"/>
                <a:ea typeface="Menlo"/>
                <a:cs typeface="Menlo"/>
              </a:rPr>
              <a:t>"completed": false</a:t>
            </a:r>
          </a:p>
          <a:p>
            <a:pPr algn="l">
              <a:defRPr sz="1650" b="0">
                <a:solidFill>
                  <a:srgbClr val="242C35"/>
                </a:solidFill>
                <a:latin typeface="Menlo"/>
                <a:ea typeface="Menlo"/>
                <a:cs typeface="Menlo"/>
              </a:defRPr>
            </a:pPr>
            <a:r>
              <a:rPr sz="1650" b="0">
                <a:solidFill>
                  <a:srgbClr val="242C35"/>
                </a:solidFill>
                <a:latin typeface="Menlo"/>
                <a:ea typeface="Menlo"/>
                <a:cs typeface="Menlo"/>
              </a:rPr>
              <a:t>}</a:t>
            </a:r>
          </a:p>
        </p:txBody>
      </p:sp>
      <p:sp>
        <p:nvSpPr>
          <p:cNvPr id="21" name="fade-1-takeaway">
            <a:extLst>
              <a:ext uri="{FF2B5EF4-FFF2-40B4-BE49-F238E27FC236}">
                <a16:creationId xmlns:a16="http://schemas.microsoft.com/office/drawing/2014/main" id="{4B83E8FD-319C-4EF6-AFCF-A61D8592FACF}"/>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Clients send title and completed. The server chooses owner.</a:t>
            </a:r>
          </a:p>
        </p:txBody>
      </p:sp>
    </p:spTree>
    <p:extLst>
      <p:ext uri="{BB962C8B-B14F-4D97-AF65-F5344CB8AC3E}">
        <p14:creationId xmlns:p14="http://schemas.microsoft.com/office/powerpoint/2010/main" val="3461923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350" fill="hold">
                                          <p:stCondLst>
                                            <p:cond delay="0"/>
                                          </p:stCondLst>
                                        </p:cTn>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3" name="text-341">
            <a:extLst>
              <a:ext uri="{FF2B5EF4-FFF2-40B4-BE49-F238E27FC236}">
                <a16:creationId xmlns:a16="http://schemas.microsoft.com/office/drawing/2014/main" id="{64DADA68-D816-417E-9DFD-37376B496796}"/>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05 / REST APIs</a:t>
            </a:r>
          </a:p>
        </p:txBody>
      </p:sp>
      <p:sp>
        <p:nvSpPr>
          <p:cNvPr id="2" name="text-342">
            <a:extLst>
              <a:ext uri="{FF2B5EF4-FFF2-40B4-BE49-F238E27FC236}">
                <a16:creationId xmlns:a16="http://schemas.microsoft.com/office/drawing/2014/main" id="{C77FC630-BC57-491D-8B79-87305B509CA5}"/>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The API uses the same ownership rule</a:t>
            </a:r>
          </a:p>
        </p:txBody>
      </p:sp>
      <p:sp>
        <p:nvSpPr>
          <p:cNvPr id="3" name="text-343">
            <a:extLst>
              <a:ext uri="{FF2B5EF4-FFF2-40B4-BE49-F238E27FC236}">
                <a16:creationId xmlns:a16="http://schemas.microsoft.com/office/drawing/2014/main" id="{10C65B39-7AF9-4CD6-8B33-0DDE5D74A0CF}"/>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344">
            <a:extLst>
              <a:ext uri="{FF2B5EF4-FFF2-40B4-BE49-F238E27FC236}">
                <a16:creationId xmlns:a16="http://schemas.microsoft.com/office/drawing/2014/main" id="{D8CDAD86-D03A-4A2F-B55A-B4811AAE4237}"/>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45</a:t>
            </a:r>
          </a:p>
        </p:txBody>
      </p:sp>
      <p:sp>
        <p:nvSpPr>
          <p:cNvPr id="5" name="text-345">
            <a:extLst>
              <a:ext uri="{FF2B5EF4-FFF2-40B4-BE49-F238E27FC236}">
                <a16:creationId xmlns:a16="http://schemas.microsoft.com/office/drawing/2014/main" id="{AE3C3C2A-BBD2-4F71-BC2D-8806C1B2C02A}"/>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tasks/api.py</a:t>
            </a:r>
          </a:p>
        </p:txBody>
      </p:sp>
      <p:sp>
        <p:nvSpPr>
          <p:cNvPr id="6" name="code-panel-346">
            <a:extLst>
              <a:ext uri="{FF2B5EF4-FFF2-40B4-BE49-F238E27FC236}">
                <a16:creationId xmlns:a16="http://schemas.microsoft.com/office/drawing/2014/main" id="{7EAF9D17-B4B1-4D0A-AFDF-FE3994CD589C}"/>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89B98921-9A5A-4006-B4A7-50FACB144D15}"/>
              </a:ext>
            </a:extLst>
          </p:cNvPr>
          <p:cNvSpPr>
            <a:spLocks noGrp="1"/>
          </p:cNvSpPr>
          <p:nvPr/>
        </p:nvSpPr>
        <p:spPr>
          <a:xfrm>
            <a:off x="914400" y="2924175"/>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from</a:t>
            </a:r>
            <a:r>
              <a:rPr sz="1725" b="0">
                <a:solidFill>
                  <a:srgbClr val="FFFFFF"/>
                </a:solidFill>
                <a:latin typeface="Menlo"/>
                <a:ea typeface="Menlo"/>
                <a:cs typeface="Menlo"/>
              </a:rPr>
              <a:t> rest_framework </a:t>
            </a:r>
            <a:r>
              <a:rPr sz="1725" b="0">
                <a:solidFill>
                  <a:srgbClr val="A7C2FF"/>
                </a:solidFill>
                <a:latin typeface="Menlo"/>
                <a:ea typeface="Menlo"/>
                <a:cs typeface="Menlo"/>
              </a:rPr>
              <a:t>import</a:t>
            </a:r>
            <a:r>
              <a:rPr sz="1725" b="0">
                <a:solidFill>
                  <a:srgbClr val="FFFFFF"/>
                </a:solidFill>
                <a:latin typeface="Menlo"/>
                <a:ea typeface="Menlo"/>
                <a:cs typeface="Menlo"/>
              </a:rPr>
              <a:t> permissions, viewsets</a:t>
            </a:r>
          </a:p>
        </p:txBody>
      </p:sp>
      <p:sp>
        <p:nvSpPr>
          <p:cNvPr id="8" name="code-line-1">
            <a:extLst>
              <a:ext uri="{FF2B5EF4-FFF2-40B4-BE49-F238E27FC236}">
                <a16:creationId xmlns:a16="http://schemas.microsoft.com/office/drawing/2014/main" id="{231CAF9E-2BEA-444B-A965-0CE004761BBB}"/>
              </a:ext>
            </a:extLst>
          </p:cNvPr>
          <p:cNvSpPr>
            <a:spLocks noGrp="1"/>
          </p:cNvSpPr>
          <p:nvPr/>
        </p:nvSpPr>
        <p:spPr>
          <a:xfrm>
            <a:off x="914400" y="3247231"/>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from</a:t>
            </a:r>
            <a:r>
              <a:rPr sz="1725" b="0">
                <a:solidFill>
                  <a:srgbClr val="FFFFFF"/>
                </a:solidFill>
                <a:latin typeface="Menlo"/>
                <a:ea typeface="Menlo"/>
                <a:cs typeface="Menlo"/>
              </a:rPr>
              <a:t> .models </a:t>
            </a:r>
            <a:r>
              <a:rPr sz="1725" b="0">
                <a:solidFill>
                  <a:srgbClr val="A7C2FF"/>
                </a:solidFill>
                <a:latin typeface="Menlo"/>
                <a:ea typeface="Menlo"/>
                <a:cs typeface="Menlo"/>
              </a:rPr>
              <a:t>import</a:t>
            </a:r>
            <a:r>
              <a:rPr sz="1725" b="0">
                <a:solidFill>
                  <a:srgbClr val="FFFFFF"/>
                </a:solidFill>
                <a:latin typeface="Menlo"/>
                <a:ea typeface="Menlo"/>
                <a:cs typeface="Menlo"/>
              </a:rPr>
              <a:t> Task</a:t>
            </a:r>
          </a:p>
        </p:txBody>
      </p:sp>
      <p:sp>
        <p:nvSpPr>
          <p:cNvPr id="9" name="code-line-2">
            <a:extLst>
              <a:ext uri="{FF2B5EF4-FFF2-40B4-BE49-F238E27FC236}">
                <a16:creationId xmlns:a16="http://schemas.microsoft.com/office/drawing/2014/main" id="{69E46E0C-62F0-4FF7-B38A-076829704455}"/>
              </a:ext>
            </a:extLst>
          </p:cNvPr>
          <p:cNvSpPr>
            <a:spLocks noGrp="1"/>
          </p:cNvSpPr>
          <p:nvPr/>
        </p:nvSpPr>
        <p:spPr>
          <a:xfrm>
            <a:off x="914400" y="3570288"/>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from</a:t>
            </a:r>
            <a:r>
              <a:rPr sz="1725" b="0">
                <a:solidFill>
                  <a:srgbClr val="FFFFFF"/>
                </a:solidFill>
                <a:latin typeface="Menlo"/>
                <a:ea typeface="Menlo"/>
                <a:cs typeface="Menlo"/>
              </a:rPr>
              <a:t> .serializers </a:t>
            </a:r>
            <a:r>
              <a:rPr sz="1725" b="0">
                <a:solidFill>
                  <a:srgbClr val="A7C2FF"/>
                </a:solidFill>
                <a:latin typeface="Menlo"/>
                <a:ea typeface="Menlo"/>
                <a:cs typeface="Menlo"/>
              </a:rPr>
              <a:t>import</a:t>
            </a:r>
            <a:r>
              <a:rPr sz="1725" b="0">
                <a:solidFill>
                  <a:srgbClr val="FFFFFF"/>
                </a:solidFill>
                <a:latin typeface="Menlo"/>
                <a:ea typeface="Menlo"/>
                <a:cs typeface="Menlo"/>
              </a:rPr>
              <a:t> TaskSerializer</a:t>
            </a:r>
          </a:p>
        </p:txBody>
      </p:sp>
      <p:sp>
        <p:nvSpPr>
          <p:cNvPr id="10" name="code-line-3">
            <a:extLst>
              <a:ext uri="{FF2B5EF4-FFF2-40B4-BE49-F238E27FC236}">
                <a16:creationId xmlns:a16="http://schemas.microsoft.com/office/drawing/2014/main" id="{64C14501-B117-4719-8B8B-AA1DB79EBFD7}"/>
              </a:ext>
            </a:extLst>
          </p:cNvPr>
          <p:cNvSpPr>
            <a:spLocks noGrp="1"/>
          </p:cNvSpPr>
          <p:nvPr/>
        </p:nvSpPr>
        <p:spPr>
          <a:xfrm>
            <a:off x="914400" y="3893344"/>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class</a:t>
            </a:r>
            <a:r>
              <a:rPr sz="1725" b="0">
                <a:solidFill>
                  <a:srgbClr val="FFFFFF"/>
                </a:solidFill>
                <a:latin typeface="Menlo"/>
                <a:ea typeface="Menlo"/>
                <a:cs typeface="Menlo"/>
              </a:rPr>
              <a:t> TaskViewSet(viewsets.ModelViewSet):</a:t>
            </a:r>
          </a:p>
        </p:txBody>
      </p:sp>
      <p:sp>
        <p:nvSpPr>
          <p:cNvPr id="11" name="code-line-4">
            <a:extLst>
              <a:ext uri="{FF2B5EF4-FFF2-40B4-BE49-F238E27FC236}">
                <a16:creationId xmlns:a16="http://schemas.microsoft.com/office/drawing/2014/main" id="{89795608-F0C2-4C89-B822-C80BD6BAAF43}"/>
              </a:ext>
            </a:extLst>
          </p:cNvPr>
          <p:cNvSpPr>
            <a:spLocks noGrp="1"/>
          </p:cNvSpPr>
          <p:nvPr/>
        </p:nvSpPr>
        <p:spPr>
          <a:xfrm>
            <a:off x="914400" y="4216400"/>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serializer_class = TaskSerializer</a:t>
            </a:r>
          </a:p>
        </p:txBody>
      </p:sp>
      <p:sp>
        <p:nvSpPr>
          <p:cNvPr id="12" name="code-line-5">
            <a:extLst>
              <a:ext uri="{FF2B5EF4-FFF2-40B4-BE49-F238E27FC236}">
                <a16:creationId xmlns:a16="http://schemas.microsoft.com/office/drawing/2014/main" id="{7FAFAB1C-E775-47E1-AB98-8EA37EFEEDDC}"/>
              </a:ext>
            </a:extLst>
          </p:cNvPr>
          <p:cNvSpPr>
            <a:spLocks noGrp="1"/>
          </p:cNvSpPr>
          <p:nvPr/>
        </p:nvSpPr>
        <p:spPr>
          <a:xfrm>
            <a:off x="914400" y="4539456"/>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permission_classes = [permissions.IsAuthenticated]</a:t>
            </a:r>
          </a:p>
        </p:txBody>
      </p:sp>
      <p:sp>
        <p:nvSpPr>
          <p:cNvPr id="13" name="code-line-6">
            <a:extLst>
              <a:ext uri="{FF2B5EF4-FFF2-40B4-BE49-F238E27FC236}">
                <a16:creationId xmlns:a16="http://schemas.microsoft.com/office/drawing/2014/main" id="{320A6E8C-7FEC-459C-870C-B135F430D140}"/>
              </a:ext>
            </a:extLst>
          </p:cNvPr>
          <p:cNvSpPr>
            <a:spLocks noGrp="1"/>
          </p:cNvSpPr>
          <p:nvPr/>
        </p:nvSpPr>
        <p:spPr>
          <a:xfrm>
            <a:off x="914400" y="4862513"/>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def</a:t>
            </a:r>
            <a:r>
              <a:rPr sz="1725" b="0">
                <a:solidFill>
                  <a:srgbClr val="FFFFFF"/>
                </a:solidFill>
                <a:latin typeface="Menlo"/>
                <a:ea typeface="Menlo"/>
                <a:cs typeface="Menlo"/>
              </a:rPr>
              <a:t> get_queryset(self):</a:t>
            </a:r>
          </a:p>
        </p:txBody>
      </p:sp>
      <p:sp>
        <p:nvSpPr>
          <p:cNvPr id="14" name="code-line-7">
            <a:extLst>
              <a:ext uri="{FF2B5EF4-FFF2-40B4-BE49-F238E27FC236}">
                <a16:creationId xmlns:a16="http://schemas.microsoft.com/office/drawing/2014/main" id="{4B7E8CC0-AC59-43E2-9CC7-39E08F4F39B1}"/>
              </a:ext>
            </a:extLst>
          </p:cNvPr>
          <p:cNvSpPr>
            <a:spLocks noGrp="1"/>
          </p:cNvSpPr>
          <p:nvPr/>
        </p:nvSpPr>
        <p:spPr>
          <a:xfrm>
            <a:off x="914400" y="5185569"/>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return</a:t>
            </a:r>
            <a:r>
              <a:rPr sz="1725" b="0">
                <a:solidFill>
                  <a:srgbClr val="FFFFFF"/>
                </a:solidFill>
                <a:latin typeface="Menlo"/>
                <a:ea typeface="Menlo"/>
                <a:cs typeface="Menlo"/>
              </a:rPr>
              <a:t> Task.objects.filter(</a:t>
            </a:r>
          </a:p>
        </p:txBody>
      </p:sp>
      <p:sp>
        <p:nvSpPr>
          <p:cNvPr id="15" name="code-line-8">
            <a:extLst>
              <a:ext uri="{FF2B5EF4-FFF2-40B4-BE49-F238E27FC236}">
                <a16:creationId xmlns:a16="http://schemas.microsoft.com/office/drawing/2014/main" id="{E4CC3C9E-ECA3-4628-A9CC-0A6D8677C92D}"/>
              </a:ext>
            </a:extLst>
          </p:cNvPr>
          <p:cNvSpPr>
            <a:spLocks noGrp="1"/>
          </p:cNvSpPr>
          <p:nvPr/>
        </p:nvSpPr>
        <p:spPr>
          <a:xfrm>
            <a:off x="914400" y="5508625"/>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owner=self.request.user</a:t>
            </a:r>
          </a:p>
        </p:txBody>
      </p:sp>
      <p:sp>
        <p:nvSpPr>
          <p:cNvPr id="16" name="code-line-9">
            <a:extLst>
              <a:ext uri="{FF2B5EF4-FFF2-40B4-BE49-F238E27FC236}">
                <a16:creationId xmlns:a16="http://schemas.microsoft.com/office/drawing/2014/main" id="{BF108445-B9F4-4EC5-8047-23E273911D4C}"/>
              </a:ext>
            </a:extLst>
          </p:cNvPr>
          <p:cNvSpPr>
            <a:spLocks noGrp="1"/>
          </p:cNvSpPr>
          <p:nvPr/>
        </p:nvSpPr>
        <p:spPr>
          <a:xfrm>
            <a:off x="914400" y="5831681"/>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).order_by("id")</a:t>
            </a:r>
          </a:p>
        </p:txBody>
      </p:sp>
      <p:sp>
        <p:nvSpPr>
          <p:cNvPr id="17" name="code-line-10">
            <a:extLst>
              <a:ext uri="{FF2B5EF4-FFF2-40B4-BE49-F238E27FC236}">
                <a16:creationId xmlns:a16="http://schemas.microsoft.com/office/drawing/2014/main" id="{47E02085-DD73-4F15-B715-74669253D347}"/>
              </a:ext>
            </a:extLst>
          </p:cNvPr>
          <p:cNvSpPr>
            <a:spLocks noGrp="1"/>
          </p:cNvSpPr>
          <p:nvPr/>
        </p:nvSpPr>
        <p:spPr>
          <a:xfrm>
            <a:off x="914400" y="6154738"/>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def</a:t>
            </a:r>
            <a:r>
              <a:rPr sz="1725" b="0">
                <a:solidFill>
                  <a:srgbClr val="FFFFFF"/>
                </a:solidFill>
                <a:latin typeface="Menlo"/>
                <a:ea typeface="Menlo"/>
                <a:cs typeface="Menlo"/>
              </a:rPr>
              <a:t> perform_create(self, serializer):</a:t>
            </a:r>
          </a:p>
        </p:txBody>
      </p:sp>
      <p:sp>
        <p:nvSpPr>
          <p:cNvPr id="18" name="code-line-11">
            <a:extLst>
              <a:ext uri="{FF2B5EF4-FFF2-40B4-BE49-F238E27FC236}">
                <a16:creationId xmlns:a16="http://schemas.microsoft.com/office/drawing/2014/main" id="{03AD3F5A-8587-431A-92A6-1E132F883B23}"/>
              </a:ext>
            </a:extLst>
          </p:cNvPr>
          <p:cNvSpPr>
            <a:spLocks noGrp="1"/>
          </p:cNvSpPr>
          <p:nvPr/>
        </p:nvSpPr>
        <p:spPr>
          <a:xfrm>
            <a:off x="914400" y="6477794"/>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serializer.save(owner=self.request.user)</a:t>
            </a:r>
          </a:p>
        </p:txBody>
      </p:sp>
      <p:sp>
        <p:nvSpPr>
          <p:cNvPr id="19" name="reveal-1-output-1">
            <a:extLst>
              <a:ext uri="{FF2B5EF4-FFF2-40B4-BE49-F238E27FC236}">
                <a16:creationId xmlns:a16="http://schemas.microsoft.com/office/drawing/2014/main" id="{8280DF7B-57A9-4BCD-9D6D-0CE13182A95E}"/>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Example owned record: HTTP 200</a:t>
            </a:r>
          </a:p>
        </p:txBody>
      </p:sp>
      <p:sp>
        <p:nvSpPr>
          <p:cNvPr id="20" name="reveal-1-output-2">
            <a:extLst>
              <a:ext uri="{FF2B5EF4-FFF2-40B4-BE49-F238E27FC236}">
                <a16:creationId xmlns:a16="http://schemas.microsoft.com/office/drawing/2014/main" id="{44FB1B1A-C335-4998-8578-557D94D186D3}"/>
              </a:ext>
            </a:extLst>
          </p:cNvPr>
          <p:cNvSpPr>
            <a:spLocks noGrp="1"/>
          </p:cNvSpPr>
          <p:nvPr/>
        </p:nvSpPr>
        <p:spPr>
          <a:xfrm>
            <a:off x="9239250" y="2952750"/>
            <a:ext cx="5295900" cy="3810000"/>
          </a:xfrm>
          <a:prstGeom prst="rect">
            <a:avLst/>
          </a:prstGeom>
          <a:solidFill>
            <a:srgbClr val="ECEFF7"/>
          </a:solidFill>
          <a:ln w="0">
            <a:noFill/>
          </a:ln>
        </p:spPr>
      </p:sp>
      <p:sp>
        <p:nvSpPr>
          <p:cNvPr id="21" name="reveal-1-output-3">
            <a:extLst>
              <a:ext uri="{FF2B5EF4-FFF2-40B4-BE49-F238E27FC236}">
                <a16:creationId xmlns:a16="http://schemas.microsoft.com/office/drawing/2014/main" id="{B8D8BB0D-8EE0-49F3-B09F-E8983CFA3EEE}"/>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650" b="0">
                <a:solidFill>
                  <a:srgbClr val="242C35"/>
                </a:solidFill>
                <a:latin typeface="Menlo"/>
                <a:ea typeface="Menlo"/>
                <a:cs typeface="Menlo"/>
              </a:defRPr>
            </a:pPr>
            <a:r>
              <a:rPr sz="1650" b="0">
                <a:solidFill>
                  <a:srgbClr val="242C35"/>
                </a:solidFill>
                <a:latin typeface="Menlo"/>
                <a:ea typeface="Menlo"/>
                <a:cs typeface="Menlo"/>
              </a:rPr>
              <a:t>[</a:t>
            </a:r>
          </a:p>
          <a:p>
            <a:pPr algn="l">
              <a:defRPr sz="1650" b="0">
                <a:solidFill>
                  <a:srgbClr val="242C35"/>
                </a:solidFill>
                <a:latin typeface="Menlo"/>
                <a:ea typeface="Menlo"/>
                <a:cs typeface="Menlo"/>
              </a:defRPr>
            </a:pPr>
            <a:r>
              <a:rPr sz="1650" b="0">
                <a:solidFill>
                  <a:srgbClr val="242C35"/>
                </a:solidFill>
                <a:latin typeface="Menlo"/>
                <a:ea typeface="Menlo"/>
                <a:cs typeface="Menlo"/>
              </a:rPr>
              <a:t>{"id": 1,</a:t>
            </a:r>
          </a:p>
          <a:p>
            <a:pPr algn="l">
              <a:defRPr sz="1650" b="0">
                <a:solidFill>
                  <a:srgbClr val="242C35"/>
                </a:solidFill>
                <a:latin typeface="Menlo"/>
                <a:ea typeface="Menlo"/>
                <a:cs typeface="Menlo"/>
              </a:defRPr>
            </a:pPr>
            <a:r>
              <a:rPr sz="1650" b="0">
                <a:solidFill>
                  <a:srgbClr val="242C35"/>
                </a:solidFill>
                <a:latin typeface="Menlo"/>
                <a:ea typeface="Menlo"/>
                <a:cs typeface="Menlo"/>
              </a:rPr>
              <a:t>"title": "Prepare Django demo",</a:t>
            </a:r>
          </a:p>
          <a:p>
            <a:pPr algn="l">
              <a:defRPr sz="1650" b="0">
                <a:solidFill>
                  <a:srgbClr val="242C35"/>
                </a:solidFill>
                <a:latin typeface="Menlo"/>
                <a:ea typeface="Menlo"/>
                <a:cs typeface="Menlo"/>
              </a:defRPr>
            </a:pPr>
            <a:r>
              <a:rPr sz="1650" b="0">
                <a:solidFill>
                  <a:srgbClr val="242C35"/>
                </a:solidFill>
                <a:latin typeface="Menlo"/>
                <a:ea typeface="Menlo"/>
                <a:cs typeface="Menlo"/>
              </a:rPr>
              <a:t>"completed": false}</a:t>
            </a:r>
          </a:p>
          <a:p>
            <a:pPr algn="l">
              <a:defRPr sz="1650" b="0">
                <a:solidFill>
                  <a:srgbClr val="242C35"/>
                </a:solidFill>
                <a:latin typeface="Menlo"/>
                <a:ea typeface="Menlo"/>
                <a:cs typeface="Menlo"/>
              </a:defRPr>
            </a:pPr>
            <a:r>
              <a:rPr sz="1650" b="0">
                <a:solidFill>
                  <a:srgbClr val="242C35"/>
                </a:solidFill>
                <a:latin typeface="Menlo"/>
                <a:ea typeface="Menlo"/>
                <a:cs typeface="Menlo"/>
              </a:rPr>
              <a:t>]</a:t>
            </a:r>
          </a:p>
        </p:txBody>
      </p:sp>
      <p:sp>
        <p:nvSpPr>
          <p:cNvPr id="22" name="fade-1-takeaway">
            <a:extLst>
              <a:ext uri="{FF2B5EF4-FFF2-40B4-BE49-F238E27FC236}">
                <a16:creationId xmlns:a16="http://schemas.microsoft.com/office/drawing/2014/main" id="{04955ED1-1018-474E-9871-BB435EEAF144}"/>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get_queryset limits every standard object lookup.</a:t>
            </a:r>
          </a:p>
        </p:txBody>
      </p:sp>
    </p:spTree>
    <p:extLst>
      <p:ext uri="{BB962C8B-B14F-4D97-AF65-F5344CB8AC3E}">
        <p14:creationId xmlns:p14="http://schemas.microsoft.com/office/powerpoint/2010/main" val="20006488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350" fill="hold">
                                          <p:stCondLst>
                                            <p:cond delay="0"/>
                                          </p:stCondLst>
                                        </p:cTn>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2" name="text-350">
            <a:extLst>
              <a:ext uri="{FF2B5EF4-FFF2-40B4-BE49-F238E27FC236}">
                <a16:creationId xmlns:a16="http://schemas.microsoft.com/office/drawing/2014/main" id="{5ECACE7A-FCD9-40D9-8C1E-D5CA589E867E}"/>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05 / REST APIs</a:t>
            </a:r>
          </a:p>
        </p:txBody>
      </p:sp>
      <p:sp>
        <p:nvSpPr>
          <p:cNvPr id="2" name="text-351">
            <a:extLst>
              <a:ext uri="{FF2B5EF4-FFF2-40B4-BE49-F238E27FC236}">
                <a16:creationId xmlns:a16="http://schemas.microsoft.com/office/drawing/2014/main" id="{D03945BC-DA22-4FBA-871C-0505940D4A68}"/>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The router creates task endpoints</a:t>
            </a:r>
          </a:p>
        </p:txBody>
      </p:sp>
      <p:sp>
        <p:nvSpPr>
          <p:cNvPr id="3" name="text-352">
            <a:extLst>
              <a:ext uri="{FF2B5EF4-FFF2-40B4-BE49-F238E27FC236}">
                <a16:creationId xmlns:a16="http://schemas.microsoft.com/office/drawing/2014/main" id="{C751BF0B-15E4-4B67-9270-02E367311E24}"/>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353">
            <a:extLst>
              <a:ext uri="{FF2B5EF4-FFF2-40B4-BE49-F238E27FC236}">
                <a16:creationId xmlns:a16="http://schemas.microsoft.com/office/drawing/2014/main" id="{D48E01A6-6082-4DB9-919D-9FB8086CC414}"/>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46</a:t>
            </a:r>
          </a:p>
        </p:txBody>
      </p:sp>
      <p:sp>
        <p:nvSpPr>
          <p:cNvPr id="5" name="text-354">
            <a:extLst>
              <a:ext uri="{FF2B5EF4-FFF2-40B4-BE49-F238E27FC236}">
                <a16:creationId xmlns:a16="http://schemas.microsoft.com/office/drawing/2014/main" id="{FEFC24C9-0003-40AB-B2BE-DDD04622E7C6}"/>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config/urls.py additions</a:t>
            </a:r>
          </a:p>
        </p:txBody>
      </p:sp>
      <p:sp>
        <p:nvSpPr>
          <p:cNvPr id="6" name="code-panel-355">
            <a:extLst>
              <a:ext uri="{FF2B5EF4-FFF2-40B4-BE49-F238E27FC236}">
                <a16:creationId xmlns:a16="http://schemas.microsoft.com/office/drawing/2014/main" id="{DE13AA06-730B-4766-8654-2D67D061A592}"/>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A19F79FC-C151-4168-A328-45D43F3E750B}"/>
              </a:ext>
            </a:extLst>
          </p:cNvPr>
          <p:cNvSpPr>
            <a:spLocks noGrp="1"/>
          </p:cNvSpPr>
          <p:nvPr/>
        </p:nvSpPr>
        <p:spPr>
          <a:xfrm>
            <a:off x="914400" y="2924175"/>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from</a:t>
            </a:r>
            <a:r>
              <a:rPr sz="1725" b="0">
                <a:solidFill>
                  <a:srgbClr val="FFFFFF"/>
                </a:solidFill>
                <a:latin typeface="Menlo"/>
                <a:ea typeface="Menlo"/>
                <a:cs typeface="Menlo"/>
              </a:rPr>
              <a:t> django.urls </a:t>
            </a:r>
            <a:r>
              <a:rPr sz="1725" b="0">
                <a:solidFill>
                  <a:srgbClr val="A7C2FF"/>
                </a:solidFill>
                <a:latin typeface="Menlo"/>
                <a:ea typeface="Menlo"/>
                <a:cs typeface="Menlo"/>
              </a:rPr>
              <a:t>import</a:t>
            </a:r>
            <a:r>
              <a:rPr sz="1725" b="0">
                <a:solidFill>
                  <a:srgbClr val="FFFFFF"/>
                </a:solidFill>
                <a:latin typeface="Menlo"/>
                <a:ea typeface="Menlo"/>
                <a:cs typeface="Menlo"/>
              </a:rPr>
              <a:t> include, path</a:t>
            </a:r>
          </a:p>
        </p:txBody>
      </p:sp>
      <p:sp>
        <p:nvSpPr>
          <p:cNvPr id="8" name="code-line-1">
            <a:extLst>
              <a:ext uri="{FF2B5EF4-FFF2-40B4-BE49-F238E27FC236}">
                <a16:creationId xmlns:a16="http://schemas.microsoft.com/office/drawing/2014/main" id="{D4B60CAF-53C2-4915-8309-D0BDF914F9AF}"/>
              </a:ext>
            </a:extLst>
          </p:cNvPr>
          <p:cNvSpPr>
            <a:spLocks noGrp="1"/>
          </p:cNvSpPr>
          <p:nvPr/>
        </p:nvSpPr>
        <p:spPr>
          <a:xfrm>
            <a:off x="914400" y="3247231"/>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from</a:t>
            </a:r>
            <a:r>
              <a:rPr sz="1725" b="0">
                <a:solidFill>
                  <a:srgbClr val="FFFFFF"/>
                </a:solidFill>
                <a:latin typeface="Menlo"/>
                <a:ea typeface="Menlo"/>
                <a:cs typeface="Menlo"/>
              </a:rPr>
              <a:t> rest_framework.routers </a:t>
            </a:r>
            <a:r>
              <a:rPr sz="1725" b="0">
                <a:solidFill>
                  <a:srgbClr val="A7C2FF"/>
                </a:solidFill>
                <a:latin typeface="Menlo"/>
                <a:ea typeface="Menlo"/>
                <a:cs typeface="Menlo"/>
              </a:rPr>
              <a:t>import</a:t>
            </a:r>
            <a:r>
              <a:rPr sz="1725" b="0">
                <a:solidFill>
                  <a:srgbClr val="FFFFFF"/>
                </a:solidFill>
                <a:latin typeface="Menlo"/>
                <a:ea typeface="Menlo"/>
                <a:cs typeface="Menlo"/>
              </a:rPr>
              <a:t> DefaultRouter</a:t>
            </a:r>
          </a:p>
        </p:txBody>
      </p:sp>
      <p:sp>
        <p:nvSpPr>
          <p:cNvPr id="9" name="code-line-2">
            <a:extLst>
              <a:ext uri="{FF2B5EF4-FFF2-40B4-BE49-F238E27FC236}">
                <a16:creationId xmlns:a16="http://schemas.microsoft.com/office/drawing/2014/main" id="{34812777-5582-4A57-9DC3-EB3745F17298}"/>
              </a:ext>
            </a:extLst>
          </p:cNvPr>
          <p:cNvSpPr>
            <a:spLocks noGrp="1"/>
          </p:cNvSpPr>
          <p:nvPr/>
        </p:nvSpPr>
        <p:spPr>
          <a:xfrm>
            <a:off x="914400" y="3570288"/>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from</a:t>
            </a:r>
            <a:r>
              <a:rPr sz="1725" b="0">
                <a:solidFill>
                  <a:srgbClr val="FFFFFF"/>
                </a:solidFill>
                <a:latin typeface="Menlo"/>
                <a:ea typeface="Menlo"/>
                <a:cs typeface="Menlo"/>
              </a:rPr>
              <a:t> tasks.api </a:t>
            </a:r>
            <a:r>
              <a:rPr sz="1725" b="0">
                <a:solidFill>
                  <a:srgbClr val="A7C2FF"/>
                </a:solidFill>
                <a:latin typeface="Menlo"/>
                <a:ea typeface="Menlo"/>
                <a:cs typeface="Menlo"/>
              </a:rPr>
              <a:t>import</a:t>
            </a:r>
            <a:r>
              <a:rPr sz="1725" b="0">
                <a:solidFill>
                  <a:srgbClr val="FFFFFF"/>
                </a:solidFill>
                <a:latin typeface="Menlo"/>
                <a:ea typeface="Menlo"/>
                <a:cs typeface="Menlo"/>
              </a:rPr>
              <a:t> TaskViewSet</a:t>
            </a:r>
          </a:p>
        </p:txBody>
      </p:sp>
      <p:sp>
        <p:nvSpPr>
          <p:cNvPr id="10" name="code-line-3">
            <a:extLst>
              <a:ext uri="{FF2B5EF4-FFF2-40B4-BE49-F238E27FC236}">
                <a16:creationId xmlns:a16="http://schemas.microsoft.com/office/drawing/2014/main" id="{CB5EA5D0-1BE9-48D8-B753-CF329C94EF54}"/>
              </a:ext>
            </a:extLst>
          </p:cNvPr>
          <p:cNvSpPr>
            <a:spLocks noGrp="1"/>
          </p:cNvSpPr>
          <p:nvPr/>
        </p:nvSpPr>
        <p:spPr>
          <a:xfrm>
            <a:off x="914400" y="3893344"/>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router = DefaultRouter()</a:t>
            </a:r>
          </a:p>
        </p:txBody>
      </p:sp>
      <p:sp>
        <p:nvSpPr>
          <p:cNvPr id="11" name="code-line-4">
            <a:extLst>
              <a:ext uri="{FF2B5EF4-FFF2-40B4-BE49-F238E27FC236}">
                <a16:creationId xmlns:a16="http://schemas.microsoft.com/office/drawing/2014/main" id="{3098CA01-EF29-47FC-AAF8-723381E729EE}"/>
              </a:ext>
            </a:extLst>
          </p:cNvPr>
          <p:cNvSpPr>
            <a:spLocks noGrp="1"/>
          </p:cNvSpPr>
          <p:nvPr/>
        </p:nvSpPr>
        <p:spPr>
          <a:xfrm>
            <a:off x="914400" y="4216400"/>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router.register(</a:t>
            </a:r>
          </a:p>
        </p:txBody>
      </p:sp>
      <p:sp>
        <p:nvSpPr>
          <p:cNvPr id="12" name="code-line-5">
            <a:extLst>
              <a:ext uri="{FF2B5EF4-FFF2-40B4-BE49-F238E27FC236}">
                <a16:creationId xmlns:a16="http://schemas.microsoft.com/office/drawing/2014/main" id="{5FEAB6D2-D5DB-4E46-B2F0-CD196506468A}"/>
              </a:ext>
            </a:extLst>
          </p:cNvPr>
          <p:cNvSpPr>
            <a:spLocks noGrp="1"/>
          </p:cNvSpPr>
          <p:nvPr/>
        </p:nvSpPr>
        <p:spPr>
          <a:xfrm>
            <a:off x="914400" y="4539456"/>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"tasks", TaskViewSet, basename="task"</a:t>
            </a:r>
          </a:p>
        </p:txBody>
      </p:sp>
      <p:sp>
        <p:nvSpPr>
          <p:cNvPr id="13" name="code-line-6">
            <a:extLst>
              <a:ext uri="{FF2B5EF4-FFF2-40B4-BE49-F238E27FC236}">
                <a16:creationId xmlns:a16="http://schemas.microsoft.com/office/drawing/2014/main" id="{CDBFC477-9DCF-4757-8BAD-1A644BFE7165}"/>
              </a:ext>
            </a:extLst>
          </p:cNvPr>
          <p:cNvSpPr>
            <a:spLocks noGrp="1"/>
          </p:cNvSpPr>
          <p:nvPr/>
        </p:nvSpPr>
        <p:spPr>
          <a:xfrm>
            <a:off x="914400" y="4862513"/>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a:t>
            </a:r>
          </a:p>
        </p:txBody>
      </p:sp>
      <p:sp>
        <p:nvSpPr>
          <p:cNvPr id="14" name="code-line-7">
            <a:extLst>
              <a:ext uri="{FF2B5EF4-FFF2-40B4-BE49-F238E27FC236}">
                <a16:creationId xmlns:a16="http://schemas.microsoft.com/office/drawing/2014/main" id="{8CED027C-6B86-48BA-BC52-B9B95C4F7E80}"/>
              </a:ext>
            </a:extLst>
          </p:cNvPr>
          <p:cNvSpPr>
            <a:spLocks noGrp="1"/>
          </p:cNvSpPr>
          <p:nvPr/>
        </p:nvSpPr>
        <p:spPr>
          <a:xfrm>
            <a:off x="914400" y="5185569"/>
            <a:ext cx="7639050" cy="351631"/>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Add to the existing urlpatterns</a:t>
            </a:r>
          </a:p>
        </p:txBody>
      </p:sp>
      <p:sp>
        <p:nvSpPr>
          <p:cNvPr id="15" name="code-line-8">
            <a:extLst>
              <a:ext uri="{FF2B5EF4-FFF2-40B4-BE49-F238E27FC236}">
                <a16:creationId xmlns:a16="http://schemas.microsoft.com/office/drawing/2014/main" id="{819CACDD-5CA5-42B9-BEF7-B20933812288}"/>
              </a:ext>
            </a:extLst>
          </p:cNvPr>
          <p:cNvSpPr>
            <a:spLocks noGrp="1"/>
          </p:cNvSpPr>
          <p:nvPr/>
        </p:nvSpPr>
        <p:spPr>
          <a:xfrm>
            <a:off x="914400" y="5508625"/>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urlpatterns += [</a:t>
            </a:r>
          </a:p>
        </p:txBody>
      </p:sp>
      <p:sp>
        <p:nvSpPr>
          <p:cNvPr id="16" name="code-line-9">
            <a:extLst>
              <a:ext uri="{FF2B5EF4-FFF2-40B4-BE49-F238E27FC236}">
                <a16:creationId xmlns:a16="http://schemas.microsoft.com/office/drawing/2014/main" id="{0D5AE7F9-9112-4494-8496-CD5F0136C5BC}"/>
              </a:ext>
            </a:extLst>
          </p:cNvPr>
          <p:cNvSpPr>
            <a:spLocks noGrp="1"/>
          </p:cNvSpPr>
          <p:nvPr/>
        </p:nvSpPr>
        <p:spPr>
          <a:xfrm>
            <a:off x="914400" y="5831681"/>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path("api/", include(router.urls)),</a:t>
            </a:r>
          </a:p>
        </p:txBody>
      </p:sp>
      <p:sp>
        <p:nvSpPr>
          <p:cNvPr id="17" name="code-line-10">
            <a:extLst>
              <a:ext uri="{FF2B5EF4-FFF2-40B4-BE49-F238E27FC236}">
                <a16:creationId xmlns:a16="http://schemas.microsoft.com/office/drawing/2014/main" id="{DF89A119-E4BD-47FE-8406-C063695F0A62}"/>
              </a:ext>
            </a:extLst>
          </p:cNvPr>
          <p:cNvSpPr>
            <a:spLocks noGrp="1"/>
          </p:cNvSpPr>
          <p:nvPr/>
        </p:nvSpPr>
        <p:spPr>
          <a:xfrm>
            <a:off x="914400" y="6154738"/>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path("api-auth/", include("rest_framework.urls")),</a:t>
            </a:r>
          </a:p>
        </p:txBody>
      </p:sp>
      <p:sp>
        <p:nvSpPr>
          <p:cNvPr id="18" name="code-line-11">
            <a:extLst>
              <a:ext uri="{FF2B5EF4-FFF2-40B4-BE49-F238E27FC236}">
                <a16:creationId xmlns:a16="http://schemas.microsoft.com/office/drawing/2014/main" id="{4068A2BB-A41C-4EA6-BD87-3F0910C8D297}"/>
              </a:ext>
            </a:extLst>
          </p:cNvPr>
          <p:cNvSpPr>
            <a:spLocks noGrp="1"/>
          </p:cNvSpPr>
          <p:nvPr/>
        </p:nvSpPr>
        <p:spPr>
          <a:xfrm>
            <a:off x="914400" y="6477794"/>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a:t>
            </a:r>
          </a:p>
        </p:txBody>
      </p:sp>
      <p:sp>
        <p:nvSpPr>
          <p:cNvPr id="19" name="reveal-1-output-1">
            <a:extLst>
              <a:ext uri="{FF2B5EF4-FFF2-40B4-BE49-F238E27FC236}">
                <a16:creationId xmlns:a16="http://schemas.microsoft.com/office/drawing/2014/main" id="{23C08E35-5056-4B33-B0D9-7AB1784FE08E}"/>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Router output</a:t>
            </a:r>
          </a:p>
        </p:txBody>
      </p:sp>
      <p:graphicFrame>
        <p:nvGraphicFramePr>
          <p:cNvPr id="41" name="reveal-1-output-2"/>
          <p:cNvGraphicFramePr/>
          <p:nvPr/>
        </p:nvGraphicFramePr>
        <p:xfrm>
          <a:off x="9239250" y="2952750"/>
          <a:ext cx="5295900" cy="3714750"/>
        </p:xfrm>
        <a:graphic>
          <a:graphicData uri="http://schemas.openxmlformats.org/drawingml/2006/table">
            <a:tbl>
              <a:tblPr firstRow="1"/>
              <a:tblGrid>
                <a:gridCol w="2647950">
                  <a:extLst>
                    <a:ext uri="{9D8B030D-6E8A-4147-A177-3AD203B41FA5}">
                      <a16:colId xmlns:a16="http://schemas.microsoft.com/office/drawing/2014/main" val="20000"/>
                    </a:ext>
                  </a:extLst>
                </a:gridCol>
                <a:gridCol w="2647950">
                  <a:extLst>
                    <a:ext uri="{9D8B030D-6E8A-4147-A177-3AD203B41FA5}">
                      <a16:colId xmlns:a16="http://schemas.microsoft.com/office/drawing/2014/main" val="20001"/>
                    </a:ext>
                  </a:extLst>
                </a:gridCol>
              </a:tblGrid>
              <a:tr h="1238250">
                <a:tc>
                  <a:txBody>
                    <a:bodyPr/>
                    <a:lstStyle/>
                    <a:p>
                      <a:r>
                        <a:rPr sz="1575" b="1">
                          <a:solidFill>
                            <a:srgbClr val="FFFFFF"/>
                          </a:solidFill>
                          <a:latin typeface="Helvetica Neue"/>
                          <a:ea typeface="Helvetica Neue"/>
                          <a:cs typeface="Helvetica Neue"/>
                        </a:rPr>
                        <a:t>Route</a:t>
                      </a:r>
                    </a:p>
                  </a:txBody>
                  <a:tcPr anchor="ctr">
                    <a:solidFill>
                      <a:srgbClr val="242C35"/>
                    </a:solidFill>
                  </a:tcPr>
                </a:tc>
                <a:tc>
                  <a:txBody>
                    <a:bodyPr/>
                    <a:lstStyle/>
                    <a:p>
                      <a:r>
                        <a:rPr sz="1575" b="1">
                          <a:solidFill>
                            <a:srgbClr val="FFFFFF"/>
                          </a:solidFill>
                          <a:latin typeface="Helvetica Neue"/>
                          <a:ea typeface="Helvetica Neue"/>
                          <a:cs typeface="Helvetica Neue"/>
                        </a:rPr>
                        <a:t>Actions</a:t>
                      </a:r>
                    </a:p>
                  </a:txBody>
                  <a:tcPr anchor="ctr">
                    <a:solidFill>
                      <a:srgbClr val="242C35"/>
                    </a:solidFill>
                  </a:tcPr>
                </a:tc>
                <a:extLst>
                  <a:ext uri="{0D108BD9-81ED-4DB2-BD59-A6C34878D82A}">
                    <a16:rowId xmlns:a16="http://schemas.microsoft.com/office/drawing/2014/main" val="10000"/>
                  </a:ext>
                </a:extLst>
              </a:tr>
              <a:tr h="1238250">
                <a:tc>
                  <a:txBody>
                    <a:bodyPr/>
                    <a:lstStyle/>
                    <a:p>
                      <a:r>
                        <a:rPr sz="1575" b="0">
                          <a:solidFill>
                            <a:srgbClr val="242C35"/>
                          </a:solidFill>
                          <a:latin typeface="Helvetica Neue"/>
                          <a:ea typeface="Helvetica Neue"/>
                          <a:cs typeface="Helvetica Neue"/>
                        </a:rPr>
                        <a:t>/api/tasks/</a:t>
                      </a:r>
                    </a:p>
                  </a:txBody>
                  <a:tcPr anchor="ctr">
                    <a:solidFill>
                      <a:srgbClr val="FFFFFF"/>
                    </a:solidFill>
                  </a:tcPr>
                </a:tc>
                <a:tc>
                  <a:txBody>
                    <a:bodyPr/>
                    <a:lstStyle/>
                    <a:p>
                      <a:r>
                        <a:rPr sz="1575" b="0">
                          <a:solidFill>
                            <a:srgbClr val="242C35"/>
                          </a:solidFill>
                          <a:latin typeface="Helvetica Neue"/>
                          <a:ea typeface="Helvetica Neue"/>
                          <a:cs typeface="Helvetica Neue"/>
                        </a:rPr>
                        <a:t>List and create</a:t>
                      </a:r>
                    </a:p>
                  </a:txBody>
                  <a:tcPr anchor="ctr">
                    <a:solidFill>
                      <a:srgbClr val="FFFFFF"/>
                    </a:solidFill>
                  </a:tcPr>
                </a:tc>
                <a:extLst>
                  <a:ext uri="{0D108BD9-81ED-4DB2-BD59-A6C34878D82A}">
                    <a16:rowId xmlns:a16="http://schemas.microsoft.com/office/drawing/2014/main" val="10001"/>
                  </a:ext>
                </a:extLst>
              </a:tr>
              <a:tr h="1238250">
                <a:tc>
                  <a:txBody>
                    <a:bodyPr/>
                    <a:lstStyle/>
                    <a:p>
                      <a:r>
                        <a:rPr sz="1575" b="0">
                          <a:solidFill>
                            <a:srgbClr val="242C35"/>
                          </a:solidFill>
                          <a:latin typeface="Helvetica Neue"/>
                          <a:ea typeface="Helvetica Neue"/>
                          <a:cs typeface="Helvetica Neue"/>
                        </a:rPr>
                        <a:t>/api/tasks/&lt;id&gt;/</a:t>
                      </a:r>
                    </a:p>
                  </a:txBody>
                  <a:tcPr anchor="ctr">
                    <a:solidFill>
                      <a:srgbClr val="F8F5EF"/>
                    </a:solidFill>
                  </a:tcPr>
                </a:tc>
                <a:tc>
                  <a:txBody>
                    <a:bodyPr/>
                    <a:lstStyle/>
                    <a:p>
                      <a:r>
                        <a:rPr sz="1575" b="0">
                          <a:solidFill>
                            <a:srgbClr val="242C35"/>
                          </a:solidFill>
                          <a:latin typeface="Helvetica Neue"/>
                          <a:ea typeface="Helvetica Neue"/>
                          <a:cs typeface="Helvetica Neue"/>
                        </a:rPr>
                        <a:t>Read, update and delete</a:t>
                      </a:r>
                    </a:p>
                  </a:txBody>
                  <a:tcPr anchor="ctr">
                    <a:solidFill>
                      <a:srgbClr val="F8F5EF"/>
                    </a:solidFill>
                  </a:tcPr>
                </a:tc>
                <a:extLst>
                  <a:ext uri="{0D108BD9-81ED-4DB2-BD59-A6C34878D82A}">
                    <a16:rowId xmlns:a16="http://schemas.microsoft.com/office/drawing/2014/main" val="10002"/>
                  </a:ext>
                </a:extLst>
              </a:tr>
            </a:tbl>
          </a:graphicData>
        </a:graphic>
      </p:graphicFrame>
      <p:sp>
        <p:nvSpPr>
          <p:cNvPr id="21" name="fade-1-takeaway">
            <a:extLst>
              <a:ext uri="{FF2B5EF4-FFF2-40B4-BE49-F238E27FC236}">
                <a16:creationId xmlns:a16="http://schemas.microsoft.com/office/drawing/2014/main" id="{6B29BA50-7AB2-4A6F-8039-81923A538B8C}"/>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Register TaskViewSet once under tasks.</a:t>
            </a:r>
          </a:p>
        </p:txBody>
      </p:sp>
    </p:spTree>
    <p:extLst>
      <p:ext uri="{BB962C8B-B14F-4D97-AF65-F5344CB8AC3E}">
        <p14:creationId xmlns:p14="http://schemas.microsoft.com/office/powerpoint/2010/main" val="7283168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350" fill="hold">
                                          <p:stCondLst>
                                            <p:cond delay="0"/>
                                          </p:stCondLst>
                                        </p:cTn>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3" name="text-357">
            <a:extLst>
              <a:ext uri="{FF2B5EF4-FFF2-40B4-BE49-F238E27FC236}">
                <a16:creationId xmlns:a16="http://schemas.microsoft.com/office/drawing/2014/main" id="{80B12B52-DB47-427D-92C1-D85EA0F0EB81}"/>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05 / REST APIs</a:t>
            </a:r>
          </a:p>
        </p:txBody>
      </p:sp>
      <p:sp>
        <p:nvSpPr>
          <p:cNvPr id="2" name="text-358">
            <a:extLst>
              <a:ext uri="{FF2B5EF4-FFF2-40B4-BE49-F238E27FC236}">
                <a16:creationId xmlns:a16="http://schemas.microsoft.com/office/drawing/2014/main" id="{CA5CCF99-BC49-472B-91CB-209CF11B5D0F}"/>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Search and pages in the API</a:t>
            </a:r>
          </a:p>
        </p:txBody>
      </p:sp>
      <p:sp>
        <p:nvSpPr>
          <p:cNvPr id="3" name="text-359">
            <a:extLst>
              <a:ext uri="{FF2B5EF4-FFF2-40B4-BE49-F238E27FC236}">
                <a16:creationId xmlns:a16="http://schemas.microsoft.com/office/drawing/2014/main" id="{45ECA7F9-571D-4678-A078-019D7E5EA9C5}"/>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360">
            <a:extLst>
              <a:ext uri="{FF2B5EF4-FFF2-40B4-BE49-F238E27FC236}">
                <a16:creationId xmlns:a16="http://schemas.microsoft.com/office/drawing/2014/main" id="{E8EB74AC-D5C7-4B04-A7CF-2582CFB8DCA1}"/>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47</a:t>
            </a:r>
          </a:p>
        </p:txBody>
      </p:sp>
      <p:sp>
        <p:nvSpPr>
          <p:cNvPr id="5" name="text-361">
            <a:extLst>
              <a:ext uri="{FF2B5EF4-FFF2-40B4-BE49-F238E27FC236}">
                <a16:creationId xmlns:a16="http://schemas.microsoft.com/office/drawing/2014/main" id="{DC86C077-5D45-4951-8641-BAF07E34A9B4}"/>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tasks/api.py additions</a:t>
            </a:r>
          </a:p>
        </p:txBody>
      </p:sp>
      <p:sp>
        <p:nvSpPr>
          <p:cNvPr id="6" name="code-panel-362">
            <a:extLst>
              <a:ext uri="{FF2B5EF4-FFF2-40B4-BE49-F238E27FC236}">
                <a16:creationId xmlns:a16="http://schemas.microsoft.com/office/drawing/2014/main" id="{04FD5F6D-3ADF-4A62-A678-E4078A813655}"/>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ABB3221B-A231-4B7C-873C-549F83A71049}"/>
              </a:ext>
            </a:extLst>
          </p:cNvPr>
          <p:cNvSpPr>
            <a:spLocks noGrp="1"/>
          </p:cNvSpPr>
          <p:nvPr/>
        </p:nvSpPr>
        <p:spPr>
          <a:xfrm>
            <a:off x="914400" y="2924175"/>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A7C2FF"/>
                </a:solidFill>
                <a:latin typeface="Menlo"/>
                <a:ea typeface="Menlo"/>
                <a:cs typeface="Menlo"/>
              </a:rPr>
              <a:t>from</a:t>
            </a:r>
            <a:r>
              <a:rPr sz="1650" b="0">
                <a:solidFill>
                  <a:srgbClr val="FFFFFF"/>
                </a:solidFill>
                <a:latin typeface="Menlo"/>
                <a:ea typeface="Menlo"/>
                <a:cs typeface="Menlo"/>
              </a:rPr>
              <a:t> rest_framework </a:t>
            </a:r>
            <a:r>
              <a:rPr sz="1650" b="0">
                <a:solidFill>
                  <a:srgbClr val="A7C2FF"/>
                </a:solidFill>
                <a:latin typeface="Menlo"/>
                <a:ea typeface="Menlo"/>
                <a:cs typeface="Menlo"/>
              </a:rPr>
              <a:t>import</a:t>
            </a:r>
            <a:r>
              <a:rPr sz="1650" b="0">
                <a:solidFill>
                  <a:srgbClr val="FFFFFF"/>
                </a:solidFill>
                <a:latin typeface="Menlo"/>
                <a:ea typeface="Menlo"/>
                <a:cs typeface="Menlo"/>
              </a:rPr>
              <a:t> filters</a:t>
            </a:r>
          </a:p>
        </p:txBody>
      </p:sp>
      <p:sp>
        <p:nvSpPr>
          <p:cNvPr id="8" name="code-line-1">
            <a:extLst>
              <a:ext uri="{FF2B5EF4-FFF2-40B4-BE49-F238E27FC236}">
                <a16:creationId xmlns:a16="http://schemas.microsoft.com/office/drawing/2014/main" id="{91F5FCBF-76B8-4252-A2C9-4B6D33AA140E}"/>
              </a:ext>
            </a:extLst>
          </p:cNvPr>
          <p:cNvSpPr>
            <a:spLocks noGrp="1"/>
          </p:cNvSpPr>
          <p:nvPr/>
        </p:nvSpPr>
        <p:spPr>
          <a:xfrm>
            <a:off x="914400" y="3247231"/>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A7C2FF"/>
                </a:solidFill>
                <a:latin typeface="Menlo"/>
                <a:ea typeface="Menlo"/>
                <a:cs typeface="Menlo"/>
              </a:rPr>
              <a:t>from</a:t>
            </a:r>
            <a:r>
              <a:rPr sz="1650" b="0">
                <a:solidFill>
                  <a:srgbClr val="FFFFFF"/>
                </a:solidFill>
                <a:latin typeface="Menlo"/>
                <a:ea typeface="Menlo"/>
                <a:cs typeface="Menlo"/>
              </a:rPr>
              <a:t> rest_framework.pagination </a:t>
            </a:r>
            <a:r>
              <a:rPr sz="1650" b="0">
                <a:solidFill>
                  <a:srgbClr val="A7C2FF"/>
                </a:solidFill>
                <a:latin typeface="Menlo"/>
                <a:ea typeface="Menlo"/>
                <a:cs typeface="Menlo"/>
              </a:rPr>
              <a:t>import</a:t>
            </a:r>
            <a:r>
              <a:rPr sz="1650" b="0">
                <a:solidFill>
                  <a:srgbClr val="FFFFFF"/>
                </a:solidFill>
                <a:latin typeface="Menlo"/>
                <a:ea typeface="Menlo"/>
                <a:cs typeface="Menlo"/>
              </a:rPr>
              <a:t> PageNumberPagination</a:t>
            </a:r>
          </a:p>
        </p:txBody>
      </p:sp>
      <p:sp>
        <p:nvSpPr>
          <p:cNvPr id="9" name="code-line-2">
            <a:extLst>
              <a:ext uri="{FF2B5EF4-FFF2-40B4-BE49-F238E27FC236}">
                <a16:creationId xmlns:a16="http://schemas.microsoft.com/office/drawing/2014/main" id="{52F8000F-3C46-49AF-9D28-5A2ACC0ACEF1}"/>
              </a:ext>
            </a:extLst>
          </p:cNvPr>
          <p:cNvSpPr>
            <a:spLocks noGrp="1"/>
          </p:cNvSpPr>
          <p:nvPr/>
        </p:nvSpPr>
        <p:spPr>
          <a:xfrm>
            <a:off x="914400" y="3570288"/>
            <a:ext cx="7639050" cy="351631"/>
          </a:xfrm>
          <a:prstGeom prst="rect">
            <a:avLst/>
          </a:prstGeom>
          <a:noFill/>
          <a:ln w="0">
            <a:noFill/>
          </a:ln>
        </p:spPr>
        <p:txBody>
          <a:bodyPr wrap="none" lIns="0" tIns="0" rIns="0" bIns="0" anchor="t">
            <a:noAutofit/>
          </a:bodyPr>
          <a:lstStyle/>
          <a:p>
            <a:endParaRPr/>
          </a:p>
        </p:txBody>
      </p:sp>
      <p:sp>
        <p:nvSpPr>
          <p:cNvPr id="10" name="code-line-3">
            <a:extLst>
              <a:ext uri="{FF2B5EF4-FFF2-40B4-BE49-F238E27FC236}">
                <a16:creationId xmlns:a16="http://schemas.microsoft.com/office/drawing/2014/main" id="{B7703A74-A7C6-4303-9E43-7FDB4AEB11FF}"/>
              </a:ext>
            </a:extLst>
          </p:cNvPr>
          <p:cNvSpPr>
            <a:spLocks noGrp="1"/>
          </p:cNvSpPr>
          <p:nvPr/>
        </p:nvSpPr>
        <p:spPr>
          <a:xfrm>
            <a:off x="914400" y="3893344"/>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A7C2FF"/>
                </a:solidFill>
                <a:latin typeface="Menlo"/>
                <a:ea typeface="Menlo"/>
                <a:cs typeface="Menlo"/>
              </a:rPr>
              <a:t>class</a:t>
            </a:r>
            <a:r>
              <a:rPr sz="1650" b="0">
                <a:solidFill>
                  <a:srgbClr val="FFFFFF"/>
                </a:solidFill>
                <a:latin typeface="Menlo"/>
                <a:ea typeface="Menlo"/>
                <a:cs typeface="Menlo"/>
              </a:rPr>
              <a:t> TaskPagination(PageNumberPagination):</a:t>
            </a:r>
          </a:p>
        </p:txBody>
      </p:sp>
      <p:sp>
        <p:nvSpPr>
          <p:cNvPr id="11" name="code-line-4">
            <a:extLst>
              <a:ext uri="{FF2B5EF4-FFF2-40B4-BE49-F238E27FC236}">
                <a16:creationId xmlns:a16="http://schemas.microsoft.com/office/drawing/2014/main" id="{02BAED42-DE4A-48B2-8395-4B7AE42639BE}"/>
              </a:ext>
            </a:extLst>
          </p:cNvPr>
          <p:cNvSpPr>
            <a:spLocks noGrp="1"/>
          </p:cNvSpPr>
          <p:nvPr/>
        </p:nvSpPr>
        <p:spPr>
          <a:xfrm>
            <a:off x="914400" y="4216400"/>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page_size = 10</a:t>
            </a:r>
          </a:p>
        </p:txBody>
      </p:sp>
      <p:sp>
        <p:nvSpPr>
          <p:cNvPr id="12" name="code-line-5">
            <a:extLst>
              <a:ext uri="{FF2B5EF4-FFF2-40B4-BE49-F238E27FC236}">
                <a16:creationId xmlns:a16="http://schemas.microsoft.com/office/drawing/2014/main" id="{934B7C67-21F7-49D7-914F-C3FF9BB951B0}"/>
              </a:ext>
            </a:extLst>
          </p:cNvPr>
          <p:cNvSpPr>
            <a:spLocks noGrp="1"/>
          </p:cNvSpPr>
          <p:nvPr/>
        </p:nvSpPr>
        <p:spPr>
          <a:xfrm>
            <a:off x="914400" y="4539456"/>
            <a:ext cx="7639050" cy="351631"/>
          </a:xfrm>
          <a:prstGeom prst="rect">
            <a:avLst/>
          </a:prstGeom>
          <a:noFill/>
          <a:ln w="0">
            <a:noFill/>
          </a:ln>
        </p:spPr>
        <p:txBody>
          <a:bodyPr wrap="none" lIns="0" tIns="0" rIns="0" bIns="0" anchor="t">
            <a:noAutofit/>
          </a:bodyPr>
          <a:lstStyle/>
          <a:p>
            <a:endParaRPr/>
          </a:p>
        </p:txBody>
      </p:sp>
      <p:sp>
        <p:nvSpPr>
          <p:cNvPr id="13" name="code-line-6">
            <a:extLst>
              <a:ext uri="{FF2B5EF4-FFF2-40B4-BE49-F238E27FC236}">
                <a16:creationId xmlns:a16="http://schemas.microsoft.com/office/drawing/2014/main" id="{E76FB17D-791F-4CB0-AD71-CFE72C5F0229}"/>
              </a:ext>
            </a:extLst>
          </p:cNvPr>
          <p:cNvSpPr>
            <a:spLocks noGrp="1"/>
          </p:cNvSpPr>
          <p:nvPr/>
        </p:nvSpPr>
        <p:spPr>
          <a:xfrm>
            <a:off x="914400" y="4862513"/>
            <a:ext cx="7639050" cy="351631"/>
          </a:xfrm>
          <a:prstGeom prst="rect">
            <a:avLst/>
          </a:prstGeom>
          <a:noFill/>
          <a:ln w="0">
            <a:noFill/>
          </a:ln>
        </p:spPr>
        <p:txBody>
          <a:bodyPr wrap="none" lIns="0" tIns="0" rIns="0" bIns="0" anchor="t">
            <a:noAutofit/>
          </a:bodyPr>
          <a:lstStyle/>
          <a:p>
            <a:pPr algn="l">
              <a:defRPr sz="1650" b="0">
                <a:solidFill>
                  <a:srgbClr val="B1BFD2"/>
                </a:solidFill>
                <a:latin typeface="Menlo"/>
                <a:ea typeface="Menlo"/>
                <a:cs typeface="Menlo"/>
              </a:defRPr>
            </a:pPr>
            <a:r>
              <a:rPr sz="1650" b="0">
                <a:solidFill>
                  <a:srgbClr val="B1BFD2"/>
                </a:solidFill>
                <a:latin typeface="Menlo"/>
                <a:ea typeface="Menlo"/>
                <a:cs typeface="Menlo"/>
              </a:rPr>
              <a:t># Add inside TaskViewSet</a:t>
            </a:r>
          </a:p>
        </p:txBody>
      </p:sp>
      <p:sp>
        <p:nvSpPr>
          <p:cNvPr id="14" name="code-line-7">
            <a:extLst>
              <a:ext uri="{FF2B5EF4-FFF2-40B4-BE49-F238E27FC236}">
                <a16:creationId xmlns:a16="http://schemas.microsoft.com/office/drawing/2014/main" id="{BB4CD0F1-8F0C-4E90-B483-0B31B007AF7D}"/>
              </a:ext>
            </a:extLst>
          </p:cNvPr>
          <p:cNvSpPr>
            <a:spLocks noGrp="1"/>
          </p:cNvSpPr>
          <p:nvPr/>
        </p:nvSpPr>
        <p:spPr>
          <a:xfrm>
            <a:off x="914400" y="5185569"/>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pagination_class = TaskPagination</a:t>
            </a:r>
          </a:p>
        </p:txBody>
      </p:sp>
      <p:sp>
        <p:nvSpPr>
          <p:cNvPr id="15" name="code-line-8">
            <a:extLst>
              <a:ext uri="{FF2B5EF4-FFF2-40B4-BE49-F238E27FC236}">
                <a16:creationId xmlns:a16="http://schemas.microsoft.com/office/drawing/2014/main" id="{7FC0DE15-F85C-4E5D-9479-B9FF16D0F599}"/>
              </a:ext>
            </a:extLst>
          </p:cNvPr>
          <p:cNvSpPr>
            <a:spLocks noGrp="1"/>
          </p:cNvSpPr>
          <p:nvPr/>
        </p:nvSpPr>
        <p:spPr>
          <a:xfrm>
            <a:off x="914400" y="5508625"/>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filter_backends = [filters.SearchFilter]</a:t>
            </a:r>
          </a:p>
        </p:txBody>
      </p:sp>
      <p:sp>
        <p:nvSpPr>
          <p:cNvPr id="16" name="code-line-9">
            <a:extLst>
              <a:ext uri="{FF2B5EF4-FFF2-40B4-BE49-F238E27FC236}">
                <a16:creationId xmlns:a16="http://schemas.microsoft.com/office/drawing/2014/main" id="{63311F47-6F06-4EA1-A12B-4A2054F34A07}"/>
              </a:ext>
            </a:extLst>
          </p:cNvPr>
          <p:cNvSpPr>
            <a:spLocks noGrp="1"/>
          </p:cNvSpPr>
          <p:nvPr/>
        </p:nvSpPr>
        <p:spPr>
          <a:xfrm>
            <a:off x="914400" y="5831681"/>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search_fields = ["title"]</a:t>
            </a:r>
          </a:p>
        </p:txBody>
      </p:sp>
      <p:sp>
        <p:nvSpPr>
          <p:cNvPr id="17" name="code-line-10">
            <a:extLst>
              <a:ext uri="{FF2B5EF4-FFF2-40B4-BE49-F238E27FC236}">
                <a16:creationId xmlns:a16="http://schemas.microsoft.com/office/drawing/2014/main" id="{4428E6B9-28AC-4C51-AAFC-9C1CF696EADE}"/>
              </a:ext>
            </a:extLst>
          </p:cNvPr>
          <p:cNvSpPr>
            <a:spLocks noGrp="1"/>
          </p:cNvSpPr>
          <p:nvPr/>
        </p:nvSpPr>
        <p:spPr>
          <a:xfrm>
            <a:off x="914400" y="6154738"/>
            <a:ext cx="7639050" cy="351631"/>
          </a:xfrm>
          <a:prstGeom prst="rect">
            <a:avLst/>
          </a:prstGeom>
          <a:noFill/>
          <a:ln w="0">
            <a:noFill/>
          </a:ln>
        </p:spPr>
        <p:txBody>
          <a:bodyPr wrap="none" lIns="0" tIns="0" rIns="0" bIns="0" anchor="t">
            <a:noAutofit/>
          </a:bodyPr>
          <a:lstStyle/>
          <a:p>
            <a:endParaRPr/>
          </a:p>
        </p:txBody>
      </p:sp>
      <p:sp>
        <p:nvSpPr>
          <p:cNvPr id="18" name="code-line-11">
            <a:extLst>
              <a:ext uri="{FF2B5EF4-FFF2-40B4-BE49-F238E27FC236}">
                <a16:creationId xmlns:a16="http://schemas.microsoft.com/office/drawing/2014/main" id="{B5203C36-8012-4E66-B17C-A3E941CA6D51}"/>
              </a:ext>
            </a:extLst>
          </p:cNvPr>
          <p:cNvSpPr>
            <a:spLocks noGrp="1"/>
          </p:cNvSpPr>
          <p:nvPr/>
        </p:nvSpPr>
        <p:spPr>
          <a:xfrm>
            <a:off x="914400" y="6477794"/>
            <a:ext cx="7639050" cy="351631"/>
          </a:xfrm>
          <a:prstGeom prst="rect">
            <a:avLst/>
          </a:prstGeom>
          <a:noFill/>
          <a:ln w="0">
            <a:noFill/>
          </a:ln>
        </p:spPr>
        <p:txBody>
          <a:bodyPr wrap="none" lIns="0" tIns="0" rIns="0" bIns="0" anchor="t">
            <a:noAutofit/>
          </a:bodyPr>
          <a:lstStyle/>
          <a:p>
            <a:pPr algn="l">
              <a:defRPr sz="1650" b="0">
                <a:solidFill>
                  <a:srgbClr val="B1BFD2"/>
                </a:solidFill>
                <a:latin typeface="Menlo"/>
                <a:ea typeface="Menlo"/>
                <a:cs typeface="Menlo"/>
              </a:defRPr>
            </a:pPr>
            <a:r>
              <a:rPr sz="1650" b="0">
                <a:solidFill>
                  <a:srgbClr val="B1BFD2"/>
                </a:solidFill>
                <a:latin typeface="Menlo"/>
                <a:ea typeface="Menlo"/>
                <a:cs typeface="Menlo"/>
              </a:rPr>
              <a:t># GET /api/tasks/?search=django&amp;page=1</a:t>
            </a:r>
          </a:p>
        </p:txBody>
      </p:sp>
      <p:sp>
        <p:nvSpPr>
          <p:cNvPr id="19" name="reveal-1-output-1">
            <a:extLst>
              <a:ext uri="{FF2B5EF4-FFF2-40B4-BE49-F238E27FC236}">
                <a16:creationId xmlns:a16="http://schemas.microsoft.com/office/drawing/2014/main" id="{5156A6F4-4AAE-4216-9AF1-BCF48816716B}"/>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Paginated response shape</a:t>
            </a:r>
          </a:p>
        </p:txBody>
      </p:sp>
      <p:sp>
        <p:nvSpPr>
          <p:cNvPr id="20" name="reveal-1-output-2">
            <a:extLst>
              <a:ext uri="{FF2B5EF4-FFF2-40B4-BE49-F238E27FC236}">
                <a16:creationId xmlns:a16="http://schemas.microsoft.com/office/drawing/2014/main" id="{ED7E3E8F-A092-4514-9241-906E4210840F}"/>
              </a:ext>
            </a:extLst>
          </p:cNvPr>
          <p:cNvSpPr>
            <a:spLocks noGrp="1"/>
          </p:cNvSpPr>
          <p:nvPr/>
        </p:nvSpPr>
        <p:spPr>
          <a:xfrm>
            <a:off x="9239250" y="2952750"/>
            <a:ext cx="5295900" cy="3810000"/>
          </a:xfrm>
          <a:prstGeom prst="rect">
            <a:avLst/>
          </a:prstGeom>
          <a:solidFill>
            <a:srgbClr val="ECEFF7"/>
          </a:solidFill>
          <a:ln w="0">
            <a:noFill/>
          </a:ln>
        </p:spPr>
      </p:sp>
      <p:sp>
        <p:nvSpPr>
          <p:cNvPr id="21" name="reveal-1-output-3">
            <a:extLst>
              <a:ext uri="{FF2B5EF4-FFF2-40B4-BE49-F238E27FC236}">
                <a16:creationId xmlns:a16="http://schemas.microsoft.com/office/drawing/2014/main" id="{7A26AA59-753E-449C-946A-809B64282747}"/>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650" b="0">
                <a:solidFill>
                  <a:srgbClr val="242C35"/>
                </a:solidFill>
                <a:latin typeface="Menlo"/>
                <a:ea typeface="Menlo"/>
                <a:cs typeface="Menlo"/>
              </a:defRPr>
            </a:pPr>
            <a:r>
              <a:rPr sz="1650" b="0">
                <a:solidFill>
                  <a:srgbClr val="242C35"/>
                </a:solidFill>
                <a:latin typeface="Menlo"/>
                <a:ea typeface="Menlo"/>
                <a:cs typeface="Menlo"/>
              </a:rPr>
              <a:t>{"count": 1, "next": null,</a:t>
            </a:r>
          </a:p>
          <a:p>
            <a:pPr algn="l">
              <a:defRPr sz="1650" b="0">
                <a:solidFill>
                  <a:srgbClr val="242C35"/>
                </a:solidFill>
                <a:latin typeface="Menlo"/>
                <a:ea typeface="Menlo"/>
                <a:cs typeface="Menlo"/>
              </a:defRPr>
            </a:pPr>
            <a:r>
              <a:rPr sz="1650" b="0">
                <a:solidFill>
                  <a:srgbClr val="242C35"/>
                </a:solidFill>
                <a:latin typeface="Menlo"/>
                <a:ea typeface="Menlo"/>
                <a:cs typeface="Menlo"/>
              </a:rPr>
              <a:t>"previous": null,</a:t>
            </a:r>
          </a:p>
          <a:p>
            <a:pPr algn="l">
              <a:defRPr sz="1650" b="0">
                <a:solidFill>
                  <a:srgbClr val="242C35"/>
                </a:solidFill>
                <a:latin typeface="Menlo"/>
                <a:ea typeface="Menlo"/>
                <a:cs typeface="Menlo"/>
              </a:defRPr>
            </a:pPr>
            <a:r>
              <a:rPr sz="1650" b="0">
                <a:solidFill>
                  <a:srgbClr val="242C35"/>
                </a:solidFill>
                <a:latin typeface="Menlo"/>
                <a:ea typeface="Menlo"/>
                <a:cs typeface="Menlo"/>
              </a:rPr>
              <a:t>"results": [{"id": 1,</a:t>
            </a:r>
          </a:p>
          <a:p>
            <a:pPr algn="l">
              <a:defRPr sz="1650" b="0">
                <a:solidFill>
                  <a:srgbClr val="242C35"/>
                </a:solidFill>
                <a:latin typeface="Menlo"/>
                <a:ea typeface="Menlo"/>
                <a:cs typeface="Menlo"/>
              </a:defRPr>
            </a:pPr>
            <a:r>
              <a:rPr sz="1650" b="0">
                <a:solidFill>
                  <a:srgbClr val="242C35"/>
                </a:solidFill>
                <a:latin typeface="Menlo"/>
                <a:ea typeface="Menlo"/>
                <a:cs typeface="Menlo"/>
              </a:rPr>
              <a:t>"title": "Prepare Django demo",</a:t>
            </a:r>
          </a:p>
          <a:p>
            <a:pPr algn="l">
              <a:defRPr sz="1650" b="0">
                <a:solidFill>
                  <a:srgbClr val="242C35"/>
                </a:solidFill>
                <a:latin typeface="Menlo"/>
                <a:ea typeface="Menlo"/>
                <a:cs typeface="Menlo"/>
              </a:defRPr>
            </a:pPr>
            <a:r>
              <a:rPr sz="1650" b="0">
                <a:solidFill>
                  <a:srgbClr val="242C35"/>
                </a:solidFill>
                <a:latin typeface="Menlo"/>
                <a:ea typeface="Menlo"/>
                <a:cs typeface="Menlo"/>
              </a:rPr>
              <a:t>"completed": false}]}</a:t>
            </a:r>
          </a:p>
        </p:txBody>
      </p:sp>
      <p:sp>
        <p:nvSpPr>
          <p:cNvPr id="22" name="fade-1-takeaway">
            <a:extLst>
              <a:ext uri="{FF2B5EF4-FFF2-40B4-BE49-F238E27FC236}">
                <a16:creationId xmlns:a16="http://schemas.microsoft.com/office/drawing/2014/main" id="{F366048F-C749-41F6-AEC8-6759D2D7BAE1}"/>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The filter receives the already-scoped QuerySet.</a:t>
            </a:r>
          </a:p>
        </p:txBody>
      </p:sp>
    </p:spTree>
    <p:extLst>
      <p:ext uri="{BB962C8B-B14F-4D97-AF65-F5344CB8AC3E}">
        <p14:creationId xmlns:p14="http://schemas.microsoft.com/office/powerpoint/2010/main" val="18278664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350" fill="hold">
                                          <p:stCondLst>
                                            <p:cond delay="0"/>
                                          </p:stCondLst>
                                        </p:cTn>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1" name="text-366">
            <a:extLst>
              <a:ext uri="{FF2B5EF4-FFF2-40B4-BE49-F238E27FC236}">
                <a16:creationId xmlns:a16="http://schemas.microsoft.com/office/drawing/2014/main" id="{E7E8F796-7402-4387-B1E5-3D394A757F9D}"/>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05 / REST APIs</a:t>
            </a:r>
          </a:p>
        </p:txBody>
      </p:sp>
      <p:sp>
        <p:nvSpPr>
          <p:cNvPr id="2" name="text-367">
            <a:extLst>
              <a:ext uri="{FF2B5EF4-FFF2-40B4-BE49-F238E27FC236}">
                <a16:creationId xmlns:a16="http://schemas.microsoft.com/office/drawing/2014/main" id="{1A99BD9F-F2E5-44C3-82BD-E7220B07A266}"/>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The API rejects the same invalid title</a:t>
            </a:r>
          </a:p>
        </p:txBody>
      </p:sp>
      <p:sp>
        <p:nvSpPr>
          <p:cNvPr id="3" name="text-368">
            <a:extLst>
              <a:ext uri="{FF2B5EF4-FFF2-40B4-BE49-F238E27FC236}">
                <a16:creationId xmlns:a16="http://schemas.microsoft.com/office/drawing/2014/main" id="{732704A0-9657-4433-A6BB-77D5C90BF16D}"/>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369">
            <a:extLst>
              <a:ext uri="{FF2B5EF4-FFF2-40B4-BE49-F238E27FC236}">
                <a16:creationId xmlns:a16="http://schemas.microsoft.com/office/drawing/2014/main" id="{1FE924D3-486F-4667-931E-9E49D2788599}"/>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48</a:t>
            </a:r>
          </a:p>
        </p:txBody>
      </p:sp>
      <p:sp>
        <p:nvSpPr>
          <p:cNvPr id="5" name="text-370">
            <a:extLst>
              <a:ext uri="{FF2B5EF4-FFF2-40B4-BE49-F238E27FC236}">
                <a16:creationId xmlns:a16="http://schemas.microsoft.com/office/drawing/2014/main" id="{BB3D867F-16FB-41A6-9A92-FF3915889925}"/>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Inside TaskSerializer</a:t>
            </a:r>
          </a:p>
        </p:txBody>
      </p:sp>
      <p:sp>
        <p:nvSpPr>
          <p:cNvPr id="6" name="code-panel-371">
            <a:extLst>
              <a:ext uri="{FF2B5EF4-FFF2-40B4-BE49-F238E27FC236}">
                <a16:creationId xmlns:a16="http://schemas.microsoft.com/office/drawing/2014/main" id="{7B821200-91D8-4283-9226-3FB63079E9F9}"/>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93BEB2B7-3FA8-4355-BC3F-BF245EC13165}"/>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def</a:t>
            </a:r>
            <a:r>
              <a:rPr sz="1725" b="0">
                <a:solidFill>
                  <a:srgbClr val="FFFFFF"/>
                </a:solidFill>
                <a:latin typeface="Menlo"/>
                <a:ea typeface="Menlo"/>
                <a:cs typeface="Menlo"/>
              </a:rPr>
              <a:t> validate_title(self, value):</a:t>
            </a:r>
          </a:p>
        </p:txBody>
      </p:sp>
      <p:sp>
        <p:nvSpPr>
          <p:cNvPr id="8" name="code-line-1">
            <a:extLst>
              <a:ext uri="{FF2B5EF4-FFF2-40B4-BE49-F238E27FC236}">
                <a16:creationId xmlns:a16="http://schemas.microsoft.com/office/drawing/2014/main" id="{49A1A39A-5FBA-47A8-823E-477232831955}"/>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value = value.strip()</a:t>
            </a:r>
          </a:p>
        </p:txBody>
      </p:sp>
      <p:sp>
        <p:nvSpPr>
          <p:cNvPr id="9" name="code-line-2">
            <a:extLst>
              <a:ext uri="{FF2B5EF4-FFF2-40B4-BE49-F238E27FC236}">
                <a16:creationId xmlns:a16="http://schemas.microsoft.com/office/drawing/2014/main" id="{5D37B60A-B993-4343-99FA-C6E8731EF385}"/>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if</a:t>
            </a:r>
            <a:r>
              <a:rPr sz="1725" b="0">
                <a:solidFill>
                  <a:srgbClr val="FFFFFF"/>
                </a:solidFill>
                <a:latin typeface="Menlo"/>
                <a:ea typeface="Menlo"/>
                <a:cs typeface="Menlo"/>
              </a:rPr>
              <a:t> len(value) &lt; 3:</a:t>
            </a:r>
          </a:p>
        </p:txBody>
      </p:sp>
      <p:sp>
        <p:nvSpPr>
          <p:cNvPr id="10" name="code-line-3">
            <a:extLst>
              <a:ext uri="{FF2B5EF4-FFF2-40B4-BE49-F238E27FC236}">
                <a16:creationId xmlns:a16="http://schemas.microsoft.com/office/drawing/2014/main" id="{8FCE67F0-99D1-401B-B331-14008295E38A}"/>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raise</a:t>
            </a:r>
            <a:r>
              <a:rPr sz="1725" b="0">
                <a:solidFill>
                  <a:srgbClr val="FFFFFF"/>
                </a:solidFill>
                <a:latin typeface="Menlo"/>
                <a:ea typeface="Menlo"/>
                <a:cs typeface="Menlo"/>
              </a:rPr>
              <a:t> serializers.ValidationError(</a:t>
            </a:r>
          </a:p>
        </p:txBody>
      </p:sp>
      <p:sp>
        <p:nvSpPr>
          <p:cNvPr id="11" name="code-line-4">
            <a:extLst>
              <a:ext uri="{FF2B5EF4-FFF2-40B4-BE49-F238E27FC236}">
                <a16:creationId xmlns:a16="http://schemas.microsoft.com/office/drawing/2014/main" id="{BD8FE16D-92F6-430F-A4ED-BE8A731EE071}"/>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"Use at least 3 characters."</a:t>
            </a:r>
          </a:p>
        </p:txBody>
      </p:sp>
      <p:sp>
        <p:nvSpPr>
          <p:cNvPr id="12" name="code-line-5">
            <a:extLst>
              <a:ext uri="{FF2B5EF4-FFF2-40B4-BE49-F238E27FC236}">
                <a16:creationId xmlns:a16="http://schemas.microsoft.com/office/drawing/2014/main" id="{4178BE28-A8FF-4224-AF2F-42DA46DD6E7B}"/>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p>
        </p:txBody>
      </p:sp>
      <p:sp>
        <p:nvSpPr>
          <p:cNvPr id="13" name="code-line-6">
            <a:extLst>
              <a:ext uri="{FF2B5EF4-FFF2-40B4-BE49-F238E27FC236}">
                <a16:creationId xmlns:a16="http://schemas.microsoft.com/office/drawing/2014/main" id="{A7DDF15C-43A1-479A-9C7A-185359F42EF2}"/>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return</a:t>
            </a:r>
            <a:r>
              <a:rPr sz="1725" b="0">
                <a:solidFill>
                  <a:srgbClr val="FFFFFF"/>
                </a:solidFill>
                <a:latin typeface="Menlo"/>
                <a:ea typeface="Menlo"/>
                <a:cs typeface="Menlo"/>
              </a:rPr>
              <a:t> value</a:t>
            </a:r>
          </a:p>
        </p:txBody>
      </p:sp>
      <p:sp>
        <p:nvSpPr>
          <p:cNvPr id="14" name="code-line-7">
            <a:extLst>
              <a:ext uri="{FF2B5EF4-FFF2-40B4-BE49-F238E27FC236}">
                <a16:creationId xmlns:a16="http://schemas.microsoft.com/office/drawing/2014/main" id="{73B150A3-5DEA-43C1-9008-B371A6ABE219}"/>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endParaRPr/>
          </a:p>
        </p:txBody>
      </p:sp>
      <p:sp>
        <p:nvSpPr>
          <p:cNvPr id="15" name="code-line-8">
            <a:extLst>
              <a:ext uri="{FF2B5EF4-FFF2-40B4-BE49-F238E27FC236}">
                <a16:creationId xmlns:a16="http://schemas.microsoft.com/office/drawing/2014/main" id="{4C1DE2C5-FEE3-44D1-B1B5-703BDA02BDD5}"/>
              </a:ext>
            </a:extLst>
          </p:cNvPr>
          <p:cNvSpPr>
            <a:spLocks noGrp="1"/>
          </p:cNvSpPr>
          <p:nvPr/>
        </p:nvSpPr>
        <p:spPr>
          <a:xfrm>
            <a:off x="914400" y="5591175"/>
            <a:ext cx="7639050" cy="361950"/>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POST body: {"title": "Go"}</a:t>
            </a:r>
          </a:p>
        </p:txBody>
      </p:sp>
      <p:sp>
        <p:nvSpPr>
          <p:cNvPr id="16" name="code-line-9">
            <a:extLst>
              <a:ext uri="{FF2B5EF4-FFF2-40B4-BE49-F238E27FC236}">
                <a16:creationId xmlns:a16="http://schemas.microsoft.com/office/drawing/2014/main" id="{2C46B201-31D2-4341-9FE7-B2CD49B99BAE}"/>
              </a:ext>
            </a:extLst>
          </p:cNvPr>
          <p:cNvSpPr>
            <a:spLocks noGrp="1"/>
          </p:cNvSpPr>
          <p:nvPr/>
        </p:nvSpPr>
        <p:spPr>
          <a:xfrm>
            <a:off x="914400" y="5924550"/>
            <a:ext cx="7639050" cy="361950"/>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Response: 400 Bad Request</a:t>
            </a:r>
          </a:p>
        </p:txBody>
      </p:sp>
      <p:sp>
        <p:nvSpPr>
          <p:cNvPr id="17" name="reveal-1-output-1">
            <a:extLst>
              <a:ext uri="{FF2B5EF4-FFF2-40B4-BE49-F238E27FC236}">
                <a16:creationId xmlns:a16="http://schemas.microsoft.com/office/drawing/2014/main" id="{B1A4A3CA-F026-4658-804B-5801BDEB723A}"/>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400 Bad Request</a:t>
            </a:r>
          </a:p>
        </p:txBody>
      </p:sp>
      <p:sp>
        <p:nvSpPr>
          <p:cNvPr id="18" name="reveal-1-output-2">
            <a:extLst>
              <a:ext uri="{FF2B5EF4-FFF2-40B4-BE49-F238E27FC236}">
                <a16:creationId xmlns:a16="http://schemas.microsoft.com/office/drawing/2014/main" id="{B12F3B4F-A71C-4DCE-86B6-AA864E44B492}"/>
              </a:ext>
            </a:extLst>
          </p:cNvPr>
          <p:cNvSpPr>
            <a:spLocks noGrp="1"/>
          </p:cNvSpPr>
          <p:nvPr/>
        </p:nvSpPr>
        <p:spPr>
          <a:xfrm>
            <a:off x="9239250" y="2952750"/>
            <a:ext cx="5295900" cy="3810000"/>
          </a:xfrm>
          <a:prstGeom prst="rect">
            <a:avLst/>
          </a:prstGeom>
          <a:solidFill>
            <a:srgbClr val="ECEFF7"/>
          </a:solidFill>
          <a:ln w="0">
            <a:noFill/>
          </a:ln>
        </p:spPr>
      </p:sp>
      <p:sp>
        <p:nvSpPr>
          <p:cNvPr id="19" name="reveal-1-output-3">
            <a:extLst>
              <a:ext uri="{FF2B5EF4-FFF2-40B4-BE49-F238E27FC236}">
                <a16:creationId xmlns:a16="http://schemas.microsoft.com/office/drawing/2014/main" id="{6887C88F-FB07-4694-8836-CB4339B9BA9E}"/>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650" b="0">
                <a:solidFill>
                  <a:srgbClr val="242C35"/>
                </a:solidFill>
                <a:latin typeface="Menlo"/>
                <a:ea typeface="Menlo"/>
                <a:cs typeface="Menlo"/>
              </a:defRPr>
            </a:pPr>
            <a:r>
              <a:rPr sz="1650" b="0">
                <a:solidFill>
                  <a:srgbClr val="242C35"/>
                </a:solidFill>
                <a:latin typeface="Menlo"/>
                <a:ea typeface="Menlo"/>
                <a:cs typeface="Menlo"/>
              </a:rPr>
              <a:t>{"title": ["Use at least 3</a:t>
            </a:r>
          </a:p>
          <a:p>
            <a:pPr algn="l">
              <a:defRPr sz="1650" b="0">
                <a:solidFill>
                  <a:srgbClr val="242C35"/>
                </a:solidFill>
                <a:latin typeface="Menlo"/>
                <a:ea typeface="Menlo"/>
                <a:cs typeface="Menlo"/>
              </a:defRPr>
            </a:pPr>
            <a:r>
              <a:rPr sz="1650" b="0">
                <a:solidFill>
                  <a:srgbClr val="242C35"/>
                </a:solidFill>
                <a:latin typeface="Menlo"/>
                <a:ea typeface="Menlo"/>
                <a:cs typeface="Menlo"/>
              </a:rPr>
              <a:t>characters."]}</a:t>
            </a:r>
          </a:p>
        </p:txBody>
      </p:sp>
      <p:sp>
        <p:nvSpPr>
          <p:cNvPr id="20" name="fade-1-takeaway">
            <a:extLst>
              <a:ext uri="{FF2B5EF4-FFF2-40B4-BE49-F238E27FC236}">
                <a16:creationId xmlns:a16="http://schemas.microsoft.com/office/drawing/2014/main" id="{81136FEA-F206-4693-8A6E-2A83124B307D}"/>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The HTML form and the API both require a useful title.</a:t>
            </a:r>
          </a:p>
        </p:txBody>
      </p:sp>
    </p:spTree>
    <p:extLst>
      <p:ext uri="{BB962C8B-B14F-4D97-AF65-F5344CB8AC3E}">
        <p14:creationId xmlns:p14="http://schemas.microsoft.com/office/powerpoint/2010/main" val="14504978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350" fill="hold">
                                          <p:stCondLst>
                                            <p:cond delay="0"/>
                                          </p:stCondLst>
                                        </p:cTn>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3" name="text-375">
            <a:extLst>
              <a:ext uri="{FF2B5EF4-FFF2-40B4-BE49-F238E27FC236}">
                <a16:creationId xmlns:a16="http://schemas.microsoft.com/office/drawing/2014/main" id="{1C87B31F-E107-4601-B393-C876EF3B654D}"/>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05 / REST APIs</a:t>
            </a:r>
          </a:p>
        </p:txBody>
      </p:sp>
      <p:sp>
        <p:nvSpPr>
          <p:cNvPr id="2" name="text-376">
            <a:extLst>
              <a:ext uri="{FF2B5EF4-FFF2-40B4-BE49-F238E27FC236}">
                <a16:creationId xmlns:a16="http://schemas.microsoft.com/office/drawing/2014/main" id="{66383841-C89E-42A0-B59D-5940A0655FA7}"/>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Postman authentication for the lab</a:t>
            </a:r>
          </a:p>
        </p:txBody>
      </p:sp>
      <p:sp>
        <p:nvSpPr>
          <p:cNvPr id="3" name="text-377">
            <a:extLst>
              <a:ext uri="{FF2B5EF4-FFF2-40B4-BE49-F238E27FC236}">
                <a16:creationId xmlns:a16="http://schemas.microsoft.com/office/drawing/2014/main" id="{1129DA01-F487-46CB-A61A-0236A8AFA947}"/>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378">
            <a:extLst>
              <a:ext uri="{FF2B5EF4-FFF2-40B4-BE49-F238E27FC236}">
                <a16:creationId xmlns:a16="http://schemas.microsoft.com/office/drawing/2014/main" id="{D637A532-6C88-48D4-AF64-1F626A8CB4D2}"/>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49</a:t>
            </a:r>
          </a:p>
        </p:txBody>
      </p:sp>
      <p:sp>
        <p:nvSpPr>
          <p:cNvPr id="5" name="text-379">
            <a:extLst>
              <a:ext uri="{FF2B5EF4-FFF2-40B4-BE49-F238E27FC236}">
                <a16:creationId xmlns:a16="http://schemas.microsoft.com/office/drawing/2014/main" id="{CEB1872D-4710-4B64-8465-5E4EAF8DCB01}"/>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Local token setup</a:t>
            </a:r>
          </a:p>
        </p:txBody>
      </p:sp>
      <p:sp>
        <p:nvSpPr>
          <p:cNvPr id="6" name="code-panel-380">
            <a:extLst>
              <a:ext uri="{FF2B5EF4-FFF2-40B4-BE49-F238E27FC236}">
                <a16:creationId xmlns:a16="http://schemas.microsoft.com/office/drawing/2014/main" id="{1C11E466-974A-4E51-9982-81AA23EE34A3}"/>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832C04C5-8FC6-4C56-B227-44FD554216D1}"/>
              </a:ext>
            </a:extLst>
          </p:cNvPr>
          <p:cNvSpPr>
            <a:spLocks noGrp="1"/>
          </p:cNvSpPr>
          <p:nvPr/>
        </p:nvSpPr>
        <p:spPr>
          <a:xfrm>
            <a:off x="914400" y="2924175"/>
            <a:ext cx="7639050" cy="351631"/>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Add "rest_framework.authtoken" to INSTALLED_APPS</a:t>
            </a:r>
          </a:p>
        </p:txBody>
      </p:sp>
      <p:sp>
        <p:nvSpPr>
          <p:cNvPr id="8" name="code-line-1">
            <a:extLst>
              <a:ext uri="{FF2B5EF4-FFF2-40B4-BE49-F238E27FC236}">
                <a16:creationId xmlns:a16="http://schemas.microsoft.com/office/drawing/2014/main" id="{D4C4DBA9-1D50-4C98-B70F-B98C3ABD3DD5}"/>
              </a:ext>
            </a:extLst>
          </p:cNvPr>
          <p:cNvSpPr>
            <a:spLocks noGrp="1"/>
          </p:cNvSpPr>
          <p:nvPr/>
        </p:nvSpPr>
        <p:spPr>
          <a:xfrm>
            <a:off x="914400" y="3247231"/>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python manage.py migrate</a:t>
            </a:r>
          </a:p>
        </p:txBody>
      </p:sp>
      <p:sp>
        <p:nvSpPr>
          <p:cNvPr id="9" name="code-line-2">
            <a:extLst>
              <a:ext uri="{FF2B5EF4-FFF2-40B4-BE49-F238E27FC236}">
                <a16:creationId xmlns:a16="http://schemas.microsoft.com/office/drawing/2014/main" id="{CFEB215C-ADAF-446E-98E2-0852A9EEFC75}"/>
              </a:ext>
            </a:extLst>
          </p:cNvPr>
          <p:cNvSpPr>
            <a:spLocks noGrp="1"/>
          </p:cNvSpPr>
          <p:nvPr/>
        </p:nvSpPr>
        <p:spPr>
          <a:xfrm>
            <a:off x="914400" y="3570288"/>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python manage.py drf_create_token asha</a:t>
            </a:r>
          </a:p>
        </p:txBody>
      </p:sp>
      <p:sp>
        <p:nvSpPr>
          <p:cNvPr id="10" name="code-line-3">
            <a:extLst>
              <a:ext uri="{FF2B5EF4-FFF2-40B4-BE49-F238E27FC236}">
                <a16:creationId xmlns:a16="http://schemas.microsoft.com/office/drawing/2014/main" id="{91850CC4-D07B-4353-9411-FD7AA8F2107F}"/>
              </a:ext>
            </a:extLst>
          </p:cNvPr>
          <p:cNvSpPr>
            <a:spLocks noGrp="1"/>
          </p:cNvSpPr>
          <p:nvPr/>
        </p:nvSpPr>
        <p:spPr>
          <a:xfrm>
            <a:off x="914400" y="3893344"/>
            <a:ext cx="7639050" cy="351631"/>
          </a:xfrm>
          <a:prstGeom prst="rect">
            <a:avLst/>
          </a:prstGeom>
          <a:noFill/>
          <a:ln w="0">
            <a:noFill/>
          </a:ln>
        </p:spPr>
        <p:txBody>
          <a:bodyPr wrap="none" lIns="0" tIns="0" rIns="0" bIns="0" anchor="t">
            <a:noAutofit/>
          </a:bodyPr>
          <a:lstStyle/>
          <a:p>
            <a:endParaRPr/>
          </a:p>
        </p:txBody>
      </p:sp>
      <p:sp>
        <p:nvSpPr>
          <p:cNvPr id="11" name="code-line-4">
            <a:extLst>
              <a:ext uri="{FF2B5EF4-FFF2-40B4-BE49-F238E27FC236}">
                <a16:creationId xmlns:a16="http://schemas.microsoft.com/office/drawing/2014/main" id="{13B258ED-C3F8-4841-9CEC-B652DD4BE616}"/>
              </a:ext>
            </a:extLst>
          </p:cNvPr>
          <p:cNvSpPr>
            <a:spLocks noGrp="1"/>
          </p:cNvSpPr>
          <p:nvPr/>
        </p:nvSpPr>
        <p:spPr>
          <a:xfrm>
            <a:off x="914400" y="4216400"/>
            <a:ext cx="7639050" cy="351631"/>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TaskViewSet: add TokenAuthentication first</a:t>
            </a:r>
          </a:p>
        </p:txBody>
      </p:sp>
      <p:sp>
        <p:nvSpPr>
          <p:cNvPr id="12" name="code-line-5">
            <a:extLst>
              <a:ext uri="{FF2B5EF4-FFF2-40B4-BE49-F238E27FC236}">
                <a16:creationId xmlns:a16="http://schemas.microsoft.com/office/drawing/2014/main" id="{7D58BAF8-166E-480B-BFA7-E44EB4164DEB}"/>
              </a:ext>
            </a:extLst>
          </p:cNvPr>
          <p:cNvSpPr>
            <a:spLocks noGrp="1"/>
          </p:cNvSpPr>
          <p:nvPr/>
        </p:nvSpPr>
        <p:spPr>
          <a:xfrm>
            <a:off x="914400" y="4539456"/>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authentication_classes = [</a:t>
            </a:r>
          </a:p>
        </p:txBody>
      </p:sp>
      <p:sp>
        <p:nvSpPr>
          <p:cNvPr id="13" name="code-line-6">
            <a:extLst>
              <a:ext uri="{FF2B5EF4-FFF2-40B4-BE49-F238E27FC236}">
                <a16:creationId xmlns:a16="http://schemas.microsoft.com/office/drawing/2014/main" id="{C5C72BC7-EC52-4D00-A6AD-22A64C7589B8}"/>
              </a:ext>
            </a:extLst>
          </p:cNvPr>
          <p:cNvSpPr>
            <a:spLocks noGrp="1"/>
          </p:cNvSpPr>
          <p:nvPr/>
        </p:nvSpPr>
        <p:spPr>
          <a:xfrm>
            <a:off x="914400" y="4862513"/>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TokenAuthentication,</a:t>
            </a:r>
          </a:p>
        </p:txBody>
      </p:sp>
      <p:sp>
        <p:nvSpPr>
          <p:cNvPr id="14" name="code-line-7">
            <a:extLst>
              <a:ext uri="{FF2B5EF4-FFF2-40B4-BE49-F238E27FC236}">
                <a16:creationId xmlns:a16="http://schemas.microsoft.com/office/drawing/2014/main" id="{BA675A3D-FB51-417E-AAA5-ECF105428D07}"/>
              </a:ext>
            </a:extLst>
          </p:cNvPr>
          <p:cNvSpPr>
            <a:spLocks noGrp="1"/>
          </p:cNvSpPr>
          <p:nvPr/>
        </p:nvSpPr>
        <p:spPr>
          <a:xfrm>
            <a:off x="914400" y="5185569"/>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SessionAuthentication,</a:t>
            </a:r>
          </a:p>
        </p:txBody>
      </p:sp>
      <p:sp>
        <p:nvSpPr>
          <p:cNvPr id="15" name="code-line-8">
            <a:extLst>
              <a:ext uri="{FF2B5EF4-FFF2-40B4-BE49-F238E27FC236}">
                <a16:creationId xmlns:a16="http://schemas.microsoft.com/office/drawing/2014/main" id="{D85CA074-7BF8-48A8-B884-E9BAD53C4686}"/>
              </a:ext>
            </a:extLst>
          </p:cNvPr>
          <p:cNvSpPr>
            <a:spLocks noGrp="1"/>
          </p:cNvSpPr>
          <p:nvPr/>
        </p:nvSpPr>
        <p:spPr>
          <a:xfrm>
            <a:off x="914400" y="5508625"/>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a:t>
            </a:r>
          </a:p>
        </p:txBody>
      </p:sp>
      <p:sp>
        <p:nvSpPr>
          <p:cNvPr id="16" name="code-line-9">
            <a:extLst>
              <a:ext uri="{FF2B5EF4-FFF2-40B4-BE49-F238E27FC236}">
                <a16:creationId xmlns:a16="http://schemas.microsoft.com/office/drawing/2014/main" id="{CE8C0FE9-E38F-43F3-943A-1EA586BC9976}"/>
              </a:ext>
            </a:extLst>
          </p:cNvPr>
          <p:cNvSpPr>
            <a:spLocks noGrp="1"/>
          </p:cNvSpPr>
          <p:nvPr/>
        </p:nvSpPr>
        <p:spPr>
          <a:xfrm>
            <a:off x="914400" y="5831681"/>
            <a:ext cx="7639050" cy="351631"/>
          </a:xfrm>
          <a:prstGeom prst="rect">
            <a:avLst/>
          </a:prstGeom>
          <a:noFill/>
          <a:ln w="0">
            <a:noFill/>
          </a:ln>
        </p:spPr>
        <p:txBody>
          <a:bodyPr wrap="none" lIns="0" tIns="0" rIns="0" bIns="0" anchor="t">
            <a:noAutofit/>
          </a:bodyPr>
          <a:lstStyle/>
          <a:p>
            <a:endParaRPr/>
          </a:p>
        </p:txBody>
      </p:sp>
      <p:sp>
        <p:nvSpPr>
          <p:cNvPr id="17" name="code-line-10">
            <a:extLst>
              <a:ext uri="{FF2B5EF4-FFF2-40B4-BE49-F238E27FC236}">
                <a16:creationId xmlns:a16="http://schemas.microsoft.com/office/drawing/2014/main" id="{9C1BC938-EE54-4487-9492-EB03F607C8EE}"/>
              </a:ext>
            </a:extLst>
          </p:cNvPr>
          <p:cNvSpPr>
            <a:spLocks noGrp="1"/>
          </p:cNvSpPr>
          <p:nvPr/>
        </p:nvSpPr>
        <p:spPr>
          <a:xfrm>
            <a:off x="914400" y="6154738"/>
            <a:ext cx="7639050" cy="351631"/>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Postman Authorization header</a:t>
            </a:r>
          </a:p>
        </p:txBody>
      </p:sp>
      <p:sp>
        <p:nvSpPr>
          <p:cNvPr id="18" name="code-line-11">
            <a:extLst>
              <a:ext uri="{FF2B5EF4-FFF2-40B4-BE49-F238E27FC236}">
                <a16:creationId xmlns:a16="http://schemas.microsoft.com/office/drawing/2014/main" id="{443B776B-7E31-4A58-8AC9-8D10E250D9F5}"/>
              </a:ext>
            </a:extLst>
          </p:cNvPr>
          <p:cNvSpPr>
            <a:spLocks noGrp="1"/>
          </p:cNvSpPr>
          <p:nvPr/>
        </p:nvSpPr>
        <p:spPr>
          <a:xfrm>
            <a:off x="914400" y="6477794"/>
            <a:ext cx="7639050" cy="351631"/>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Authorization: Token &lt;your-local-test-token&gt;</a:t>
            </a:r>
          </a:p>
        </p:txBody>
      </p:sp>
      <p:sp>
        <p:nvSpPr>
          <p:cNvPr id="19" name="reveal-1-output-1">
            <a:extLst>
              <a:ext uri="{FF2B5EF4-FFF2-40B4-BE49-F238E27FC236}">
                <a16:creationId xmlns:a16="http://schemas.microsoft.com/office/drawing/2014/main" id="{37A06801-5429-4B7B-9000-2174E7B42210}"/>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Authenticated API request</a:t>
            </a:r>
          </a:p>
        </p:txBody>
      </p:sp>
      <p:sp>
        <p:nvSpPr>
          <p:cNvPr id="20" name="reveal-1-output-2">
            <a:extLst>
              <a:ext uri="{FF2B5EF4-FFF2-40B4-BE49-F238E27FC236}">
                <a16:creationId xmlns:a16="http://schemas.microsoft.com/office/drawing/2014/main" id="{D09BEBF8-626E-4359-9C2E-28B0A97032B1}"/>
              </a:ext>
            </a:extLst>
          </p:cNvPr>
          <p:cNvSpPr>
            <a:spLocks noGrp="1"/>
          </p:cNvSpPr>
          <p:nvPr/>
        </p:nvSpPr>
        <p:spPr>
          <a:xfrm>
            <a:off x="9239250" y="2952750"/>
            <a:ext cx="5295900" cy="3810000"/>
          </a:xfrm>
          <a:prstGeom prst="rect">
            <a:avLst/>
          </a:prstGeom>
          <a:solidFill>
            <a:srgbClr val="ECEFF7"/>
          </a:solidFill>
          <a:ln w="0">
            <a:noFill/>
          </a:ln>
        </p:spPr>
      </p:sp>
      <p:sp>
        <p:nvSpPr>
          <p:cNvPr id="21" name="reveal-1-output-3">
            <a:extLst>
              <a:ext uri="{FF2B5EF4-FFF2-40B4-BE49-F238E27FC236}">
                <a16:creationId xmlns:a16="http://schemas.microsoft.com/office/drawing/2014/main" id="{31D8070B-F12B-4CD9-B6AB-01DE4E1B86C2}"/>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650" b="0">
                <a:solidFill>
                  <a:srgbClr val="242C35"/>
                </a:solidFill>
                <a:latin typeface="Menlo"/>
                <a:ea typeface="Menlo"/>
                <a:cs typeface="Menlo"/>
              </a:defRPr>
            </a:pPr>
            <a:r>
              <a:rPr sz="1650" b="0">
                <a:solidFill>
                  <a:srgbClr val="242C35"/>
                </a:solidFill>
                <a:latin typeface="Menlo"/>
                <a:ea typeface="Menlo"/>
                <a:cs typeface="Menlo"/>
              </a:rPr>
              <a:t>Authorization: Token &lt;test-token&gt;</a:t>
            </a:r>
          </a:p>
          <a:p>
            <a:pPr algn="l">
              <a:defRPr sz="1650" b="0">
                <a:solidFill>
                  <a:srgbClr val="242C35"/>
                </a:solidFill>
                <a:latin typeface="Menlo"/>
                <a:ea typeface="Menlo"/>
                <a:cs typeface="Menlo"/>
              </a:defRPr>
            </a:pPr>
            <a:r>
              <a:rPr sz="1650" b="0">
                <a:solidFill>
                  <a:srgbClr val="242C35"/>
                </a:solidFill>
                <a:latin typeface="Menlo"/>
                <a:ea typeface="Menlo"/>
                <a:cs typeface="Menlo"/>
              </a:rPr>
              <a:t>GET /api/tasks/ 200</a:t>
            </a:r>
          </a:p>
        </p:txBody>
      </p:sp>
      <p:sp>
        <p:nvSpPr>
          <p:cNvPr id="22" name="fade-1-takeaway">
            <a:extLst>
              <a:ext uri="{FF2B5EF4-FFF2-40B4-BE49-F238E27FC236}">
                <a16:creationId xmlns:a16="http://schemas.microsoft.com/office/drawing/2014/main" id="{92DD8850-9693-4C7C-8A99-CE5D4BA0E4B9}"/>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Send a private token in the Authorization header.</a:t>
            </a:r>
          </a:p>
        </p:txBody>
      </p:sp>
    </p:spTree>
    <p:extLst>
      <p:ext uri="{BB962C8B-B14F-4D97-AF65-F5344CB8AC3E}">
        <p14:creationId xmlns:p14="http://schemas.microsoft.com/office/powerpoint/2010/main" val="19480951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350" fill="hold">
                                          <p:stCondLst>
                                            <p:cond delay="0"/>
                                          </p:stCondLst>
                                        </p:cTn>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1" name="text-384">
            <a:extLst>
              <a:ext uri="{FF2B5EF4-FFF2-40B4-BE49-F238E27FC236}">
                <a16:creationId xmlns:a16="http://schemas.microsoft.com/office/drawing/2014/main" id="{52E5A30C-4AB2-490D-99F4-596E91FA8378}"/>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05 / REST APIs</a:t>
            </a:r>
          </a:p>
        </p:txBody>
      </p:sp>
      <p:sp>
        <p:nvSpPr>
          <p:cNvPr id="2" name="text-385">
            <a:extLst>
              <a:ext uri="{FF2B5EF4-FFF2-40B4-BE49-F238E27FC236}">
                <a16:creationId xmlns:a16="http://schemas.microsoft.com/office/drawing/2014/main" id="{8D8362E8-3E3B-490F-B839-0C68448787CD}"/>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Postman creates and checks a task</a:t>
            </a:r>
          </a:p>
        </p:txBody>
      </p:sp>
      <p:sp>
        <p:nvSpPr>
          <p:cNvPr id="3" name="text-386">
            <a:extLst>
              <a:ext uri="{FF2B5EF4-FFF2-40B4-BE49-F238E27FC236}">
                <a16:creationId xmlns:a16="http://schemas.microsoft.com/office/drawing/2014/main" id="{06F28626-20FD-49FB-A711-14660E895F64}"/>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387">
            <a:extLst>
              <a:ext uri="{FF2B5EF4-FFF2-40B4-BE49-F238E27FC236}">
                <a16:creationId xmlns:a16="http://schemas.microsoft.com/office/drawing/2014/main" id="{709DCD81-8964-4511-952A-FEA7139FFFFE}"/>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50</a:t>
            </a:r>
          </a:p>
        </p:txBody>
      </p:sp>
      <p:sp>
        <p:nvSpPr>
          <p:cNvPr id="5" name="text-388">
            <a:extLst>
              <a:ext uri="{FF2B5EF4-FFF2-40B4-BE49-F238E27FC236}">
                <a16:creationId xmlns:a16="http://schemas.microsoft.com/office/drawing/2014/main" id="{EB39A311-82EC-462C-B091-19D4F9D6310B}"/>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POST {{base_url}}/api/tasks/</a:t>
            </a:r>
          </a:p>
        </p:txBody>
      </p:sp>
      <p:sp>
        <p:nvSpPr>
          <p:cNvPr id="6" name="code-panel-389">
            <a:extLst>
              <a:ext uri="{FF2B5EF4-FFF2-40B4-BE49-F238E27FC236}">
                <a16:creationId xmlns:a16="http://schemas.microsoft.com/office/drawing/2014/main" id="{A1EAA674-2E96-458C-A1DF-F193D8719349}"/>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BBC2A88D-DB85-4082-AD80-1CC606B4E362}"/>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JSON body</a:t>
            </a:r>
          </a:p>
        </p:txBody>
      </p:sp>
      <p:sp>
        <p:nvSpPr>
          <p:cNvPr id="8" name="code-line-1">
            <a:extLst>
              <a:ext uri="{FF2B5EF4-FFF2-40B4-BE49-F238E27FC236}">
                <a16:creationId xmlns:a16="http://schemas.microsoft.com/office/drawing/2014/main" id="{7ABDDAA9-37CA-481A-9378-07845F84BFAD}"/>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{"title": "Prepare Django demo", "completed": false}</a:t>
            </a:r>
          </a:p>
        </p:txBody>
      </p:sp>
      <p:sp>
        <p:nvSpPr>
          <p:cNvPr id="9" name="code-line-2">
            <a:extLst>
              <a:ext uri="{FF2B5EF4-FFF2-40B4-BE49-F238E27FC236}">
                <a16:creationId xmlns:a16="http://schemas.microsoft.com/office/drawing/2014/main" id="{A18765DF-0BD0-4783-BD6D-693E56B3349A}"/>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endParaRPr/>
          </a:p>
        </p:txBody>
      </p:sp>
      <p:sp>
        <p:nvSpPr>
          <p:cNvPr id="10" name="code-line-3">
            <a:extLst>
              <a:ext uri="{FF2B5EF4-FFF2-40B4-BE49-F238E27FC236}">
                <a16:creationId xmlns:a16="http://schemas.microsoft.com/office/drawing/2014/main" id="{B543D01C-1693-4E41-9E5F-8F1C17FE6398}"/>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Post-response script</a:t>
            </a:r>
          </a:p>
        </p:txBody>
      </p:sp>
      <p:sp>
        <p:nvSpPr>
          <p:cNvPr id="11" name="code-line-4">
            <a:extLst>
              <a:ext uri="{FF2B5EF4-FFF2-40B4-BE49-F238E27FC236}">
                <a16:creationId xmlns:a16="http://schemas.microsoft.com/office/drawing/2014/main" id="{5BAA6CF8-EB42-4623-BA34-9EDF1C3C4620}"/>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pm.test("Task created", () =&gt; {</a:t>
            </a:r>
          </a:p>
        </p:txBody>
      </p:sp>
      <p:sp>
        <p:nvSpPr>
          <p:cNvPr id="12" name="code-line-5">
            <a:extLst>
              <a:ext uri="{FF2B5EF4-FFF2-40B4-BE49-F238E27FC236}">
                <a16:creationId xmlns:a16="http://schemas.microsoft.com/office/drawing/2014/main" id="{112304C4-A423-48BC-B8A8-DCB7C365D840}"/>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pm.response.to.have.status(201);</a:t>
            </a:r>
          </a:p>
        </p:txBody>
      </p:sp>
      <p:sp>
        <p:nvSpPr>
          <p:cNvPr id="13" name="code-line-6">
            <a:extLst>
              <a:ext uri="{FF2B5EF4-FFF2-40B4-BE49-F238E27FC236}">
                <a16:creationId xmlns:a16="http://schemas.microsoft.com/office/drawing/2014/main" id="{37D5B968-4397-4151-B575-C951890B55A0}"/>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const</a:t>
            </a:r>
            <a:r>
              <a:rPr sz="1725" b="0">
                <a:solidFill>
                  <a:srgbClr val="FFFFFF"/>
                </a:solidFill>
                <a:latin typeface="Menlo"/>
                <a:ea typeface="Menlo"/>
                <a:cs typeface="Menlo"/>
              </a:rPr>
              <a:t> body = pm.response.json();</a:t>
            </a:r>
          </a:p>
        </p:txBody>
      </p:sp>
      <p:sp>
        <p:nvSpPr>
          <p:cNvPr id="14" name="code-line-7">
            <a:extLst>
              <a:ext uri="{FF2B5EF4-FFF2-40B4-BE49-F238E27FC236}">
                <a16:creationId xmlns:a16="http://schemas.microsoft.com/office/drawing/2014/main" id="{990A40DA-A16F-49BC-870D-FA9B17F80E10}"/>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pm.expect(body.completed).to.eql(false);</a:t>
            </a:r>
          </a:p>
        </p:txBody>
      </p:sp>
      <p:sp>
        <p:nvSpPr>
          <p:cNvPr id="15" name="code-line-8">
            <a:extLst>
              <a:ext uri="{FF2B5EF4-FFF2-40B4-BE49-F238E27FC236}">
                <a16:creationId xmlns:a16="http://schemas.microsoft.com/office/drawing/2014/main" id="{62BA5F12-C6E3-4A95-B7D5-59344EAE7CF5}"/>
              </a:ext>
            </a:extLst>
          </p:cNvPr>
          <p:cNvSpPr>
            <a:spLocks noGrp="1"/>
          </p:cNvSpPr>
          <p:nvPr/>
        </p:nvSpPr>
        <p:spPr>
          <a:xfrm>
            <a:off x="914400" y="5591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pm.collectionVariables.set("task_id", body.id);</a:t>
            </a:r>
          </a:p>
        </p:txBody>
      </p:sp>
      <p:sp>
        <p:nvSpPr>
          <p:cNvPr id="16" name="code-line-9">
            <a:extLst>
              <a:ext uri="{FF2B5EF4-FFF2-40B4-BE49-F238E27FC236}">
                <a16:creationId xmlns:a16="http://schemas.microsoft.com/office/drawing/2014/main" id="{FC5BEEFC-BA26-4C95-9F14-CAC5EC04EC05}"/>
              </a:ext>
            </a:extLst>
          </p:cNvPr>
          <p:cNvSpPr>
            <a:spLocks noGrp="1"/>
          </p:cNvSpPr>
          <p:nvPr/>
        </p:nvSpPr>
        <p:spPr>
          <a:xfrm>
            <a:off x="914400" y="5924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a:t>
            </a:r>
          </a:p>
        </p:txBody>
      </p:sp>
      <p:sp>
        <p:nvSpPr>
          <p:cNvPr id="17" name="reveal-1-output-1">
            <a:extLst>
              <a:ext uri="{FF2B5EF4-FFF2-40B4-BE49-F238E27FC236}">
                <a16:creationId xmlns:a16="http://schemas.microsoft.com/office/drawing/2014/main" id="{A00D8A68-A549-493E-B99E-4752F7C33B56}"/>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201 Created</a:t>
            </a:r>
          </a:p>
        </p:txBody>
      </p:sp>
      <p:sp>
        <p:nvSpPr>
          <p:cNvPr id="18" name="reveal-1-output-2">
            <a:extLst>
              <a:ext uri="{FF2B5EF4-FFF2-40B4-BE49-F238E27FC236}">
                <a16:creationId xmlns:a16="http://schemas.microsoft.com/office/drawing/2014/main" id="{80653518-F052-4FF2-8989-F6C7E1715D32}"/>
              </a:ext>
            </a:extLst>
          </p:cNvPr>
          <p:cNvSpPr>
            <a:spLocks noGrp="1"/>
          </p:cNvSpPr>
          <p:nvPr/>
        </p:nvSpPr>
        <p:spPr>
          <a:xfrm>
            <a:off x="9239250" y="2952750"/>
            <a:ext cx="5295900" cy="3810000"/>
          </a:xfrm>
          <a:prstGeom prst="rect">
            <a:avLst/>
          </a:prstGeom>
          <a:solidFill>
            <a:srgbClr val="ECEFF7"/>
          </a:solidFill>
          <a:ln w="0">
            <a:noFill/>
          </a:ln>
        </p:spPr>
      </p:sp>
      <p:sp>
        <p:nvSpPr>
          <p:cNvPr id="19" name="reveal-1-output-3">
            <a:extLst>
              <a:ext uri="{FF2B5EF4-FFF2-40B4-BE49-F238E27FC236}">
                <a16:creationId xmlns:a16="http://schemas.microsoft.com/office/drawing/2014/main" id="{131085F6-6C92-4A07-8C4A-69429C5BC3EA}"/>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650" b="0">
                <a:solidFill>
                  <a:srgbClr val="242C35"/>
                </a:solidFill>
                <a:latin typeface="Menlo"/>
                <a:ea typeface="Menlo"/>
                <a:cs typeface="Menlo"/>
              </a:defRPr>
            </a:pPr>
            <a:r>
              <a:rPr sz="1650" b="0">
                <a:solidFill>
                  <a:srgbClr val="242C35"/>
                </a:solidFill>
                <a:latin typeface="Menlo"/>
                <a:ea typeface="Menlo"/>
                <a:cs typeface="Menlo"/>
              </a:rPr>
              <a:t>{</a:t>
            </a:r>
          </a:p>
          <a:p>
            <a:pPr algn="l">
              <a:defRPr sz="1650" b="0">
                <a:solidFill>
                  <a:srgbClr val="242C35"/>
                </a:solidFill>
                <a:latin typeface="Menlo"/>
                <a:ea typeface="Menlo"/>
                <a:cs typeface="Menlo"/>
              </a:defRPr>
            </a:pPr>
            <a:r>
              <a:rPr sz="1650" b="0">
                <a:solidFill>
                  <a:srgbClr val="242C35"/>
                </a:solidFill>
                <a:latin typeface="Menlo"/>
                <a:ea typeface="Menlo"/>
                <a:cs typeface="Menlo"/>
              </a:rPr>
              <a:t>"id": 1,</a:t>
            </a:r>
          </a:p>
          <a:p>
            <a:pPr algn="l">
              <a:defRPr sz="1650" b="0">
                <a:solidFill>
                  <a:srgbClr val="242C35"/>
                </a:solidFill>
                <a:latin typeface="Menlo"/>
                <a:ea typeface="Menlo"/>
                <a:cs typeface="Menlo"/>
              </a:defRPr>
            </a:pPr>
            <a:r>
              <a:rPr sz="1650" b="0">
                <a:solidFill>
                  <a:srgbClr val="242C35"/>
                </a:solidFill>
                <a:latin typeface="Menlo"/>
                <a:ea typeface="Menlo"/>
                <a:cs typeface="Menlo"/>
              </a:rPr>
              <a:t>"title": "Prepare Django demo",</a:t>
            </a:r>
          </a:p>
          <a:p>
            <a:pPr algn="l">
              <a:defRPr sz="1650" b="0">
                <a:solidFill>
                  <a:srgbClr val="242C35"/>
                </a:solidFill>
                <a:latin typeface="Menlo"/>
                <a:ea typeface="Menlo"/>
                <a:cs typeface="Menlo"/>
              </a:defRPr>
            </a:pPr>
            <a:r>
              <a:rPr sz="1650" b="0">
                <a:solidFill>
                  <a:srgbClr val="242C35"/>
                </a:solidFill>
                <a:latin typeface="Menlo"/>
                <a:ea typeface="Menlo"/>
                <a:cs typeface="Menlo"/>
              </a:rPr>
              <a:t>"completed": false</a:t>
            </a:r>
          </a:p>
          <a:p>
            <a:pPr algn="l">
              <a:defRPr sz="1650" b="0">
                <a:solidFill>
                  <a:srgbClr val="242C35"/>
                </a:solidFill>
                <a:latin typeface="Menlo"/>
                <a:ea typeface="Menlo"/>
                <a:cs typeface="Menlo"/>
              </a:defRPr>
            </a:pPr>
            <a:r>
              <a:rPr sz="1650" b="0">
                <a:solidFill>
                  <a:srgbClr val="242C35"/>
                </a:solidFill>
                <a:latin typeface="Menlo"/>
                <a:ea typeface="Menlo"/>
                <a:cs typeface="Menlo"/>
              </a:rPr>
              <a:t>}</a:t>
            </a:r>
          </a:p>
        </p:txBody>
      </p:sp>
      <p:sp>
        <p:nvSpPr>
          <p:cNvPr id="20" name="fade-1-takeaway">
            <a:extLst>
              <a:ext uri="{FF2B5EF4-FFF2-40B4-BE49-F238E27FC236}">
                <a16:creationId xmlns:a16="http://schemas.microsoft.com/office/drawing/2014/main" id="{10887216-B24C-460A-8353-B53960A8433E}"/>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Reuse {{task_id}} for GET, PATCH and DELETE.</a:t>
            </a:r>
          </a:p>
        </p:txBody>
      </p:sp>
    </p:spTree>
    <p:extLst>
      <p:ext uri="{BB962C8B-B14F-4D97-AF65-F5344CB8AC3E}">
        <p14:creationId xmlns:p14="http://schemas.microsoft.com/office/powerpoint/2010/main" val="18592697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350" fill="hold">
                                          <p:stCondLst>
                                            <p:cond delay="0"/>
                                          </p:stCondLst>
                                        </p:cTn>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0"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7" name="text-393">
            <a:extLst>
              <a:ext uri="{FF2B5EF4-FFF2-40B4-BE49-F238E27FC236}">
                <a16:creationId xmlns:a16="http://schemas.microsoft.com/office/drawing/2014/main" id="{790EBA41-5D68-4CB8-98D1-FE18EA15C6B8}"/>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05 / REST APIs</a:t>
            </a:r>
          </a:p>
        </p:txBody>
      </p:sp>
      <p:sp>
        <p:nvSpPr>
          <p:cNvPr id="2" name="text-394">
            <a:extLst>
              <a:ext uri="{FF2B5EF4-FFF2-40B4-BE49-F238E27FC236}">
                <a16:creationId xmlns:a16="http://schemas.microsoft.com/office/drawing/2014/main" id="{1BB5EAE3-425C-4B22-BE0E-5719C74A96CC}"/>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API test matrix</a:t>
            </a:r>
          </a:p>
        </p:txBody>
      </p:sp>
      <p:sp>
        <p:nvSpPr>
          <p:cNvPr id="3" name="text-395">
            <a:extLst>
              <a:ext uri="{FF2B5EF4-FFF2-40B4-BE49-F238E27FC236}">
                <a16:creationId xmlns:a16="http://schemas.microsoft.com/office/drawing/2014/main" id="{0CCE567F-8741-42E2-B37B-0CB6A3D16771}"/>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396">
            <a:extLst>
              <a:ext uri="{FF2B5EF4-FFF2-40B4-BE49-F238E27FC236}">
                <a16:creationId xmlns:a16="http://schemas.microsoft.com/office/drawing/2014/main" id="{00885C1F-6395-42DE-9AAC-7D153523BA57}"/>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51</a:t>
            </a:r>
          </a:p>
        </p:txBody>
      </p:sp>
      <p:graphicFrame>
        <p:nvGraphicFramePr>
          <p:cNvPr id="11" name="Table 10"/>
          <p:cNvGraphicFramePr/>
          <p:nvPr/>
        </p:nvGraphicFramePr>
        <p:xfrm>
          <a:off x="685800" y="2333625"/>
          <a:ext cx="13868400" cy="4572000"/>
        </p:xfrm>
        <a:graphic>
          <a:graphicData uri="http://schemas.openxmlformats.org/drawingml/2006/table">
            <a:tbl>
              <a:tblPr firstRow="1"/>
              <a:tblGrid>
                <a:gridCol w="295275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5581650">
                  <a:extLst>
                    <a:ext uri="{9D8B030D-6E8A-4147-A177-3AD203B41FA5}">
                      <a16:colId xmlns:a16="http://schemas.microsoft.com/office/drawing/2014/main" val="20002"/>
                    </a:ext>
                  </a:extLst>
                </a:gridCol>
              </a:tblGrid>
              <a:tr h="762000">
                <a:tc>
                  <a:txBody>
                    <a:bodyPr/>
                    <a:lstStyle/>
                    <a:p>
                      <a:r>
                        <a:rPr sz="2025" b="1">
                          <a:solidFill>
                            <a:srgbClr val="FFFFFF"/>
                          </a:solidFill>
                          <a:latin typeface="Helvetica Neue"/>
                          <a:ea typeface="Helvetica Neue"/>
                          <a:cs typeface="Helvetica Neue"/>
                        </a:rPr>
                        <a:t>Case</a:t>
                      </a:r>
                    </a:p>
                  </a:txBody>
                  <a:tcPr anchor="ctr">
                    <a:solidFill>
                      <a:srgbClr val="242C35"/>
                    </a:solidFill>
                  </a:tcPr>
                </a:tc>
                <a:tc>
                  <a:txBody>
                    <a:bodyPr/>
                    <a:lstStyle/>
                    <a:p>
                      <a:r>
                        <a:rPr sz="2025" b="1">
                          <a:solidFill>
                            <a:srgbClr val="FFFFFF"/>
                          </a:solidFill>
                          <a:latin typeface="Helvetica Neue"/>
                          <a:ea typeface="Helvetica Neue"/>
                          <a:cs typeface="Helvetica Neue"/>
                        </a:rPr>
                        <a:t>Expected result</a:t>
                      </a:r>
                    </a:p>
                  </a:txBody>
                  <a:tcPr anchor="ctr">
                    <a:solidFill>
                      <a:srgbClr val="242C35"/>
                    </a:solidFill>
                  </a:tcPr>
                </a:tc>
                <a:tc>
                  <a:txBody>
                    <a:bodyPr/>
                    <a:lstStyle/>
                    <a:p>
                      <a:r>
                        <a:rPr sz="2025" b="1">
                          <a:solidFill>
                            <a:srgbClr val="FFFFFF"/>
                          </a:solidFill>
                          <a:latin typeface="Helvetica Neue"/>
                          <a:ea typeface="Helvetica Neue"/>
                          <a:cs typeface="Helvetica Neue"/>
                        </a:rPr>
                        <a:t>What it proves</a:t>
                      </a:r>
                    </a:p>
                  </a:txBody>
                  <a:tcPr anchor="ctr">
                    <a:solidFill>
                      <a:srgbClr val="242C35"/>
                    </a:solidFill>
                  </a:tcPr>
                </a:tc>
                <a:extLst>
                  <a:ext uri="{0D108BD9-81ED-4DB2-BD59-A6C34878D82A}">
                    <a16:rowId xmlns:a16="http://schemas.microsoft.com/office/drawing/2014/main" val="10000"/>
                  </a:ext>
                </a:extLst>
              </a:tr>
              <a:tr h="762000">
                <a:tc>
                  <a:txBody>
                    <a:bodyPr/>
                    <a:lstStyle/>
                    <a:p>
                      <a:r>
                        <a:rPr sz="2025" b="0">
                          <a:solidFill>
                            <a:srgbClr val="242C35"/>
                          </a:solidFill>
                          <a:latin typeface="Helvetica Neue"/>
                          <a:ea typeface="Helvetica Neue"/>
                          <a:cs typeface="Helvetica Neue"/>
                        </a:rPr>
                        <a:t>Valid task</a:t>
                      </a:r>
                    </a:p>
                  </a:txBody>
                  <a:tcPr anchor="ctr">
                    <a:solidFill>
                      <a:srgbClr val="FFFFFF"/>
                    </a:solidFill>
                  </a:tcPr>
                </a:tc>
                <a:tc>
                  <a:txBody>
                    <a:bodyPr/>
                    <a:lstStyle/>
                    <a:p>
                      <a:r>
                        <a:rPr sz="2025" b="0">
                          <a:solidFill>
                            <a:srgbClr val="242C35"/>
                          </a:solidFill>
                          <a:latin typeface="Helvetica Neue"/>
                          <a:ea typeface="Helvetica Neue"/>
                          <a:cs typeface="Helvetica Neue"/>
                        </a:rPr>
                        <a:t>201 and a new id</a:t>
                      </a:r>
                    </a:p>
                  </a:txBody>
                  <a:tcPr anchor="ctr">
                    <a:solidFill>
                      <a:srgbClr val="FFFFFF"/>
                    </a:solidFill>
                  </a:tcPr>
                </a:tc>
                <a:tc>
                  <a:txBody>
                    <a:bodyPr/>
                    <a:lstStyle/>
                    <a:p>
                      <a:r>
                        <a:rPr sz="2025" b="0">
                          <a:solidFill>
                            <a:srgbClr val="242C35"/>
                          </a:solidFill>
                          <a:latin typeface="Helvetica Neue"/>
                          <a:ea typeface="Helvetica Neue"/>
                          <a:cs typeface="Helvetica Neue"/>
                        </a:rPr>
                        <a:t>The write path works</a:t>
                      </a:r>
                    </a:p>
                  </a:txBody>
                  <a:tcPr anchor="ctr">
                    <a:solidFill>
                      <a:srgbClr val="FFFFFF"/>
                    </a:solidFill>
                  </a:tcPr>
                </a:tc>
                <a:extLst>
                  <a:ext uri="{0D108BD9-81ED-4DB2-BD59-A6C34878D82A}">
                    <a16:rowId xmlns:a16="http://schemas.microsoft.com/office/drawing/2014/main" val="10001"/>
                  </a:ext>
                </a:extLst>
              </a:tr>
              <a:tr h="762000">
                <a:tc>
                  <a:txBody>
                    <a:bodyPr/>
                    <a:lstStyle/>
                    <a:p>
                      <a:r>
                        <a:rPr sz="2025" b="0">
                          <a:solidFill>
                            <a:srgbClr val="242C35"/>
                          </a:solidFill>
                          <a:latin typeface="Helvetica Neue"/>
                          <a:ea typeface="Helvetica Neue"/>
                          <a:cs typeface="Helvetica Neue"/>
                        </a:rPr>
                        <a:t>Title “Go”</a:t>
                      </a:r>
                    </a:p>
                  </a:txBody>
                  <a:tcPr anchor="ctr">
                    <a:solidFill>
                      <a:srgbClr val="F8F5EF"/>
                    </a:solidFill>
                  </a:tcPr>
                </a:tc>
                <a:tc>
                  <a:txBody>
                    <a:bodyPr/>
                    <a:lstStyle/>
                    <a:p>
                      <a:r>
                        <a:rPr sz="2025" b="0">
                          <a:solidFill>
                            <a:srgbClr val="242C35"/>
                          </a:solidFill>
                          <a:latin typeface="Helvetica Neue"/>
                          <a:ea typeface="Helvetica Neue"/>
                          <a:cs typeface="Helvetica Neue"/>
                        </a:rPr>
                        <a:t>400 and a field error</a:t>
                      </a:r>
                    </a:p>
                  </a:txBody>
                  <a:tcPr anchor="ctr">
                    <a:solidFill>
                      <a:srgbClr val="F8F5EF"/>
                    </a:solidFill>
                  </a:tcPr>
                </a:tc>
                <a:tc>
                  <a:txBody>
                    <a:bodyPr/>
                    <a:lstStyle/>
                    <a:p>
                      <a:r>
                        <a:rPr sz="2025" b="0">
                          <a:solidFill>
                            <a:srgbClr val="242C35"/>
                          </a:solidFill>
                          <a:latin typeface="Helvetica Neue"/>
                          <a:ea typeface="Helvetica Neue"/>
                          <a:cs typeface="Helvetica Neue"/>
                        </a:rPr>
                        <a:t>Validation runs</a:t>
                      </a:r>
                    </a:p>
                  </a:txBody>
                  <a:tcPr anchor="ctr">
                    <a:solidFill>
                      <a:srgbClr val="F8F5EF"/>
                    </a:solidFill>
                  </a:tcPr>
                </a:tc>
                <a:extLst>
                  <a:ext uri="{0D108BD9-81ED-4DB2-BD59-A6C34878D82A}">
                    <a16:rowId xmlns:a16="http://schemas.microsoft.com/office/drawing/2014/main" val="10002"/>
                  </a:ext>
                </a:extLst>
              </a:tr>
              <a:tr h="762000">
                <a:tc>
                  <a:txBody>
                    <a:bodyPr/>
                    <a:lstStyle/>
                    <a:p>
                      <a:r>
                        <a:rPr sz="2025" b="0">
                          <a:solidFill>
                            <a:srgbClr val="242C35"/>
                          </a:solidFill>
                          <a:latin typeface="Helvetica Neue"/>
                          <a:ea typeface="Helvetica Neue"/>
                          <a:cs typeface="Helvetica Neue"/>
                        </a:rPr>
                        <a:t>No credentials</a:t>
                      </a:r>
                    </a:p>
                  </a:txBody>
                  <a:tcPr anchor="ctr">
                    <a:solidFill>
                      <a:srgbClr val="FFFFFF"/>
                    </a:solidFill>
                  </a:tcPr>
                </a:tc>
                <a:tc>
                  <a:txBody>
                    <a:bodyPr/>
                    <a:lstStyle/>
                    <a:p>
                      <a:r>
                        <a:rPr sz="2025" b="0">
                          <a:solidFill>
                            <a:srgbClr val="242C35"/>
                          </a:solidFill>
                          <a:latin typeface="Helvetica Neue"/>
                          <a:ea typeface="Helvetica Neue"/>
                          <a:cs typeface="Helvetica Neue"/>
                        </a:rPr>
                        <a:t>401 in token-first setup</a:t>
                      </a:r>
                    </a:p>
                  </a:txBody>
                  <a:tcPr anchor="ctr">
                    <a:solidFill>
                      <a:srgbClr val="FFFFFF"/>
                    </a:solidFill>
                  </a:tcPr>
                </a:tc>
                <a:tc>
                  <a:txBody>
                    <a:bodyPr/>
                    <a:lstStyle/>
                    <a:p>
                      <a:r>
                        <a:rPr sz="2025" b="0">
                          <a:solidFill>
                            <a:srgbClr val="242C35"/>
                          </a:solidFill>
                          <a:latin typeface="Helvetica Neue"/>
                          <a:ea typeface="Helvetica Neue"/>
                          <a:cs typeface="Helvetica Neue"/>
                        </a:rPr>
                        <a:t>Authentication runs</a:t>
                      </a:r>
                    </a:p>
                  </a:txBody>
                  <a:tcPr anchor="ctr">
                    <a:solidFill>
                      <a:srgbClr val="FFFFFF"/>
                    </a:solidFill>
                  </a:tcPr>
                </a:tc>
                <a:extLst>
                  <a:ext uri="{0D108BD9-81ED-4DB2-BD59-A6C34878D82A}">
                    <a16:rowId xmlns:a16="http://schemas.microsoft.com/office/drawing/2014/main" val="10003"/>
                  </a:ext>
                </a:extLst>
              </a:tr>
              <a:tr h="762000">
                <a:tc>
                  <a:txBody>
                    <a:bodyPr/>
                    <a:lstStyle/>
                    <a:p>
                      <a:r>
                        <a:rPr sz="2025" b="0">
                          <a:solidFill>
                            <a:srgbClr val="242C35"/>
                          </a:solidFill>
                          <a:latin typeface="Helvetica Neue"/>
                          <a:ea typeface="Helvetica Neue"/>
                          <a:cs typeface="Helvetica Neue"/>
                        </a:rPr>
                        <a:t>Another owner’s id</a:t>
                      </a:r>
                    </a:p>
                  </a:txBody>
                  <a:tcPr anchor="ctr">
                    <a:solidFill>
                      <a:srgbClr val="F8F5EF"/>
                    </a:solidFill>
                  </a:tcPr>
                </a:tc>
                <a:tc>
                  <a:txBody>
                    <a:bodyPr/>
                    <a:lstStyle/>
                    <a:p>
                      <a:r>
                        <a:rPr sz="2025" b="0">
                          <a:solidFill>
                            <a:srgbClr val="242C35"/>
                          </a:solidFill>
                          <a:latin typeface="Helvetica Neue"/>
                          <a:ea typeface="Helvetica Neue"/>
                          <a:cs typeface="Helvetica Neue"/>
                        </a:rPr>
                        <a:t>404</a:t>
                      </a:r>
                    </a:p>
                  </a:txBody>
                  <a:tcPr anchor="ctr">
                    <a:solidFill>
                      <a:srgbClr val="F8F5EF"/>
                    </a:solidFill>
                  </a:tcPr>
                </a:tc>
                <a:tc>
                  <a:txBody>
                    <a:bodyPr/>
                    <a:lstStyle/>
                    <a:p>
                      <a:r>
                        <a:rPr sz="2025" b="0">
                          <a:solidFill>
                            <a:srgbClr val="242C35"/>
                          </a:solidFill>
                          <a:latin typeface="Helvetica Neue"/>
                          <a:ea typeface="Helvetica Neue"/>
                          <a:cs typeface="Helvetica Neue"/>
                        </a:rPr>
                        <a:t>Records remain isolated</a:t>
                      </a:r>
                    </a:p>
                  </a:txBody>
                  <a:tcPr anchor="ctr">
                    <a:solidFill>
                      <a:srgbClr val="F8F5EF"/>
                    </a:solidFill>
                  </a:tcPr>
                </a:tc>
                <a:extLst>
                  <a:ext uri="{0D108BD9-81ED-4DB2-BD59-A6C34878D82A}">
                    <a16:rowId xmlns:a16="http://schemas.microsoft.com/office/drawing/2014/main" val="10004"/>
                  </a:ext>
                </a:extLst>
              </a:tr>
              <a:tr h="762000">
                <a:tc>
                  <a:txBody>
                    <a:bodyPr/>
                    <a:lstStyle/>
                    <a:p>
                      <a:r>
                        <a:rPr sz="2025" b="0">
                          <a:solidFill>
                            <a:srgbClr val="242C35"/>
                          </a:solidFill>
                          <a:latin typeface="Helvetica Neue"/>
                          <a:ea typeface="Helvetica Neue"/>
                          <a:cs typeface="Helvetica Neue"/>
                        </a:rPr>
                        <a:t>DELETE then GET</a:t>
                      </a:r>
                    </a:p>
                  </a:txBody>
                  <a:tcPr anchor="ctr">
                    <a:solidFill>
                      <a:srgbClr val="FFFFFF"/>
                    </a:solidFill>
                  </a:tcPr>
                </a:tc>
                <a:tc>
                  <a:txBody>
                    <a:bodyPr/>
                    <a:lstStyle/>
                    <a:p>
                      <a:r>
                        <a:rPr sz="2025" b="0">
                          <a:solidFill>
                            <a:srgbClr val="242C35"/>
                          </a:solidFill>
                          <a:latin typeface="Helvetica Neue"/>
                          <a:ea typeface="Helvetica Neue"/>
                          <a:cs typeface="Helvetica Neue"/>
                        </a:rPr>
                        <a:t>204, then 404</a:t>
                      </a:r>
                    </a:p>
                  </a:txBody>
                  <a:tcPr anchor="ctr">
                    <a:solidFill>
                      <a:srgbClr val="FFFFFF"/>
                    </a:solidFill>
                  </a:tcPr>
                </a:tc>
                <a:tc>
                  <a:txBody>
                    <a:bodyPr/>
                    <a:lstStyle/>
                    <a:p>
                      <a:r>
                        <a:rPr sz="2025" b="0">
                          <a:solidFill>
                            <a:srgbClr val="242C35"/>
                          </a:solidFill>
                          <a:latin typeface="Helvetica Neue"/>
                          <a:ea typeface="Helvetica Neue"/>
                          <a:cs typeface="Helvetica Neue"/>
                        </a:rPr>
                        <a:t>Deletion takes effect</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6" name="fade-1-takeaway">
            <a:extLst>
              <a:ext uri="{FF2B5EF4-FFF2-40B4-BE49-F238E27FC236}">
                <a16:creationId xmlns:a16="http://schemas.microsoft.com/office/drawing/2014/main" id="{32FD916E-2350-40EE-8E31-44F878DEBB65}"/>
              </a:ext>
            </a:extLst>
          </p:cNvPr>
          <p:cNvSpPr>
            <a:spLocks noGrp="1"/>
          </p:cNvSpPr>
          <p:nvPr/>
        </p:nvSpPr>
        <p:spPr>
          <a:xfrm>
            <a:off x="685800" y="7477125"/>
            <a:ext cx="13868400" cy="571500"/>
          </a:xfrm>
          <a:prstGeom prst="rect">
            <a:avLst/>
          </a:prstGeom>
          <a:noFill/>
          <a:ln w="0">
            <a:noFill/>
          </a:ln>
        </p:spPr>
        <p:txBody>
          <a:bodyPr wrap="none" lIns="0" tIns="0" rIns="0" bIns="0" anchor="t">
            <a:noAutofit/>
          </a:bodyPr>
          <a:lstStyle/>
          <a:p>
            <a:pPr algn="l">
              <a:defRPr sz="2025" b="0">
                <a:solidFill>
                  <a:srgbClr val="65717A"/>
                </a:solidFill>
                <a:latin typeface="Helvetica Neue"/>
                <a:ea typeface="Helvetica Neue"/>
                <a:cs typeface="Helvetica Neue"/>
              </a:defRPr>
            </a:pPr>
            <a:r>
              <a:rPr sz="2025" b="0">
                <a:solidFill>
                  <a:srgbClr val="65717A"/>
                </a:solidFill>
                <a:latin typeface="Helvetica Neue"/>
                <a:ea typeface="Helvetica Neue"/>
                <a:cs typeface="Helvetica Neue"/>
              </a:rPr>
              <a:t>Test failure cases as deliberately as successful requests.</a:t>
            </a:r>
          </a:p>
        </p:txBody>
      </p:sp>
    </p:spTree>
    <p:extLst>
      <p:ext uri="{BB962C8B-B14F-4D97-AF65-F5344CB8AC3E}">
        <p14:creationId xmlns:p14="http://schemas.microsoft.com/office/powerpoint/2010/main" val="6851083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fill="hold">
                                          <p:stCondLst>
                                            <p:cond delay="0"/>
                                          </p:stCondLst>
                                        </p:cTn>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242C35"/>
        </a:solidFill>
        <a:effectLst/>
      </p:bgPr>
    </p:bg>
    <p:spTree>
      <p:nvGrpSpPr>
        <p:cNvPr id="1" name=""/>
        <p:cNvGrpSpPr/>
        <p:nvPr/>
      </p:nvGrpSpPr>
      <p:grpSpPr>
        <a:xfrm>
          <a:off x="0" y="0"/>
          <a:ext cx="0" cy="0"/>
          <a:chOff x="0" y="0"/>
          <a:chExt cx="0" cy="0"/>
        </a:xfrm>
      </p:grpSpPr>
      <p:sp>
        <p:nvSpPr>
          <p:cNvPr id="11" name="text-397">
            <a:extLst>
              <a:ext uri="{FF2B5EF4-FFF2-40B4-BE49-F238E27FC236}">
                <a16:creationId xmlns:a16="http://schemas.microsoft.com/office/drawing/2014/main" id="{5464AF6E-A216-4955-BE19-F4197BA1BA35}"/>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CDD4DD"/>
                </a:solidFill>
                <a:latin typeface="Helvetica Neue"/>
                <a:ea typeface="Helvetica Neue"/>
                <a:cs typeface="Helvetica Neue"/>
              </a:defRPr>
            </a:pPr>
            <a:r>
              <a:rPr sz="1500" b="0">
                <a:solidFill>
                  <a:srgbClr val="CDD4DD"/>
                </a:solidFill>
                <a:latin typeface="Helvetica Neue"/>
                <a:ea typeface="Helvetica Neue"/>
                <a:cs typeface="Helvetica Neue"/>
              </a:rPr>
              <a:t>05 / REST APIs</a:t>
            </a:r>
          </a:p>
        </p:txBody>
      </p:sp>
      <p:sp>
        <p:nvSpPr>
          <p:cNvPr id="2" name="text-398">
            <a:extLst>
              <a:ext uri="{FF2B5EF4-FFF2-40B4-BE49-F238E27FC236}">
                <a16:creationId xmlns:a16="http://schemas.microsoft.com/office/drawing/2014/main" id="{908881F5-5395-4203-9C4C-47FC6ACFE0AD}"/>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F8F5EF"/>
                </a:solidFill>
                <a:latin typeface="Georgia"/>
                <a:ea typeface="Georgia"/>
                <a:cs typeface="Georgia"/>
              </a:defRPr>
            </a:pPr>
            <a:r>
              <a:rPr sz="3525" b="0">
                <a:solidFill>
                  <a:srgbClr val="F8F5EF"/>
                </a:solidFill>
                <a:latin typeface="Georgia"/>
                <a:ea typeface="Georgia"/>
                <a:cs typeface="Georgia"/>
              </a:rPr>
              <a:t>Lab: TODOs through a second client</a:t>
            </a:r>
          </a:p>
        </p:txBody>
      </p:sp>
      <p:sp>
        <p:nvSpPr>
          <p:cNvPr id="3" name="text-399">
            <a:extLst>
              <a:ext uri="{FF2B5EF4-FFF2-40B4-BE49-F238E27FC236}">
                <a16:creationId xmlns:a16="http://schemas.microsoft.com/office/drawing/2014/main" id="{4BACA868-1B68-423F-8514-34632A7F1957}"/>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BAC3CF"/>
                </a:solidFill>
                <a:latin typeface="Helvetica Neue"/>
                <a:ea typeface="Helvetica Neue"/>
                <a:cs typeface="Helvetica Neue"/>
              </a:defRPr>
            </a:pPr>
            <a:r>
              <a:rPr sz="1125" b="0">
                <a:solidFill>
                  <a:srgbClr val="BAC3CF"/>
                </a:solidFill>
                <a:latin typeface="Helvetica Neue"/>
                <a:ea typeface="Helvetica Neue"/>
                <a:cs typeface="Helvetica Neue"/>
              </a:rPr>
              <a:t>BHAVYA SHAH / DJANGO WORKSHOP</a:t>
            </a:r>
          </a:p>
        </p:txBody>
      </p:sp>
      <p:sp>
        <p:nvSpPr>
          <p:cNvPr id="4" name="text-400">
            <a:extLst>
              <a:ext uri="{FF2B5EF4-FFF2-40B4-BE49-F238E27FC236}">
                <a16:creationId xmlns:a16="http://schemas.microsoft.com/office/drawing/2014/main" id="{18F2FB2D-3F8B-40F0-860B-256D8E823E27}"/>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BAC3CF"/>
                </a:solidFill>
                <a:latin typeface="Helvetica Neue"/>
                <a:ea typeface="Helvetica Neue"/>
                <a:cs typeface="Helvetica Neue"/>
              </a:defRPr>
            </a:pPr>
            <a:r>
              <a:rPr sz="1575" b="0">
                <a:solidFill>
                  <a:srgbClr val="BAC3CF"/>
                </a:solidFill>
                <a:latin typeface="Helvetica Neue"/>
                <a:ea typeface="Helvetica Neue"/>
                <a:cs typeface="Helvetica Neue"/>
              </a:rPr>
              <a:t>52</a:t>
            </a:r>
          </a:p>
        </p:txBody>
      </p:sp>
      <p:sp>
        <p:nvSpPr>
          <p:cNvPr id="5" name="text-401">
            <a:extLst>
              <a:ext uri="{FF2B5EF4-FFF2-40B4-BE49-F238E27FC236}">
                <a16:creationId xmlns:a16="http://schemas.microsoft.com/office/drawing/2014/main" id="{957BAE93-F0B9-4338-AF1D-F658FE7C7BAA}"/>
              </a:ext>
            </a:extLst>
          </p:cNvPr>
          <p:cNvSpPr>
            <a:spLocks noGrp="1"/>
          </p:cNvSpPr>
          <p:nvPr/>
        </p:nvSpPr>
        <p:spPr>
          <a:xfrm>
            <a:off x="685800" y="2228850"/>
            <a:ext cx="13573125" cy="1123950"/>
          </a:xfrm>
          <a:prstGeom prst="rect">
            <a:avLst/>
          </a:prstGeom>
          <a:noFill/>
          <a:ln w="0">
            <a:noFill/>
          </a:ln>
        </p:spPr>
        <p:txBody>
          <a:bodyPr wrap="none" lIns="0" tIns="0" rIns="0" bIns="0" anchor="t">
            <a:noAutofit/>
          </a:bodyPr>
          <a:lstStyle/>
          <a:p>
            <a:pPr algn="l">
              <a:defRPr sz="2850" b="0">
                <a:solidFill>
                  <a:srgbClr val="F8F5EF"/>
                </a:solidFill>
                <a:latin typeface="Georgia"/>
                <a:ea typeface="Georgia"/>
                <a:cs typeface="Georgia"/>
              </a:defRPr>
            </a:pPr>
            <a:r>
              <a:rPr sz="2850" b="0">
                <a:solidFill>
                  <a:srgbClr val="F8F5EF"/>
                </a:solidFill>
                <a:latin typeface="Georgia"/>
                <a:ea typeface="Georgia"/>
                <a:cs typeface="Georgia"/>
              </a:rPr>
              <a:t>Can Postman complete a task that the browser created?</a:t>
            </a:r>
          </a:p>
        </p:txBody>
      </p:sp>
      <p:sp>
        <p:nvSpPr>
          <p:cNvPr id="6" name="reveal-1-number">
            <a:extLst>
              <a:ext uri="{FF2B5EF4-FFF2-40B4-BE49-F238E27FC236}">
                <a16:creationId xmlns:a16="http://schemas.microsoft.com/office/drawing/2014/main" id="{C499491E-F25A-420E-9301-0F25D90497D0}"/>
              </a:ext>
            </a:extLst>
          </p:cNvPr>
          <p:cNvSpPr>
            <a:spLocks noGrp="1"/>
          </p:cNvSpPr>
          <p:nvPr/>
        </p:nvSpPr>
        <p:spPr>
          <a:xfrm>
            <a:off x="685800" y="3876675"/>
            <a:ext cx="714375" cy="581025"/>
          </a:xfrm>
          <a:prstGeom prst="rect">
            <a:avLst/>
          </a:prstGeom>
          <a:noFill/>
          <a:ln w="0">
            <a:noFill/>
          </a:ln>
        </p:spPr>
        <p:txBody>
          <a:bodyPr wrap="none" lIns="0" tIns="0" rIns="0" bIns="0" anchor="t">
            <a:noAutofit/>
          </a:bodyPr>
          <a:lstStyle/>
          <a:p>
            <a:pPr algn="l">
              <a:defRPr sz="3075" b="0">
                <a:solidFill>
                  <a:srgbClr val="ED9D7C"/>
                </a:solidFill>
                <a:latin typeface="Georgia"/>
                <a:ea typeface="Georgia"/>
                <a:cs typeface="Georgia"/>
              </a:defRPr>
            </a:pPr>
            <a:r>
              <a:rPr sz="3075" b="0">
                <a:solidFill>
                  <a:srgbClr val="ED9D7C"/>
                </a:solidFill>
                <a:latin typeface="Georgia"/>
                <a:ea typeface="Georgia"/>
                <a:cs typeface="Georgia"/>
              </a:rPr>
              <a:t>1</a:t>
            </a:r>
          </a:p>
        </p:txBody>
      </p:sp>
      <p:sp>
        <p:nvSpPr>
          <p:cNvPr id="7" name="reveal-1-task">
            <a:extLst>
              <a:ext uri="{FF2B5EF4-FFF2-40B4-BE49-F238E27FC236}">
                <a16:creationId xmlns:a16="http://schemas.microsoft.com/office/drawing/2014/main" id="{19F36842-4884-4DC2-9828-C56E547BD4DE}"/>
              </a:ext>
            </a:extLst>
          </p:cNvPr>
          <p:cNvSpPr>
            <a:spLocks noGrp="1"/>
          </p:cNvSpPr>
          <p:nvPr/>
        </p:nvSpPr>
        <p:spPr>
          <a:xfrm>
            <a:off x="1733550" y="3905250"/>
            <a:ext cx="12801600" cy="857250"/>
          </a:xfrm>
          <a:prstGeom prst="rect">
            <a:avLst/>
          </a:prstGeom>
          <a:noFill/>
          <a:ln w="0">
            <a:noFill/>
          </a:ln>
        </p:spPr>
        <p:txBody>
          <a:bodyPr wrap="none" lIns="0" tIns="0" rIns="0" bIns="0" anchor="t">
            <a:noAutofit/>
          </a:bodyPr>
          <a:lstStyle/>
          <a:p>
            <a:pPr algn="l">
              <a:defRPr sz="2325" b="0">
                <a:solidFill>
                  <a:srgbClr val="F8F5EF"/>
                </a:solidFill>
                <a:latin typeface="Helvetica Neue"/>
                <a:ea typeface="Helvetica Neue"/>
                <a:cs typeface="Helvetica Neue"/>
              </a:defRPr>
            </a:pPr>
            <a:r>
              <a:rPr sz="2325" b="0">
                <a:solidFill>
                  <a:srgbClr val="F8F5EF"/>
                </a:solidFill>
                <a:latin typeface="Helvetica Neue"/>
                <a:ea typeface="Helvetica Neue"/>
                <a:cs typeface="Helvetica Neue"/>
              </a:rPr>
              <a:t>Find your task, PATCH completed=true and refresh the browser.</a:t>
            </a:r>
          </a:p>
        </p:txBody>
      </p:sp>
      <p:sp>
        <p:nvSpPr>
          <p:cNvPr id="8" name="reveal-2-number">
            <a:extLst>
              <a:ext uri="{FF2B5EF4-FFF2-40B4-BE49-F238E27FC236}">
                <a16:creationId xmlns:a16="http://schemas.microsoft.com/office/drawing/2014/main" id="{78599FAB-0D7A-4177-9166-8A034D745E33}"/>
              </a:ext>
            </a:extLst>
          </p:cNvPr>
          <p:cNvSpPr>
            <a:spLocks noGrp="1"/>
          </p:cNvSpPr>
          <p:nvPr/>
        </p:nvSpPr>
        <p:spPr>
          <a:xfrm>
            <a:off x="685800" y="4838700"/>
            <a:ext cx="714375" cy="581025"/>
          </a:xfrm>
          <a:prstGeom prst="rect">
            <a:avLst/>
          </a:prstGeom>
          <a:noFill/>
          <a:ln w="0">
            <a:noFill/>
          </a:ln>
        </p:spPr>
        <p:txBody>
          <a:bodyPr wrap="none" lIns="0" tIns="0" rIns="0" bIns="0" anchor="t">
            <a:noAutofit/>
          </a:bodyPr>
          <a:lstStyle/>
          <a:p>
            <a:pPr algn="l">
              <a:defRPr sz="3075" b="0">
                <a:solidFill>
                  <a:srgbClr val="ED9D7C"/>
                </a:solidFill>
                <a:latin typeface="Georgia"/>
                <a:ea typeface="Georgia"/>
                <a:cs typeface="Georgia"/>
              </a:defRPr>
            </a:pPr>
            <a:r>
              <a:rPr sz="3075" b="0">
                <a:solidFill>
                  <a:srgbClr val="ED9D7C"/>
                </a:solidFill>
                <a:latin typeface="Georgia"/>
                <a:ea typeface="Georgia"/>
                <a:cs typeface="Georgia"/>
              </a:rPr>
              <a:t>2</a:t>
            </a:r>
          </a:p>
        </p:txBody>
      </p:sp>
      <p:sp>
        <p:nvSpPr>
          <p:cNvPr id="9" name="reveal-2-task">
            <a:extLst>
              <a:ext uri="{FF2B5EF4-FFF2-40B4-BE49-F238E27FC236}">
                <a16:creationId xmlns:a16="http://schemas.microsoft.com/office/drawing/2014/main" id="{5B5A4B45-C02C-46B8-8BA8-1A1659833CB0}"/>
              </a:ext>
            </a:extLst>
          </p:cNvPr>
          <p:cNvSpPr>
            <a:spLocks noGrp="1"/>
          </p:cNvSpPr>
          <p:nvPr/>
        </p:nvSpPr>
        <p:spPr>
          <a:xfrm>
            <a:off x="1733550" y="4867275"/>
            <a:ext cx="12801600" cy="857250"/>
          </a:xfrm>
          <a:prstGeom prst="rect">
            <a:avLst/>
          </a:prstGeom>
          <a:noFill/>
          <a:ln w="0">
            <a:noFill/>
          </a:ln>
        </p:spPr>
        <p:txBody>
          <a:bodyPr wrap="none" lIns="0" tIns="0" rIns="0" bIns="0" anchor="t">
            <a:noAutofit/>
          </a:bodyPr>
          <a:lstStyle/>
          <a:p>
            <a:pPr algn="l">
              <a:defRPr sz="2325" b="0">
                <a:solidFill>
                  <a:srgbClr val="F8F5EF"/>
                </a:solidFill>
                <a:latin typeface="Helvetica Neue"/>
                <a:ea typeface="Helvetica Neue"/>
                <a:cs typeface="Helvetica Neue"/>
              </a:defRPr>
            </a:pPr>
            <a:r>
              <a:rPr sz="2325" b="0">
                <a:solidFill>
                  <a:srgbClr val="F8F5EF"/>
                </a:solidFill>
                <a:latin typeface="Helvetica Neue"/>
                <a:ea typeface="Helvetica Neue"/>
                <a:cs typeface="Helvetica Neue"/>
              </a:rPr>
              <a:t>Test an invalid title and another account’s task id.</a:t>
            </a:r>
          </a:p>
        </p:txBody>
      </p:sp>
      <p:sp>
        <p:nvSpPr>
          <p:cNvPr id="10" name="reveal-4-result">
            <a:extLst>
              <a:ext uri="{FF2B5EF4-FFF2-40B4-BE49-F238E27FC236}">
                <a16:creationId xmlns:a16="http://schemas.microsoft.com/office/drawing/2014/main" id="{B5F44F51-9FFF-40E9-ADE6-84FB3B5AA9E7}"/>
              </a:ext>
            </a:extLst>
          </p:cNvPr>
          <p:cNvSpPr>
            <a:spLocks noGrp="1"/>
          </p:cNvSpPr>
          <p:nvPr/>
        </p:nvSpPr>
        <p:spPr>
          <a:xfrm>
            <a:off x="685800" y="7353300"/>
            <a:ext cx="13868400" cy="657225"/>
          </a:xfrm>
          <a:prstGeom prst="rect">
            <a:avLst/>
          </a:prstGeom>
          <a:noFill/>
          <a:ln w="0">
            <a:noFill/>
          </a:ln>
        </p:spPr>
        <p:txBody>
          <a:bodyPr wrap="none" lIns="0" tIns="0" rIns="0" bIns="0" anchor="t">
            <a:noAutofit/>
          </a:bodyPr>
          <a:lstStyle/>
          <a:p>
            <a:pPr algn="l">
              <a:defRPr sz="1950" b="0">
                <a:solidFill>
                  <a:srgbClr val="BED0FF"/>
                </a:solidFill>
                <a:latin typeface="Helvetica Neue"/>
                <a:ea typeface="Helvetica Neue"/>
                <a:cs typeface="Helvetica Neue"/>
              </a:defRPr>
            </a:pPr>
            <a:r>
              <a:rPr sz="1950" b="0">
                <a:solidFill>
                  <a:srgbClr val="BED0FF"/>
                </a:solidFill>
                <a:latin typeface="Helvetica Neue"/>
                <a:ea typeface="Helvetica Neue"/>
                <a:cs typeface="Helvetica Neue"/>
              </a:rPr>
              <a:t>Both clients should see the same authorized database state.</a:t>
            </a:r>
          </a:p>
        </p:txBody>
      </p:sp>
    </p:spTree>
    <p:extLst>
      <p:ext uri="{BB962C8B-B14F-4D97-AF65-F5344CB8AC3E}">
        <p14:creationId xmlns:p14="http://schemas.microsoft.com/office/powerpoint/2010/main" val="16490650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2" name="text-402">
            <a:extLst>
              <a:ext uri="{FF2B5EF4-FFF2-40B4-BE49-F238E27FC236}">
                <a16:creationId xmlns:a16="http://schemas.microsoft.com/office/drawing/2014/main" id="{E02DF157-597A-4341-865F-493A1407248F}"/>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05 / REST APIs</a:t>
            </a:r>
          </a:p>
        </p:txBody>
      </p:sp>
      <p:sp>
        <p:nvSpPr>
          <p:cNvPr id="2" name="text-403">
            <a:extLst>
              <a:ext uri="{FF2B5EF4-FFF2-40B4-BE49-F238E27FC236}">
                <a16:creationId xmlns:a16="http://schemas.microsoft.com/office/drawing/2014/main" id="{D47B12B9-0729-43F0-9AD4-747F9D41AA7C}"/>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The Entry API protects each user’s keys</a:t>
            </a:r>
          </a:p>
        </p:txBody>
      </p:sp>
      <p:sp>
        <p:nvSpPr>
          <p:cNvPr id="3" name="text-404">
            <a:extLst>
              <a:ext uri="{FF2B5EF4-FFF2-40B4-BE49-F238E27FC236}">
                <a16:creationId xmlns:a16="http://schemas.microsoft.com/office/drawing/2014/main" id="{16B3A742-9222-472B-AC4D-B6AFEB6FCD79}"/>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405">
            <a:extLst>
              <a:ext uri="{FF2B5EF4-FFF2-40B4-BE49-F238E27FC236}">
                <a16:creationId xmlns:a16="http://schemas.microsoft.com/office/drawing/2014/main" id="{E2DADE6B-D58B-40D4-8E57-777F66150928}"/>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53</a:t>
            </a:r>
          </a:p>
        </p:txBody>
      </p:sp>
      <p:sp>
        <p:nvSpPr>
          <p:cNvPr id="5" name="text-406">
            <a:extLst>
              <a:ext uri="{FF2B5EF4-FFF2-40B4-BE49-F238E27FC236}">
                <a16:creationId xmlns:a16="http://schemas.microsoft.com/office/drawing/2014/main" id="{3F2539F3-EF2A-44DD-AF77-7932DB20678A}"/>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tasks/serializers.py, after TaskSerializer</a:t>
            </a:r>
          </a:p>
        </p:txBody>
      </p:sp>
      <p:sp>
        <p:nvSpPr>
          <p:cNvPr id="6" name="code-panel-407">
            <a:extLst>
              <a:ext uri="{FF2B5EF4-FFF2-40B4-BE49-F238E27FC236}">
                <a16:creationId xmlns:a16="http://schemas.microsoft.com/office/drawing/2014/main" id="{03EED386-2012-4AEC-A135-1152260E2A3E}"/>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70CCBA56-615A-4AA8-878F-0CD3CE7FFE57}"/>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class</a:t>
            </a:r>
            <a:r>
              <a:rPr sz="1725" b="0">
                <a:solidFill>
                  <a:srgbClr val="FFFFFF"/>
                </a:solidFill>
                <a:latin typeface="Menlo"/>
                <a:ea typeface="Menlo"/>
                <a:cs typeface="Menlo"/>
              </a:rPr>
              <a:t> EntrySerializer(serializers.ModelSerializer):</a:t>
            </a:r>
          </a:p>
        </p:txBody>
      </p:sp>
      <p:sp>
        <p:nvSpPr>
          <p:cNvPr id="8" name="code-line-1">
            <a:extLst>
              <a:ext uri="{FF2B5EF4-FFF2-40B4-BE49-F238E27FC236}">
                <a16:creationId xmlns:a16="http://schemas.microsoft.com/office/drawing/2014/main" id="{77C33274-65D0-4EF8-A253-4A8527A52CA1}"/>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owner = serializers.HiddenField(</a:t>
            </a:r>
          </a:p>
        </p:txBody>
      </p:sp>
      <p:sp>
        <p:nvSpPr>
          <p:cNvPr id="9" name="code-line-2">
            <a:extLst>
              <a:ext uri="{FF2B5EF4-FFF2-40B4-BE49-F238E27FC236}">
                <a16:creationId xmlns:a16="http://schemas.microsoft.com/office/drawing/2014/main" id="{C62702F4-1670-4CC9-8944-B5188FDBEE9C}"/>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default=serializers.CurrentUserDefault()</a:t>
            </a:r>
          </a:p>
        </p:txBody>
      </p:sp>
      <p:sp>
        <p:nvSpPr>
          <p:cNvPr id="10" name="code-line-3">
            <a:extLst>
              <a:ext uri="{FF2B5EF4-FFF2-40B4-BE49-F238E27FC236}">
                <a16:creationId xmlns:a16="http://schemas.microsoft.com/office/drawing/2014/main" id="{63685F3D-3FCB-4CFF-9470-12F86DFD279F}"/>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p>
        </p:txBody>
      </p:sp>
      <p:sp>
        <p:nvSpPr>
          <p:cNvPr id="11" name="code-line-4">
            <a:extLst>
              <a:ext uri="{FF2B5EF4-FFF2-40B4-BE49-F238E27FC236}">
                <a16:creationId xmlns:a16="http://schemas.microsoft.com/office/drawing/2014/main" id="{934F163E-7E63-4A07-AEE4-F8857E7D9C9E}"/>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r>
              <a:rPr sz="1725" b="0">
                <a:solidFill>
                  <a:srgbClr val="A7C2FF"/>
                </a:solidFill>
                <a:latin typeface="Menlo"/>
                <a:ea typeface="Menlo"/>
                <a:cs typeface="Menlo"/>
              </a:rPr>
              <a:t>class</a:t>
            </a:r>
            <a:r>
              <a:rPr sz="1725" b="0">
                <a:solidFill>
                  <a:srgbClr val="FFFFFF"/>
                </a:solidFill>
                <a:latin typeface="Menlo"/>
                <a:ea typeface="Menlo"/>
                <a:cs typeface="Menlo"/>
              </a:rPr>
              <a:t> Meta:</a:t>
            </a:r>
          </a:p>
        </p:txBody>
      </p:sp>
      <p:sp>
        <p:nvSpPr>
          <p:cNvPr id="12" name="code-line-5">
            <a:extLst>
              <a:ext uri="{FF2B5EF4-FFF2-40B4-BE49-F238E27FC236}">
                <a16:creationId xmlns:a16="http://schemas.microsoft.com/office/drawing/2014/main" id="{1331BB69-6D07-4431-9BE4-3AD2596DD475}"/>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model = Entry</a:t>
            </a:r>
          </a:p>
        </p:txBody>
      </p:sp>
      <p:sp>
        <p:nvSpPr>
          <p:cNvPr id="13" name="code-line-6">
            <a:extLst>
              <a:ext uri="{FF2B5EF4-FFF2-40B4-BE49-F238E27FC236}">
                <a16:creationId xmlns:a16="http://schemas.microsoft.com/office/drawing/2014/main" id="{ED9AE9B3-9760-4F82-A262-F14C87EF0064}"/>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fields = ["id", "key", "value", "owner"]</a:t>
            </a:r>
          </a:p>
        </p:txBody>
      </p:sp>
      <p:sp>
        <p:nvSpPr>
          <p:cNvPr id="14" name="code-line-7">
            <a:extLst>
              <a:ext uri="{FF2B5EF4-FFF2-40B4-BE49-F238E27FC236}">
                <a16:creationId xmlns:a16="http://schemas.microsoft.com/office/drawing/2014/main" id="{D07EDD0A-DCFE-4011-A572-7B2720E2E3EF}"/>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validators = [UniqueTogetherValidator(</a:t>
            </a:r>
          </a:p>
        </p:txBody>
      </p:sp>
      <p:sp>
        <p:nvSpPr>
          <p:cNvPr id="15" name="code-line-8">
            <a:extLst>
              <a:ext uri="{FF2B5EF4-FFF2-40B4-BE49-F238E27FC236}">
                <a16:creationId xmlns:a16="http://schemas.microsoft.com/office/drawing/2014/main" id="{B0CA4450-6FC4-4F5B-8780-C8103C199251}"/>
              </a:ext>
            </a:extLst>
          </p:cNvPr>
          <p:cNvSpPr>
            <a:spLocks noGrp="1"/>
          </p:cNvSpPr>
          <p:nvPr/>
        </p:nvSpPr>
        <p:spPr>
          <a:xfrm>
            <a:off x="914400" y="5591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queryset=Entry.objects.all(),</a:t>
            </a:r>
          </a:p>
        </p:txBody>
      </p:sp>
      <p:sp>
        <p:nvSpPr>
          <p:cNvPr id="16" name="code-line-9">
            <a:extLst>
              <a:ext uri="{FF2B5EF4-FFF2-40B4-BE49-F238E27FC236}">
                <a16:creationId xmlns:a16="http://schemas.microsoft.com/office/drawing/2014/main" id="{7E76432E-D8DE-4E50-A1CC-03D7A45E60BC}"/>
              </a:ext>
            </a:extLst>
          </p:cNvPr>
          <p:cNvSpPr>
            <a:spLocks noGrp="1"/>
          </p:cNvSpPr>
          <p:nvPr/>
        </p:nvSpPr>
        <p:spPr>
          <a:xfrm>
            <a:off x="914400" y="5924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fields=["owner", "key"],</a:t>
            </a:r>
          </a:p>
        </p:txBody>
      </p:sp>
      <p:sp>
        <p:nvSpPr>
          <p:cNvPr id="17" name="code-line-10">
            <a:extLst>
              <a:ext uri="{FF2B5EF4-FFF2-40B4-BE49-F238E27FC236}">
                <a16:creationId xmlns:a16="http://schemas.microsoft.com/office/drawing/2014/main" id="{E842344B-C055-4531-932A-31241C3B0EC0}"/>
              </a:ext>
            </a:extLst>
          </p:cNvPr>
          <p:cNvSpPr>
            <a:spLocks noGrp="1"/>
          </p:cNvSpPr>
          <p:nvPr/>
        </p:nvSpPr>
        <p:spPr>
          <a:xfrm>
            <a:off x="914400" y="62579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p>
        </p:txBody>
      </p:sp>
      <p:sp>
        <p:nvSpPr>
          <p:cNvPr id="18" name="reveal-1-output-1">
            <a:extLst>
              <a:ext uri="{FF2B5EF4-FFF2-40B4-BE49-F238E27FC236}">
                <a16:creationId xmlns:a16="http://schemas.microsoft.com/office/drawing/2014/main" id="{48046913-99A4-40F3-AD8D-63F2A61C2711}"/>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Request JSON</a:t>
            </a:r>
          </a:p>
        </p:txBody>
      </p:sp>
      <p:sp>
        <p:nvSpPr>
          <p:cNvPr id="19" name="reveal-1-output-2">
            <a:extLst>
              <a:ext uri="{FF2B5EF4-FFF2-40B4-BE49-F238E27FC236}">
                <a16:creationId xmlns:a16="http://schemas.microsoft.com/office/drawing/2014/main" id="{AEBF4415-E302-4807-9D7C-E70CAA92517C}"/>
              </a:ext>
            </a:extLst>
          </p:cNvPr>
          <p:cNvSpPr>
            <a:spLocks noGrp="1"/>
          </p:cNvSpPr>
          <p:nvPr/>
        </p:nvSpPr>
        <p:spPr>
          <a:xfrm>
            <a:off x="9239250" y="2952750"/>
            <a:ext cx="5295900" cy="3810000"/>
          </a:xfrm>
          <a:prstGeom prst="rect">
            <a:avLst/>
          </a:prstGeom>
          <a:solidFill>
            <a:srgbClr val="ECEFF7"/>
          </a:solidFill>
          <a:ln w="0">
            <a:noFill/>
          </a:ln>
        </p:spPr>
      </p:sp>
      <p:sp>
        <p:nvSpPr>
          <p:cNvPr id="20" name="reveal-1-output-3">
            <a:extLst>
              <a:ext uri="{FF2B5EF4-FFF2-40B4-BE49-F238E27FC236}">
                <a16:creationId xmlns:a16="http://schemas.microsoft.com/office/drawing/2014/main" id="{6E95C09D-915B-40BB-9546-D7498F756AD5}"/>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500" b="0">
                <a:solidFill>
                  <a:srgbClr val="242C35"/>
                </a:solidFill>
                <a:latin typeface="Menlo"/>
                <a:ea typeface="Menlo"/>
                <a:cs typeface="Menlo"/>
              </a:defRPr>
            </a:pPr>
            <a:r>
              <a:rPr sz="1500" b="0">
                <a:solidFill>
                  <a:srgbClr val="242C35"/>
                </a:solidFill>
                <a:latin typeface="Menlo"/>
                <a:ea typeface="Menlo"/>
                <a:cs typeface="Menlo"/>
              </a:rPr>
              <a:t>{"key": "course_link",</a:t>
            </a:r>
          </a:p>
          <a:p>
            <a:pPr algn="l">
              <a:defRPr sz="1500" b="0">
                <a:solidFill>
                  <a:srgbClr val="242C35"/>
                </a:solidFill>
                <a:latin typeface="Menlo"/>
                <a:ea typeface="Menlo"/>
                <a:cs typeface="Menlo"/>
              </a:defRPr>
            </a:pPr>
            <a:r>
              <a:rPr sz="1500" b="0">
                <a:solidFill>
                  <a:srgbClr val="242C35"/>
                </a:solidFill>
                <a:latin typeface="Menlo"/>
                <a:ea typeface="Menlo"/>
                <a:cs typeface="Menlo"/>
              </a:rPr>
              <a:t>"value":</a:t>
            </a:r>
          </a:p>
          <a:p>
            <a:pPr algn="l">
              <a:defRPr sz="1500" b="0">
                <a:solidFill>
                  <a:srgbClr val="242C35"/>
                </a:solidFill>
                <a:latin typeface="Menlo"/>
                <a:ea typeface="Menlo"/>
                <a:cs typeface="Menlo"/>
              </a:defRPr>
            </a:pPr>
            <a:r>
              <a:rPr sz="1500" b="0">
                <a:solidFill>
                  <a:srgbClr val="242C35"/>
                </a:solidFill>
                <a:latin typeface="Menlo"/>
                <a:ea typeface="Menlo"/>
                <a:cs typeface="Menlo"/>
              </a:rPr>
              <a:t>"https://docs.djangoproject.com/en/5.2/"}</a:t>
            </a:r>
          </a:p>
          <a:p>
            <a:endParaRPr sz="1500" b="0">
              <a:solidFill>
                <a:srgbClr val="242C35"/>
              </a:solidFill>
              <a:latin typeface="Menlo"/>
              <a:ea typeface="Menlo"/>
              <a:cs typeface="Menlo"/>
            </a:endParaRPr>
          </a:p>
          <a:p>
            <a:pPr algn="l">
              <a:defRPr sz="1500" b="0">
                <a:solidFill>
                  <a:srgbClr val="242C35"/>
                </a:solidFill>
                <a:latin typeface="Menlo"/>
                <a:ea typeface="Menlo"/>
                <a:cs typeface="Menlo"/>
              </a:defRPr>
            </a:pPr>
            <a:r>
              <a:rPr sz="1500" b="0">
                <a:solidFill>
                  <a:srgbClr val="242C35"/>
                </a:solidFill>
                <a:latin typeface="Menlo"/>
                <a:ea typeface="Menlo"/>
                <a:cs typeface="Menlo"/>
              </a:rPr>
              <a:t>Owner comes from the signed-in account.</a:t>
            </a:r>
          </a:p>
        </p:txBody>
      </p:sp>
      <p:sp>
        <p:nvSpPr>
          <p:cNvPr id="21" name="fade-1-takeaway">
            <a:extLst>
              <a:ext uri="{FF2B5EF4-FFF2-40B4-BE49-F238E27FC236}">
                <a16:creationId xmlns:a16="http://schemas.microsoft.com/office/drawing/2014/main" id="{B2DBED69-99F3-4335-B1F4-9CA922ABF65E}"/>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owner is a hidden server-derived value.</a:t>
            </a:r>
          </a:p>
        </p:txBody>
      </p:sp>
    </p:spTree>
    <p:extLst>
      <p:ext uri="{BB962C8B-B14F-4D97-AF65-F5344CB8AC3E}">
        <p14:creationId xmlns:p14="http://schemas.microsoft.com/office/powerpoint/2010/main" val="3201097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350" fill="hold">
                                          <p:stCondLst>
                                            <p:cond delay="0"/>
                                          </p:stCondLst>
                                        </p:cTn>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1" name="text-411">
            <a:extLst>
              <a:ext uri="{FF2B5EF4-FFF2-40B4-BE49-F238E27FC236}">
                <a16:creationId xmlns:a16="http://schemas.microsoft.com/office/drawing/2014/main" id="{3056619E-1635-468D-B1FF-AA26BC3726BD}"/>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05 / REST APIs</a:t>
            </a:r>
          </a:p>
        </p:txBody>
      </p:sp>
      <p:sp>
        <p:nvSpPr>
          <p:cNvPr id="2" name="text-412">
            <a:extLst>
              <a:ext uri="{FF2B5EF4-FFF2-40B4-BE49-F238E27FC236}">
                <a16:creationId xmlns:a16="http://schemas.microsoft.com/office/drawing/2014/main" id="{418C9145-4E47-4422-8E6C-C46C3435A326}"/>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A second REST resource: useful notes</a:t>
            </a:r>
          </a:p>
        </p:txBody>
      </p:sp>
      <p:sp>
        <p:nvSpPr>
          <p:cNvPr id="3" name="text-413">
            <a:extLst>
              <a:ext uri="{FF2B5EF4-FFF2-40B4-BE49-F238E27FC236}">
                <a16:creationId xmlns:a16="http://schemas.microsoft.com/office/drawing/2014/main" id="{EEC35AAB-CEA7-4A41-A1E7-A200A0BDCDA0}"/>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414">
            <a:extLst>
              <a:ext uri="{FF2B5EF4-FFF2-40B4-BE49-F238E27FC236}">
                <a16:creationId xmlns:a16="http://schemas.microsoft.com/office/drawing/2014/main" id="{3F7D0FD7-8BF2-48D1-9BB9-70FA56C8F8FC}"/>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54</a:t>
            </a:r>
          </a:p>
        </p:txBody>
      </p:sp>
      <p:sp>
        <p:nvSpPr>
          <p:cNvPr id="5" name="text-415">
            <a:extLst>
              <a:ext uri="{FF2B5EF4-FFF2-40B4-BE49-F238E27FC236}">
                <a16:creationId xmlns:a16="http://schemas.microsoft.com/office/drawing/2014/main" id="{01014110-39F0-4AB3-999C-B8A0A787F91B}"/>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tasks/api.py and config/urls.py additions</a:t>
            </a:r>
          </a:p>
        </p:txBody>
      </p:sp>
      <p:sp>
        <p:nvSpPr>
          <p:cNvPr id="6" name="code-panel-416">
            <a:extLst>
              <a:ext uri="{FF2B5EF4-FFF2-40B4-BE49-F238E27FC236}">
                <a16:creationId xmlns:a16="http://schemas.microsoft.com/office/drawing/2014/main" id="{1E9EF1D3-1266-4992-BE98-2D29591C6A94}"/>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C738D346-54A3-4C48-B566-2978B2AA7ABA}"/>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A7C2FF"/>
                </a:solidFill>
                <a:latin typeface="Menlo"/>
                <a:ea typeface="Menlo"/>
                <a:cs typeface="Menlo"/>
              </a:rPr>
              <a:t>class</a:t>
            </a:r>
            <a:r>
              <a:rPr sz="1650" b="0">
                <a:solidFill>
                  <a:srgbClr val="FFFFFF"/>
                </a:solidFill>
                <a:latin typeface="Menlo"/>
                <a:ea typeface="Menlo"/>
                <a:cs typeface="Menlo"/>
              </a:rPr>
              <a:t> EntryViewSet(viewsets.ModelViewSet):</a:t>
            </a:r>
          </a:p>
        </p:txBody>
      </p:sp>
      <p:sp>
        <p:nvSpPr>
          <p:cNvPr id="8" name="code-line-1">
            <a:extLst>
              <a:ext uri="{FF2B5EF4-FFF2-40B4-BE49-F238E27FC236}">
                <a16:creationId xmlns:a16="http://schemas.microsoft.com/office/drawing/2014/main" id="{AD4E157E-2067-44A7-BAAB-DA6DDDFB97CF}"/>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serializer_class = EntrySerializer</a:t>
            </a:r>
          </a:p>
        </p:txBody>
      </p:sp>
      <p:sp>
        <p:nvSpPr>
          <p:cNvPr id="9" name="code-line-2">
            <a:extLst>
              <a:ext uri="{FF2B5EF4-FFF2-40B4-BE49-F238E27FC236}">
                <a16:creationId xmlns:a16="http://schemas.microsoft.com/office/drawing/2014/main" id="{382725F9-E3A7-4EAB-97B1-C13ADE0B9338}"/>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permission_classes = [permissions.IsAuthenticated]</a:t>
            </a:r>
          </a:p>
        </p:txBody>
      </p:sp>
      <p:sp>
        <p:nvSpPr>
          <p:cNvPr id="10" name="code-line-3">
            <a:extLst>
              <a:ext uri="{FF2B5EF4-FFF2-40B4-BE49-F238E27FC236}">
                <a16:creationId xmlns:a16="http://schemas.microsoft.com/office/drawing/2014/main" id="{005147B0-73D2-4CF0-83EF-BBA4970E749A}"/>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650" b="0">
                <a:solidFill>
                  <a:srgbClr val="B1BFD2"/>
                </a:solidFill>
                <a:latin typeface="Menlo"/>
                <a:ea typeface="Menlo"/>
                <a:cs typeface="Menlo"/>
              </a:defRPr>
            </a:pPr>
            <a:r>
              <a:rPr sz="1650" b="0">
                <a:solidFill>
                  <a:srgbClr val="B1BFD2"/>
                </a:solidFill>
                <a:latin typeface="Menlo"/>
                <a:ea typeface="Menlo"/>
                <a:cs typeface="Menlo"/>
              </a:rPr>
              <a:t>    # Same token/session authentication as TaskViewSet</a:t>
            </a:r>
          </a:p>
        </p:txBody>
      </p:sp>
      <p:sp>
        <p:nvSpPr>
          <p:cNvPr id="11" name="code-line-4">
            <a:extLst>
              <a:ext uri="{FF2B5EF4-FFF2-40B4-BE49-F238E27FC236}">
                <a16:creationId xmlns:a16="http://schemas.microsoft.com/office/drawing/2014/main" id="{F48311E4-51C7-4AB7-A1E2-4FC8762C3089}"/>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a:t>
            </a:r>
            <a:r>
              <a:rPr sz="1650" b="0">
                <a:solidFill>
                  <a:srgbClr val="A7C2FF"/>
                </a:solidFill>
                <a:latin typeface="Menlo"/>
                <a:ea typeface="Menlo"/>
                <a:cs typeface="Menlo"/>
              </a:rPr>
              <a:t>def</a:t>
            </a:r>
            <a:r>
              <a:rPr sz="1650" b="0">
                <a:solidFill>
                  <a:srgbClr val="FFFFFF"/>
                </a:solidFill>
                <a:latin typeface="Menlo"/>
                <a:ea typeface="Menlo"/>
                <a:cs typeface="Menlo"/>
              </a:rPr>
              <a:t> get_queryset(self):</a:t>
            </a:r>
          </a:p>
        </p:txBody>
      </p:sp>
      <p:sp>
        <p:nvSpPr>
          <p:cNvPr id="12" name="code-line-5">
            <a:extLst>
              <a:ext uri="{FF2B5EF4-FFF2-40B4-BE49-F238E27FC236}">
                <a16:creationId xmlns:a16="http://schemas.microsoft.com/office/drawing/2014/main" id="{332B34B8-81D3-48A4-8675-AC8F32E99CD0}"/>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a:t>
            </a:r>
            <a:r>
              <a:rPr sz="1650" b="0">
                <a:solidFill>
                  <a:srgbClr val="A7C2FF"/>
                </a:solidFill>
                <a:latin typeface="Menlo"/>
                <a:ea typeface="Menlo"/>
                <a:cs typeface="Menlo"/>
              </a:rPr>
              <a:t>return</a:t>
            </a:r>
            <a:r>
              <a:rPr sz="1650" b="0">
                <a:solidFill>
                  <a:srgbClr val="FFFFFF"/>
                </a:solidFill>
                <a:latin typeface="Menlo"/>
                <a:ea typeface="Menlo"/>
                <a:cs typeface="Menlo"/>
              </a:rPr>
              <a:t> Entry.objects.filter(</a:t>
            </a:r>
          </a:p>
        </p:txBody>
      </p:sp>
      <p:sp>
        <p:nvSpPr>
          <p:cNvPr id="13" name="code-line-6">
            <a:extLst>
              <a:ext uri="{FF2B5EF4-FFF2-40B4-BE49-F238E27FC236}">
                <a16:creationId xmlns:a16="http://schemas.microsoft.com/office/drawing/2014/main" id="{C0B0B60E-9665-48C9-B0A3-5DE29F88DB3E}"/>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owner=self.request.user</a:t>
            </a:r>
          </a:p>
        </p:txBody>
      </p:sp>
      <p:sp>
        <p:nvSpPr>
          <p:cNvPr id="14" name="code-line-7">
            <a:extLst>
              <a:ext uri="{FF2B5EF4-FFF2-40B4-BE49-F238E27FC236}">
                <a16:creationId xmlns:a16="http://schemas.microsoft.com/office/drawing/2014/main" id="{875B6D92-26CF-4BA3-8542-0BCF8D10C8FD}"/>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).order_by("key", "id")</a:t>
            </a:r>
          </a:p>
        </p:txBody>
      </p:sp>
      <p:sp>
        <p:nvSpPr>
          <p:cNvPr id="15" name="code-line-8">
            <a:extLst>
              <a:ext uri="{FF2B5EF4-FFF2-40B4-BE49-F238E27FC236}">
                <a16:creationId xmlns:a16="http://schemas.microsoft.com/office/drawing/2014/main" id="{F5118FED-B260-4170-9115-CE137C06A16C}"/>
              </a:ext>
            </a:extLst>
          </p:cNvPr>
          <p:cNvSpPr>
            <a:spLocks noGrp="1"/>
          </p:cNvSpPr>
          <p:nvPr/>
        </p:nvSpPr>
        <p:spPr>
          <a:xfrm>
            <a:off x="914400" y="5591175"/>
            <a:ext cx="7639050" cy="361950"/>
          </a:xfrm>
          <a:prstGeom prst="rect">
            <a:avLst/>
          </a:prstGeom>
          <a:noFill/>
          <a:ln w="0">
            <a:noFill/>
          </a:ln>
        </p:spPr>
        <p:txBody>
          <a:bodyPr wrap="none" lIns="0" tIns="0" rIns="0" bIns="0" anchor="t">
            <a:noAutofit/>
          </a:bodyPr>
          <a:lstStyle/>
          <a:p>
            <a:endParaRPr/>
          </a:p>
        </p:txBody>
      </p:sp>
      <p:sp>
        <p:nvSpPr>
          <p:cNvPr id="16" name="code-line-9">
            <a:extLst>
              <a:ext uri="{FF2B5EF4-FFF2-40B4-BE49-F238E27FC236}">
                <a16:creationId xmlns:a16="http://schemas.microsoft.com/office/drawing/2014/main" id="{C8EB6797-C331-4B0E-94AF-B5601915EB52}"/>
              </a:ext>
            </a:extLst>
          </p:cNvPr>
          <p:cNvSpPr>
            <a:spLocks noGrp="1"/>
          </p:cNvSpPr>
          <p:nvPr/>
        </p:nvSpPr>
        <p:spPr>
          <a:xfrm>
            <a:off x="914400" y="5924550"/>
            <a:ext cx="7639050" cy="361950"/>
          </a:xfrm>
          <a:prstGeom prst="rect">
            <a:avLst/>
          </a:prstGeom>
          <a:noFill/>
          <a:ln w="0">
            <a:noFill/>
          </a:ln>
        </p:spPr>
        <p:txBody>
          <a:bodyPr wrap="none" lIns="0" tIns="0" rIns="0" bIns="0" anchor="t">
            <a:noAutofit/>
          </a:bodyPr>
          <a:lstStyle/>
          <a:p>
            <a:pPr algn="l">
              <a:defRPr sz="1650" b="0">
                <a:solidFill>
                  <a:srgbClr val="B1BFD2"/>
                </a:solidFill>
                <a:latin typeface="Menlo"/>
                <a:ea typeface="Menlo"/>
                <a:cs typeface="Menlo"/>
              </a:defRPr>
            </a:pPr>
            <a:r>
              <a:rPr sz="1650" b="0">
                <a:solidFill>
                  <a:srgbClr val="B1BFD2"/>
                </a:solidFill>
                <a:latin typeface="Menlo"/>
                <a:ea typeface="Menlo"/>
                <a:cs typeface="Menlo"/>
              </a:rPr>
              <a:t># config/urls.py</a:t>
            </a:r>
          </a:p>
        </p:txBody>
      </p:sp>
      <p:sp>
        <p:nvSpPr>
          <p:cNvPr id="17" name="code-line-10">
            <a:extLst>
              <a:ext uri="{FF2B5EF4-FFF2-40B4-BE49-F238E27FC236}">
                <a16:creationId xmlns:a16="http://schemas.microsoft.com/office/drawing/2014/main" id="{D3FBF393-230A-42FA-A3B6-DB9F00149E68}"/>
              </a:ext>
            </a:extLst>
          </p:cNvPr>
          <p:cNvSpPr>
            <a:spLocks noGrp="1"/>
          </p:cNvSpPr>
          <p:nvPr/>
        </p:nvSpPr>
        <p:spPr>
          <a:xfrm>
            <a:off x="914400" y="6257925"/>
            <a:ext cx="7639050" cy="361950"/>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router.register("entries", EntryViewSet, basename="entry")</a:t>
            </a:r>
          </a:p>
        </p:txBody>
      </p:sp>
      <p:sp>
        <p:nvSpPr>
          <p:cNvPr id="18" name="reveal-1-output-1">
            <a:extLst>
              <a:ext uri="{FF2B5EF4-FFF2-40B4-BE49-F238E27FC236}">
                <a16:creationId xmlns:a16="http://schemas.microsoft.com/office/drawing/2014/main" id="{0E0EC8A1-2B39-4B4D-840D-132C48FA9175}"/>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Entry endpoints</a:t>
            </a:r>
          </a:p>
        </p:txBody>
      </p:sp>
      <p:graphicFrame>
        <p:nvGraphicFramePr>
          <p:cNvPr id="39" name="reveal-1-output-2"/>
          <p:cNvGraphicFramePr/>
          <p:nvPr/>
        </p:nvGraphicFramePr>
        <p:xfrm>
          <a:off x="9239250" y="2952750"/>
          <a:ext cx="5295900" cy="3714750"/>
        </p:xfrm>
        <a:graphic>
          <a:graphicData uri="http://schemas.openxmlformats.org/drawingml/2006/table">
            <a:tbl>
              <a:tblPr firstRow="1"/>
              <a:tblGrid>
                <a:gridCol w="2647950">
                  <a:extLst>
                    <a:ext uri="{9D8B030D-6E8A-4147-A177-3AD203B41FA5}">
                      <a16:colId xmlns:a16="http://schemas.microsoft.com/office/drawing/2014/main" val="20000"/>
                    </a:ext>
                  </a:extLst>
                </a:gridCol>
                <a:gridCol w="2647950">
                  <a:extLst>
                    <a:ext uri="{9D8B030D-6E8A-4147-A177-3AD203B41FA5}">
                      <a16:colId xmlns:a16="http://schemas.microsoft.com/office/drawing/2014/main" val="20001"/>
                    </a:ext>
                  </a:extLst>
                </a:gridCol>
              </a:tblGrid>
              <a:tr h="928688">
                <a:tc>
                  <a:txBody>
                    <a:bodyPr/>
                    <a:lstStyle/>
                    <a:p>
                      <a:r>
                        <a:rPr sz="1575" b="1">
                          <a:solidFill>
                            <a:srgbClr val="FFFFFF"/>
                          </a:solidFill>
                          <a:latin typeface="Helvetica Neue"/>
                          <a:ea typeface="Helvetica Neue"/>
                          <a:cs typeface="Helvetica Neue"/>
                        </a:rPr>
                        <a:t>Request</a:t>
                      </a:r>
                    </a:p>
                  </a:txBody>
                  <a:tcPr anchor="ctr">
                    <a:solidFill>
                      <a:srgbClr val="242C35"/>
                    </a:solidFill>
                  </a:tcPr>
                </a:tc>
                <a:tc>
                  <a:txBody>
                    <a:bodyPr/>
                    <a:lstStyle/>
                    <a:p>
                      <a:r>
                        <a:rPr sz="1575" b="1">
                          <a:solidFill>
                            <a:srgbClr val="FFFFFF"/>
                          </a:solidFill>
                          <a:latin typeface="Helvetica Neue"/>
                          <a:ea typeface="Helvetica Neue"/>
                          <a:cs typeface="Helvetica Neue"/>
                        </a:rPr>
                        <a:t>Result</a:t>
                      </a:r>
                    </a:p>
                  </a:txBody>
                  <a:tcPr anchor="ctr">
                    <a:solidFill>
                      <a:srgbClr val="242C35"/>
                    </a:solidFill>
                  </a:tcPr>
                </a:tc>
                <a:extLst>
                  <a:ext uri="{0D108BD9-81ED-4DB2-BD59-A6C34878D82A}">
                    <a16:rowId xmlns:a16="http://schemas.microsoft.com/office/drawing/2014/main" val="10000"/>
                  </a:ext>
                </a:extLst>
              </a:tr>
              <a:tr h="928688">
                <a:tc>
                  <a:txBody>
                    <a:bodyPr/>
                    <a:lstStyle/>
                    <a:p>
                      <a:r>
                        <a:rPr sz="1575" b="0">
                          <a:solidFill>
                            <a:srgbClr val="242C35"/>
                          </a:solidFill>
                          <a:latin typeface="Helvetica Neue"/>
                          <a:ea typeface="Helvetica Neue"/>
                          <a:cs typeface="Helvetica Neue"/>
                        </a:rPr>
                        <a:t>POST /api/entries/</a:t>
                      </a:r>
                    </a:p>
                  </a:txBody>
                  <a:tcPr anchor="ctr">
                    <a:solidFill>
                      <a:srgbClr val="FFFFFF"/>
                    </a:solidFill>
                  </a:tcPr>
                </a:tc>
                <a:tc>
                  <a:txBody>
                    <a:bodyPr/>
                    <a:lstStyle/>
                    <a:p>
                      <a:r>
                        <a:rPr sz="1575" b="0">
                          <a:solidFill>
                            <a:srgbClr val="242C35"/>
                          </a:solidFill>
                          <a:latin typeface="Helvetica Neue"/>
                          <a:ea typeface="Helvetica Neue"/>
                          <a:cs typeface="Helvetica Neue"/>
                        </a:rPr>
                        <a:t>Create a key/value note</a:t>
                      </a:r>
                    </a:p>
                  </a:txBody>
                  <a:tcPr anchor="ctr">
                    <a:solidFill>
                      <a:srgbClr val="FFFFFF"/>
                    </a:solidFill>
                  </a:tcPr>
                </a:tc>
                <a:extLst>
                  <a:ext uri="{0D108BD9-81ED-4DB2-BD59-A6C34878D82A}">
                    <a16:rowId xmlns:a16="http://schemas.microsoft.com/office/drawing/2014/main" val="10001"/>
                  </a:ext>
                </a:extLst>
              </a:tr>
              <a:tr h="928688">
                <a:tc>
                  <a:txBody>
                    <a:bodyPr/>
                    <a:lstStyle/>
                    <a:p>
                      <a:r>
                        <a:rPr sz="1575" b="0">
                          <a:solidFill>
                            <a:srgbClr val="242C35"/>
                          </a:solidFill>
                          <a:latin typeface="Helvetica Neue"/>
                          <a:ea typeface="Helvetica Neue"/>
                          <a:cs typeface="Helvetica Neue"/>
                        </a:rPr>
                        <a:t>GET /api/entries/</a:t>
                      </a:r>
                    </a:p>
                  </a:txBody>
                  <a:tcPr anchor="ctr">
                    <a:solidFill>
                      <a:srgbClr val="F8F5EF"/>
                    </a:solidFill>
                  </a:tcPr>
                </a:tc>
                <a:tc>
                  <a:txBody>
                    <a:bodyPr/>
                    <a:lstStyle/>
                    <a:p>
                      <a:r>
                        <a:rPr sz="1575" b="0">
                          <a:solidFill>
                            <a:srgbClr val="242C35"/>
                          </a:solidFill>
                          <a:latin typeface="Helvetica Neue"/>
                          <a:ea typeface="Helvetica Neue"/>
                          <a:cs typeface="Helvetica Neue"/>
                        </a:rPr>
                        <a:t>List your notes</a:t>
                      </a:r>
                    </a:p>
                  </a:txBody>
                  <a:tcPr anchor="ctr">
                    <a:solidFill>
                      <a:srgbClr val="F8F5EF"/>
                    </a:solidFill>
                  </a:tcPr>
                </a:tc>
                <a:extLst>
                  <a:ext uri="{0D108BD9-81ED-4DB2-BD59-A6C34878D82A}">
                    <a16:rowId xmlns:a16="http://schemas.microsoft.com/office/drawing/2014/main" val="10002"/>
                  </a:ext>
                </a:extLst>
              </a:tr>
              <a:tr h="928688">
                <a:tc>
                  <a:txBody>
                    <a:bodyPr/>
                    <a:lstStyle/>
                    <a:p>
                      <a:r>
                        <a:rPr sz="1575" b="0">
                          <a:solidFill>
                            <a:srgbClr val="242C35"/>
                          </a:solidFill>
                          <a:latin typeface="Helvetica Neue"/>
                          <a:ea typeface="Helvetica Neue"/>
                          <a:cs typeface="Helvetica Neue"/>
                        </a:rPr>
                        <a:t>PATCH /api/entries/1/</a:t>
                      </a:r>
                    </a:p>
                  </a:txBody>
                  <a:tcPr anchor="ctr">
                    <a:solidFill>
                      <a:srgbClr val="FFFFFF"/>
                    </a:solidFill>
                  </a:tcPr>
                </a:tc>
                <a:tc>
                  <a:txBody>
                    <a:bodyPr/>
                    <a:lstStyle/>
                    <a:p>
                      <a:r>
                        <a:rPr sz="1575" b="0">
                          <a:solidFill>
                            <a:srgbClr val="242C35"/>
                          </a:solidFill>
                          <a:latin typeface="Helvetica Neue"/>
                          <a:ea typeface="Helvetica Neue"/>
                          <a:cs typeface="Helvetica Neue"/>
                        </a:rPr>
                        <a:t>Change your note value</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20" name="fade-1-takeaway">
            <a:extLst>
              <a:ext uri="{FF2B5EF4-FFF2-40B4-BE49-F238E27FC236}">
                <a16:creationId xmlns:a16="http://schemas.microsoft.com/office/drawing/2014/main" id="{6F782F0D-4CA9-4296-BFE4-9AE6628EB44A}"/>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Every Entry lookup starts with owner=request.user.</a:t>
            </a:r>
          </a:p>
        </p:txBody>
      </p:sp>
    </p:spTree>
    <p:extLst>
      <p:ext uri="{BB962C8B-B14F-4D97-AF65-F5344CB8AC3E}">
        <p14:creationId xmlns:p14="http://schemas.microsoft.com/office/powerpoint/2010/main" val="7801440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350" fill="hold">
                                          <p:stCondLst>
                                            <p:cond delay="0"/>
                                          </p:stCondLst>
                                        </p:cTn>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4" name="text-418">
            <a:extLst>
              <a:ext uri="{FF2B5EF4-FFF2-40B4-BE49-F238E27FC236}">
                <a16:creationId xmlns:a16="http://schemas.microsoft.com/office/drawing/2014/main" id="{E50A65EE-5047-4110-BE34-5530674044BC}"/>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06 / Production</a:t>
            </a:r>
          </a:p>
        </p:txBody>
      </p:sp>
      <p:sp>
        <p:nvSpPr>
          <p:cNvPr id="2" name="text-419">
            <a:extLst>
              <a:ext uri="{FF2B5EF4-FFF2-40B4-BE49-F238E27FC236}">
                <a16:creationId xmlns:a16="http://schemas.microsoft.com/office/drawing/2014/main" id="{7788EDD1-2162-427B-80CF-4DBBEB008546}"/>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A repository without local secrets</a:t>
            </a:r>
          </a:p>
        </p:txBody>
      </p:sp>
      <p:sp>
        <p:nvSpPr>
          <p:cNvPr id="3" name="text-420">
            <a:extLst>
              <a:ext uri="{FF2B5EF4-FFF2-40B4-BE49-F238E27FC236}">
                <a16:creationId xmlns:a16="http://schemas.microsoft.com/office/drawing/2014/main" id="{275524A8-6570-455F-9D78-B7BFA16AF51B}"/>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421">
            <a:extLst>
              <a:ext uri="{FF2B5EF4-FFF2-40B4-BE49-F238E27FC236}">
                <a16:creationId xmlns:a16="http://schemas.microsoft.com/office/drawing/2014/main" id="{32A00CE1-F028-4853-B827-F3F9874850E3}"/>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55</a:t>
            </a:r>
          </a:p>
        </p:txBody>
      </p:sp>
      <p:sp>
        <p:nvSpPr>
          <p:cNvPr id="5" name="text-422">
            <a:extLst>
              <a:ext uri="{FF2B5EF4-FFF2-40B4-BE49-F238E27FC236}">
                <a16:creationId xmlns:a16="http://schemas.microsoft.com/office/drawing/2014/main" id="{CF118FED-835C-4D38-990A-80128E347032}"/>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.gitignore</a:t>
            </a:r>
          </a:p>
        </p:txBody>
      </p:sp>
      <p:sp>
        <p:nvSpPr>
          <p:cNvPr id="6" name="code-panel-423">
            <a:extLst>
              <a:ext uri="{FF2B5EF4-FFF2-40B4-BE49-F238E27FC236}">
                <a16:creationId xmlns:a16="http://schemas.microsoft.com/office/drawing/2014/main" id="{07B4365F-E14A-48CB-BE58-790ED660F8D0}"/>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6E436CA1-74FA-4F43-9673-DE3FA47378E4}"/>
              </a:ext>
            </a:extLst>
          </p:cNvPr>
          <p:cNvSpPr>
            <a:spLocks noGrp="1"/>
          </p:cNvSpPr>
          <p:nvPr/>
        </p:nvSpPr>
        <p:spPr>
          <a:xfrm>
            <a:off x="914400" y="2924175"/>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.venv/</a:t>
            </a:r>
          </a:p>
        </p:txBody>
      </p:sp>
      <p:sp>
        <p:nvSpPr>
          <p:cNvPr id="8" name="code-line-1">
            <a:extLst>
              <a:ext uri="{FF2B5EF4-FFF2-40B4-BE49-F238E27FC236}">
                <a16:creationId xmlns:a16="http://schemas.microsoft.com/office/drawing/2014/main" id="{4BBCD74C-048B-4EB9-A99B-63D61D29DA99}"/>
              </a:ext>
            </a:extLst>
          </p:cNvPr>
          <p:cNvSpPr>
            <a:spLocks noGrp="1"/>
          </p:cNvSpPr>
          <p:nvPr/>
        </p:nvSpPr>
        <p:spPr>
          <a:xfrm>
            <a:off x="914400" y="3247231"/>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__pycache__/</a:t>
            </a:r>
          </a:p>
        </p:txBody>
      </p:sp>
      <p:sp>
        <p:nvSpPr>
          <p:cNvPr id="9" name="code-line-2">
            <a:extLst>
              <a:ext uri="{FF2B5EF4-FFF2-40B4-BE49-F238E27FC236}">
                <a16:creationId xmlns:a16="http://schemas.microsoft.com/office/drawing/2014/main" id="{6EDA0B20-725E-4256-9EA3-008C33C6A128}"/>
              </a:ext>
            </a:extLst>
          </p:cNvPr>
          <p:cNvSpPr>
            <a:spLocks noGrp="1"/>
          </p:cNvSpPr>
          <p:nvPr/>
        </p:nvSpPr>
        <p:spPr>
          <a:xfrm>
            <a:off x="914400" y="3570288"/>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*.py[cod]</a:t>
            </a:r>
          </a:p>
        </p:txBody>
      </p:sp>
      <p:sp>
        <p:nvSpPr>
          <p:cNvPr id="10" name="code-line-3">
            <a:extLst>
              <a:ext uri="{FF2B5EF4-FFF2-40B4-BE49-F238E27FC236}">
                <a16:creationId xmlns:a16="http://schemas.microsoft.com/office/drawing/2014/main" id="{88871C28-262E-4AA7-AB42-5E7F6C32FC50}"/>
              </a:ext>
            </a:extLst>
          </p:cNvPr>
          <p:cNvSpPr>
            <a:spLocks noGrp="1"/>
          </p:cNvSpPr>
          <p:nvPr/>
        </p:nvSpPr>
        <p:spPr>
          <a:xfrm>
            <a:off x="914400" y="3893344"/>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.env</a:t>
            </a:r>
          </a:p>
        </p:txBody>
      </p:sp>
      <p:sp>
        <p:nvSpPr>
          <p:cNvPr id="11" name="code-line-4">
            <a:extLst>
              <a:ext uri="{FF2B5EF4-FFF2-40B4-BE49-F238E27FC236}">
                <a16:creationId xmlns:a16="http://schemas.microsoft.com/office/drawing/2014/main" id="{C10624AE-BCD8-4208-80DE-F5D63E058517}"/>
              </a:ext>
            </a:extLst>
          </p:cNvPr>
          <p:cNvSpPr>
            <a:spLocks noGrp="1"/>
          </p:cNvSpPr>
          <p:nvPr/>
        </p:nvSpPr>
        <p:spPr>
          <a:xfrm>
            <a:off x="914400" y="4216400"/>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.env.*</a:t>
            </a:r>
          </a:p>
        </p:txBody>
      </p:sp>
      <p:sp>
        <p:nvSpPr>
          <p:cNvPr id="12" name="code-line-5">
            <a:extLst>
              <a:ext uri="{FF2B5EF4-FFF2-40B4-BE49-F238E27FC236}">
                <a16:creationId xmlns:a16="http://schemas.microsoft.com/office/drawing/2014/main" id="{E37414D2-6016-4606-BDC5-2728311546CF}"/>
              </a:ext>
            </a:extLst>
          </p:cNvPr>
          <p:cNvSpPr>
            <a:spLocks noGrp="1"/>
          </p:cNvSpPr>
          <p:nvPr/>
        </p:nvSpPr>
        <p:spPr>
          <a:xfrm>
            <a:off x="914400" y="4539456"/>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!.env.example</a:t>
            </a:r>
          </a:p>
        </p:txBody>
      </p:sp>
      <p:sp>
        <p:nvSpPr>
          <p:cNvPr id="13" name="code-line-6">
            <a:extLst>
              <a:ext uri="{FF2B5EF4-FFF2-40B4-BE49-F238E27FC236}">
                <a16:creationId xmlns:a16="http://schemas.microsoft.com/office/drawing/2014/main" id="{80EDFB54-BFC1-4BA3-9F62-BB0A52079CFB}"/>
              </a:ext>
            </a:extLst>
          </p:cNvPr>
          <p:cNvSpPr>
            <a:spLocks noGrp="1"/>
          </p:cNvSpPr>
          <p:nvPr/>
        </p:nvSpPr>
        <p:spPr>
          <a:xfrm>
            <a:off x="914400" y="4862513"/>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db.sqlite3</a:t>
            </a:r>
          </a:p>
        </p:txBody>
      </p:sp>
      <p:sp>
        <p:nvSpPr>
          <p:cNvPr id="14" name="code-line-7">
            <a:extLst>
              <a:ext uri="{FF2B5EF4-FFF2-40B4-BE49-F238E27FC236}">
                <a16:creationId xmlns:a16="http://schemas.microsoft.com/office/drawing/2014/main" id="{4C9137FA-A687-4A55-B9E4-6EC6FD3CB6C6}"/>
              </a:ext>
            </a:extLst>
          </p:cNvPr>
          <p:cNvSpPr>
            <a:spLocks noGrp="1"/>
          </p:cNvSpPr>
          <p:nvPr/>
        </p:nvSpPr>
        <p:spPr>
          <a:xfrm>
            <a:off x="914400" y="5185569"/>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staticfiles/</a:t>
            </a:r>
          </a:p>
        </p:txBody>
      </p:sp>
      <p:sp>
        <p:nvSpPr>
          <p:cNvPr id="15" name="code-line-8">
            <a:extLst>
              <a:ext uri="{FF2B5EF4-FFF2-40B4-BE49-F238E27FC236}">
                <a16:creationId xmlns:a16="http://schemas.microsoft.com/office/drawing/2014/main" id="{452BC70F-09E4-43EA-B0DA-094F41A379A7}"/>
              </a:ext>
            </a:extLst>
          </p:cNvPr>
          <p:cNvSpPr>
            <a:spLocks noGrp="1"/>
          </p:cNvSpPr>
          <p:nvPr/>
        </p:nvSpPr>
        <p:spPr>
          <a:xfrm>
            <a:off x="914400" y="5508625"/>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.vercel/</a:t>
            </a:r>
          </a:p>
        </p:txBody>
      </p:sp>
      <p:sp>
        <p:nvSpPr>
          <p:cNvPr id="16" name="code-line-9">
            <a:extLst>
              <a:ext uri="{FF2B5EF4-FFF2-40B4-BE49-F238E27FC236}">
                <a16:creationId xmlns:a16="http://schemas.microsoft.com/office/drawing/2014/main" id="{593B6C53-8EA6-4868-B81E-EAE7EF682FD7}"/>
              </a:ext>
            </a:extLst>
          </p:cNvPr>
          <p:cNvSpPr>
            <a:spLocks noGrp="1"/>
          </p:cNvSpPr>
          <p:nvPr/>
        </p:nvSpPr>
        <p:spPr>
          <a:xfrm>
            <a:off x="914400" y="5831681"/>
            <a:ext cx="7639050" cy="351631"/>
          </a:xfrm>
          <a:prstGeom prst="rect">
            <a:avLst/>
          </a:prstGeom>
          <a:noFill/>
          <a:ln w="0">
            <a:noFill/>
          </a:ln>
        </p:spPr>
        <p:txBody>
          <a:bodyPr wrap="none" lIns="0" tIns="0" rIns="0" bIns="0" anchor="t">
            <a:noAutofit/>
          </a:bodyPr>
          <a:lstStyle/>
          <a:p>
            <a:endParaRPr/>
          </a:p>
        </p:txBody>
      </p:sp>
      <p:sp>
        <p:nvSpPr>
          <p:cNvPr id="17" name="code-line-10">
            <a:extLst>
              <a:ext uri="{FF2B5EF4-FFF2-40B4-BE49-F238E27FC236}">
                <a16:creationId xmlns:a16="http://schemas.microsoft.com/office/drawing/2014/main" id="{A61D8396-786F-4376-AAED-42386BED270C}"/>
              </a:ext>
            </a:extLst>
          </p:cNvPr>
          <p:cNvSpPr>
            <a:spLocks noGrp="1"/>
          </p:cNvSpPr>
          <p:nvPr/>
        </p:nvSpPr>
        <p:spPr>
          <a:xfrm>
            <a:off x="914400" y="6154738"/>
            <a:ext cx="7639050" cy="351631"/>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Keep source and migration files in Git.</a:t>
            </a:r>
          </a:p>
        </p:txBody>
      </p:sp>
      <p:sp>
        <p:nvSpPr>
          <p:cNvPr id="18" name="code-line-11">
            <a:extLst>
              <a:ext uri="{FF2B5EF4-FFF2-40B4-BE49-F238E27FC236}">
                <a16:creationId xmlns:a16="http://schemas.microsoft.com/office/drawing/2014/main" id="{4D2B02B0-8C50-42D4-8D37-4C68834C1582}"/>
              </a:ext>
            </a:extLst>
          </p:cNvPr>
          <p:cNvSpPr>
            <a:spLocks noGrp="1"/>
          </p:cNvSpPr>
          <p:nvPr/>
        </p:nvSpPr>
        <p:spPr>
          <a:xfrm>
            <a:off x="914400" y="6477794"/>
            <a:ext cx="7639050" cy="351631"/>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.env.example contains names and placeholders only.</a:t>
            </a:r>
          </a:p>
        </p:txBody>
      </p:sp>
      <p:sp>
        <p:nvSpPr>
          <p:cNvPr id="19" name="reveal-1-label">
            <a:extLst>
              <a:ext uri="{FF2B5EF4-FFF2-40B4-BE49-F238E27FC236}">
                <a16:creationId xmlns:a16="http://schemas.microsoft.com/office/drawing/2014/main" id="{E4E1D89B-B8C2-4F67-BE2B-0D89F55B98C8}"/>
              </a:ext>
            </a:extLst>
          </p:cNvPr>
          <p:cNvSpPr>
            <a:spLocks noGrp="1"/>
          </p:cNvSpPr>
          <p:nvPr/>
        </p:nvSpPr>
        <p:spPr>
          <a:xfrm>
            <a:off x="9286875" y="2571750"/>
            <a:ext cx="5143500" cy="523875"/>
          </a:xfrm>
          <a:prstGeom prst="rect">
            <a:avLst/>
          </a:prstGeom>
          <a:noFill/>
          <a:ln w="0">
            <a:noFill/>
          </a:ln>
        </p:spPr>
        <p:txBody>
          <a:bodyPr wrap="none" lIns="0" tIns="0" rIns="0" bIns="0" anchor="t">
            <a:noAutofit/>
          </a:bodyPr>
          <a:lstStyle/>
          <a:p>
            <a:pPr algn="l">
              <a:defRPr sz="2325" b="1">
                <a:solidFill>
                  <a:srgbClr val="242C35"/>
                </a:solidFill>
                <a:latin typeface="Helvetica Neue"/>
                <a:ea typeface="Helvetica Neue"/>
                <a:cs typeface="Helvetica Neue"/>
              </a:defRPr>
            </a:pPr>
            <a:r>
              <a:rPr sz="2325" b="1">
                <a:solidFill>
                  <a:srgbClr val="242C35"/>
                </a:solidFill>
                <a:latin typeface="Helvetica Neue"/>
                <a:ea typeface="Helvetica Neue"/>
                <a:cs typeface="Helvetica Neue"/>
              </a:rPr>
              <a:t>Include</a:t>
            </a:r>
          </a:p>
        </p:txBody>
      </p:sp>
      <p:sp>
        <p:nvSpPr>
          <p:cNvPr id="20" name="reveal-1-body">
            <a:extLst>
              <a:ext uri="{FF2B5EF4-FFF2-40B4-BE49-F238E27FC236}">
                <a16:creationId xmlns:a16="http://schemas.microsoft.com/office/drawing/2014/main" id="{F19D797A-A7EE-4043-8F29-A57FCCFE9D76}"/>
              </a:ext>
            </a:extLst>
          </p:cNvPr>
          <p:cNvSpPr>
            <a:spLocks noGrp="1"/>
          </p:cNvSpPr>
          <p:nvPr/>
        </p:nvSpPr>
        <p:spPr>
          <a:xfrm>
            <a:off x="9286875" y="3143250"/>
            <a:ext cx="5048250" cy="1209675"/>
          </a:xfrm>
          <a:prstGeom prst="rect">
            <a:avLst/>
          </a:prstGeom>
          <a:noFill/>
          <a:ln w="0">
            <a:noFill/>
          </a:ln>
        </p:spPr>
        <p:txBody>
          <a:bodyPr wrap="none" lIns="0" tIns="0" rIns="0" bIns="0" anchor="t">
            <a:noAutofit/>
          </a:bodyPr>
          <a:lstStyle/>
          <a:p>
            <a:pPr algn="l">
              <a:defRPr sz="2100" b="0">
                <a:solidFill>
                  <a:srgbClr val="65717A"/>
                </a:solidFill>
                <a:latin typeface="Helvetica Neue"/>
                <a:ea typeface="Helvetica Neue"/>
                <a:cs typeface="Helvetica Neue"/>
              </a:defRPr>
            </a:pPr>
            <a:r>
              <a:rPr sz="2100" b="0">
                <a:solidFill>
                  <a:srgbClr val="65717A"/>
                </a:solidFill>
                <a:latin typeface="Helvetica Neue"/>
                <a:ea typeface="Helvetica Neue"/>
                <a:cs typeface="Helvetica Neue"/>
              </a:rPr>
              <a:t>Python source, templates, static source</a:t>
            </a:r>
          </a:p>
          <a:p>
            <a:pPr algn="l">
              <a:defRPr sz="2100" b="0">
                <a:solidFill>
                  <a:srgbClr val="65717A"/>
                </a:solidFill>
                <a:latin typeface="Helvetica Neue"/>
                <a:ea typeface="Helvetica Neue"/>
                <a:cs typeface="Helvetica Neue"/>
              </a:defRPr>
            </a:pPr>
            <a:r>
              <a:rPr sz="2100" b="0">
                <a:solidFill>
                  <a:srgbClr val="65717A"/>
                </a:solidFill>
                <a:latin typeface="Helvetica Neue"/>
                <a:ea typeface="Helvetica Neue"/>
                <a:cs typeface="Helvetica Neue"/>
              </a:rPr>
              <a:t>and migrations.</a:t>
            </a:r>
          </a:p>
        </p:txBody>
      </p:sp>
      <p:sp>
        <p:nvSpPr>
          <p:cNvPr id="21" name="reveal-2-label">
            <a:extLst>
              <a:ext uri="{FF2B5EF4-FFF2-40B4-BE49-F238E27FC236}">
                <a16:creationId xmlns:a16="http://schemas.microsoft.com/office/drawing/2014/main" id="{87FF7BA5-2765-4488-9ED4-55EA39E43E9B}"/>
              </a:ext>
            </a:extLst>
          </p:cNvPr>
          <p:cNvSpPr>
            <a:spLocks noGrp="1"/>
          </p:cNvSpPr>
          <p:nvPr/>
        </p:nvSpPr>
        <p:spPr>
          <a:xfrm>
            <a:off x="9286875" y="4381500"/>
            <a:ext cx="5143500" cy="523875"/>
          </a:xfrm>
          <a:prstGeom prst="rect">
            <a:avLst/>
          </a:prstGeom>
          <a:noFill/>
          <a:ln w="0">
            <a:noFill/>
          </a:ln>
        </p:spPr>
        <p:txBody>
          <a:bodyPr wrap="none" lIns="0" tIns="0" rIns="0" bIns="0" anchor="t">
            <a:noAutofit/>
          </a:bodyPr>
          <a:lstStyle/>
          <a:p>
            <a:pPr algn="l">
              <a:defRPr sz="2325" b="1">
                <a:solidFill>
                  <a:srgbClr val="242C35"/>
                </a:solidFill>
                <a:latin typeface="Helvetica Neue"/>
                <a:ea typeface="Helvetica Neue"/>
                <a:cs typeface="Helvetica Neue"/>
              </a:defRPr>
            </a:pPr>
            <a:r>
              <a:rPr sz="2325" b="1">
                <a:solidFill>
                  <a:srgbClr val="242C35"/>
                </a:solidFill>
                <a:latin typeface="Helvetica Neue"/>
                <a:ea typeface="Helvetica Neue"/>
                <a:cs typeface="Helvetica Neue"/>
              </a:rPr>
              <a:t>Exclude</a:t>
            </a:r>
          </a:p>
        </p:txBody>
      </p:sp>
      <p:sp>
        <p:nvSpPr>
          <p:cNvPr id="22" name="reveal-2-body">
            <a:extLst>
              <a:ext uri="{FF2B5EF4-FFF2-40B4-BE49-F238E27FC236}">
                <a16:creationId xmlns:a16="http://schemas.microsoft.com/office/drawing/2014/main" id="{208389A3-394B-4533-9C1A-22DEB348B1F9}"/>
              </a:ext>
            </a:extLst>
          </p:cNvPr>
          <p:cNvSpPr>
            <a:spLocks noGrp="1"/>
          </p:cNvSpPr>
          <p:nvPr/>
        </p:nvSpPr>
        <p:spPr>
          <a:xfrm>
            <a:off x="9286875" y="4953000"/>
            <a:ext cx="5048250" cy="1209675"/>
          </a:xfrm>
          <a:prstGeom prst="rect">
            <a:avLst/>
          </a:prstGeom>
          <a:noFill/>
          <a:ln w="0">
            <a:noFill/>
          </a:ln>
        </p:spPr>
        <p:txBody>
          <a:bodyPr wrap="none" lIns="0" tIns="0" rIns="0" bIns="0" anchor="t">
            <a:noAutofit/>
          </a:bodyPr>
          <a:lstStyle/>
          <a:p>
            <a:pPr algn="l">
              <a:defRPr sz="2100" b="0">
                <a:solidFill>
                  <a:srgbClr val="65717A"/>
                </a:solidFill>
                <a:latin typeface="Helvetica Neue"/>
                <a:ea typeface="Helvetica Neue"/>
                <a:cs typeface="Helvetica Neue"/>
              </a:defRPr>
            </a:pPr>
            <a:r>
              <a:rPr sz="2100" b="0">
                <a:solidFill>
                  <a:srgbClr val="65717A"/>
                </a:solidFill>
                <a:latin typeface="Helvetica Neue"/>
                <a:ea typeface="Helvetica Neue"/>
                <a:cs typeface="Helvetica Neue"/>
              </a:rPr>
              <a:t>Local environments, credentials and</a:t>
            </a:r>
          </a:p>
          <a:p>
            <a:pPr algn="l">
              <a:defRPr sz="2100" b="0">
                <a:solidFill>
                  <a:srgbClr val="65717A"/>
                </a:solidFill>
                <a:latin typeface="Helvetica Neue"/>
                <a:ea typeface="Helvetica Neue"/>
                <a:cs typeface="Helvetica Neue"/>
              </a:defRPr>
            </a:pPr>
            <a:r>
              <a:rPr sz="2100" b="0">
                <a:solidFill>
                  <a:srgbClr val="65717A"/>
                </a:solidFill>
                <a:latin typeface="Helvetica Neue"/>
                <a:ea typeface="Helvetica Neue"/>
                <a:cs typeface="Helvetica Neue"/>
              </a:rPr>
              <a:t>generated artifacts.</a:t>
            </a:r>
          </a:p>
        </p:txBody>
      </p:sp>
      <p:sp>
        <p:nvSpPr>
          <p:cNvPr id="23" name="fade-1-takeaway">
            <a:extLst>
              <a:ext uri="{FF2B5EF4-FFF2-40B4-BE49-F238E27FC236}">
                <a16:creationId xmlns:a16="http://schemas.microsoft.com/office/drawing/2014/main" id="{C591E60E-3397-426B-97C8-BEE4D1D900AD}"/>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Python source, templates, static source and migrations.</a:t>
            </a:r>
          </a:p>
        </p:txBody>
      </p:sp>
    </p:spTree>
    <p:extLst>
      <p:ext uri="{BB962C8B-B14F-4D97-AF65-F5344CB8AC3E}">
        <p14:creationId xmlns:p14="http://schemas.microsoft.com/office/powerpoint/2010/main" val="8890698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350" fill="hold">
                                          <p:stCondLst>
                                            <p:cond delay="0"/>
                                          </p:stCondLst>
                                        </p:cTn>
                                        <p:tgtEl>
                                          <p:spTgt spid="2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1"/>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9" name="text-424">
            <a:extLst>
              <a:ext uri="{FF2B5EF4-FFF2-40B4-BE49-F238E27FC236}">
                <a16:creationId xmlns:a16="http://schemas.microsoft.com/office/drawing/2014/main" id="{6A9F5BE6-F56F-4C52-8A44-73D3DBEBC210}"/>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06 / Production</a:t>
            </a:r>
          </a:p>
        </p:txBody>
      </p:sp>
      <p:sp>
        <p:nvSpPr>
          <p:cNvPr id="2" name="text-425">
            <a:extLst>
              <a:ext uri="{FF2B5EF4-FFF2-40B4-BE49-F238E27FC236}">
                <a16:creationId xmlns:a16="http://schemas.microsoft.com/office/drawing/2014/main" id="{3285DA15-10BF-454B-A451-B4835179F37C}"/>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Git and GitHub workflow</a:t>
            </a:r>
          </a:p>
        </p:txBody>
      </p:sp>
      <p:sp>
        <p:nvSpPr>
          <p:cNvPr id="3" name="text-426">
            <a:extLst>
              <a:ext uri="{FF2B5EF4-FFF2-40B4-BE49-F238E27FC236}">
                <a16:creationId xmlns:a16="http://schemas.microsoft.com/office/drawing/2014/main" id="{BF8DA81F-24F7-4572-89B2-E8B6E65B58CD}"/>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427">
            <a:extLst>
              <a:ext uri="{FF2B5EF4-FFF2-40B4-BE49-F238E27FC236}">
                <a16:creationId xmlns:a16="http://schemas.microsoft.com/office/drawing/2014/main" id="{43C22D73-22DA-4813-9330-D56D957C4D3E}"/>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56</a:t>
            </a:r>
          </a:p>
        </p:txBody>
      </p:sp>
      <p:sp>
        <p:nvSpPr>
          <p:cNvPr id="5" name="text-428">
            <a:extLst>
              <a:ext uri="{FF2B5EF4-FFF2-40B4-BE49-F238E27FC236}">
                <a16:creationId xmlns:a16="http://schemas.microsoft.com/office/drawing/2014/main" id="{F156DB98-C43F-480E-82C9-5332A252D486}"/>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Terminal</a:t>
            </a:r>
          </a:p>
        </p:txBody>
      </p:sp>
      <p:sp>
        <p:nvSpPr>
          <p:cNvPr id="6" name="code-panel-429">
            <a:extLst>
              <a:ext uri="{FF2B5EF4-FFF2-40B4-BE49-F238E27FC236}">
                <a16:creationId xmlns:a16="http://schemas.microsoft.com/office/drawing/2014/main" id="{C519D0B6-61B6-491D-B2A0-7A020AAED7F0}"/>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95FEB809-6F0E-42BA-B476-C5C39BED2F19}"/>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git init</a:t>
            </a:r>
          </a:p>
        </p:txBody>
      </p:sp>
      <p:sp>
        <p:nvSpPr>
          <p:cNvPr id="8" name="code-line-1">
            <a:extLst>
              <a:ext uri="{FF2B5EF4-FFF2-40B4-BE49-F238E27FC236}">
                <a16:creationId xmlns:a16="http://schemas.microsoft.com/office/drawing/2014/main" id="{49CD18CB-F635-45E1-B41C-FB5E09615A04}"/>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git status</a:t>
            </a:r>
          </a:p>
        </p:txBody>
      </p:sp>
      <p:sp>
        <p:nvSpPr>
          <p:cNvPr id="9" name="code-line-2">
            <a:extLst>
              <a:ext uri="{FF2B5EF4-FFF2-40B4-BE49-F238E27FC236}">
                <a16:creationId xmlns:a16="http://schemas.microsoft.com/office/drawing/2014/main" id="{16E70CE6-5426-4E71-A4FF-EB10BCE058B6}"/>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git add .</a:t>
            </a:r>
          </a:p>
        </p:txBody>
      </p:sp>
      <p:sp>
        <p:nvSpPr>
          <p:cNvPr id="10" name="code-line-3">
            <a:extLst>
              <a:ext uri="{FF2B5EF4-FFF2-40B4-BE49-F238E27FC236}">
                <a16:creationId xmlns:a16="http://schemas.microsoft.com/office/drawing/2014/main" id="{BD2CF7E7-3264-4A82-B04E-E51C138960F3}"/>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git diff --staged</a:t>
            </a:r>
          </a:p>
        </p:txBody>
      </p:sp>
      <p:sp>
        <p:nvSpPr>
          <p:cNvPr id="11" name="code-line-4">
            <a:extLst>
              <a:ext uri="{FF2B5EF4-FFF2-40B4-BE49-F238E27FC236}">
                <a16:creationId xmlns:a16="http://schemas.microsoft.com/office/drawing/2014/main" id="{50CA599A-4F9A-401D-8879-D3FFCB6B9F16}"/>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git commit -m "Add validated task CRUD"</a:t>
            </a:r>
          </a:p>
        </p:txBody>
      </p:sp>
      <p:sp>
        <p:nvSpPr>
          <p:cNvPr id="12" name="code-line-5">
            <a:extLst>
              <a:ext uri="{FF2B5EF4-FFF2-40B4-BE49-F238E27FC236}">
                <a16:creationId xmlns:a16="http://schemas.microsoft.com/office/drawing/2014/main" id="{0F54C8B4-5CDE-4D53-BB5D-CF3FD12A4562}"/>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git branch -M main</a:t>
            </a:r>
          </a:p>
        </p:txBody>
      </p:sp>
      <p:sp>
        <p:nvSpPr>
          <p:cNvPr id="13" name="code-line-6">
            <a:extLst>
              <a:ext uri="{FF2B5EF4-FFF2-40B4-BE49-F238E27FC236}">
                <a16:creationId xmlns:a16="http://schemas.microsoft.com/office/drawing/2014/main" id="{CFCAE470-7F23-4936-AC0E-5D5275C7C55C}"/>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git remote add origin &lt;YOUR_GITHUB_REPOSITORY_URL&gt;</a:t>
            </a:r>
          </a:p>
        </p:txBody>
      </p:sp>
      <p:sp>
        <p:nvSpPr>
          <p:cNvPr id="14" name="code-line-7">
            <a:extLst>
              <a:ext uri="{FF2B5EF4-FFF2-40B4-BE49-F238E27FC236}">
                <a16:creationId xmlns:a16="http://schemas.microsoft.com/office/drawing/2014/main" id="{D0A5AD8B-4B6C-43C0-A7DD-3F8CF026F547}"/>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git push -u origin main</a:t>
            </a:r>
          </a:p>
        </p:txBody>
      </p:sp>
      <p:sp>
        <p:nvSpPr>
          <p:cNvPr id="15" name="reveal-1-output-1">
            <a:extLst>
              <a:ext uri="{FF2B5EF4-FFF2-40B4-BE49-F238E27FC236}">
                <a16:creationId xmlns:a16="http://schemas.microsoft.com/office/drawing/2014/main" id="{7436E3B5-462C-412D-A6BF-4BB0964F8120}"/>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Expected repository contents</a:t>
            </a:r>
          </a:p>
        </p:txBody>
      </p:sp>
      <p:sp>
        <p:nvSpPr>
          <p:cNvPr id="16" name="reveal-1-output-2">
            <a:extLst>
              <a:ext uri="{FF2B5EF4-FFF2-40B4-BE49-F238E27FC236}">
                <a16:creationId xmlns:a16="http://schemas.microsoft.com/office/drawing/2014/main" id="{C67EBA99-40ED-4E91-ADE0-FA9B558CF788}"/>
              </a:ext>
            </a:extLst>
          </p:cNvPr>
          <p:cNvSpPr>
            <a:spLocks noGrp="1"/>
          </p:cNvSpPr>
          <p:nvPr/>
        </p:nvSpPr>
        <p:spPr>
          <a:xfrm>
            <a:off x="9239250" y="2952750"/>
            <a:ext cx="5295900" cy="3810000"/>
          </a:xfrm>
          <a:prstGeom prst="rect">
            <a:avLst/>
          </a:prstGeom>
          <a:solidFill>
            <a:srgbClr val="ECEFF7"/>
          </a:solidFill>
          <a:ln w="0">
            <a:noFill/>
          </a:ln>
        </p:spPr>
      </p:sp>
      <p:sp>
        <p:nvSpPr>
          <p:cNvPr id="17" name="reveal-1-output-3">
            <a:extLst>
              <a:ext uri="{FF2B5EF4-FFF2-40B4-BE49-F238E27FC236}">
                <a16:creationId xmlns:a16="http://schemas.microsoft.com/office/drawing/2014/main" id="{6EF45C64-F560-49F8-8F16-F327E888857B}"/>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650" b="0">
                <a:solidFill>
                  <a:srgbClr val="242C35"/>
                </a:solidFill>
                <a:latin typeface="Menlo"/>
                <a:ea typeface="Menlo"/>
                <a:cs typeface="Menlo"/>
              </a:defRPr>
            </a:pPr>
            <a:r>
              <a:rPr sz="1650" b="0">
                <a:solidFill>
                  <a:srgbClr val="242C35"/>
                </a:solidFill>
                <a:latin typeface="Menlo"/>
                <a:ea typeface="Menlo"/>
                <a:cs typeface="Menlo"/>
              </a:rPr>
              <a:t>tasks/ and config/</a:t>
            </a:r>
          </a:p>
          <a:p>
            <a:pPr algn="l">
              <a:defRPr sz="1650" b="0">
                <a:solidFill>
                  <a:srgbClr val="242C35"/>
                </a:solidFill>
                <a:latin typeface="Menlo"/>
                <a:ea typeface="Menlo"/>
                <a:cs typeface="Menlo"/>
              </a:defRPr>
            </a:pPr>
            <a:r>
              <a:rPr sz="1650" b="0">
                <a:solidFill>
                  <a:srgbClr val="242C35"/>
                </a:solidFill>
                <a:latin typeface="Menlo"/>
                <a:ea typeface="Menlo"/>
                <a:cs typeface="Menlo"/>
              </a:rPr>
              <a:t>templates and static source</a:t>
            </a:r>
          </a:p>
          <a:p>
            <a:pPr algn="l">
              <a:defRPr sz="1650" b="0">
                <a:solidFill>
                  <a:srgbClr val="242C35"/>
                </a:solidFill>
                <a:latin typeface="Menlo"/>
                <a:ea typeface="Menlo"/>
                <a:cs typeface="Menlo"/>
              </a:defRPr>
            </a:pPr>
            <a:r>
              <a:rPr sz="1650" b="0">
                <a:solidFill>
                  <a:srgbClr val="242C35"/>
                </a:solidFill>
                <a:latin typeface="Menlo"/>
                <a:ea typeface="Menlo"/>
                <a:cs typeface="Menlo"/>
              </a:rPr>
              <a:t>migration files and requirements.txt</a:t>
            </a:r>
          </a:p>
        </p:txBody>
      </p:sp>
      <p:sp>
        <p:nvSpPr>
          <p:cNvPr id="18" name="fade-1-takeaway">
            <a:extLst>
              <a:ext uri="{FF2B5EF4-FFF2-40B4-BE49-F238E27FC236}">
                <a16:creationId xmlns:a16="http://schemas.microsoft.com/office/drawing/2014/main" id="{829EAFC2-255F-4CD4-849D-2E1103E4C717}"/>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Inspect the staged diff and exclude secrets.</a:t>
            </a:r>
          </a:p>
        </p:txBody>
      </p:sp>
    </p:spTree>
    <p:extLst>
      <p:ext uri="{BB962C8B-B14F-4D97-AF65-F5344CB8AC3E}">
        <p14:creationId xmlns:p14="http://schemas.microsoft.com/office/powerpoint/2010/main" val="8728231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350" fill="hold">
                                          <p:stCondLst>
                                            <p:cond delay="0"/>
                                          </p:stCondLst>
                                        </p:cTn>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1" name="text-433">
            <a:extLst>
              <a:ext uri="{FF2B5EF4-FFF2-40B4-BE49-F238E27FC236}">
                <a16:creationId xmlns:a16="http://schemas.microsoft.com/office/drawing/2014/main" id="{B32353E8-DF62-4E20-9D8E-AEDD3873FD7C}"/>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06 / Production</a:t>
            </a:r>
          </a:p>
        </p:txBody>
      </p:sp>
      <p:sp>
        <p:nvSpPr>
          <p:cNvPr id="2" name="text-434">
            <a:extLst>
              <a:ext uri="{FF2B5EF4-FFF2-40B4-BE49-F238E27FC236}">
                <a16:creationId xmlns:a16="http://schemas.microsoft.com/office/drawing/2014/main" id="{CB567980-1C7A-4BBA-9AC4-0E2314038C32}"/>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A small feature branch</a:t>
            </a:r>
          </a:p>
        </p:txBody>
      </p:sp>
      <p:sp>
        <p:nvSpPr>
          <p:cNvPr id="3" name="text-435">
            <a:extLst>
              <a:ext uri="{FF2B5EF4-FFF2-40B4-BE49-F238E27FC236}">
                <a16:creationId xmlns:a16="http://schemas.microsoft.com/office/drawing/2014/main" id="{A1C11284-27AC-49FB-B7AA-D47F0D7B4B4A}"/>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436">
            <a:extLst>
              <a:ext uri="{FF2B5EF4-FFF2-40B4-BE49-F238E27FC236}">
                <a16:creationId xmlns:a16="http://schemas.microsoft.com/office/drawing/2014/main" id="{207304D6-E553-4053-AFDE-CAB0CEB01AF7}"/>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57</a:t>
            </a:r>
          </a:p>
        </p:txBody>
      </p:sp>
      <p:sp>
        <p:nvSpPr>
          <p:cNvPr id="5" name="text-437">
            <a:extLst>
              <a:ext uri="{FF2B5EF4-FFF2-40B4-BE49-F238E27FC236}">
                <a16:creationId xmlns:a16="http://schemas.microsoft.com/office/drawing/2014/main" id="{90FF01AC-4BDD-45B8-A6F6-3353412B9D21}"/>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Terminal</a:t>
            </a:r>
          </a:p>
        </p:txBody>
      </p:sp>
      <p:sp>
        <p:nvSpPr>
          <p:cNvPr id="6" name="code-panel-438">
            <a:extLst>
              <a:ext uri="{FF2B5EF4-FFF2-40B4-BE49-F238E27FC236}">
                <a16:creationId xmlns:a16="http://schemas.microsoft.com/office/drawing/2014/main" id="{B351EB63-D289-4190-B343-ADC3A6522194}"/>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198D6A7D-3E4C-42B8-9BD7-6995FD413B15}"/>
              </a:ext>
            </a:extLst>
          </p:cNvPr>
          <p:cNvSpPr>
            <a:spLocks noGrp="1"/>
          </p:cNvSpPr>
          <p:nvPr/>
        </p:nvSpPr>
        <p:spPr>
          <a:xfrm>
            <a:off x="914400" y="29241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git switch -c feature/task-status-filter</a:t>
            </a:r>
          </a:p>
        </p:txBody>
      </p:sp>
      <p:sp>
        <p:nvSpPr>
          <p:cNvPr id="8" name="code-line-1">
            <a:extLst>
              <a:ext uri="{FF2B5EF4-FFF2-40B4-BE49-F238E27FC236}">
                <a16:creationId xmlns:a16="http://schemas.microsoft.com/office/drawing/2014/main" id="{B9F74987-A354-4ECB-BC3D-104435C6F7C0}"/>
              </a:ext>
            </a:extLst>
          </p:cNvPr>
          <p:cNvSpPr>
            <a:spLocks noGrp="1"/>
          </p:cNvSpPr>
          <p:nvPr/>
        </p:nvSpPr>
        <p:spPr>
          <a:xfrm>
            <a:off x="914400" y="3257550"/>
            <a:ext cx="7639050" cy="361950"/>
          </a:xfrm>
          <a:prstGeom prst="rect">
            <a:avLst/>
          </a:prstGeom>
          <a:noFill/>
          <a:ln w="0">
            <a:noFill/>
          </a:ln>
        </p:spPr>
        <p:txBody>
          <a:bodyPr wrap="none" lIns="0" tIns="0" rIns="0" bIns="0" anchor="t">
            <a:noAutofit/>
          </a:bodyPr>
          <a:lstStyle/>
          <a:p>
            <a:endParaRPr/>
          </a:p>
        </p:txBody>
      </p:sp>
      <p:sp>
        <p:nvSpPr>
          <p:cNvPr id="9" name="code-line-2">
            <a:extLst>
              <a:ext uri="{FF2B5EF4-FFF2-40B4-BE49-F238E27FC236}">
                <a16:creationId xmlns:a16="http://schemas.microsoft.com/office/drawing/2014/main" id="{BA97F428-F744-45A5-BEEF-3A44A0AB56C4}"/>
              </a:ext>
            </a:extLst>
          </p:cNvPr>
          <p:cNvSpPr>
            <a:spLocks noGrp="1"/>
          </p:cNvSpPr>
          <p:nvPr/>
        </p:nvSpPr>
        <p:spPr>
          <a:xfrm>
            <a:off x="914400" y="3590925"/>
            <a:ext cx="7639050" cy="361950"/>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Implement and test Open / Done filtering</a:t>
            </a:r>
          </a:p>
        </p:txBody>
      </p:sp>
      <p:sp>
        <p:nvSpPr>
          <p:cNvPr id="10" name="code-line-3">
            <a:extLst>
              <a:ext uri="{FF2B5EF4-FFF2-40B4-BE49-F238E27FC236}">
                <a16:creationId xmlns:a16="http://schemas.microsoft.com/office/drawing/2014/main" id="{065D6373-602C-45F2-A897-C54CD9D7B7EC}"/>
              </a:ext>
            </a:extLst>
          </p:cNvPr>
          <p:cNvSpPr>
            <a:spLocks noGrp="1"/>
          </p:cNvSpPr>
          <p:nvPr/>
        </p:nvSpPr>
        <p:spPr>
          <a:xfrm>
            <a:off x="914400" y="39243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python manage.py test</a:t>
            </a:r>
          </a:p>
        </p:txBody>
      </p:sp>
      <p:sp>
        <p:nvSpPr>
          <p:cNvPr id="11" name="code-line-4">
            <a:extLst>
              <a:ext uri="{FF2B5EF4-FFF2-40B4-BE49-F238E27FC236}">
                <a16:creationId xmlns:a16="http://schemas.microsoft.com/office/drawing/2014/main" id="{BAA2B66B-252E-4010-BB98-8A7D83C49DD1}"/>
              </a:ext>
            </a:extLst>
          </p:cNvPr>
          <p:cNvSpPr>
            <a:spLocks noGrp="1"/>
          </p:cNvSpPr>
          <p:nvPr/>
        </p:nvSpPr>
        <p:spPr>
          <a:xfrm>
            <a:off x="914400" y="425767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git add tasks/</a:t>
            </a:r>
          </a:p>
        </p:txBody>
      </p:sp>
      <p:sp>
        <p:nvSpPr>
          <p:cNvPr id="12" name="code-line-5">
            <a:extLst>
              <a:ext uri="{FF2B5EF4-FFF2-40B4-BE49-F238E27FC236}">
                <a16:creationId xmlns:a16="http://schemas.microsoft.com/office/drawing/2014/main" id="{7819AEAA-4349-4D5D-A580-3963E5B4B191}"/>
              </a:ext>
            </a:extLst>
          </p:cNvPr>
          <p:cNvSpPr>
            <a:spLocks noGrp="1"/>
          </p:cNvSpPr>
          <p:nvPr/>
        </p:nvSpPr>
        <p:spPr>
          <a:xfrm>
            <a:off x="914400" y="459105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git diff --staged</a:t>
            </a:r>
          </a:p>
        </p:txBody>
      </p:sp>
      <p:sp>
        <p:nvSpPr>
          <p:cNvPr id="13" name="code-line-6">
            <a:extLst>
              <a:ext uri="{FF2B5EF4-FFF2-40B4-BE49-F238E27FC236}">
                <a16:creationId xmlns:a16="http://schemas.microsoft.com/office/drawing/2014/main" id="{93EAFF16-5C05-4DD9-A308-E06053263A3C}"/>
              </a:ext>
            </a:extLst>
          </p:cNvPr>
          <p:cNvSpPr>
            <a:spLocks noGrp="1"/>
          </p:cNvSpPr>
          <p:nvPr/>
        </p:nvSpPr>
        <p:spPr>
          <a:xfrm>
            <a:off x="914400" y="4924425"/>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git commit -m "Add task status filter"</a:t>
            </a:r>
          </a:p>
        </p:txBody>
      </p:sp>
      <p:sp>
        <p:nvSpPr>
          <p:cNvPr id="14" name="code-line-7">
            <a:extLst>
              <a:ext uri="{FF2B5EF4-FFF2-40B4-BE49-F238E27FC236}">
                <a16:creationId xmlns:a16="http://schemas.microsoft.com/office/drawing/2014/main" id="{F089A8AB-7236-4FA0-92A6-281334B3C645}"/>
              </a:ext>
            </a:extLst>
          </p:cNvPr>
          <p:cNvSpPr>
            <a:spLocks noGrp="1"/>
          </p:cNvSpPr>
          <p:nvPr/>
        </p:nvSpPr>
        <p:spPr>
          <a:xfrm>
            <a:off x="914400" y="5257800"/>
            <a:ext cx="7639050" cy="361950"/>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git push -u origin feature/task-status-filter</a:t>
            </a:r>
          </a:p>
        </p:txBody>
      </p:sp>
      <p:sp>
        <p:nvSpPr>
          <p:cNvPr id="15" name="code-line-8">
            <a:extLst>
              <a:ext uri="{FF2B5EF4-FFF2-40B4-BE49-F238E27FC236}">
                <a16:creationId xmlns:a16="http://schemas.microsoft.com/office/drawing/2014/main" id="{7A0AD30E-74E7-4D6D-B21D-F8A7CA62C592}"/>
              </a:ext>
            </a:extLst>
          </p:cNvPr>
          <p:cNvSpPr>
            <a:spLocks noGrp="1"/>
          </p:cNvSpPr>
          <p:nvPr/>
        </p:nvSpPr>
        <p:spPr>
          <a:xfrm>
            <a:off x="914400" y="5591175"/>
            <a:ext cx="7639050" cy="361950"/>
          </a:xfrm>
          <a:prstGeom prst="rect">
            <a:avLst/>
          </a:prstGeom>
          <a:noFill/>
          <a:ln w="0">
            <a:noFill/>
          </a:ln>
        </p:spPr>
        <p:txBody>
          <a:bodyPr wrap="none" lIns="0" tIns="0" rIns="0" bIns="0" anchor="t">
            <a:noAutofit/>
          </a:bodyPr>
          <a:lstStyle/>
          <a:p>
            <a:endParaRPr/>
          </a:p>
        </p:txBody>
      </p:sp>
      <p:sp>
        <p:nvSpPr>
          <p:cNvPr id="16" name="code-line-9">
            <a:extLst>
              <a:ext uri="{FF2B5EF4-FFF2-40B4-BE49-F238E27FC236}">
                <a16:creationId xmlns:a16="http://schemas.microsoft.com/office/drawing/2014/main" id="{31008441-7ED3-44BE-AB39-675CBCC0F92C}"/>
              </a:ext>
            </a:extLst>
          </p:cNvPr>
          <p:cNvSpPr>
            <a:spLocks noGrp="1"/>
          </p:cNvSpPr>
          <p:nvPr/>
        </p:nvSpPr>
        <p:spPr>
          <a:xfrm>
            <a:off x="914400" y="5924550"/>
            <a:ext cx="7639050" cy="361950"/>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Open a pull request on GitHub.</a:t>
            </a:r>
          </a:p>
        </p:txBody>
      </p:sp>
      <p:sp>
        <p:nvSpPr>
          <p:cNvPr id="17" name="reveal-1-output-1">
            <a:extLst>
              <a:ext uri="{FF2B5EF4-FFF2-40B4-BE49-F238E27FC236}">
                <a16:creationId xmlns:a16="http://schemas.microsoft.com/office/drawing/2014/main" id="{F3D9CC86-3114-486A-983D-D370E7CDF5D6}"/>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Example pull request</a:t>
            </a:r>
          </a:p>
        </p:txBody>
      </p:sp>
      <p:sp>
        <p:nvSpPr>
          <p:cNvPr id="18" name="reveal-1-output-2">
            <a:extLst>
              <a:ext uri="{FF2B5EF4-FFF2-40B4-BE49-F238E27FC236}">
                <a16:creationId xmlns:a16="http://schemas.microsoft.com/office/drawing/2014/main" id="{1964BE02-7C88-4F78-9E49-38B0997187B3}"/>
              </a:ext>
            </a:extLst>
          </p:cNvPr>
          <p:cNvSpPr>
            <a:spLocks noGrp="1"/>
          </p:cNvSpPr>
          <p:nvPr/>
        </p:nvSpPr>
        <p:spPr>
          <a:xfrm>
            <a:off x="9239250" y="2952750"/>
            <a:ext cx="5295900" cy="3810000"/>
          </a:xfrm>
          <a:prstGeom prst="rect">
            <a:avLst/>
          </a:prstGeom>
          <a:solidFill>
            <a:srgbClr val="ECEFF7"/>
          </a:solidFill>
          <a:ln w="0">
            <a:noFill/>
          </a:ln>
        </p:spPr>
      </p:sp>
      <p:sp>
        <p:nvSpPr>
          <p:cNvPr id="19" name="reveal-1-output-3">
            <a:extLst>
              <a:ext uri="{FF2B5EF4-FFF2-40B4-BE49-F238E27FC236}">
                <a16:creationId xmlns:a16="http://schemas.microsoft.com/office/drawing/2014/main" id="{B5081DDB-27E8-457D-BDEC-50D83FDD9F00}"/>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650" b="0">
                <a:solidFill>
                  <a:srgbClr val="242C35"/>
                </a:solidFill>
                <a:latin typeface="Menlo"/>
                <a:ea typeface="Menlo"/>
                <a:cs typeface="Menlo"/>
              </a:defRPr>
            </a:pPr>
            <a:r>
              <a:rPr sz="1650" b="0">
                <a:solidFill>
                  <a:srgbClr val="242C35"/>
                </a:solidFill>
                <a:latin typeface="Menlo"/>
                <a:ea typeface="Menlo"/>
                <a:cs typeface="Menlo"/>
              </a:rPr>
              <a:t>Add Open / Done task filtering</a:t>
            </a:r>
          </a:p>
          <a:p>
            <a:pPr algn="l">
              <a:defRPr sz="1650" b="0">
                <a:solidFill>
                  <a:srgbClr val="242C35"/>
                </a:solidFill>
                <a:latin typeface="Menlo"/>
                <a:ea typeface="Menlo"/>
                <a:cs typeface="Menlo"/>
              </a:defRPr>
            </a:pPr>
            <a:r>
              <a:rPr sz="1650" b="0">
                <a:solidFill>
                  <a:srgbClr val="242C35"/>
                </a:solidFill>
                <a:latin typeface="Menlo"/>
                <a:ea typeface="Menlo"/>
                <a:cs typeface="Menlo"/>
              </a:rPr>
              <a:t>Checks: own records, search, invalid</a:t>
            </a:r>
          </a:p>
          <a:p>
            <a:pPr algn="l">
              <a:defRPr sz="1650" b="0">
                <a:solidFill>
                  <a:srgbClr val="242C35"/>
                </a:solidFill>
                <a:latin typeface="Menlo"/>
                <a:ea typeface="Menlo"/>
                <a:cs typeface="Menlo"/>
              </a:defRPr>
            </a:pPr>
            <a:r>
              <a:rPr sz="1650" b="0">
                <a:solidFill>
                  <a:srgbClr val="242C35"/>
                </a:solidFill>
                <a:latin typeface="Menlo"/>
                <a:ea typeface="Menlo"/>
                <a:cs typeface="Menlo"/>
              </a:rPr>
              <a:t>status</a:t>
            </a:r>
          </a:p>
        </p:txBody>
      </p:sp>
      <p:sp>
        <p:nvSpPr>
          <p:cNvPr id="20" name="fade-1-takeaway">
            <a:extLst>
              <a:ext uri="{FF2B5EF4-FFF2-40B4-BE49-F238E27FC236}">
                <a16:creationId xmlns:a16="http://schemas.microsoft.com/office/drawing/2014/main" id="{A7D625A2-E781-4D15-BC5F-8157BE644C6B}"/>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Explain the behavior and its verification.</a:t>
            </a:r>
          </a:p>
        </p:txBody>
      </p:sp>
    </p:spTree>
    <p:extLst>
      <p:ext uri="{BB962C8B-B14F-4D97-AF65-F5344CB8AC3E}">
        <p14:creationId xmlns:p14="http://schemas.microsoft.com/office/powerpoint/2010/main" val="16386229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350" fill="hold">
                                          <p:stCondLst>
                                            <p:cond delay="0"/>
                                          </p:stCondLst>
                                        </p:cTn>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2" name="text-442">
            <a:extLst>
              <a:ext uri="{FF2B5EF4-FFF2-40B4-BE49-F238E27FC236}">
                <a16:creationId xmlns:a16="http://schemas.microsoft.com/office/drawing/2014/main" id="{D1D58F7C-A78C-4F17-82D2-74AAEABC214C}"/>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06 / Production</a:t>
            </a:r>
          </a:p>
        </p:txBody>
      </p:sp>
      <p:sp>
        <p:nvSpPr>
          <p:cNvPr id="2" name="text-443">
            <a:extLst>
              <a:ext uri="{FF2B5EF4-FFF2-40B4-BE49-F238E27FC236}">
                <a16:creationId xmlns:a16="http://schemas.microsoft.com/office/drawing/2014/main" id="{F617359F-92D2-4251-BC73-BDFE0DD0F413}"/>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Configuration for deployment</a:t>
            </a:r>
          </a:p>
        </p:txBody>
      </p:sp>
      <p:sp>
        <p:nvSpPr>
          <p:cNvPr id="3" name="text-444">
            <a:extLst>
              <a:ext uri="{FF2B5EF4-FFF2-40B4-BE49-F238E27FC236}">
                <a16:creationId xmlns:a16="http://schemas.microsoft.com/office/drawing/2014/main" id="{2FACB971-97FC-47CD-AD14-C8BBB9DBAEBC}"/>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445">
            <a:extLst>
              <a:ext uri="{FF2B5EF4-FFF2-40B4-BE49-F238E27FC236}">
                <a16:creationId xmlns:a16="http://schemas.microsoft.com/office/drawing/2014/main" id="{F08C17EC-E3D1-4150-BB03-5F0711C48928}"/>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58</a:t>
            </a:r>
          </a:p>
        </p:txBody>
      </p:sp>
      <p:sp>
        <p:nvSpPr>
          <p:cNvPr id="5" name="text-446">
            <a:extLst>
              <a:ext uri="{FF2B5EF4-FFF2-40B4-BE49-F238E27FC236}">
                <a16:creationId xmlns:a16="http://schemas.microsoft.com/office/drawing/2014/main" id="{A3297AE0-F449-4AB0-B7A6-7D2C0802C87B}"/>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config/settings.py additions</a:t>
            </a:r>
          </a:p>
        </p:txBody>
      </p:sp>
      <p:sp>
        <p:nvSpPr>
          <p:cNvPr id="6" name="code-panel-447">
            <a:extLst>
              <a:ext uri="{FF2B5EF4-FFF2-40B4-BE49-F238E27FC236}">
                <a16:creationId xmlns:a16="http://schemas.microsoft.com/office/drawing/2014/main" id="{E2BDB06A-7CB2-4046-B40F-108CF21890A5}"/>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AEC00029-2832-45E5-A299-66FA418EBA88}"/>
              </a:ext>
            </a:extLst>
          </p:cNvPr>
          <p:cNvSpPr>
            <a:spLocks noGrp="1"/>
          </p:cNvSpPr>
          <p:nvPr/>
        </p:nvSpPr>
        <p:spPr>
          <a:xfrm>
            <a:off x="914400" y="2924175"/>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A7C2FF"/>
                </a:solidFill>
                <a:latin typeface="Menlo"/>
                <a:ea typeface="Menlo"/>
                <a:cs typeface="Menlo"/>
              </a:rPr>
              <a:t>import</a:t>
            </a:r>
            <a:r>
              <a:rPr sz="1650" b="0">
                <a:solidFill>
                  <a:srgbClr val="FFFFFF"/>
                </a:solidFill>
                <a:latin typeface="Menlo"/>
                <a:ea typeface="Menlo"/>
                <a:cs typeface="Menlo"/>
              </a:rPr>
              <a:t> os</a:t>
            </a:r>
          </a:p>
        </p:txBody>
      </p:sp>
      <p:sp>
        <p:nvSpPr>
          <p:cNvPr id="8" name="code-line-1">
            <a:extLst>
              <a:ext uri="{FF2B5EF4-FFF2-40B4-BE49-F238E27FC236}">
                <a16:creationId xmlns:a16="http://schemas.microsoft.com/office/drawing/2014/main" id="{13538B64-B126-43C5-B272-BAEF0547DDC0}"/>
              </a:ext>
            </a:extLst>
          </p:cNvPr>
          <p:cNvSpPr>
            <a:spLocks noGrp="1"/>
          </p:cNvSpPr>
          <p:nvPr/>
        </p:nvSpPr>
        <p:spPr>
          <a:xfrm>
            <a:off x="914400" y="3247231"/>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SECRET_KEY = os.environ["DJANGO_SECRET_KEY"]</a:t>
            </a:r>
          </a:p>
        </p:txBody>
      </p:sp>
      <p:sp>
        <p:nvSpPr>
          <p:cNvPr id="9" name="code-line-2">
            <a:extLst>
              <a:ext uri="{FF2B5EF4-FFF2-40B4-BE49-F238E27FC236}">
                <a16:creationId xmlns:a16="http://schemas.microsoft.com/office/drawing/2014/main" id="{80C11213-D3FE-4B15-997E-DE882FAA9CCF}"/>
              </a:ext>
            </a:extLst>
          </p:cNvPr>
          <p:cNvSpPr>
            <a:spLocks noGrp="1"/>
          </p:cNvSpPr>
          <p:nvPr/>
        </p:nvSpPr>
        <p:spPr>
          <a:xfrm>
            <a:off x="914400" y="3570288"/>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DEBUG = os.environ.get("DEBUG", "</a:t>
            </a:r>
            <a:r>
              <a:rPr sz="1650" b="0">
                <a:solidFill>
                  <a:srgbClr val="A7C2FF"/>
                </a:solidFill>
                <a:latin typeface="Menlo"/>
                <a:ea typeface="Menlo"/>
                <a:cs typeface="Menlo"/>
              </a:rPr>
              <a:t>False</a:t>
            </a:r>
            <a:r>
              <a:rPr sz="1650" b="0">
                <a:solidFill>
                  <a:srgbClr val="FFFFFF"/>
                </a:solidFill>
                <a:latin typeface="Menlo"/>
                <a:ea typeface="Menlo"/>
                <a:cs typeface="Menlo"/>
              </a:rPr>
              <a:t>").lower() == "true"</a:t>
            </a:r>
          </a:p>
        </p:txBody>
      </p:sp>
      <p:sp>
        <p:nvSpPr>
          <p:cNvPr id="10" name="code-line-3">
            <a:extLst>
              <a:ext uri="{FF2B5EF4-FFF2-40B4-BE49-F238E27FC236}">
                <a16:creationId xmlns:a16="http://schemas.microsoft.com/office/drawing/2014/main" id="{D08F9D5B-0D26-4053-8B9B-364016839517}"/>
              </a:ext>
            </a:extLst>
          </p:cNvPr>
          <p:cNvSpPr>
            <a:spLocks noGrp="1"/>
          </p:cNvSpPr>
          <p:nvPr/>
        </p:nvSpPr>
        <p:spPr>
          <a:xfrm>
            <a:off x="914400" y="3893344"/>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ALLOWED_HOSTS = [</a:t>
            </a:r>
          </a:p>
        </p:txBody>
      </p:sp>
      <p:sp>
        <p:nvSpPr>
          <p:cNvPr id="11" name="code-line-4">
            <a:extLst>
              <a:ext uri="{FF2B5EF4-FFF2-40B4-BE49-F238E27FC236}">
                <a16:creationId xmlns:a16="http://schemas.microsoft.com/office/drawing/2014/main" id="{CBB67304-1D90-48FF-B7E8-4DC763E03CF4}"/>
              </a:ext>
            </a:extLst>
          </p:cNvPr>
          <p:cNvSpPr>
            <a:spLocks noGrp="1"/>
          </p:cNvSpPr>
          <p:nvPr/>
        </p:nvSpPr>
        <p:spPr>
          <a:xfrm>
            <a:off x="914400" y="4216400"/>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h.strip() </a:t>
            </a:r>
            <a:r>
              <a:rPr sz="1650" b="0">
                <a:solidFill>
                  <a:srgbClr val="A7C2FF"/>
                </a:solidFill>
                <a:latin typeface="Menlo"/>
                <a:ea typeface="Menlo"/>
                <a:cs typeface="Menlo"/>
              </a:rPr>
              <a:t>for</a:t>
            </a:r>
            <a:r>
              <a:rPr sz="1650" b="0">
                <a:solidFill>
                  <a:srgbClr val="FFFFFF"/>
                </a:solidFill>
                <a:latin typeface="Menlo"/>
                <a:ea typeface="Menlo"/>
                <a:cs typeface="Menlo"/>
              </a:rPr>
              <a:t> h </a:t>
            </a:r>
            <a:r>
              <a:rPr sz="1650" b="0">
                <a:solidFill>
                  <a:srgbClr val="A7C2FF"/>
                </a:solidFill>
                <a:latin typeface="Menlo"/>
                <a:ea typeface="Menlo"/>
                <a:cs typeface="Menlo"/>
              </a:rPr>
              <a:t>in</a:t>
            </a:r>
          </a:p>
        </p:txBody>
      </p:sp>
      <p:sp>
        <p:nvSpPr>
          <p:cNvPr id="12" name="code-line-5">
            <a:extLst>
              <a:ext uri="{FF2B5EF4-FFF2-40B4-BE49-F238E27FC236}">
                <a16:creationId xmlns:a16="http://schemas.microsoft.com/office/drawing/2014/main" id="{EEB7AFAC-3152-4F81-9203-2A3CEC2573EE}"/>
              </a:ext>
            </a:extLst>
          </p:cNvPr>
          <p:cNvSpPr>
            <a:spLocks noGrp="1"/>
          </p:cNvSpPr>
          <p:nvPr/>
        </p:nvSpPr>
        <p:spPr>
          <a:xfrm>
            <a:off x="914400" y="4539456"/>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os.environ["DJANGO_ALLOWED_HOSTS"].split(",")</a:t>
            </a:r>
          </a:p>
        </p:txBody>
      </p:sp>
      <p:sp>
        <p:nvSpPr>
          <p:cNvPr id="13" name="code-line-6">
            <a:extLst>
              <a:ext uri="{FF2B5EF4-FFF2-40B4-BE49-F238E27FC236}">
                <a16:creationId xmlns:a16="http://schemas.microsoft.com/office/drawing/2014/main" id="{B869AD1D-7110-4F88-A34D-D639C98B1581}"/>
              </a:ext>
            </a:extLst>
          </p:cNvPr>
          <p:cNvSpPr>
            <a:spLocks noGrp="1"/>
          </p:cNvSpPr>
          <p:nvPr/>
        </p:nvSpPr>
        <p:spPr>
          <a:xfrm>
            <a:off x="914400" y="4862513"/>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    </a:t>
            </a:r>
            <a:r>
              <a:rPr sz="1650" b="0">
                <a:solidFill>
                  <a:srgbClr val="A7C2FF"/>
                </a:solidFill>
                <a:latin typeface="Menlo"/>
                <a:ea typeface="Menlo"/>
                <a:cs typeface="Menlo"/>
              </a:rPr>
              <a:t>if</a:t>
            </a:r>
            <a:r>
              <a:rPr sz="1650" b="0">
                <a:solidFill>
                  <a:srgbClr val="FFFFFF"/>
                </a:solidFill>
                <a:latin typeface="Menlo"/>
                <a:ea typeface="Menlo"/>
                <a:cs typeface="Menlo"/>
              </a:rPr>
              <a:t> h.strip()</a:t>
            </a:r>
          </a:p>
        </p:txBody>
      </p:sp>
      <p:sp>
        <p:nvSpPr>
          <p:cNvPr id="14" name="code-line-7">
            <a:extLst>
              <a:ext uri="{FF2B5EF4-FFF2-40B4-BE49-F238E27FC236}">
                <a16:creationId xmlns:a16="http://schemas.microsoft.com/office/drawing/2014/main" id="{CADE569D-552A-4FF2-8931-37B50596E44B}"/>
              </a:ext>
            </a:extLst>
          </p:cNvPr>
          <p:cNvSpPr>
            <a:spLocks noGrp="1"/>
          </p:cNvSpPr>
          <p:nvPr/>
        </p:nvSpPr>
        <p:spPr>
          <a:xfrm>
            <a:off x="914400" y="5185569"/>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a:t>
            </a:r>
          </a:p>
        </p:txBody>
      </p:sp>
      <p:sp>
        <p:nvSpPr>
          <p:cNvPr id="15" name="code-line-8">
            <a:extLst>
              <a:ext uri="{FF2B5EF4-FFF2-40B4-BE49-F238E27FC236}">
                <a16:creationId xmlns:a16="http://schemas.microsoft.com/office/drawing/2014/main" id="{B9AEB4EF-9360-4513-AC78-F6FBB5CF8041}"/>
              </a:ext>
            </a:extLst>
          </p:cNvPr>
          <p:cNvSpPr>
            <a:spLocks noGrp="1"/>
          </p:cNvSpPr>
          <p:nvPr/>
        </p:nvSpPr>
        <p:spPr>
          <a:xfrm>
            <a:off x="914400" y="5508625"/>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STATIC_URL = "/static/"</a:t>
            </a:r>
          </a:p>
        </p:txBody>
      </p:sp>
      <p:sp>
        <p:nvSpPr>
          <p:cNvPr id="16" name="code-line-9">
            <a:extLst>
              <a:ext uri="{FF2B5EF4-FFF2-40B4-BE49-F238E27FC236}">
                <a16:creationId xmlns:a16="http://schemas.microsoft.com/office/drawing/2014/main" id="{2DC56741-5F48-4BF7-BAD0-397A32E98C2D}"/>
              </a:ext>
            </a:extLst>
          </p:cNvPr>
          <p:cNvSpPr>
            <a:spLocks noGrp="1"/>
          </p:cNvSpPr>
          <p:nvPr/>
        </p:nvSpPr>
        <p:spPr>
          <a:xfrm>
            <a:off x="914400" y="5831681"/>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STATIC_ROOT = BASE_DIR / "staticfiles"</a:t>
            </a:r>
          </a:p>
        </p:txBody>
      </p:sp>
      <p:sp>
        <p:nvSpPr>
          <p:cNvPr id="17" name="code-line-10">
            <a:extLst>
              <a:ext uri="{FF2B5EF4-FFF2-40B4-BE49-F238E27FC236}">
                <a16:creationId xmlns:a16="http://schemas.microsoft.com/office/drawing/2014/main" id="{248D50B3-8721-4CB8-85C1-83119522F397}"/>
              </a:ext>
            </a:extLst>
          </p:cNvPr>
          <p:cNvSpPr>
            <a:spLocks noGrp="1"/>
          </p:cNvSpPr>
          <p:nvPr/>
        </p:nvSpPr>
        <p:spPr>
          <a:xfrm>
            <a:off x="914400" y="6154738"/>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SESSION_COOKIE_SECURE = </a:t>
            </a:r>
            <a:r>
              <a:rPr sz="1650" b="0">
                <a:solidFill>
                  <a:srgbClr val="A7C2FF"/>
                </a:solidFill>
                <a:latin typeface="Menlo"/>
                <a:ea typeface="Menlo"/>
                <a:cs typeface="Menlo"/>
              </a:rPr>
              <a:t>not</a:t>
            </a:r>
            <a:r>
              <a:rPr sz="1650" b="0">
                <a:solidFill>
                  <a:srgbClr val="FFFFFF"/>
                </a:solidFill>
                <a:latin typeface="Menlo"/>
                <a:ea typeface="Menlo"/>
                <a:cs typeface="Menlo"/>
              </a:rPr>
              <a:t> DEBUG</a:t>
            </a:r>
          </a:p>
        </p:txBody>
      </p:sp>
      <p:sp>
        <p:nvSpPr>
          <p:cNvPr id="18" name="code-line-11">
            <a:extLst>
              <a:ext uri="{FF2B5EF4-FFF2-40B4-BE49-F238E27FC236}">
                <a16:creationId xmlns:a16="http://schemas.microsoft.com/office/drawing/2014/main" id="{B9487095-EA04-4F63-8726-84DF8A791DF7}"/>
              </a:ext>
            </a:extLst>
          </p:cNvPr>
          <p:cNvSpPr>
            <a:spLocks noGrp="1"/>
          </p:cNvSpPr>
          <p:nvPr/>
        </p:nvSpPr>
        <p:spPr>
          <a:xfrm>
            <a:off x="914400" y="6477794"/>
            <a:ext cx="7639050" cy="351631"/>
          </a:xfrm>
          <a:prstGeom prst="rect">
            <a:avLst/>
          </a:prstGeom>
          <a:noFill/>
          <a:ln w="0">
            <a:noFill/>
          </a:ln>
        </p:spPr>
        <p:txBody>
          <a:bodyPr wrap="none" lIns="0" tIns="0" rIns="0" bIns="0" anchor="t">
            <a:noAutofit/>
          </a:bodyPr>
          <a:lstStyle/>
          <a:p>
            <a:pPr algn="l">
              <a:defRPr sz="1650" b="0">
                <a:solidFill>
                  <a:srgbClr val="FFFFFF"/>
                </a:solidFill>
                <a:latin typeface="Menlo"/>
                <a:ea typeface="Menlo"/>
                <a:cs typeface="Menlo"/>
              </a:defRPr>
            </a:pPr>
            <a:r>
              <a:rPr sz="1650" b="0">
                <a:solidFill>
                  <a:srgbClr val="FFFFFF"/>
                </a:solidFill>
                <a:latin typeface="Menlo"/>
                <a:ea typeface="Menlo"/>
                <a:cs typeface="Menlo"/>
              </a:rPr>
              <a:t>CSRF_COOKIE_SECURE = </a:t>
            </a:r>
            <a:r>
              <a:rPr sz="1650" b="0">
                <a:solidFill>
                  <a:srgbClr val="A7C2FF"/>
                </a:solidFill>
                <a:latin typeface="Menlo"/>
                <a:ea typeface="Menlo"/>
                <a:cs typeface="Menlo"/>
              </a:rPr>
              <a:t>not</a:t>
            </a:r>
            <a:r>
              <a:rPr sz="1650" b="0">
                <a:solidFill>
                  <a:srgbClr val="FFFFFF"/>
                </a:solidFill>
                <a:latin typeface="Menlo"/>
                <a:ea typeface="Menlo"/>
                <a:cs typeface="Menlo"/>
              </a:rPr>
              <a:t> DEBUG</a:t>
            </a:r>
          </a:p>
        </p:txBody>
      </p:sp>
      <p:sp>
        <p:nvSpPr>
          <p:cNvPr id="19" name="reveal-1-output-1">
            <a:extLst>
              <a:ext uri="{FF2B5EF4-FFF2-40B4-BE49-F238E27FC236}">
                <a16:creationId xmlns:a16="http://schemas.microsoft.com/office/drawing/2014/main" id="{7000682D-528B-4036-89CA-6FDD5204EEF8}"/>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Variable examples</a:t>
            </a:r>
          </a:p>
        </p:txBody>
      </p:sp>
      <p:graphicFrame>
        <p:nvGraphicFramePr>
          <p:cNvPr id="41" name="reveal-1-output-2"/>
          <p:cNvGraphicFramePr/>
          <p:nvPr/>
        </p:nvGraphicFramePr>
        <p:xfrm>
          <a:off x="9239250" y="2952750"/>
          <a:ext cx="5295900" cy="3714750"/>
        </p:xfrm>
        <a:graphic>
          <a:graphicData uri="http://schemas.openxmlformats.org/drawingml/2006/table">
            <a:tbl>
              <a:tblPr firstRow="1"/>
              <a:tblGrid>
                <a:gridCol w="3286125">
                  <a:extLst>
                    <a:ext uri="{9D8B030D-6E8A-4147-A177-3AD203B41FA5}">
                      <a16:colId xmlns:a16="http://schemas.microsoft.com/office/drawing/2014/main" val="20000"/>
                    </a:ext>
                  </a:extLst>
                </a:gridCol>
                <a:gridCol w="2009775">
                  <a:extLst>
                    <a:ext uri="{9D8B030D-6E8A-4147-A177-3AD203B41FA5}">
                      <a16:colId xmlns:a16="http://schemas.microsoft.com/office/drawing/2014/main" val="20001"/>
                    </a:ext>
                  </a:extLst>
                </a:gridCol>
              </a:tblGrid>
              <a:tr h="928688">
                <a:tc>
                  <a:txBody>
                    <a:bodyPr/>
                    <a:lstStyle/>
                    <a:p>
                      <a:r>
                        <a:rPr sz="1575" b="1">
                          <a:solidFill>
                            <a:srgbClr val="FFFFFF"/>
                          </a:solidFill>
                          <a:latin typeface="Helvetica Neue"/>
                          <a:ea typeface="Helvetica Neue"/>
                          <a:cs typeface="Helvetica Neue"/>
                        </a:rPr>
                        <a:t>Name</a:t>
                      </a:r>
                    </a:p>
                  </a:txBody>
                  <a:tcPr anchor="ctr">
                    <a:solidFill>
                      <a:srgbClr val="242C35"/>
                    </a:solidFill>
                  </a:tcPr>
                </a:tc>
                <a:tc>
                  <a:txBody>
                    <a:bodyPr/>
                    <a:lstStyle/>
                    <a:p>
                      <a:r>
                        <a:rPr sz="1575" b="1">
                          <a:solidFill>
                            <a:srgbClr val="FFFFFF"/>
                          </a:solidFill>
                          <a:latin typeface="Helvetica Neue"/>
                          <a:ea typeface="Helvetica Neue"/>
                          <a:cs typeface="Helvetica Neue"/>
                        </a:rPr>
                        <a:t>Value type</a:t>
                      </a:r>
                    </a:p>
                  </a:txBody>
                  <a:tcPr anchor="ctr">
                    <a:solidFill>
                      <a:srgbClr val="242C35"/>
                    </a:solidFill>
                  </a:tcPr>
                </a:tc>
                <a:extLst>
                  <a:ext uri="{0D108BD9-81ED-4DB2-BD59-A6C34878D82A}">
                    <a16:rowId xmlns:a16="http://schemas.microsoft.com/office/drawing/2014/main" val="10000"/>
                  </a:ext>
                </a:extLst>
              </a:tr>
              <a:tr h="928688">
                <a:tc>
                  <a:txBody>
                    <a:bodyPr/>
                    <a:lstStyle/>
                    <a:p>
                      <a:r>
                        <a:rPr sz="1575" b="0">
                          <a:solidFill>
                            <a:srgbClr val="242C35"/>
                          </a:solidFill>
                          <a:latin typeface="Helvetica Neue"/>
                          <a:ea typeface="Helvetica Neue"/>
                          <a:cs typeface="Helvetica Neue"/>
                        </a:rPr>
                        <a:t>DJANGO_SECRET_KEY</a:t>
                      </a:r>
                    </a:p>
                  </a:txBody>
                  <a:tcPr anchor="ctr">
                    <a:solidFill>
                      <a:srgbClr val="FFFFFF"/>
                    </a:solidFill>
                  </a:tcPr>
                </a:tc>
                <a:tc>
                  <a:txBody>
                    <a:bodyPr/>
                    <a:lstStyle/>
                    <a:p>
                      <a:r>
                        <a:rPr sz="1575" b="0">
                          <a:solidFill>
                            <a:srgbClr val="242C35"/>
                          </a:solidFill>
                          <a:latin typeface="Helvetica Neue"/>
                          <a:ea typeface="Helvetica Neue"/>
                          <a:cs typeface="Helvetica Neue"/>
                        </a:rPr>
                        <a:t>Secret</a:t>
                      </a:r>
                    </a:p>
                  </a:txBody>
                  <a:tcPr anchor="ctr">
                    <a:solidFill>
                      <a:srgbClr val="FFFFFF"/>
                    </a:solidFill>
                  </a:tcPr>
                </a:tc>
                <a:extLst>
                  <a:ext uri="{0D108BD9-81ED-4DB2-BD59-A6C34878D82A}">
                    <a16:rowId xmlns:a16="http://schemas.microsoft.com/office/drawing/2014/main" val="10001"/>
                  </a:ext>
                </a:extLst>
              </a:tr>
              <a:tr h="928688">
                <a:tc>
                  <a:txBody>
                    <a:bodyPr/>
                    <a:lstStyle/>
                    <a:p>
                      <a:r>
                        <a:rPr sz="1575" b="0">
                          <a:solidFill>
                            <a:srgbClr val="242C35"/>
                          </a:solidFill>
                          <a:latin typeface="Helvetica Neue"/>
                          <a:ea typeface="Helvetica Neue"/>
                          <a:cs typeface="Helvetica Neue"/>
                        </a:rPr>
                        <a:t>DEBUG</a:t>
                      </a:r>
                    </a:p>
                  </a:txBody>
                  <a:tcPr anchor="ctr">
                    <a:solidFill>
                      <a:srgbClr val="F8F5EF"/>
                    </a:solidFill>
                  </a:tcPr>
                </a:tc>
                <a:tc>
                  <a:txBody>
                    <a:bodyPr/>
                    <a:lstStyle/>
                    <a:p>
                      <a:r>
                        <a:rPr sz="1575" b="0">
                          <a:solidFill>
                            <a:srgbClr val="242C35"/>
                          </a:solidFill>
                          <a:latin typeface="Helvetica Neue"/>
                          <a:ea typeface="Helvetica Neue"/>
                          <a:cs typeface="Helvetica Neue"/>
                        </a:rPr>
                        <a:t>False</a:t>
                      </a:r>
                    </a:p>
                  </a:txBody>
                  <a:tcPr anchor="ctr">
                    <a:solidFill>
                      <a:srgbClr val="F8F5EF"/>
                    </a:solidFill>
                  </a:tcPr>
                </a:tc>
                <a:extLst>
                  <a:ext uri="{0D108BD9-81ED-4DB2-BD59-A6C34878D82A}">
                    <a16:rowId xmlns:a16="http://schemas.microsoft.com/office/drawing/2014/main" val="10002"/>
                  </a:ext>
                </a:extLst>
              </a:tr>
              <a:tr h="928688">
                <a:tc>
                  <a:txBody>
                    <a:bodyPr/>
                    <a:lstStyle/>
                    <a:p>
                      <a:r>
                        <a:rPr sz="1575" b="0">
                          <a:solidFill>
                            <a:srgbClr val="242C35"/>
                          </a:solidFill>
                          <a:latin typeface="Helvetica Neue"/>
                          <a:ea typeface="Helvetica Neue"/>
                          <a:cs typeface="Helvetica Neue"/>
                        </a:rPr>
                        <a:t>DJANGO_ALLOWED_HOSTS</a:t>
                      </a:r>
                    </a:p>
                  </a:txBody>
                  <a:tcPr anchor="ctr">
                    <a:solidFill>
                      <a:srgbClr val="FFFFFF"/>
                    </a:solidFill>
                  </a:tcPr>
                </a:tc>
                <a:tc>
                  <a:txBody>
                    <a:bodyPr/>
                    <a:lstStyle/>
                    <a:p>
                      <a:r>
                        <a:rPr sz="1575" b="0">
                          <a:solidFill>
                            <a:srgbClr val="242C35"/>
                          </a:solidFill>
                          <a:latin typeface="Helvetica Neue"/>
                          <a:ea typeface="Helvetica Neue"/>
                          <a:cs typeface="Helvetica Neue"/>
                        </a:rPr>
                        <a:t>Actual hostnames</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21" name="fade-1-takeaway">
            <a:extLst>
              <a:ext uri="{FF2B5EF4-FFF2-40B4-BE49-F238E27FC236}">
                <a16:creationId xmlns:a16="http://schemas.microsoft.com/office/drawing/2014/main" id="{174DA516-A8ED-4C19-8767-97FBB25D4206}"/>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Keep secrets outside Git and DEBUG off in production.</a:t>
            </a:r>
          </a:p>
        </p:txBody>
      </p:sp>
    </p:spTree>
    <p:extLst>
      <p:ext uri="{BB962C8B-B14F-4D97-AF65-F5344CB8AC3E}">
        <p14:creationId xmlns:p14="http://schemas.microsoft.com/office/powerpoint/2010/main" val="5043024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350" fill="hold">
                                          <p:stCondLst>
                                            <p:cond delay="0"/>
                                          </p:stCondLst>
                                        </p:cTn>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2" name="text-449">
            <a:extLst>
              <a:ext uri="{FF2B5EF4-FFF2-40B4-BE49-F238E27FC236}">
                <a16:creationId xmlns:a16="http://schemas.microsoft.com/office/drawing/2014/main" id="{31E1C40C-86C3-4F4A-B553-E48F40E9BE80}"/>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06 / Production</a:t>
            </a:r>
          </a:p>
        </p:txBody>
      </p:sp>
      <p:sp>
        <p:nvSpPr>
          <p:cNvPr id="2" name="text-450">
            <a:extLst>
              <a:ext uri="{FF2B5EF4-FFF2-40B4-BE49-F238E27FC236}">
                <a16:creationId xmlns:a16="http://schemas.microsoft.com/office/drawing/2014/main" id="{6AFF0085-D2E3-4019-A466-AB38EC2CE7FB}"/>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Persistent PostgreSQL data</a:t>
            </a:r>
          </a:p>
        </p:txBody>
      </p:sp>
      <p:sp>
        <p:nvSpPr>
          <p:cNvPr id="3" name="text-451">
            <a:extLst>
              <a:ext uri="{FF2B5EF4-FFF2-40B4-BE49-F238E27FC236}">
                <a16:creationId xmlns:a16="http://schemas.microsoft.com/office/drawing/2014/main" id="{14F760AF-FC23-44A3-B6FF-F8B381DCCA78}"/>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452">
            <a:extLst>
              <a:ext uri="{FF2B5EF4-FFF2-40B4-BE49-F238E27FC236}">
                <a16:creationId xmlns:a16="http://schemas.microsoft.com/office/drawing/2014/main" id="{E2089111-3D63-4C94-BE0F-C18E336DA665}"/>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59</a:t>
            </a:r>
          </a:p>
        </p:txBody>
      </p:sp>
      <p:sp>
        <p:nvSpPr>
          <p:cNvPr id="5" name="text-453">
            <a:extLst>
              <a:ext uri="{FF2B5EF4-FFF2-40B4-BE49-F238E27FC236}">
                <a16:creationId xmlns:a16="http://schemas.microsoft.com/office/drawing/2014/main" id="{4C17BACF-1F58-4726-A5CB-B0E1A0A0F693}"/>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config/settings.py, production database</a:t>
            </a:r>
          </a:p>
        </p:txBody>
      </p:sp>
      <p:sp>
        <p:nvSpPr>
          <p:cNvPr id="6" name="code-panel-454">
            <a:extLst>
              <a:ext uri="{FF2B5EF4-FFF2-40B4-BE49-F238E27FC236}">
                <a16:creationId xmlns:a16="http://schemas.microsoft.com/office/drawing/2014/main" id="{367ADC60-F454-43CE-B7E0-1EC5EE6D74FF}"/>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B5851094-D5E6-4082-A496-A46939337551}"/>
              </a:ext>
            </a:extLst>
          </p:cNvPr>
          <p:cNvSpPr>
            <a:spLocks noGrp="1"/>
          </p:cNvSpPr>
          <p:nvPr/>
        </p:nvSpPr>
        <p:spPr>
          <a:xfrm>
            <a:off x="914400" y="2924175"/>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A7C2FF"/>
                </a:solidFill>
                <a:latin typeface="Menlo"/>
                <a:ea typeface="Menlo"/>
                <a:cs typeface="Menlo"/>
              </a:rPr>
              <a:t>import</a:t>
            </a:r>
            <a:r>
              <a:rPr sz="1725" b="0">
                <a:solidFill>
                  <a:srgbClr val="FFFFFF"/>
                </a:solidFill>
                <a:latin typeface="Menlo"/>
                <a:ea typeface="Menlo"/>
                <a:cs typeface="Menlo"/>
              </a:rPr>
              <a:t> dj_database_url</a:t>
            </a:r>
          </a:p>
        </p:txBody>
      </p:sp>
      <p:sp>
        <p:nvSpPr>
          <p:cNvPr id="8" name="code-line-1">
            <a:extLst>
              <a:ext uri="{FF2B5EF4-FFF2-40B4-BE49-F238E27FC236}">
                <a16:creationId xmlns:a16="http://schemas.microsoft.com/office/drawing/2014/main" id="{BD3FC291-41DB-458B-9BB2-521401D07883}"/>
              </a:ext>
            </a:extLst>
          </p:cNvPr>
          <p:cNvSpPr>
            <a:spLocks noGrp="1"/>
          </p:cNvSpPr>
          <p:nvPr/>
        </p:nvSpPr>
        <p:spPr>
          <a:xfrm>
            <a:off x="914400" y="3247231"/>
            <a:ext cx="7639050" cy="351631"/>
          </a:xfrm>
          <a:prstGeom prst="rect">
            <a:avLst/>
          </a:prstGeom>
          <a:noFill/>
          <a:ln w="0">
            <a:noFill/>
          </a:ln>
        </p:spPr>
        <p:txBody>
          <a:bodyPr wrap="none" lIns="0" tIns="0" rIns="0" bIns="0" anchor="t">
            <a:noAutofit/>
          </a:bodyPr>
          <a:lstStyle/>
          <a:p>
            <a:endParaRPr/>
          </a:p>
        </p:txBody>
      </p:sp>
      <p:sp>
        <p:nvSpPr>
          <p:cNvPr id="9" name="code-line-2">
            <a:extLst>
              <a:ext uri="{FF2B5EF4-FFF2-40B4-BE49-F238E27FC236}">
                <a16:creationId xmlns:a16="http://schemas.microsoft.com/office/drawing/2014/main" id="{7BADAED6-553A-4007-8F78-AFE9391C351B}"/>
              </a:ext>
            </a:extLst>
          </p:cNvPr>
          <p:cNvSpPr>
            <a:spLocks noGrp="1"/>
          </p:cNvSpPr>
          <p:nvPr/>
        </p:nvSpPr>
        <p:spPr>
          <a:xfrm>
            <a:off x="914400" y="3570288"/>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DATABASES = {</a:t>
            </a:r>
          </a:p>
        </p:txBody>
      </p:sp>
      <p:sp>
        <p:nvSpPr>
          <p:cNvPr id="10" name="code-line-3">
            <a:extLst>
              <a:ext uri="{FF2B5EF4-FFF2-40B4-BE49-F238E27FC236}">
                <a16:creationId xmlns:a16="http://schemas.microsoft.com/office/drawing/2014/main" id="{D40256AB-C6A7-4B82-A052-F24109168509}"/>
              </a:ext>
            </a:extLst>
          </p:cNvPr>
          <p:cNvSpPr>
            <a:spLocks noGrp="1"/>
          </p:cNvSpPr>
          <p:nvPr/>
        </p:nvSpPr>
        <p:spPr>
          <a:xfrm>
            <a:off x="914400" y="3893344"/>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"default": dj_database_url.parse(</a:t>
            </a:r>
          </a:p>
        </p:txBody>
      </p:sp>
      <p:sp>
        <p:nvSpPr>
          <p:cNvPr id="11" name="code-line-4">
            <a:extLst>
              <a:ext uri="{FF2B5EF4-FFF2-40B4-BE49-F238E27FC236}">
                <a16:creationId xmlns:a16="http://schemas.microsoft.com/office/drawing/2014/main" id="{E439C1B4-4715-477D-A1C2-30FF0C2C6A3B}"/>
              </a:ext>
            </a:extLst>
          </p:cNvPr>
          <p:cNvSpPr>
            <a:spLocks noGrp="1"/>
          </p:cNvSpPr>
          <p:nvPr/>
        </p:nvSpPr>
        <p:spPr>
          <a:xfrm>
            <a:off x="914400" y="4216400"/>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os.environ["DATABASE_URL"],</a:t>
            </a:r>
          </a:p>
        </p:txBody>
      </p:sp>
      <p:sp>
        <p:nvSpPr>
          <p:cNvPr id="12" name="code-line-5">
            <a:extLst>
              <a:ext uri="{FF2B5EF4-FFF2-40B4-BE49-F238E27FC236}">
                <a16:creationId xmlns:a16="http://schemas.microsoft.com/office/drawing/2014/main" id="{5266DBB7-EC57-47DF-B2F8-4DCFE3B1DBAF}"/>
              </a:ext>
            </a:extLst>
          </p:cNvPr>
          <p:cNvSpPr>
            <a:spLocks noGrp="1"/>
          </p:cNvSpPr>
          <p:nvPr/>
        </p:nvSpPr>
        <p:spPr>
          <a:xfrm>
            <a:off x="914400" y="4539456"/>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conn_max_age=0,</a:t>
            </a:r>
          </a:p>
        </p:txBody>
      </p:sp>
      <p:sp>
        <p:nvSpPr>
          <p:cNvPr id="13" name="code-line-6">
            <a:extLst>
              <a:ext uri="{FF2B5EF4-FFF2-40B4-BE49-F238E27FC236}">
                <a16:creationId xmlns:a16="http://schemas.microsoft.com/office/drawing/2014/main" id="{5A764E5A-1A41-4896-B53F-7BBE16AC1162}"/>
              </a:ext>
            </a:extLst>
          </p:cNvPr>
          <p:cNvSpPr>
            <a:spLocks noGrp="1"/>
          </p:cNvSpPr>
          <p:nvPr/>
        </p:nvSpPr>
        <p:spPr>
          <a:xfrm>
            <a:off x="914400" y="4862513"/>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a:t>
            </a:r>
          </a:p>
        </p:txBody>
      </p:sp>
      <p:sp>
        <p:nvSpPr>
          <p:cNvPr id="14" name="code-line-7">
            <a:extLst>
              <a:ext uri="{FF2B5EF4-FFF2-40B4-BE49-F238E27FC236}">
                <a16:creationId xmlns:a16="http://schemas.microsoft.com/office/drawing/2014/main" id="{EF059D14-F053-4700-BB59-9F9D2430B30C}"/>
              </a:ext>
            </a:extLst>
          </p:cNvPr>
          <p:cNvSpPr>
            <a:spLocks noGrp="1"/>
          </p:cNvSpPr>
          <p:nvPr/>
        </p:nvSpPr>
        <p:spPr>
          <a:xfrm>
            <a:off x="914400" y="5185569"/>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a:t>
            </a:r>
          </a:p>
        </p:txBody>
      </p:sp>
      <p:sp>
        <p:nvSpPr>
          <p:cNvPr id="15" name="code-line-8">
            <a:extLst>
              <a:ext uri="{FF2B5EF4-FFF2-40B4-BE49-F238E27FC236}">
                <a16:creationId xmlns:a16="http://schemas.microsoft.com/office/drawing/2014/main" id="{F55F9D9B-47E3-41DF-9FED-EC4F06740BF6}"/>
              </a:ext>
            </a:extLst>
          </p:cNvPr>
          <p:cNvSpPr>
            <a:spLocks noGrp="1"/>
          </p:cNvSpPr>
          <p:nvPr/>
        </p:nvSpPr>
        <p:spPr>
          <a:xfrm>
            <a:off x="914400" y="5508625"/>
            <a:ext cx="7639050" cy="351631"/>
          </a:xfrm>
          <a:prstGeom prst="rect">
            <a:avLst/>
          </a:prstGeom>
          <a:noFill/>
          <a:ln w="0">
            <a:noFill/>
          </a:ln>
        </p:spPr>
        <p:txBody>
          <a:bodyPr wrap="none" lIns="0" tIns="0" rIns="0" bIns="0" anchor="t">
            <a:noAutofit/>
          </a:bodyPr>
          <a:lstStyle/>
          <a:p>
            <a:endParaRPr/>
          </a:p>
        </p:txBody>
      </p:sp>
      <p:sp>
        <p:nvSpPr>
          <p:cNvPr id="16" name="code-line-9">
            <a:extLst>
              <a:ext uri="{FF2B5EF4-FFF2-40B4-BE49-F238E27FC236}">
                <a16:creationId xmlns:a16="http://schemas.microsoft.com/office/drawing/2014/main" id="{E9F9A131-D2E4-4A1E-AC43-B3314D74AD96}"/>
              </a:ext>
            </a:extLst>
          </p:cNvPr>
          <p:cNvSpPr>
            <a:spLocks noGrp="1"/>
          </p:cNvSpPr>
          <p:nvPr/>
        </p:nvSpPr>
        <p:spPr>
          <a:xfrm>
            <a:off x="914400" y="5831681"/>
            <a:ext cx="7639050" cy="351631"/>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Install into the active environment</a:t>
            </a:r>
          </a:p>
        </p:txBody>
      </p:sp>
      <p:sp>
        <p:nvSpPr>
          <p:cNvPr id="17" name="code-line-10">
            <a:extLst>
              <a:ext uri="{FF2B5EF4-FFF2-40B4-BE49-F238E27FC236}">
                <a16:creationId xmlns:a16="http://schemas.microsoft.com/office/drawing/2014/main" id="{C3FCF30A-75CB-4299-AF67-F1FE6207783C}"/>
              </a:ext>
            </a:extLst>
          </p:cNvPr>
          <p:cNvSpPr>
            <a:spLocks noGrp="1"/>
          </p:cNvSpPr>
          <p:nvPr/>
        </p:nvSpPr>
        <p:spPr>
          <a:xfrm>
            <a:off x="914400" y="6154738"/>
            <a:ext cx="7639050" cy="351631"/>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python -m pip install "psycopg[binary]" dj-database-url</a:t>
            </a:r>
          </a:p>
        </p:txBody>
      </p:sp>
      <p:sp>
        <p:nvSpPr>
          <p:cNvPr id="18" name="code-line-11">
            <a:extLst>
              <a:ext uri="{FF2B5EF4-FFF2-40B4-BE49-F238E27FC236}">
                <a16:creationId xmlns:a16="http://schemas.microsoft.com/office/drawing/2014/main" id="{180F119B-EB89-4574-8CBB-F74A04FE9B18}"/>
              </a:ext>
            </a:extLst>
          </p:cNvPr>
          <p:cNvSpPr>
            <a:spLocks noGrp="1"/>
          </p:cNvSpPr>
          <p:nvPr/>
        </p:nvSpPr>
        <p:spPr>
          <a:xfrm>
            <a:off x="914400" y="6477794"/>
            <a:ext cx="7639050" cy="351631"/>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python -m pip freeze &gt; requirements.txt</a:t>
            </a:r>
          </a:p>
        </p:txBody>
      </p:sp>
      <p:sp>
        <p:nvSpPr>
          <p:cNvPr id="19" name="reveal-1-output-1">
            <a:extLst>
              <a:ext uri="{FF2B5EF4-FFF2-40B4-BE49-F238E27FC236}">
                <a16:creationId xmlns:a16="http://schemas.microsoft.com/office/drawing/2014/main" id="{722C7898-9BF6-4BAB-8E1E-C90053255110}"/>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Production database tables</a:t>
            </a:r>
          </a:p>
        </p:txBody>
      </p:sp>
      <p:graphicFrame>
        <p:nvGraphicFramePr>
          <p:cNvPr id="41" name="reveal-1-output-2"/>
          <p:cNvGraphicFramePr/>
          <p:nvPr/>
        </p:nvGraphicFramePr>
        <p:xfrm>
          <a:off x="9239250" y="2952750"/>
          <a:ext cx="5295900" cy="3714750"/>
        </p:xfrm>
        <a:graphic>
          <a:graphicData uri="http://schemas.openxmlformats.org/drawingml/2006/table">
            <a:tbl>
              <a:tblPr firstRow="1"/>
              <a:tblGrid>
                <a:gridCol w="2647950">
                  <a:extLst>
                    <a:ext uri="{9D8B030D-6E8A-4147-A177-3AD203B41FA5}">
                      <a16:colId xmlns:a16="http://schemas.microsoft.com/office/drawing/2014/main" val="20000"/>
                    </a:ext>
                  </a:extLst>
                </a:gridCol>
                <a:gridCol w="2647950">
                  <a:extLst>
                    <a:ext uri="{9D8B030D-6E8A-4147-A177-3AD203B41FA5}">
                      <a16:colId xmlns:a16="http://schemas.microsoft.com/office/drawing/2014/main" val="20001"/>
                    </a:ext>
                  </a:extLst>
                </a:gridCol>
              </a:tblGrid>
              <a:tr h="928688">
                <a:tc>
                  <a:txBody>
                    <a:bodyPr/>
                    <a:lstStyle/>
                    <a:p>
                      <a:r>
                        <a:rPr sz="1575" b="1">
                          <a:solidFill>
                            <a:srgbClr val="FFFFFF"/>
                          </a:solidFill>
                          <a:latin typeface="Helvetica Neue"/>
                          <a:ea typeface="Helvetica Neue"/>
                          <a:cs typeface="Helvetica Neue"/>
                        </a:rPr>
                        <a:t>Table</a:t>
                      </a:r>
                    </a:p>
                  </a:txBody>
                  <a:tcPr anchor="ctr">
                    <a:solidFill>
                      <a:srgbClr val="242C35"/>
                    </a:solidFill>
                  </a:tcPr>
                </a:tc>
                <a:tc>
                  <a:txBody>
                    <a:bodyPr/>
                    <a:lstStyle/>
                    <a:p>
                      <a:r>
                        <a:rPr sz="1575" b="1">
                          <a:solidFill>
                            <a:srgbClr val="FFFFFF"/>
                          </a:solidFill>
                          <a:latin typeface="Helvetica Neue"/>
                          <a:ea typeface="Helvetica Neue"/>
                          <a:cs typeface="Helvetica Neue"/>
                        </a:rPr>
                        <a:t>Stores</a:t>
                      </a:r>
                    </a:p>
                  </a:txBody>
                  <a:tcPr anchor="ctr">
                    <a:solidFill>
                      <a:srgbClr val="242C35"/>
                    </a:solidFill>
                  </a:tcPr>
                </a:tc>
                <a:extLst>
                  <a:ext uri="{0D108BD9-81ED-4DB2-BD59-A6C34878D82A}">
                    <a16:rowId xmlns:a16="http://schemas.microsoft.com/office/drawing/2014/main" val="10000"/>
                  </a:ext>
                </a:extLst>
              </a:tr>
              <a:tr h="928688">
                <a:tc>
                  <a:txBody>
                    <a:bodyPr/>
                    <a:lstStyle/>
                    <a:p>
                      <a:r>
                        <a:rPr sz="1575" b="0">
                          <a:solidFill>
                            <a:srgbClr val="242C35"/>
                          </a:solidFill>
                          <a:latin typeface="Helvetica Neue"/>
                          <a:ea typeface="Helvetica Neue"/>
                          <a:cs typeface="Helvetica Neue"/>
                        </a:rPr>
                        <a:t>tasks_task</a:t>
                      </a:r>
                    </a:p>
                  </a:txBody>
                  <a:tcPr anchor="ctr">
                    <a:solidFill>
                      <a:srgbClr val="FFFFFF"/>
                    </a:solidFill>
                  </a:tcPr>
                </a:tc>
                <a:tc>
                  <a:txBody>
                    <a:bodyPr/>
                    <a:lstStyle/>
                    <a:p>
                      <a:r>
                        <a:rPr sz="1575" b="0">
                          <a:solidFill>
                            <a:srgbClr val="242C35"/>
                          </a:solidFill>
                          <a:latin typeface="Helvetica Neue"/>
                          <a:ea typeface="Helvetica Neue"/>
                          <a:cs typeface="Helvetica Neue"/>
                        </a:rPr>
                        <a:t>TODOs and owners</a:t>
                      </a:r>
                    </a:p>
                  </a:txBody>
                  <a:tcPr anchor="ctr">
                    <a:solidFill>
                      <a:srgbClr val="FFFFFF"/>
                    </a:solidFill>
                  </a:tcPr>
                </a:tc>
                <a:extLst>
                  <a:ext uri="{0D108BD9-81ED-4DB2-BD59-A6C34878D82A}">
                    <a16:rowId xmlns:a16="http://schemas.microsoft.com/office/drawing/2014/main" val="10001"/>
                  </a:ext>
                </a:extLst>
              </a:tr>
              <a:tr h="928688">
                <a:tc>
                  <a:txBody>
                    <a:bodyPr/>
                    <a:lstStyle/>
                    <a:p>
                      <a:r>
                        <a:rPr sz="1575" b="0">
                          <a:solidFill>
                            <a:srgbClr val="242C35"/>
                          </a:solidFill>
                          <a:latin typeface="Helvetica Neue"/>
                          <a:ea typeface="Helvetica Neue"/>
                          <a:cs typeface="Helvetica Neue"/>
                        </a:rPr>
                        <a:t>tasks_entry</a:t>
                      </a:r>
                    </a:p>
                  </a:txBody>
                  <a:tcPr anchor="ctr">
                    <a:solidFill>
                      <a:srgbClr val="F8F5EF"/>
                    </a:solidFill>
                  </a:tcPr>
                </a:tc>
                <a:tc>
                  <a:txBody>
                    <a:bodyPr/>
                    <a:lstStyle/>
                    <a:p>
                      <a:r>
                        <a:rPr sz="1575" b="0">
                          <a:solidFill>
                            <a:srgbClr val="242C35"/>
                          </a:solidFill>
                          <a:latin typeface="Helvetica Neue"/>
                          <a:ea typeface="Helvetica Neue"/>
                          <a:cs typeface="Helvetica Neue"/>
                        </a:rPr>
                        <a:t>Keys, values and owners</a:t>
                      </a:r>
                    </a:p>
                  </a:txBody>
                  <a:tcPr anchor="ctr">
                    <a:solidFill>
                      <a:srgbClr val="F8F5EF"/>
                    </a:solidFill>
                  </a:tcPr>
                </a:tc>
                <a:extLst>
                  <a:ext uri="{0D108BD9-81ED-4DB2-BD59-A6C34878D82A}">
                    <a16:rowId xmlns:a16="http://schemas.microsoft.com/office/drawing/2014/main" val="10002"/>
                  </a:ext>
                </a:extLst>
              </a:tr>
              <a:tr h="928688">
                <a:tc>
                  <a:txBody>
                    <a:bodyPr/>
                    <a:lstStyle/>
                    <a:p>
                      <a:r>
                        <a:rPr sz="1575" b="0">
                          <a:solidFill>
                            <a:srgbClr val="242C35"/>
                          </a:solidFill>
                          <a:latin typeface="Helvetica Neue"/>
                          <a:ea typeface="Helvetica Neue"/>
                          <a:cs typeface="Helvetica Neue"/>
                        </a:rPr>
                        <a:t>auth_user</a:t>
                      </a:r>
                    </a:p>
                  </a:txBody>
                  <a:tcPr anchor="ctr">
                    <a:solidFill>
                      <a:srgbClr val="FFFFFF"/>
                    </a:solidFill>
                  </a:tcPr>
                </a:tc>
                <a:tc>
                  <a:txBody>
                    <a:bodyPr/>
                    <a:lstStyle/>
                    <a:p>
                      <a:r>
                        <a:rPr sz="1575" b="0">
                          <a:solidFill>
                            <a:srgbClr val="242C35"/>
                          </a:solidFill>
                          <a:latin typeface="Helvetica Neue"/>
                          <a:ea typeface="Helvetica Neue"/>
                          <a:cs typeface="Helvetica Neue"/>
                        </a:rPr>
                        <a:t>Accounts</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21" name="fade-1-takeaway">
            <a:extLst>
              <a:ext uri="{FF2B5EF4-FFF2-40B4-BE49-F238E27FC236}">
                <a16:creationId xmlns:a16="http://schemas.microsoft.com/office/drawing/2014/main" id="{86FD1122-455C-4F11-BD94-76031CBC9E5C}"/>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Tasks and entries live in PostgreSQL after deployment.</a:t>
            </a:r>
          </a:p>
        </p:txBody>
      </p:sp>
    </p:spTree>
    <p:extLst>
      <p:ext uri="{BB962C8B-B14F-4D97-AF65-F5344CB8AC3E}">
        <p14:creationId xmlns:p14="http://schemas.microsoft.com/office/powerpoint/2010/main" val="3147581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350" fill="hold">
                                          <p:stCondLst>
                                            <p:cond delay="0"/>
                                          </p:stCondLst>
                                        </p:cTn>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4" name="text-456">
            <a:extLst>
              <a:ext uri="{FF2B5EF4-FFF2-40B4-BE49-F238E27FC236}">
                <a16:creationId xmlns:a16="http://schemas.microsoft.com/office/drawing/2014/main" id="{70CB4705-06BA-4F37-B287-3E2013F42A7C}"/>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06 / Production</a:t>
            </a:r>
          </a:p>
        </p:txBody>
      </p:sp>
      <p:sp>
        <p:nvSpPr>
          <p:cNvPr id="2" name="text-457">
            <a:extLst>
              <a:ext uri="{FF2B5EF4-FFF2-40B4-BE49-F238E27FC236}">
                <a16:creationId xmlns:a16="http://schemas.microsoft.com/office/drawing/2014/main" id="{070CA4DB-1374-4C17-8BF4-499328E78109}"/>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Production application architecture</a:t>
            </a:r>
          </a:p>
        </p:txBody>
      </p:sp>
      <p:sp>
        <p:nvSpPr>
          <p:cNvPr id="3" name="text-458">
            <a:extLst>
              <a:ext uri="{FF2B5EF4-FFF2-40B4-BE49-F238E27FC236}">
                <a16:creationId xmlns:a16="http://schemas.microsoft.com/office/drawing/2014/main" id="{9AA8A48D-94FF-4240-BBF5-2DF8DBABAD10}"/>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459">
            <a:extLst>
              <a:ext uri="{FF2B5EF4-FFF2-40B4-BE49-F238E27FC236}">
                <a16:creationId xmlns:a16="http://schemas.microsoft.com/office/drawing/2014/main" id="{4036738B-5080-4E3F-B8B1-453FAD634243}"/>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60</a:t>
            </a:r>
          </a:p>
        </p:txBody>
      </p:sp>
      <p:sp>
        <p:nvSpPr>
          <p:cNvPr id="5" name="reveal-1-flow-head">
            <a:extLst>
              <a:ext uri="{FF2B5EF4-FFF2-40B4-BE49-F238E27FC236}">
                <a16:creationId xmlns:a16="http://schemas.microsoft.com/office/drawing/2014/main" id="{54282CD7-7F28-48A9-AFA8-8A8F490D4F5B}"/>
              </a:ext>
            </a:extLst>
          </p:cNvPr>
          <p:cNvSpPr>
            <a:spLocks noGrp="1"/>
          </p:cNvSpPr>
          <p:nvPr/>
        </p:nvSpPr>
        <p:spPr>
          <a:xfrm>
            <a:off x="685800" y="2771775"/>
            <a:ext cx="4400550" cy="666750"/>
          </a:xfrm>
          <a:prstGeom prst="rect">
            <a:avLst/>
          </a:prstGeom>
          <a:noFill/>
          <a:ln w="0">
            <a:noFill/>
          </a:ln>
        </p:spPr>
        <p:txBody>
          <a:bodyPr wrap="none" lIns="0" tIns="0" rIns="0" bIns="0" anchor="t">
            <a:noAutofit/>
          </a:bodyPr>
          <a:lstStyle/>
          <a:p>
            <a:pPr algn="l">
              <a:defRPr sz="2550" b="0">
                <a:solidFill>
                  <a:srgbClr val="315BCD"/>
                </a:solidFill>
                <a:latin typeface="Georgia"/>
                <a:ea typeface="Georgia"/>
                <a:cs typeface="Georgia"/>
              </a:defRPr>
            </a:pPr>
            <a:r>
              <a:rPr sz="2550" b="0">
                <a:solidFill>
                  <a:srgbClr val="315BCD"/>
                </a:solidFill>
                <a:latin typeface="Georgia"/>
                <a:ea typeface="Georgia"/>
                <a:cs typeface="Georgia"/>
              </a:rPr>
              <a:t>Browser</a:t>
            </a:r>
          </a:p>
        </p:txBody>
      </p:sp>
      <p:sp>
        <p:nvSpPr>
          <p:cNvPr id="6" name="reveal-1-flow-body">
            <a:extLst>
              <a:ext uri="{FF2B5EF4-FFF2-40B4-BE49-F238E27FC236}">
                <a16:creationId xmlns:a16="http://schemas.microsoft.com/office/drawing/2014/main" id="{737B889F-58AA-4B3E-A2BA-CB187E9D65E6}"/>
              </a:ext>
            </a:extLst>
          </p:cNvPr>
          <p:cNvSpPr>
            <a:spLocks noGrp="1"/>
          </p:cNvSpPr>
          <p:nvPr/>
        </p:nvSpPr>
        <p:spPr>
          <a:xfrm>
            <a:off x="685800" y="3867150"/>
            <a:ext cx="4400550" cy="133350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Uses the public HTTPS URL.</a:t>
            </a:r>
          </a:p>
        </p:txBody>
      </p:sp>
      <p:sp>
        <p:nvSpPr>
          <p:cNvPr id="7" name="reveal-1-arrow">
            <a:extLst>
              <a:ext uri="{FF2B5EF4-FFF2-40B4-BE49-F238E27FC236}">
                <a16:creationId xmlns:a16="http://schemas.microsoft.com/office/drawing/2014/main" id="{FD5936B4-92E1-4CD4-9717-5B0559AE8A65}"/>
              </a:ext>
            </a:extLst>
          </p:cNvPr>
          <p:cNvSpPr>
            <a:spLocks noGrp="1"/>
          </p:cNvSpPr>
          <p:nvPr/>
        </p:nvSpPr>
        <p:spPr>
          <a:xfrm>
            <a:off x="5105400" y="2790825"/>
            <a:ext cx="304800" cy="609600"/>
          </a:xfrm>
          <a:prstGeom prst="rect">
            <a:avLst/>
          </a:prstGeom>
          <a:noFill/>
          <a:ln w="0">
            <a:noFill/>
          </a:ln>
        </p:spPr>
        <p:txBody>
          <a:bodyPr wrap="none" lIns="0" tIns="0" rIns="0" bIns="0" anchor="t">
            <a:noAutofit/>
          </a:bodyPr>
          <a:lstStyle/>
          <a:p>
            <a:pPr algn="l">
              <a:defRPr sz="2400" b="0">
                <a:solidFill>
                  <a:srgbClr val="D8663D"/>
                </a:solidFill>
                <a:latin typeface="Helvetica Neue"/>
                <a:ea typeface="Helvetica Neue"/>
                <a:cs typeface="Helvetica Neue"/>
              </a:defRPr>
            </a:pPr>
            <a:r>
              <a:rPr sz="2400" b="0">
                <a:solidFill>
                  <a:srgbClr val="D8663D"/>
                </a:solidFill>
                <a:latin typeface="Helvetica Neue"/>
                <a:ea typeface="Helvetica Neue"/>
                <a:cs typeface="Helvetica Neue"/>
              </a:rPr>
              <a:t>→</a:t>
            </a:r>
          </a:p>
        </p:txBody>
      </p:sp>
      <p:sp>
        <p:nvSpPr>
          <p:cNvPr id="8" name="reveal-2-flow-head">
            <a:extLst>
              <a:ext uri="{FF2B5EF4-FFF2-40B4-BE49-F238E27FC236}">
                <a16:creationId xmlns:a16="http://schemas.microsoft.com/office/drawing/2014/main" id="{22887D24-8859-45DC-96CD-C7F64C5DBF44}"/>
              </a:ext>
            </a:extLst>
          </p:cNvPr>
          <p:cNvSpPr>
            <a:spLocks noGrp="1"/>
          </p:cNvSpPr>
          <p:nvPr/>
        </p:nvSpPr>
        <p:spPr>
          <a:xfrm>
            <a:off x="5419725" y="2771775"/>
            <a:ext cx="4400550" cy="666750"/>
          </a:xfrm>
          <a:prstGeom prst="rect">
            <a:avLst/>
          </a:prstGeom>
          <a:noFill/>
          <a:ln w="0">
            <a:noFill/>
          </a:ln>
        </p:spPr>
        <p:txBody>
          <a:bodyPr wrap="none" lIns="0" tIns="0" rIns="0" bIns="0" anchor="t">
            <a:noAutofit/>
          </a:bodyPr>
          <a:lstStyle/>
          <a:p>
            <a:pPr algn="l">
              <a:defRPr sz="2550" b="0">
                <a:solidFill>
                  <a:srgbClr val="315BCD"/>
                </a:solidFill>
                <a:latin typeface="Georgia"/>
                <a:ea typeface="Georgia"/>
                <a:cs typeface="Georgia"/>
              </a:defRPr>
            </a:pPr>
            <a:r>
              <a:rPr sz="2550" b="0">
                <a:solidFill>
                  <a:srgbClr val="315BCD"/>
                </a:solidFill>
                <a:latin typeface="Georgia"/>
                <a:ea typeface="Georgia"/>
                <a:cs typeface="Georgia"/>
              </a:rPr>
              <a:t>Vercel</a:t>
            </a:r>
          </a:p>
        </p:txBody>
      </p:sp>
      <p:sp>
        <p:nvSpPr>
          <p:cNvPr id="9" name="reveal-2-flow-body">
            <a:extLst>
              <a:ext uri="{FF2B5EF4-FFF2-40B4-BE49-F238E27FC236}">
                <a16:creationId xmlns:a16="http://schemas.microsoft.com/office/drawing/2014/main" id="{EBFACD5E-B29B-4941-92C8-40CC2BBE1F92}"/>
              </a:ext>
            </a:extLst>
          </p:cNvPr>
          <p:cNvSpPr>
            <a:spLocks noGrp="1"/>
          </p:cNvSpPr>
          <p:nvPr/>
        </p:nvSpPr>
        <p:spPr>
          <a:xfrm>
            <a:off x="5419725" y="3867150"/>
            <a:ext cx="4400550" cy="133350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Runs the Django app.</a:t>
            </a:r>
          </a:p>
        </p:txBody>
      </p:sp>
      <p:sp>
        <p:nvSpPr>
          <p:cNvPr id="10" name="reveal-2-arrow">
            <a:extLst>
              <a:ext uri="{FF2B5EF4-FFF2-40B4-BE49-F238E27FC236}">
                <a16:creationId xmlns:a16="http://schemas.microsoft.com/office/drawing/2014/main" id="{2363A9C3-8BF5-4CA3-B407-861B71953DA1}"/>
              </a:ext>
            </a:extLst>
          </p:cNvPr>
          <p:cNvSpPr>
            <a:spLocks noGrp="1"/>
          </p:cNvSpPr>
          <p:nvPr/>
        </p:nvSpPr>
        <p:spPr>
          <a:xfrm>
            <a:off x="9839325" y="2790825"/>
            <a:ext cx="304800" cy="609600"/>
          </a:xfrm>
          <a:prstGeom prst="rect">
            <a:avLst/>
          </a:prstGeom>
          <a:noFill/>
          <a:ln w="0">
            <a:noFill/>
          </a:ln>
        </p:spPr>
        <p:txBody>
          <a:bodyPr wrap="none" lIns="0" tIns="0" rIns="0" bIns="0" anchor="t">
            <a:noAutofit/>
          </a:bodyPr>
          <a:lstStyle/>
          <a:p>
            <a:pPr algn="l">
              <a:defRPr sz="2400" b="0">
                <a:solidFill>
                  <a:srgbClr val="D8663D"/>
                </a:solidFill>
                <a:latin typeface="Helvetica Neue"/>
                <a:ea typeface="Helvetica Neue"/>
                <a:cs typeface="Helvetica Neue"/>
              </a:defRPr>
            </a:pPr>
            <a:r>
              <a:rPr sz="2400" b="0">
                <a:solidFill>
                  <a:srgbClr val="D8663D"/>
                </a:solidFill>
                <a:latin typeface="Helvetica Neue"/>
                <a:ea typeface="Helvetica Neue"/>
                <a:cs typeface="Helvetica Neue"/>
              </a:rPr>
              <a:t>→</a:t>
            </a:r>
          </a:p>
        </p:txBody>
      </p:sp>
      <p:sp>
        <p:nvSpPr>
          <p:cNvPr id="11" name="reveal-3-flow-head">
            <a:extLst>
              <a:ext uri="{FF2B5EF4-FFF2-40B4-BE49-F238E27FC236}">
                <a16:creationId xmlns:a16="http://schemas.microsoft.com/office/drawing/2014/main" id="{6DE2F3A2-BA09-4DC0-BD50-D96F4E35B7DE}"/>
              </a:ext>
            </a:extLst>
          </p:cNvPr>
          <p:cNvSpPr>
            <a:spLocks noGrp="1"/>
          </p:cNvSpPr>
          <p:nvPr/>
        </p:nvSpPr>
        <p:spPr>
          <a:xfrm>
            <a:off x="10153650" y="2771775"/>
            <a:ext cx="4400550" cy="666750"/>
          </a:xfrm>
          <a:prstGeom prst="rect">
            <a:avLst/>
          </a:prstGeom>
          <a:noFill/>
          <a:ln w="0">
            <a:noFill/>
          </a:ln>
        </p:spPr>
        <p:txBody>
          <a:bodyPr wrap="none" lIns="0" tIns="0" rIns="0" bIns="0" anchor="t">
            <a:noAutofit/>
          </a:bodyPr>
          <a:lstStyle/>
          <a:p>
            <a:pPr algn="l">
              <a:defRPr sz="2550" b="0">
                <a:solidFill>
                  <a:srgbClr val="315BCD"/>
                </a:solidFill>
                <a:latin typeface="Georgia"/>
                <a:ea typeface="Georgia"/>
                <a:cs typeface="Georgia"/>
              </a:defRPr>
            </a:pPr>
            <a:r>
              <a:rPr sz="2550" b="0">
                <a:solidFill>
                  <a:srgbClr val="315BCD"/>
                </a:solidFill>
                <a:latin typeface="Georgia"/>
                <a:ea typeface="Georgia"/>
                <a:cs typeface="Georgia"/>
              </a:rPr>
              <a:t>PostgreSQL</a:t>
            </a:r>
          </a:p>
        </p:txBody>
      </p:sp>
      <p:sp>
        <p:nvSpPr>
          <p:cNvPr id="12" name="reveal-3-flow-body">
            <a:extLst>
              <a:ext uri="{FF2B5EF4-FFF2-40B4-BE49-F238E27FC236}">
                <a16:creationId xmlns:a16="http://schemas.microsoft.com/office/drawing/2014/main" id="{E13D046C-2860-42D4-A874-07D9672C0D56}"/>
              </a:ext>
            </a:extLst>
          </p:cNvPr>
          <p:cNvSpPr>
            <a:spLocks noGrp="1"/>
          </p:cNvSpPr>
          <p:nvPr/>
        </p:nvSpPr>
        <p:spPr>
          <a:xfrm>
            <a:off x="10153650" y="3867150"/>
            <a:ext cx="4400550" cy="1333500"/>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Persists application data.</a:t>
            </a:r>
          </a:p>
        </p:txBody>
      </p:sp>
      <p:sp>
        <p:nvSpPr>
          <p:cNvPr id="13" name="text-460">
            <a:extLst>
              <a:ext uri="{FF2B5EF4-FFF2-40B4-BE49-F238E27FC236}">
                <a16:creationId xmlns:a16="http://schemas.microsoft.com/office/drawing/2014/main" id="{C943D0FF-F32B-4100-839F-35FD3405CEC9}"/>
              </a:ext>
            </a:extLst>
          </p:cNvPr>
          <p:cNvSpPr>
            <a:spLocks noGrp="1"/>
          </p:cNvSpPr>
          <p:nvPr/>
        </p:nvSpPr>
        <p:spPr>
          <a:xfrm>
            <a:off x="685800" y="6610350"/>
            <a:ext cx="13716000" cy="952500"/>
          </a:xfrm>
          <a:prstGeom prst="rect">
            <a:avLst/>
          </a:prstGeom>
          <a:noFill/>
          <a:ln w="0">
            <a:noFill/>
          </a:ln>
        </p:spPr>
        <p:txBody>
          <a:bodyPr wrap="none" lIns="0" tIns="0" rIns="0" bIns="0" anchor="t">
            <a:noAutofit/>
          </a:bodyPr>
          <a:lstStyle/>
          <a:p>
            <a:pPr algn="l">
              <a:defRPr sz="2550" b="0">
                <a:solidFill>
                  <a:srgbClr val="315BCD"/>
                </a:solidFill>
                <a:latin typeface="Georgia"/>
                <a:ea typeface="Georgia"/>
                <a:cs typeface="Georgia"/>
              </a:defRPr>
            </a:pPr>
            <a:r>
              <a:rPr sz="2550" b="0">
                <a:solidFill>
                  <a:srgbClr val="315BCD"/>
                </a:solidFill>
                <a:latin typeface="Georgia"/>
                <a:ea typeface="Georgia"/>
                <a:cs typeface="Georgia"/>
              </a:rPr>
              <a:t>Static assets are served from the CDN. Secrets stay in environment variables.</a:t>
            </a:r>
          </a:p>
        </p:txBody>
      </p:sp>
    </p:spTree>
    <p:extLst>
      <p:ext uri="{BB962C8B-B14F-4D97-AF65-F5344CB8AC3E}">
        <p14:creationId xmlns:p14="http://schemas.microsoft.com/office/powerpoint/2010/main" val="3168215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4" name="text-461">
            <a:extLst>
              <a:ext uri="{FF2B5EF4-FFF2-40B4-BE49-F238E27FC236}">
                <a16:creationId xmlns:a16="http://schemas.microsoft.com/office/drawing/2014/main" id="{194749EF-7F95-4BDC-8A1E-24750B6A6700}"/>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06 / Production</a:t>
            </a:r>
          </a:p>
        </p:txBody>
      </p:sp>
      <p:sp>
        <p:nvSpPr>
          <p:cNvPr id="2" name="text-462">
            <a:extLst>
              <a:ext uri="{FF2B5EF4-FFF2-40B4-BE49-F238E27FC236}">
                <a16:creationId xmlns:a16="http://schemas.microsoft.com/office/drawing/2014/main" id="{C87C89FD-9C01-49C8-8790-A185CAD6AD6F}"/>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Django deployment on Vercel</a:t>
            </a:r>
          </a:p>
        </p:txBody>
      </p:sp>
      <p:sp>
        <p:nvSpPr>
          <p:cNvPr id="3" name="text-463">
            <a:extLst>
              <a:ext uri="{FF2B5EF4-FFF2-40B4-BE49-F238E27FC236}">
                <a16:creationId xmlns:a16="http://schemas.microsoft.com/office/drawing/2014/main" id="{425F1E53-99A4-4B94-98EE-25F2D347DF2F}"/>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464">
            <a:extLst>
              <a:ext uri="{FF2B5EF4-FFF2-40B4-BE49-F238E27FC236}">
                <a16:creationId xmlns:a16="http://schemas.microsoft.com/office/drawing/2014/main" id="{DB74C6FB-591A-4CDC-9E23-A31B19223C58}"/>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61</a:t>
            </a:r>
          </a:p>
        </p:txBody>
      </p:sp>
      <p:sp>
        <p:nvSpPr>
          <p:cNvPr id="5" name="reveal-1-number">
            <a:extLst>
              <a:ext uri="{FF2B5EF4-FFF2-40B4-BE49-F238E27FC236}">
                <a16:creationId xmlns:a16="http://schemas.microsoft.com/office/drawing/2014/main" id="{27948A25-0A35-4679-B766-CD8A47C5B74C}"/>
              </a:ext>
            </a:extLst>
          </p:cNvPr>
          <p:cNvSpPr>
            <a:spLocks noGrp="1"/>
          </p:cNvSpPr>
          <p:nvPr/>
        </p:nvSpPr>
        <p:spPr>
          <a:xfrm>
            <a:off x="685800" y="2457450"/>
            <a:ext cx="952500" cy="742950"/>
          </a:xfrm>
          <a:prstGeom prst="rect">
            <a:avLst/>
          </a:prstGeom>
          <a:noFill/>
          <a:ln w="0">
            <a:noFill/>
          </a:ln>
        </p:spPr>
        <p:txBody>
          <a:bodyPr wrap="none" lIns="0" tIns="0" rIns="0" bIns="0" anchor="t">
            <a:noAutofit/>
          </a:bodyPr>
          <a:lstStyle/>
          <a:p>
            <a:pPr algn="l">
              <a:defRPr sz="4050" b="0">
                <a:solidFill>
                  <a:srgbClr val="D8663D"/>
                </a:solidFill>
                <a:latin typeface="Georgia"/>
                <a:ea typeface="Georgia"/>
                <a:cs typeface="Georgia"/>
              </a:defRPr>
            </a:pPr>
            <a:r>
              <a:rPr sz="4050" b="0">
                <a:solidFill>
                  <a:srgbClr val="D8663D"/>
                </a:solidFill>
                <a:latin typeface="Georgia"/>
                <a:ea typeface="Georgia"/>
                <a:cs typeface="Georgia"/>
              </a:rPr>
              <a:t>1</a:t>
            </a:r>
          </a:p>
        </p:txBody>
      </p:sp>
      <p:sp>
        <p:nvSpPr>
          <p:cNvPr id="6" name="reveal-1-head">
            <a:extLst>
              <a:ext uri="{FF2B5EF4-FFF2-40B4-BE49-F238E27FC236}">
                <a16:creationId xmlns:a16="http://schemas.microsoft.com/office/drawing/2014/main" id="{A064203D-46CC-42D7-97D9-EF81D6F57A03}"/>
              </a:ext>
            </a:extLst>
          </p:cNvPr>
          <p:cNvSpPr>
            <a:spLocks noGrp="1"/>
          </p:cNvSpPr>
          <p:nvPr/>
        </p:nvSpPr>
        <p:spPr>
          <a:xfrm>
            <a:off x="1981200" y="2457450"/>
            <a:ext cx="11906250" cy="523875"/>
          </a:xfrm>
          <a:prstGeom prst="rect">
            <a:avLst/>
          </a:prstGeom>
          <a:noFill/>
          <a:ln w="0">
            <a:noFill/>
          </a:ln>
        </p:spPr>
        <p:txBody>
          <a:bodyPr wrap="none" lIns="0" tIns="0" rIns="0" bIns="0" anchor="t">
            <a:noAutofit/>
          </a:bodyPr>
          <a:lstStyle/>
          <a:p>
            <a:pPr algn="l">
              <a:defRPr sz="2475" b="1">
                <a:solidFill>
                  <a:srgbClr val="242C35"/>
                </a:solidFill>
                <a:latin typeface="Helvetica Neue"/>
                <a:ea typeface="Helvetica Neue"/>
                <a:cs typeface="Helvetica Neue"/>
              </a:defRPr>
            </a:pPr>
            <a:r>
              <a:rPr sz="2475" b="1">
                <a:solidFill>
                  <a:srgbClr val="242C35"/>
                </a:solidFill>
                <a:latin typeface="Helvetica Neue"/>
                <a:ea typeface="Helvetica Neue"/>
                <a:cs typeface="Helvetica Neue"/>
              </a:rPr>
              <a:t>Prepare the repository</a:t>
            </a:r>
          </a:p>
        </p:txBody>
      </p:sp>
      <p:sp>
        <p:nvSpPr>
          <p:cNvPr id="7" name="reveal-1-body">
            <a:extLst>
              <a:ext uri="{FF2B5EF4-FFF2-40B4-BE49-F238E27FC236}">
                <a16:creationId xmlns:a16="http://schemas.microsoft.com/office/drawing/2014/main" id="{2FB77282-5E1E-4454-8240-9CB2565E26D0}"/>
              </a:ext>
            </a:extLst>
          </p:cNvPr>
          <p:cNvSpPr>
            <a:spLocks noGrp="1"/>
          </p:cNvSpPr>
          <p:nvPr/>
        </p:nvSpPr>
        <p:spPr>
          <a:xfrm>
            <a:off x="1981200" y="3048000"/>
            <a:ext cx="11906250" cy="1028700"/>
          </a:xfrm>
          <a:prstGeom prst="rect">
            <a:avLst/>
          </a:prstGeom>
          <a:noFill/>
          <a:ln w="0">
            <a:noFill/>
          </a:ln>
        </p:spPr>
        <p:txBody>
          <a:bodyPr wrap="none" lIns="0" tIns="0" rIns="0" bIns="0" anchor="t">
            <a:noAutofit/>
          </a:bodyPr>
          <a:lstStyle/>
          <a:p>
            <a:pPr algn="l">
              <a:defRPr sz="2175" b="0">
                <a:solidFill>
                  <a:srgbClr val="65717A"/>
                </a:solidFill>
                <a:latin typeface="Helvetica Neue"/>
                <a:ea typeface="Helvetica Neue"/>
                <a:cs typeface="Helvetica Neue"/>
              </a:defRPr>
            </a:pPr>
            <a:r>
              <a:rPr sz="2175" b="0">
                <a:solidFill>
                  <a:srgbClr val="65717A"/>
                </a:solidFill>
                <a:latin typeface="Helvetica Neue"/>
                <a:ea typeface="Helvetica Neue"/>
                <a:cs typeface="Helvetica Neue"/>
              </a:rPr>
              <a:t>Keep manage.py, tested requirements.txt, migrations and a .python-version file containing 3.13.</a:t>
            </a:r>
          </a:p>
        </p:txBody>
      </p:sp>
      <p:sp>
        <p:nvSpPr>
          <p:cNvPr id="8" name="reveal-2-number">
            <a:extLst>
              <a:ext uri="{FF2B5EF4-FFF2-40B4-BE49-F238E27FC236}">
                <a16:creationId xmlns:a16="http://schemas.microsoft.com/office/drawing/2014/main" id="{89E22F77-438C-464A-8493-DDA4CB05E41F}"/>
              </a:ext>
            </a:extLst>
          </p:cNvPr>
          <p:cNvSpPr>
            <a:spLocks noGrp="1"/>
          </p:cNvSpPr>
          <p:nvPr/>
        </p:nvSpPr>
        <p:spPr>
          <a:xfrm>
            <a:off x="685800" y="4152900"/>
            <a:ext cx="952500" cy="742950"/>
          </a:xfrm>
          <a:prstGeom prst="rect">
            <a:avLst/>
          </a:prstGeom>
          <a:noFill/>
          <a:ln w="0">
            <a:noFill/>
          </a:ln>
        </p:spPr>
        <p:txBody>
          <a:bodyPr wrap="none" lIns="0" tIns="0" rIns="0" bIns="0" anchor="t">
            <a:noAutofit/>
          </a:bodyPr>
          <a:lstStyle/>
          <a:p>
            <a:pPr algn="l">
              <a:defRPr sz="4050" b="0">
                <a:solidFill>
                  <a:srgbClr val="D8663D"/>
                </a:solidFill>
                <a:latin typeface="Georgia"/>
                <a:ea typeface="Georgia"/>
                <a:cs typeface="Georgia"/>
              </a:defRPr>
            </a:pPr>
            <a:r>
              <a:rPr sz="4050" b="0">
                <a:solidFill>
                  <a:srgbClr val="D8663D"/>
                </a:solidFill>
                <a:latin typeface="Georgia"/>
                <a:ea typeface="Georgia"/>
                <a:cs typeface="Georgia"/>
              </a:rPr>
              <a:t>2</a:t>
            </a:r>
          </a:p>
        </p:txBody>
      </p:sp>
      <p:sp>
        <p:nvSpPr>
          <p:cNvPr id="9" name="reveal-2-head">
            <a:extLst>
              <a:ext uri="{FF2B5EF4-FFF2-40B4-BE49-F238E27FC236}">
                <a16:creationId xmlns:a16="http://schemas.microsoft.com/office/drawing/2014/main" id="{D90A77FE-5CD6-4A05-90D1-E877497F2E89}"/>
              </a:ext>
            </a:extLst>
          </p:cNvPr>
          <p:cNvSpPr>
            <a:spLocks noGrp="1"/>
          </p:cNvSpPr>
          <p:nvPr/>
        </p:nvSpPr>
        <p:spPr>
          <a:xfrm>
            <a:off x="1981200" y="4152900"/>
            <a:ext cx="11906250" cy="523875"/>
          </a:xfrm>
          <a:prstGeom prst="rect">
            <a:avLst/>
          </a:prstGeom>
          <a:noFill/>
          <a:ln w="0">
            <a:noFill/>
          </a:ln>
        </p:spPr>
        <p:txBody>
          <a:bodyPr wrap="none" lIns="0" tIns="0" rIns="0" bIns="0" anchor="t">
            <a:noAutofit/>
          </a:bodyPr>
          <a:lstStyle/>
          <a:p>
            <a:pPr algn="l">
              <a:defRPr sz="2475" b="1">
                <a:solidFill>
                  <a:srgbClr val="242C35"/>
                </a:solidFill>
                <a:latin typeface="Helvetica Neue"/>
                <a:ea typeface="Helvetica Neue"/>
                <a:cs typeface="Helvetica Neue"/>
              </a:defRPr>
            </a:pPr>
            <a:r>
              <a:rPr sz="2475" b="1">
                <a:solidFill>
                  <a:srgbClr val="242C35"/>
                </a:solidFill>
                <a:latin typeface="Helvetica Neue"/>
                <a:ea typeface="Helvetica Neue"/>
                <a:cs typeface="Helvetica Neue"/>
              </a:rPr>
              <a:t>Import the GitHub project</a:t>
            </a:r>
          </a:p>
        </p:txBody>
      </p:sp>
      <p:sp>
        <p:nvSpPr>
          <p:cNvPr id="10" name="reveal-2-body">
            <a:extLst>
              <a:ext uri="{FF2B5EF4-FFF2-40B4-BE49-F238E27FC236}">
                <a16:creationId xmlns:a16="http://schemas.microsoft.com/office/drawing/2014/main" id="{62666D00-9A7A-4AFA-8FF0-E37E7DBDAD8D}"/>
              </a:ext>
            </a:extLst>
          </p:cNvPr>
          <p:cNvSpPr>
            <a:spLocks noGrp="1"/>
          </p:cNvSpPr>
          <p:nvPr/>
        </p:nvSpPr>
        <p:spPr>
          <a:xfrm>
            <a:off x="1981200" y="4743450"/>
            <a:ext cx="11906250" cy="1028700"/>
          </a:xfrm>
          <a:prstGeom prst="rect">
            <a:avLst/>
          </a:prstGeom>
          <a:noFill/>
          <a:ln w="0">
            <a:noFill/>
          </a:ln>
        </p:spPr>
        <p:txBody>
          <a:bodyPr wrap="none" lIns="0" tIns="0" rIns="0" bIns="0" anchor="t">
            <a:noAutofit/>
          </a:bodyPr>
          <a:lstStyle/>
          <a:p>
            <a:pPr algn="l">
              <a:defRPr sz="2175" b="0">
                <a:solidFill>
                  <a:srgbClr val="65717A"/>
                </a:solidFill>
                <a:latin typeface="Helvetica Neue"/>
                <a:ea typeface="Helvetica Neue"/>
                <a:cs typeface="Helvetica Neue"/>
              </a:defRPr>
            </a:pPr>
            <a:r>
              <a:rPr sz="2175" b="0">
                <a:solidFill>
                  <a:srgbClr val="65717A"/>
                </a:solidFill>
                <a:latin typeface="Helvetica Neue"/>
                <a:ea typeface="Helvetica Neue"/>
                <a:cs typeface="Helvetica Neue"/>
              </a:rPr>
              <a:t>Select the directory containing manage.py and confirm Django detection.</a:t>
            </a:r>
          </a:p>
        </p:txBody>
      </p:sp>
      <p:sp>
        <p:nvSpPr>
          <p:cNvPr id="11" name="reveal-3-number">
            <a:extLst>
              <a:ext uri="{FF2B5EF4-FFF2-40B4-BE49-F238E27FC236}">
                <a16:creationId xmlns:a16="http://schemas.microsoft.com/office/drawing/2014/main" id="{46411755-B2A1-4A17-86D5-C7A1F809C31A}"/>
              </a:ext>
            </a:extLst>
          </p:cNvPr>
          <p:cNvSpPr>
            <a:spLocks noGrp="1"/>
          </p:cNvSpPr>
          <p:nvPr/>
        </p:nvSpPr>
        <p:spPr>
          <a:xfrm>
            <a:off x="685800" y="5848350"/>
            <a:ext cx="952500" cy="742950"/>
          </a:xfrm>
          <a:prstGeom prst="rect">
            <a:avLst/>
          </a:prstGeom>
          <a:noFill/>
          <a:ln w="0">
            <a:noFill/>
          </a:ln>
        </p:spPr>
        <p:txBody>
          <a:bodyPr wrap="none" lIns="0" tIns="0" rIns="0" bIns="0" anchor="t">
            <a:noAutofit/>
          </a:bodyPr>
          <a:lstStyle/>
          <a:p>
            <a:pPr algn="l">
              <a:defRPr sz="4050" b="0">
                <a:solidFill>
                  <a:srgbClr val="D8663D"/>
                </a:solidFill>
                <a:latin typeface="Georgia"/>
                <a:ea typeface="Georgia"/>
                <a:cs typeface="Georgia"/>
              </a:defRPr>
            </a:pPr>
            <a:r>
              <a:rPr sz="4050" b="0">
                <a:solidFill>
                  <a:srgbClr val="D8663D"/>
                </a:solidFill>
                <a:latin typeface="Georgia"/>
                <a:ea typeface="Georgia"/>
                <a:cs typeface="Georgia"/>
              </a:rPr>
              <a:t>3</a:t>
            </a:r>
          </a:p>
        </p:txBody>
      </p:sp>
      <p:sp>
        <p:nvSpPr>
          <p:cNvPr id="12" name="reveal-3-head">
            <a:extLst>
              <a:ext uri="{FF2B5EF4-FFF2-40B4-BE49-F238E27FC236}">
                <a16:creationId xmlns:a16="http://schemas.microsoft.com/office/drawing/2014/main" id="{87B8B13D-EC24-4C9A-B9A2-A74E60A60595}"/>
              </a:ext>
            </a:extLst>
          </p:cNvPr>
          <p:cNvSpPr>
            <a:spLocks noGrp="1"/>
          </p:cNvSpPr>
          <p:nvPr/>
        </p:nvSpPr>
        <p:spPr>
          <a:xfrm>
            <a:off x="1981200" y="5848350"/>
            <a:ext cx="11906250" cy="523875"/>
          </a:xfrm>
          <a:prstGeom prst="rect">
            <a:avLst/>
          </a:prstGeom>
          <a:noFill/>
          <a:ln w="0">
            <a:noFill/>
          </a:ln>
        </p:spPr>
        <p:txBody>
          <a:bodyPr wrap="none" lIns="0" tIns="0" rIns="0" bIns="0" anchor="t">
            <a:noAutofit/>
          </a:bodyPr>
          <a:lstStyle/>
          <a:p>
            <a:pPr algn="l">
              <a:defRPr sz="2475" b="1">
                <a:solidFill>
                  <a:srgbClr val="242C35"/>
                </a:solidFill>
                <a:latin typeface="Helvetica Neue"/>
                <a:ea typeface="Helvetica Neue"/>
                <a:cs typeface="Helvetica Neue"/>
              </a:defRPr>
            </a:pPr>
            <a:r>
              <a:rPr sz="2475" b="1">
                <a:solidFill>
                  <a:srgbClr val="242C35"/>
                </a:solidFill>
                <a:latin typeface="Helvetica Neue"/>
                <a:ea typeface="Helvetica Neue"/>
                <a:cs typeface="Helvetica Neue"/>
              </a:rPr>
              <a:t>Configure and deploy</a:t>
            </a:r>
          </a:p>
        </p:txBody>
      </p:sp>
      <p:sp>
        <p:nvSpPr>
          <p:cNvPr id="13" name="reveal-3-body">
            <a:extLst>
              <a:ext uri="{FF2B5EF4-FFF2-40B4-BE49-F238E27FC236}">
                <a16:creationId xmlns:a16="http://schemas.microsoft.com/office/drawing/2014/main" id="{C962758D-F427-456D-8E7F-2C2E1054F8C4}"/>
              </a:ext>
            </a:extLst>
          </p:cNvPr>
          <p:cNvSpPr>
            <a:spLocks noGrp="1"/>
          </p:cNvSpPr>
          <p:nvPr/>
        </p:nvSpPr>
        <p:spPr>
          <a:xfrm>
            <a:off x="1981200" y="6438900"/>
            <a:ext cx="11906250" cy="1028700"/>
          </a:xfrm>
          <a:prstGeom prst="rect">
            <a:avLst/>
          </a:prstGeom>
          <a:noFill/>
          <a:ln w="0">
            <a:noFill/>
          </a:ln>
        </p:spPr>
        <p:txBody>
          <a:bodyPr wrap="none" lIns="0" tIns="0" rIns="0" bIns="0" anchor="t">
            <a:noAutofit/>
          </a:bodyPr>
          <a:lstStyle/>
          <a:p>
            <a:pPr algn="l">
              <a:defRPr sz="2175" b="0">
                <a:solidFill>
                  <a:srgbClr val="65717A"/>
                </a:solidFill>
                <a:latin typeface="Helvetica Neue"/>
                <a:ea typeface="Helvetica Neue"/>
                <a:cs typeface="Helvetica Neue"/>
              </a:defRPr>
            </a:pPr>
            <a:r>
              <a:rPr sz="2175" b="0">
                <a:solidFill>
                  <a:srgbClr val="65717A"/>
                </a:solidFill>
                <a:latin typeface="Helvetica Neue"/>
                <a:ea typeface="Helvetica Neue"/>
                <a:cs typeface="Helvetica Neue"/>
              </a:rPr>
              <a:t>Set secrets, allowed hosts and DATABASE_URL in the correct environment.</a:t>
            </a:r>
          </a:p>
        </p:txBody>
      </p:sp>
    </p:spTree>
    <p:extLst>
      <p:ext uri="{BB962C8B-B14F-4D97-AF65-F5344CB8AC3E}">
        <p14:creationId xmlns:p14="http://schemas.microsoft.com/office/powerpoint/2010/main" val="3224929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3" name="text-465">
            <a:extLst>
              <a:ext uri="{FF2B5EF4-FFF2-40B4-BE49-F238E27FC236}">
                <a16:creationId xmlns:a16="http://schemas.microsoft.com/office/drawing/2014/main" id="{9615F9E8-9012-468F-B469-46004C2E1B75}"/>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06 / Production</a:t>
            </a:r>
          </a:p>
        </p:txBody>
      </p:sp>
      <p:sp>
        <p:nvSpPr>
          <p:cNvPr id="2" name="text-466">
            <a:extLst>
              <a:ext uri="{FF2B5EF4-FFF2-40B4-BE49-F238E27FC236}">
                <a16:creationId xmlns:a16="http://schemas.microsoft.com/office/drawing/2014/main" id="{0B9878BF-7DCC-415C-802D-DAEA2A42108E}"/>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A controlled database release step</a:t>
            </a:r>
          </a:p>
        </p:txBody>
      </p:sp>
      <p:sp>
        <p:nvSpPr>
          <p:cNvPr id="3" name="text-467">
            <a:extLst>
              <a:ext uri="{FF2B5EF4-FFF2-40B4-BE49-F238E27FC236}">
                <a16:creationId xmlns:a16="http://schemas.microsoft.com/office/drawing/2014/main" id="{D0D3F4B6-A9FD-4A25-92FB-86DDC531A15F}"/>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468">
            <a:extLst>
              <a:ext uri="{FF2B5EF4-FFF2-40B4-BE49-F238E27FC236}">
                <a16:creationId xmlns:a16="http://schemas.microsoft.com/office/drawing/2014/main" id="{53FD9ADD-05DC-4D5F-B1A1-F905BC577CCE}"/>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62</a:t>
            </a:r>
          </a:p>
        </p:txBody>
      </p:sp>
      <p:sp>
        <p:nvSpPr>
          <p:cNvPr id="5" name="text-469">
            <a:extLst>
              <a:ext uri="{FF2B5EF4-FFF2-40B4-BE49-F238E27FC236}">
                <a16:creationId xmlns:a16="http://schemas.microsoft.com/office/drawing/2014/main" id="{B736C7DF-52C0-4AE5-8C07-1F2AA8EAC32C}"/>
              </a:ext>
            </a:extLst>
          </p:cNvPr>
          <p:cNvSpPr>
            <a:spLocks noGrp="1"/>
          </p:cNvSpPr>
          <p:nvPr/>
        </p:nvSpPr>
        <p:spPr>
          <a:xfrm>
            <a:off x="685800" y="2295525"/>
            <a:ext cx="8096250" cy="333375"/>
          </a:xfrm>
          <a:prstGeom prst="rect">
            <a:avLst/>
          </a:prstGeom>
          <a:noFill/>
          <a:ln w="0">
            <a:noFill/>
          </a:ln>
        </p:spPr>
        <p:txBody>
          <a:bodyPr wrap="none" lIns="0" tIns="0" rIns="0" bIns="0" anchor="t">
            <a:noAutofit/>
          </a:bodyPr>
          <a:lstStyle/>
          <a:p>
            <a:pPr algn="l">
              <a:defRPr sz="1500" b="0">
                <a:solidFill>
                  <a:srgbClr val="65717A"/>
                </a:solidFill>
                <a:latin typeface="Menlo"/>
                <a:ea typeface="Menlo"/>
                <a:cs typeface="Menlo"/>
              </a:defRPr>
            </a:pPr>
            <a:r>
              <a:rPr sz="1500" b="0">
                <a:solidFill>
                  <a:srgbClr val="65717A"/>
                </a:solidFill>
                <a:latin typeface="Menlo"/>
                <a:ea typeface="Menlo"/>
                <a:cs typeface="Menlo"/>
              </a:rPr>
              <a:t>Terminal, after linking the Vercel project</a:t>
            </a:r>
          </a:p>
        </p:txBody>
      </p:sp>
      <p:sp>
        <p:nvSpPr>
          <p:cNvPr id="6" name="code-panel-470">
            <a:extLst>
              <a:ext uri="{FF2B5EF4-FFF2-40B4-BE49-F238E27FC236}">
                <a16:creationId xmlns:a16="http://schemas.microsoft.com/office/drawing/2014/main" id="{10E0C328-CCA6-48EA-9C3D-6C7BFD7CA7C1}"/>
              </a:ext>
            </a:extLst>
          </p:cNvPr>
          <p:cNvSpPr>
            <a:spLocks noGrp="1"/>
          </p:cNvSpPr>
          <p:nvPr/>
        </p:nvSpPr>
        <p:spPr>
          <a:xfrm>
            <a:off x="685800" y="2714625"/>
            <a:ext cx="8096250" cy="4238625"/>
          </a:xfrm>
          <a:prstGeom prst="rect">
            <a:avLst/>
          </a:prstGeom>
          <a:solidFill>
            <a:srgbClr val="242C35"/>
          </a:solidFill>
          <a:ln w="0">
            <a:noFill/>
          </a:ln>
        </p:spPr>
      </p:sp>
      <p:sp>
        <p:nvSpPr>
          <p:cNvPr id="7" name="code-line-0">
            <a:extLst>
              <a:ext uri="{FF2B5EF4-FFF2-40B4-BE49-F238E27FC236}">
                <a16:creationId xmlns:a16="http://schemas.microsoft.com/office/drawing/2014/main" id="{81878880-E4F2-4136-92A2-D66C4CA8A814}"/>
              </a:ext>
            </a:extLst>
          </p:cNvPr>
          <p:cNvSpPr>
            <a:spLocks noGrp="1"/>
          </p:cNvSpPr>
          <p:nvPr/>
        </p:nvSpPr>
        <p:spPr>
          <a:xfrm>
            <a:off x="914400" y="2924175"/>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npm install --global vercel@latest</a:t>
            </a:r>
          </a:p>
        </p:txBody>
      </p:sp>
      <p:sp>
        <p:nvSpPr>
          <p:cNvPr id="8" name="code-line-1">
            <a:extLst>
              <a:ext uri="{FF2B5EF4-FFF2-40B4-BE49-F238E27FC236}">
                <a16:creationId xmlns:a16="http://schemas.microsoft.com/office/drawing/2014/main" id="{D3244D7C-AD78-4211-8F66-9D4E7911658F}"/>
              </a:ext>
            </a:extLst>
          </p:cNvPr>
          <p:cNvSpPr>
            <a:spLocks noGrp="1"/>
          </p:cNvSpPr>
          <p:nvPr/>
        </p:nvSpPr>
        <p:spPr>
          <a:xfrm>
            <a:off x="914400" y="3247231"/>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vercel login</a:t>
            </a:r>
          </a:p>
        </p:txBody>
      </p:sp>
      <p:sp>
        <p:nvSpPr>
          <p:cNvPr id="9" name="code-line-2">
            <a:extLst>
              <a:ext uri="{FF2B5EF4-FFF2-40B4-BE49-F238E27FC236}">
                <a16:creationId xmlns:a16="http://schemas.microsoft.com/office/drawing/2014/main" id="{76AD251A-8AEB-4C90-ABA4-CBB46A3490BE}"/>
              </a:ext>
            </a:extLst>
          </p:cNvPr>
          <p:cNvSpPr>
            <a:spLocks noGrp="1"/>
          </p:cNvSpPr>
          <p:nvPr/>
        </p:nvSpPr>
        <p:spPr>
          <a:xfrm>
            <a:off x="914400" y="3570288"/>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vercel link</a:t>
            </a:r>
          </a:p>
        </p:txBody>
      </p:sp>
      <p:sp>
        <p:nvSpPr>
          <p:cNvPr id="10" name="code-line-3">
            <a:extLst>
              <a:ext uri="{FF2B5EF4-FFF2-40B4-BE49-F238E27FC236}">
                <a16:creationId xmlns:a16="http://schemas.microsoft.com/office/drawing/2014/main" id="{4E05509A-09AE-4898-A2E3-A10805F76AA2}"/>
              </a:ext>
            </a:extLst>
          </p:cNvPr>
          <p:cNvSpPr>
            <a:spLocks noGrp="1"/>
          </p:cNvSpPr>
          <p:nvPr/>
        </p:nvSpPr>
        <p:spPr>
          <a:xfrm>
            <a:off x="914400" y="3893344"/>
            <a:ext cx="7639050" cy="351631"/>
          </a:xfrm>
          <a:prstGeom prst="rect">
            <a:avLst/>
          </a:prstGeom>
          <a:noFill/>
          <a:ln w="0">
            <a:noFill/>
          </a:ln>
        </p:spPr>
        <p:txBody>
          <a:bodyPr wrap="none" lIns="0" tIns="0" rIns="0" bIns="0" anchor="t">
            <a:noAutofit/>
          </a:bodyPr>
          <a:lstStyle/>
          <a:p>
            <a:endParaRPr/>
          </a:p>
        </p:txBody>
      </p:sp>
      <p:sp>
        <p:nvSpPr>
          <p:cNvPr id="11" name="code-line-4">
            <a:extLst>
              <a:ext uri="{FF2B5EF4-FFF2-40B4-BE49-F238E27FC236}">
                <a16:creationId xmlns:a16="http://schemas.microsoft.com/office/drawing/2014/main" id="{044DF0A2-D478-4E31-9391-25C78DEC2335}"/>
              </a:ext>
            </a:extLst>
          </p:cNvPr>
          <p:cNvSpPr>
            <a:spLocks noGrp="1"/>
          </p:cNvSpPr>
          <p:nvPr/>
        </p:nvSpPr>
        <p:spPr>
          <a:xfrm>
            <a:off x="914400" y="4216400"/>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vercel env run -e production -- \</a:t>
            </a:r>
          </a:p>
        </p:txBody>
      </p:sp>
      <p:sp>
        <p:nvSpPr>
          <p:cNvPr id="12" name="code-line-5">
            <a:extLst>
              <a:ext uri="{FF2B5EF4-FFF2-40B4-BE49-F238E27FC236}">
                <a16:creationId xmlns:a16="http://schemas.microsoft.com/office/drawing/2014/main" id="{3E491F94-E368-47F4-9570-8179944E795D}"/>
              </a:ext>
            </a:extLst>
          </p:cNvPr>
          <p:cNvSpPr>
            <a:spLocks noGrp="1"/>
          </p:cNvSpPr>
          <p:nvPr/>
        </p:nvSpPr>
        <p:spPr>
          <a:xfrm>
            <a:off x="914400" y="4539456"/>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python manage.py migrate --noinput</a:t>
            </a:r>
          </a:p>
        </p:txBody>
      </p:sp>
      <p:sp>
        <p:nvSpPr>
          <p:cNvPr id="13" name="code-line-6">
            <a:extLst>
              <a:ext uri="{FF2B5EF4-FFF2-40B4-BE49-F238E27FC236}">
                <a16:creationId xmlns:a16="http://schemas.microsoft.com/office/drawing/2014/main" id="{342C16AB-3F48-41A6-8E3F-6192787341A1}"/>
              </a:ext>
            </a:extLst>
          </p:cNvPr>
          <p:cNvSpPr>
            <a:spLocks noGrp="1"/>
          </p:cNvSpPr>
          <p:nvPr/>
        </p:nvSpPr>
        <p:spPr>
          <a:xfrm>
            <a:off x="914400" y="4862513"/>
            <a:ext cx="7639050" cy="351631"/>
          </a:xfrm>
          <a:prstGeom prst="rect">
            <a:avLst/>
          </a:prstGeom>
          <a:noFill/>
          <a:ln w="0">
            <a:noFill/>
          </a:ln>
        </p:spPr>
        <p:txBody>
          <a:bodyPr wrap="none" lIns="0" tIns="0" rIns="0" bIns="0" anchor="t">
            <a:noAutofit/>
          </a:bodyPr>
          <a:lstStyle/>
          <a:p>
            <a:endParaRPr/>
          </a:p>
        </p:txBody>
      </p:sp>
      <p:sp>
        <p:nvSpPr>
          <p:cNvPr id="14" name="code-line-7">
            <a:extLst>
              <a:ext uri="{FF2B5EF4-FFF2-40B4-BE49-F238E27FC236}">
                <a16:creationId xmlns:a16="http://schemas.microsoft.com/office/drawing/2014/main" id="{5491B538-288D-4C11-826F-78049E6D63F5}"/>
              </a:ext>
            </a:extLst>
          </p:cNvPr>
          <p:cNvSpPr>
            <a:spLocks noGrp="1"/>
          </p:cNvSpPr>
          <p:nvPr/>
        </p:nvSpPr>
        <p:spPr>
          <a:xfrm>
            <a:off x="914400" y="5185569"/>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vercel env run -e production -- \</a:t>
            </a:r>
          </a:p>
        </p:txBody>
      </p:sp>
      <p:sp>
        <p:nvSpPr>
          <p:cNvPr id="15" name="code-line-8">
            <a:extLst>
              <a:ext uri="{FF2B5EF4-FFF2-40B4-BE49-F238E27FC236}">
                <a16:creationId xmlns:a16="http://schemas.microsoft.com/office/drawing/2014/main" id="{5E011C4A-61D3-452B-B873-C9AF7A14BBEF}"/>
              </a:ext>
            </a:extLst>
          </p:cNvPr>
          <p:cNvSpPr>
            <a:spLocks noGrp="1"/>
          </p:cNvSpPr>
          <p:nvPr/>
        </p:nvSpPr>
        <p:spPr>
          <a:xfrm>
            <a:off x="914400" y="5508625"/>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  python manage.py check --deploy</a:t>
            </a:r>
          </a:p>
        </p:txBody>
      </p:sp>
      <p:sp>
        <p:nvSpPr>
          <p:cNvPr id="16" name="code-line-9">
            <a:extLst>
              <a:ext uri="{FF2B5EF4-FFF2-40B4-BE49-F238E27FC236}">
                <a16:creationId xmlns:a16="http://schemas.microsoft.com/office/drawing/2014/main" id="{B3C66A83-E19B-49B4-B4B0-568115002216}"/>
              </a:ext>
            </a:extLst>
          </p:cNvPr>
          <p:cNvSpPr>
            <a:spLocks noGrp="1"/>
          </p:cNvSpPr>
          <p:nvPr/>
        </p:nvSpPr>
        <p:spPr>
          <a:xfrm>
            <a:off x="914400" y="5831681"/>
            <a:ext cx="7639050" cy="351631"/>
          </a:xfrm>
          <a:prstGeom prst="rect">
            <a:avLst/>
          </a:prstGeom>
          <a:noFill/>
          <a:ln w="0">
            <a:noFill/>
          </a:ln>
        </p:spPr>
        <p:txBody>
          <a:bodyPr wrap="none" lIns="0" tIns="0" rIns="0" bIns="0" anchor="t">
            <a:noAutofit/>
          </a:bodyPr>
          <a:lstStyle/>
          <a:p>
            <a:endParaRPr/>
          </a:p>
        </p:txBody>
      </p:sp>
      <p:sp>
        <p:nvSpPr>
          <p:cNvPr id="17" name="code-line-10">
            <a:extLst>
              <a:ext uri="{FF2B5EF4-FFF2-40B4-BE49-F238E27FC236}">
                <a16:creationId xmlns:a16="http://schemas.microsoft.com/office/drawing/2014/main" id="{2340D4B0-ED0C-4B28-98A0-B36DE8C80009}"/>
              </a:ext>
            </a:extLst>
          </p:cNvPr>
          <p:cNvSpPr>
            <a:spLocks noGrp="1"/>
          </p:cNvSpPr>
          <p:nvPr/>
        </p:nvSpPr>
        <p:spPr>
          <a:xfrm>
            <a:off x="914400" y="6154738"/>
            <a:ext cx="7639050" cy="351631"/>
          </a:xfrm>
          <a:prstGeom prst="rect">
            <a:avLst/>
          </a:prstGeom>
          <a:noFill/>
          <a:ln w="0">
            <a:noFill/>
          </a:ln>
        </p:spPr>
        <p:txBody>
          <a:bodyPr wrap="none" lIns="0" tIns="0" rIns="0" bIns="0" anchor="t">
            <a:noAutofit/>
          </a:bodyPr>
          <a:lstStyle/>
          <a:p>
            <a:pPr algn="l">
              <a:defRPr sz="1725" b="0">
                <a:solidFill>
                  <a:srgbClr val="B1BFD2"/>
                </a:solidFill>
                <a:latin typeface="Menlo"/>
                <a:ea typeface="Menlo"/>
                <a:cs typeface="Menlo"/>
              </a:defRPr>
            </a:pPr>
            <a:r>
              <a:rPr sz="1725" b="0">
                <a:solidFill>
                  <a:srgbClr val="B1BFD2"/>
                </a:solidFill>
                <a:latin typeface="Menlo"/>
                <a:ea typeface="Menlo"/>
                <a:cs typeface="Menlo"/>
              </a:rPr>
              <a:t># Deploy through Git integration or the CLI</a:t>
            </a:r>
          </a:p>
        </p:txBody>
      </p:sp>
      <p:sp>
        <p:nvSpPr>
          <p:cNvPr id="18" name="code-line-11">
            <a:extLst>
              <a:ext uri="{FF2B5EF4-FFF2-40B4-BE49-F238E27FC236}">
                <a16:creationId xmlns:a16="http://schemas.microsoft.com/office/drawing/2014/main" id="{32788A6E-5907-46D4-8FA0-0DAD9F08812A}"/>
              </a:ext>
            </a:extLst>
          </p:cNvPr>
          <p:cNvSpPr>
            <a:spLocks noGrp="1"/>
          </p:cNvSpPr>
          <p:nvPr/>
        </p:nvSpPr>
        <p:spPr>
          <a:xfrm>
            <a:off x="914400" y="6477794"/>
            <a:ext cx="7639050" cy="351631"/>
          </a:xfrm>
          <a:prstGeom prst="rect">
            <a:avLst/>
          </a:prstGeom>
          <a:noFill/>
          <a:ln w="0">
            <a:noFill/>
          </a:ln>
        </p:spPr>
        <p:txBody>
          <a:bodyPr wrap="none" lIns="0" tIns="0" rIns="0" bIns="0" anchor="t">
            <a:noAutofit/>
          </a:bodyPr>
          <a:lstStyle/>
          <a:p>
            <a:pPr algn="l">
              <a:defRPr sz="1725" b="0">
                <a:solidFill>
                  <a:srgbClr val="FFFFFF"/>
                </a:solidFill>
                <a:latin typeface="Menlo"/>
                <a:ea typeface="Menlo"/>
                <a:cs typeface="Menlo"/>
              </a:defRPr>
            </a:pPr>
            <a:r>
              <a:rPr sz="1725" b="0">
                <a:solidFill>
                  <a:srgbClr val="FFFFFF"/>
                </a:solidFill>
                <a:latin typeface="Menlo"/>
                <a:ea typeface="Menlo"/>
                <a:cs typeface="Menlo"/>
              </a:rPr>
              <a:t>vercel --prod</a:t>
            </a:r>
          </a:p>
        </p:txBody>
      </p:sp>
      <p:sp>
        <p:nvSpPr>
          <p:cNvPr id="19" name="reveal-1-output-1">
            <a:extLst>
              <a:ext uri="{FF2B5EF4-FFF2-40B4-BE49-F238E27FC236}">
                <a16:creationId xmlns:a16="http://schemas.microsoft.com/office/drawing/2014/main" id="{DAFC02E2-0E13-48A6-BBFC-4CD8154C72D5}"/>
              </a:ext>
            </a:extLst>
          </p:cNvPr>
          <p:cNvSpPr>
            <a:spLocks noGrp="1"/>
          </p:cNvSpPr>
          <p:nvPr/>
        </p:nvSpPr>
        <p:spPr>
          <a:xfrm>
            <a:off x="9239250" y="2238375"/>
            <a:ext cx="5295900" cy="619125"/>
          </a:xfrm>
          <a:prstGeom prst="rect">
            <a:avLst/>
          </a:prstGeom>
          <a:noFill/>
          <a:ln w="0">
            <a:noFill/>
          </a:ln>
        </p:spPr>
        <p:txBody>
          <a:bodyPr wrap="none" lIns="0" tIns="0" rIns="0" bIns="0" anchor="t">
            <a:noAutofit/>
          </a:bodyPr>
          <a:lstStyle/>
          <a:p>
            <a:pPr algn="l">
              <a:defRPr sz="2100" b="1">
                <a:solidFill>
                  <a:srgbClr val="315BCD"/>
                </a:solidFill>
                <a:latin typeface="Helvetica Neue"/>
                <a:ea typeface="Helvetica Neue"/>
                <a:cs typeface="Helvetica Neue"/>
              </a:defRPr>
            </a:pPr>
            <a:r>
              <a:rPr sz="2100" b="1">
                <a:solidFill>
                  <a:srgbClr val="315BCD"/>
                </a:solidFill>
                <a:latin typeface="Helvetica Neue"/>
                <a:ea typeface="Helvetica Neue"/>
                <a:cs typeface="Helvetica Neue"/>
              </a:rPr>
              <a:t>Release evidence</a:t>
            </a:r>
          </a:p>
        </p:txBody>
      </p:sp>
      <p:sp>
        <p:nvSpPr>
          <p:cNvPr id="20" name="reveal-1-output-2">
            <a:extLst>
              <a:ext uri="{FF2B5EF4-FFF2-40B4-BE49-F238E27FC236}">
                <a16:creationId xmlns:a16="http://schemas.microsoft.com/office/drawing/2014/main" id="{241CBF22-F53C-4067-8698-E750FAC3D73A}"/>
              </a:ext>
            </a:extLst>
          </p:cNvPr>
          <p:cNvSpPr>
            <a:spLocks noGrp="1"/>
          </p:cNvSpPr>
          <p:nvPr/>
        </p:nvSpPr>
        <p:spPr>
          <a:xfrm>
            <a:off x="9239250" y="2952750"/>
            <a:ext cx="5295900" cy="3810000"/>
          </a:xfrm>
          <a:prstGeom prst="rect">
            <a:avLst/>
          </a:prstGeom>
          <a:solidFill>
            <a:srgbClr val="ECEFF7"/>
          </a:solidFill>
          <a:ln w="0">
            <a:noFill/>
          </a:ln>
        </p:spPr>
      </p:sp>
      <p:sp>
        <p:nvSpPr>
          <p:cNvPr id="21" name="reveal-1-output-3">
            <a:extLst>
              <a:ext uri="{FF2B5EF4-FFF2-40B4-BE49-F238E27FC236}">
                <a16:creationId xmlns:a16="http://schemas.microsoft.com/office/drawing/2014/main" id="{C822E394-F512-4808-ADF5-0B895D81600D}"/>
              </a:ext>
            </a:extLst>
          </p:cNvPr>
          <p:cNvSpPr>
            <a:spLocks noGrp="1"/>
          </p:cNvSpPr>
          <p:nvPr/>
        </p:nvSpPr>
        <p:spPr>
          <a:xfrm>
            <a:off x="9467850" y="3181350"/>
            <a:ext cx="4838700" cy="3448050"/>
          </a:xfrm>
          <a:prstGeom prst="rect">
            <a:avLst/>
          </a:prstGeom>
          <a:noFill/>
          <a:ln w="0">
            <a:noFill/>
          </a:ln>
        </p:spPr>
        <p:txBody>
          <a:bodyPr wrap="none" lIns="0" tIns="0" rIns="0" bIns="0" anchor="t">
            <a:noAutofit/>
          </a:bodyPr>
          <a:lstStyle/>
          <a:p>
            <a:pPr algn="l">
              <a:defRPr sz="1650" b="0">
                <a:solidFill>
                  <a:srgbClr val="242C35"/>
                </a:solidFill>
                <a:latin typeface="Menlo"/>
                <a:ea typeface="Menlo"/>
                <a:cs typeface="Menlo"/>
              </a:defRPr>
            </a:pPr>
            <a:r>
              <a:rPr sz="1650" b="0">
                <a:solidFill>
                  <a:srgbClr val="242C35"/>
                </a:solidFill>
                <a:latin typeface="Menlo"/>
                <a:ea typeface="Menlo"/>
                <a:cs typeface="Menlo"/>
              </a:rPr>
              <a:t>Committed migrations applied</a:t>
            </a:r>
          </a:p>
          <a:p>
            <a:pPr algn="l">
              <a:defRPr sz="1650" b="0">
                <a:solidFill>
                  <a:srgbClr val="242C35"/>
                </a:solidFill>
                <a:latin typeface="Menlo"/>
                <a:ea typeface="Menlo"/>
                <a:cs typeface="Menlo"/>
              </a:defRPr>
            </a:pPr>
            <a:r>
              <a:rPr sz="1650" b="0">
                <a:solidFill>
                  <a:srgbClr val="242C35"/>
                </a:solidFill>
                <a:latin typeface="Menlo"/>
                <a:ea typeface="Menlo"/>
                <a:cs typeface="Menlo"/>
              </a:rPr>
              <a:t>Deployment warnings reviewed</a:t>
            </a:r>
          </a:p>
          <a:p>
            <a:pPr algn="l">
              <a:defRPr sz="1650" b="0">
                <a:solidFill>
                  <a:srgbClr val="242C35"/>
                </a:solidFill>
                <a:latin typeface="Menlo"/>
                <a:ea typeface="Menlo"/>
                <a:cs typeface="Menlo"/>
              </a:defRPr>
            </a:pPr>
            <a:r>
              <a:rPr sz="1650" b="0">
                <a:solidFill>
                  <a:srgbClr val="242C35"/>
                </a:solidFill>
                <a:latin typeface="Menlo"/>
                <a:ea typeface="Menlo"/>
                <a:cs typeface="Menlo"/>
              </a:rPr>
              <a:t>Public URL smoke-tested</a:t>
            </a:r>
          </a:p>
        </p:txBody>
      </p:sp>
      <p:sp>
        <p:nvSpPr>
          <p:cNvPr id="22" name="fade-1-takeaway">
            <a:extLst>
              <a:ext uri="{FF2B5EF4-FFF2-40B4-BE49-F238E27FC236}">
                <a16:creationId xmlns:a16="http://schemas.microsoft.com/office/drawing/2014/main" id="{F032FD21-4DA7-48BE-B10F-A88A76ED9C7F}"/>
              </a:ext>
            </a:extLst>
          </p:cNvPr>
          <p:cNvSpPr>
            <a:spLocks noGrp="1"/>
          </p:cNvSpPr>
          <p:nvPr/>
        </p:nvSpPr>
        <p:spPr>
          <a:xfrm>
            <a:off x="685800" y="7286625"/>
            <a:ext cx="13868400" cy="657225"/>
          </a:xfrm>
          <a:prstGeom prst="rect">
            <a:avLst/>
          </a:prstGeom>
          <a:noFill/>
          <a:ln w="0">
            <a:noFill/>
          </a:ln>
        </p:spPr>
        <p:txBody>
          <a:bodyPr wrap="none" lIns="0" tIns="0" rIns="0" bIns="0" anchor="t">
            <a:noAutofit/>
          </a:bodyPr>
          <a:lstStyle/>
          <a:p>
            <a:pPr algn="l">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Confirm the environment, apply migrations, then verify.</a:t>
            </a:r>
          </a:p>
        </p:txBody>
      </p:sp>
    </p:spTree>
    <p:extLst>
      <p:ext uri="{BB962C8B-B14F-4D97-AF65-F5344CB8AC3E}">
        <p14:creationId xmlns:p14="http://schemas.microsoft.com/office/powerpoint/2010/main" val="11617388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350" fill="hold">
                                          <p:stCondLst>
                                            <p:cond delay="0"/>
                                          </p:stCondLst>
                                        </p:cTn>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7" name="text-474">
            <a:extLst>
              <a:ext uri="{FF2B5EF4-FFF2-40B4-BE49-F238E27FC236}">
                <a16:creationId xmlns:a16="http://schemas.microsoft.com/office/drawing/2014/main" id="{60C9FDF7-2982-46A7-A9A0-E316C0755C3B}"/>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06 / Production</a:t>
            </a:r>
          </a:p>
        </p:txBody>
      </p:sp>
      <p:sp>
        <p:nvSpPr>
          <p:cNvPr id="2" name="text-475">
            <a:extLst>
              <a:ext uri="{FF2B5EF4-FFF2-40B4-BE49-F238E27FC236}">
                <a16:creationId xmlns:a16="http://schemas.microsoft.com/office/drawing/2014/main" id="{61DA4973-17DF-4203-BB50-7C33B85FA3F4}"/>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Production smoke tests</a:t>
            </a:r>
          </a:p>
        </p:txBody>
      </p:sp>
      <p:sp>
        <p:nvSpPr>
          <p:cNvPr id="3" name="text-476">
            <a:extLst>
              <a:ext uri="{FF2B5EF4-FFF2-40B4-BE49-F238E27FC236}">
                <a16:creationId xmlns:a16="http://schemas.microsoft.com/office/drawing/2014/main" id="{EFD0E839-C29F-44D5-8067-43857FE9641B}"/>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477">
            <a:extLst>
              <a:ext uri="{FF2B5EF4-FFF2-40B4-BE49-F238E27FC236}">
                <a16:creationId xmlns:a16="http://schemas.microsoft.com/office/drawing/2014/main" id="{F0579FCF-DEDE-4CE1-830D-DBAE71D82D69}"/>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63</a:t>
            </a:r>
          </a:p>
        </p:txBody>
      </p:sp>
      <p:graphicFrame>
        <p:nvGraphicFramePr>
          <p:cNvPr id="11" name="Table 10"/>
          <p:cNvGraphicFramePr/>
          <p:nvPr/>
        </p:nvGraphicFramePr>
        <p:xfrm>
          <a:off x="685800" y="2333625"/>
          <a:ext cx="13868400" cy="4572000"/>
        </p:xfrm>
        <a:graphic>
          <a:graphicData uri="http://schemas.openxmlformats.org/drawingml/2006/table">
            <a:tbl>
              <a:tblPr firstRow="1"/>
              <a:tblGrid>
                <a:gridCol w="295275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5581650">
                  <a:extLst>
                    <a:ext uri="{9D8B030D-6E8A-4147-A177-3AD203B41FA5}">
                      <a16:colId xmlns:a16="http://schemas.microsoft.com/office/drawing/2014/main" val="20002"/>
                    </a:ext>
                  </a:extLst>
                </a:gridCol>
              </a:tblGrid>
              <a:tr h="762000">
                <a:tc>
                  <a:txBody>
                    <a:bodyPr/>
                    <a:lstStyle/>
                    <a:p>
                      <a:r>
                        <a:rPr sz="2025" b="1">
                          <a:solidFill>
                            <a:srgbClr val="FFFFFF"/>
                          </a:solidFill>
                          <a:latin typeface="Helvetica Neue"/>
                          <a:ea typeface="Helvetica Neue"/>
                          <a:cs typeface="Helvetica Neue"/>
                        </a:rPr>
                        <a:t>Area</a:t>
                      </a:r>
                    </a:p>
                  </a:txBody>
                  <a:tcPr anchor="ctr">
                    <a:solidFill>
                      <a:srgbClr val="242C35"/>
                    </a:solidFill>
                  </a:tcPr>
                </a:tc>
                <a:tc>
                  <a:txBody>
                    <a:bodyPr/>
                    <a:lstStyle/>
                    <a:p>
                      <a:r>
                        <a:rPr sz="2025" b="1">
                          <a:solidFill>
                            <a:srgbClr val="FFFFFF"/>
                          </a:solidFill>
                          <a:latin typeface="Helvetica Neue"/>
                          <a:ea typeface="Helvetica Neue"/>
                          <a:cs typeface="Helvetica Neue"/>
                        </a:rPr>
                        <a:t>Check</a:t>
                      </a:r>
                    </a:p>
                  </a:txBody>
                  <a:tcPr anchor="ctr">
                    <a:solidFill>
                      <a:srgbClr val="242C35"/>
                    </a:solidFill>
                  </a:tcPr>
                </a:tc>
                <a:tc>
                  <a:txBody>
                    <a:bodyPr/>
                    <a:lstStyle/>
                    <a:p>
                      <a:r>
                        <a:rPr sz="2025" b="1">
                          <a:solidFill>
                            <a:srgbClr val="FFFFFF"/>
                          </a:solidFill>
                          <a:latin typeface="Helvetica Neue"/>
                          <a:ea typeface="Helvetica Neue"/>
                          <a:cs typeface="Helvetica Neue"/>
                        </a:rPr>
                        <a:t>Evidence</a:t>
                      </a:r>
                    </a:p>
                  </a:txBody>
                  <a:tcPr anchor="ctr">
                    <a:solidFill>
                      <a:srgbClr val="242C35"/>
                    </a:solidFill>
                  </a:tcPr>
                </a:tc>
                <a:extLst>
                  <a:ext uri="{0D108BD9-81ED-4DB2-BD59-A6C34878D82A}">
                    <a16:rowId xmlns:a16="http://schemas.microsoft.com/office/drawing/2014/main" val="10000"/>
                  </a:ext>
                </a:extLst>
              </a:tr>
              <a:tr h="762000">
                <a:tc>
                  <a:txBody>
                    <a:bodyPr/>
                    <a:lstStyle/>
                    <a:p>
                      <a:r>
                        <a:rPr sz="2025" b="0">
                          <a:solidFill>
                            <a:srgbClr val="242C35"/>
                          </a:solidFill>
                          <a:latin typeface="Helvetica Neue"/>
                          <a:ea typeface="Helvetica Neue"/>
                          <a:cs typeface="Helvetica Neue"/>
                        </a:rPr>
                        <a:t>Interface</a:t>
                      </a:r>
                    </a:p>
                  </a:txBody>
                  <a:tcPr anchor="ctr">
                    <a:solidFill>
                      <a:srgbClr val="FFFFFF"/>
                    </a:solidFill>
                  </a:tcPr>
                </a:tc>
                <a:tc>
                  <a:txBody>
                    <a:bodyPr/>
                    <a:lstStyle/>
                    <a:p>
                      <a:r>
                        <a:rPr sz="2025" b="0">
                          <a:solidFill>
                            <a:srgbClr val="242C35"/>
                          </a:solidFill>
                          <a:latin typeface="Helvetica Neue"/>
                          <a:ea typeface="Helvetica Neue"/>
                          <a:cs typeface="Helvetica Neue"/>
                        </a:rPr>
                        <a:t>Pages and CSS over HTTPS</a:t>
                      </a:r>
                    </a:p>
                  </a:txBody>
                  <a:tcPr anchor="ctr">
                    <a:solidFill>
                      <a:srgbClr val="FFFFFF"/>
                    </a:solidFill>
                  </a:tcPr>
                </a:tc>
                <a:tc>
                  <a:txBody>
                    <a:bodyPr/>
                    <a:lstStyle/>
                    <a:p>
                      <a:r>
                        <a:rPr sz="2025" b="0">
                          <a:solidFill>
                            <a:srgbClr val="242C35"/>
                          </a:solidFill>
                          <a:latin typeface="Helvetica Neue"/>
                          <a:ea typeface="Helvetica Neue"/>
                          <a:cs typeface="Helvetica Neue"/>
                        </a:rPr>
                        <a:t>Browser result</a:t>
                      </a:r>
                    </a:p>
                  </a:txBody>
                  <a:tcPr anchor="ctr">
                    <a:solidFill>
                      <a:srgbClr val="FFFFFF"/>
                    </a:solidFill>
                  </a:tcPr>
                </a:tc>
                <a:extLst>
                  <a:ext uri="{0D108BD9-81ED-4DB2-BD59-A6C34878D82A}">
                    <a16:rowId xmlns:a16="http://schemas.microsoft.com/office/drawing/2014/main" val="10001"/>
                  </a:ext>
                </a:extLst>
              </a:tr>
              <a:tr h="762000">
                <a:tc>
                  <a:txBody>
                    <a:bodyPr/>
                    <a:lstStyle/>
                    <a:p>
                      <a:r>
                        <a:rPr sz="2025" b="0">
                          <a:solidFill>
                            <a:srgbClr val="242C35"/>
                          </a:solidFill>
                          <a:latin typeface="Helvetica Neue"/>
                          <a:ea typeface="Helvetica Neue"/>
                          <a:cs typeface="Helvetica Neue"/>
                        </a:rPr>
                        <a:t>Data</a:t>
                      </a:r>
                    </a:p>
                  </a:txBody>
                  <a:tcPr anchor="ctr">
                    <a:solidFill>
                      <a:srgbClr val="F8F5EF"/>
                    </a:solidFill>
                  </a:tcPr>
                </a:tc>
                <a:tc>
                  <a:txBody>
                    <a:bodyPr/>
                    <a:lstStyle/>
                    <a:p>
                      <a:r>
                        <a:rPr sz="2025" b="0">
                          <a:solidFill>
                            <a:srgbClr val="242C35"/>
                          </a:solidFill>
                          <a:latin typeface="Helvetica Neue"/>
                          <a:ea typeface="Helvetica Neue"/>
                          <a:cs typeface="Helvetica Neue"/>
                        </a:rPr>
                        <a:t>A task and an entry persist</a:t>
                      </a:r>
                    </a:p>
                  </a:txBody>
                  <a:tcPr anchor="ctr">
                    <a:solidFill>
                      <a:srgbClr val="F8F5EF"/>
                    </a:solidFill>
                  </a:tcPr>
                </a:tc>
                <a:tc>
                  <a:txBody>
                    <a:bodyPr/>
                    <a:lstStyle/>
                    <a:p>
                      <a:r>
                        <a:rPr sz="2025" b="0">
                          <a:solidFill>
                            <a:srgbClr val="242C35"/>
                          </a:solidFill>
                          <a:latin typeface="Helvetica Neue"/>
                          <a:ea typeface="Helvetica Neue"/>
                          <a:cs typeface="Helvetica Neue"/>
                        </a:rPr>
                        <a:t>Values survive a reload</a:t>
                      </a:r>
                    </a:p>
                  </a:txBody>
                  <a:tcPr anchor="ctr">
                    <a:solidFill>
                      <a:srgbClr val="F8F5EF"/>
                    </a:solidFill>
                  </a:tcPr>
                </a:tc>
                <a:extLst>
                  <a:ext uri="{0D108BD9-81ED-4DB2-BD59-A6C34878D82A}">
                    <a16:rowId xmlns:a16="http://schemas.microsoft.com/office/drawing/2014/main" val="10002"/>
                  </a:ext>
                </a:extLst>
              </a:tr>
              <a:tr h="762000">
                <a:tc>
                  <a:txBody>
                    <a:bodyPr/>
                    <a:lstStyle/>
                    <a:p>
                      <a:r>
                        <a:rPr sz="2025" b="0">
                          <a:solidFill>
                            <a:srgbClr val="242C35"/>
                          </a:solidFill>
                          <a:latin typeface="Helvetica Neue"/>
                          <a:ea typeface="Helvetica Neue"/>
                          <a:cs typeface="Helvetica Neue"/>
                        </a:rPr>
                        <a:t>Access</a:t>
                      </a:r>
                    </a:p>
                  </a:txBody>
                  <a:tcPr anchor="ctr">
                    <a:solidFill>
                      <a:srgbClr val="FFFFFF"/>
                    </a:solidFill>
                  </a:tcPr>
                </a:tc>
                <a:tc>
                  <a:txBody>
                    <a:bodyPr/>
                    <a:lstStyle/>
                    <a:p>
                      <a:r>
                        <a:rPr sz="2025" b="0">
                          <a:solidFill>
                            <a:srgbClr val="242C35"/>
                          </a:solidFill>
                          <a:latin typeface="Helvetica Neue"/>
                          <a:ea typeface="Helvetica Neue"/>
                          <a:cs typeface="Helvetica Neue"/>
                        </a:rPr>
                        <a:t>Login and other-owner denial</a:t>
                      </a:r>
                    </a:p>
                  </a:txBody>
                  <a:tcPr anchor="ctr">
                    <a:solidFill>
                      <a:srgbClr val="FFFFFF"/>
                    </a:solidFill>
                  </a:tcPr>
                </a:tc>
                <a:tc>
                  <a:txBody>
                    <a:bodyPr/>
                    <a:lstStyle/>
                    <a:p>
                      <a:r>
                        <a:rPr sz="2025" b="0">
                          <a:solidFill>
                            <a:srgbClr val="242C35"/>
                          </a:solidFill>
                          <a:latin typeface="Helvetica Neue"/>
                          <a:ea typeface="Helvetica Neue"/>
                          <a:cs typeface="Helvetica Neue"/>
                        </a:rPr>
                        <a:t>Expected redirect / 404</a:t>
                      </a:r>
                    </a:p>
                  </a:txBody>
                  <a:tcPr anchor="ctr">
                    <a:solidFill>
                      <a:srgbClr val="FFFFFF"/>
                    </a:solidFill>
                  </a:tcPr>
                </a:tc>
                <a:extLst>
                  <a:ext uri="{0D108BD9-81ED-4DB2-BD59-A6C34878D82A}">
                    <a16:rowId xmlns:a16="http://schemas.microsoft.com/office/drawing/2014/main" val="10003"/>
                  </a:ext>
                </a:extLst>
              </a:tr>
              <a:tr h="762000">
                <a:tc>
                  <a:txBody>
                    <a:bodyPr/>
                    <a:lstStyle/>
                    <a:p>
                      <a:r>
                        <a:rPr sz="2025" b="0">
                          <a:solidFill>
                            <a:srgbClr val="242C35"/>
                          </a:solidFill>
                          <a:latin typeface="Helvetica Neue"/>
                          <a:ea typeface="Helvetica Neue"/>
                          <a:cs typeface="Helvetica Neue"/>
                        </a:rPr>
                        <a:t>API</a:t>
                      </a:r>
                    </a:p>
                  </a:txBody>
                  <a:tcPr anchor="ctr">
                    <a:solidFill>
                      <a:srgbClr val="F8F5EF"/>
                    </a:solidFill>
                  </a:tcPr>
                </a:tc>
                <a:tc>
                  <a:txBody>
                    <a:bodyPr/>
                    <a:lstStyle/>
                    <a:p>
                      <a:r>
                        <a:rPr sz="2025" b="0">
                          <a:solidFill>
                            <a:srgbClr val="242C35"/>
                          </a:solidFill>
                          <a:latin typeface="Helvetica Neue"/>
                          <a:ea typeface="Helvetica Neue"/>
                          <a:cs typeface="Helvetica Neue"/>
                        </a:rPr>
                        <a:t>Task and Entry collections</a:t>
                      </a:r>
                    </a:p>
                  </a:txBody>
                  <a:tcPr anchor="ctr">
                    <a:solidFill>
                      <a:srgbClr val="F8F5EF"/>
                    </a:solidFill>
                  </a:tcPr>
                </a:tc>
                <a:tc>
                  <a:txBody>
                    <a:bodyPr/>
                    <a:lstStyle/>
                    <a:p>
                      <a:r>
                        <a:rPr sz="2025" b="0">
                          <a:solidFill>
                            <a:srgbClr val="242C35"/>
                          </a:solidFill>
                          <a:latin typeface="Helvetica Neue"/>
                          <a:ea typeface="Helvetica Neue"/>
                          <a:cs typeface="Helvetica Neue"/>
                        </a:rPr>
                        <a:t>Successful and rejected requests</a:t>
                      </a:r>
                    </a:p>
                  </a:txBody>
                  <a:tcPr anchor="ctr">
                    <a:solidFill>
                      <a:srgbClr val="F8F5EF"/>
                    </a:solidFill>
                  </a:tcPr>
                </a:tc>
                <a:extLst>
                  <a:ext uri="{0D108BD9-81ED-4DB2-BD59-A6C34878D82A}">
                    <a16:rowId xmlns:a16="http://schemas.microsoft.com/office/drawing/2014/main" val="10004"/>
                  </a:ext>
                </a:extLst>
              </a:tr>
              <a:tr h="762000">
                <a:tc>
                  <a:txBody>
                    <a:bodyPr/>
                    <a:lstStyle/>
                    <a:p>
                      <a:r>
                        <a:rPr sz="2025" b="0">
                          <a:solidFill>
                            <a:srgbClr val="242C35"/>
                          </a:solidFill>
                          <a:latin typeface="Helvetica Neue"/>
                          <a:ea typeface="Helvetica Neue"/>
                          <a:cs typeface="Helvetica Neue"/>
                        </a:rPr>
                        <a:t>Operations</a:t>
                      </a:r>
                    </a:p>
                  </a:txBody>
                  <a:tcPr anchor="ctr">
                    <a:solidFill>
                      <a:srgbClr val="FFFFFF"/>
                    </a:solidFill>
                  </a:tcPr>
                </a:tc>
                <a:tc>
                  <a:txBody>
                    <a:bodyPr/>
                    <a:lstStyle/>
                    <a:p>
                      <a:r>
                        <a:rPr sz="2025" b="0">
                          <a:solidFill>
                            <a:srgbClr val="242C35"/>
                          </a:solidFill>
                          <a:latin typeface="Helvetica Neue"/>
                          <a:ea typeface="Helvetica Neue"/>
                          <a:cs typeface="Helvetica Neue"/>
                        </a:rPr>
                        <a:t>DEBUG off and logs reviewed</a:t>
                      </a:r>
                    </a:p>
                  </a:txBody>
                  <a:tcPr anchor="ctr">
                    <a:solidFill>
                      <a:srgbClr val="FFFFFF"/>
                    </a:solidFill>
                  </a:tcPr>
                </a:tc>
                <a:tc>
                  <a:txBody>
                    <a:bodyPr/>
                    <a:lstStyle/>
                    <a:p>
                      <a:r>
                        <a:rPr sz="2025" b="0">
                          <a:solidFill>
                            <a:srgbClr val="242C35"/>
                          </a:solidFill>
                          <a:latin typeface="Helvetica Neue"/>
                          <a:ea typeface="Helvetica Neue"/>
                          <a:cs typeface="Helvetica Neue"/>
                        </a:rPr>
                        <a:t>Deployment checks</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6" name="fade-1-takeaway">
            <a:extLst>
              <a:ext uri="{FF2B5EF4-FFF2-40B4-BE49-F238E27FC236}">
                <a16:creationId xmlns:a16="http://schemas.microsoft.com/office/drawing/2014/main" id="{75A310BD-44C2-487E-88FF-78E288EEED9C}"/>
              </a:ext>
            </a:extLst>
          </p:cNvPr>
          <p:cNvSpPr>
            <a:spLocks noGrp="1"/>
          </p:cNvSpPr>
          <p:nvPr/>
        </p:nvSpPr>
        <p:spPr>
          <a:xfrm>
            <a:off x="685800" y="7477125"/>
            <a:ext cx="13868400" cy="571500"/>
          </a:xfrm>
          <a:prstGeom prst="rect">
            <a:avLst/>
          </a:prstGeom>
          <a:noFill/>
          <a:ln w="0">
            <a:noFill/>
          </a:ln>
        </p:spPr>
        <p:txBody>
          <a:bodyPr wrap="none" lIns="0" tIns="0" rIns="0" bIns="0" anchor="t">
            <a:noAutofit/>
          </a:bodyPr>
          <a:lstStyle/>
          <a:p>
            <a:pPr algn="l">
              <a:defRPr sz="2025" b="0">
                <a:solidFill>
                  <a:srgbClr val="65717A"/>
                </a:solidFill>
                <a:latin typeface="Helvetica Neue"/>
                <a:ea typeface="Helvetica Neue"/>
                <a:cs typeface="Helvetica Neue"/>
              </a:defRPr>
            </a:pPr>
            <a:r>
              <a:rPr sz="2025" b="0">
                <a:solidFill>
                  <a:srgbClr val="65717A"/>
                </a:solidFill>
                <a:latin typeface="Helvetica Neue"/>
                <a:ea typeface="Helvetica Neue"/>
                <a:cs typeface="Helvetica Neue"/>
              </a:rPr>
              <a:t>A successful build is the start of verification.</a:t>
            </a:r>
          </a:p>
        </p:txBody>
      </p:sp>
    </p:spTree>
    <p:extLst>
      <p:ext uri="{BB962C8B-B14F-4D97-AF65-F5344CB8AC3E}">
        <p14:creationId xmlns:p14="http://schemas.microsoft.com/office/powerpoint/2010/main" val="11615831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fill="hold">
                                          <p:stCondLst>
                                            <p:cond delay="0"/>
                                          </p:stCondLst>
                                        </p:cTn>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7" name="text-478">
            <a:extLst>
              <a:ext uri="{FF2B5EF4-FFF2-40B4-BE49-F238E27FC236}">
                <a16:creationId xmlns:a16="http://schemas.microsoft.com/office/drawing/2014/main" id="{900A2726-AA00-4D17-9EC3-E3A75FF132A6}"/>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06 / Production</a:t>
            </a:r>
          </a:p>
        </p:txBody>
      </p:sp>
      <p:sp>
        <p:nvSpPr>
          <p:cNvPr id="2" name="text-479">
            <a:extLst>
              <a:ext uri="{FF2B5EF4-FFF2-40B4-BE49-F238E27FC236}">
                <a16:creationId xmlns:a16="http://schemas.microsoft.com/office/drawing/2014/main" id="{FF276A9C-65A9-41DC-A598-66A706BBB6B0}"/>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Common errors and the next check</a:t>
            </a:r>
          </a:p>
        </p:txBody>
      </p:sp>
      <p:sp>
        <p:nvSpPr>
          <p:cNvPr id="3" name="text-480">
            <a:extLst>
              <a:ext uri="{FF2B5EF4-FFF2-40B4-BE49-F238E27FC236}">
                <a16:creationId xmlns:a16="http://schemas.microsoft.com/office/drawing/2014/main" id="{FF8A3B24-EC25-4957-8D70-688ADA24328D}"/>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481">
            <a:extLst>
              <a:ext uri="{FF2B5EF4-FFF2-40B4-BE49-F238E27FC236}">
                <a16:creationId xmlns:a16="http://schemas.microsoft.com/office/drawing/2014/main" id="{83F180CB-01EA-47DF-A8EC-60377A725C2E}"/>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64</a:t>
            </a:r>
          </a:p>
        </p:txBody>
      </p:sp>
      <p:graphicFrame>
        <p:nvGraphicFramePr>
          <p:cNvPr id="11" name="Table 10"/>
          <p:cNvGraphicFramePr/>
          <p:nvPr/>
        </p:nvGraphicFramePr>
        <p:xfrm>
          <a:off x="685800" y="2333625"/>
          <a:ext cx="13868400" cy="4572000"/>
        </p:xfrm>
        <a:graphic>
          <a:graphicData uri="http://schemas.openxmlformats.org/drawingml/2006/table">
            <a:tbl>
              <a:tblPr firstRow="1"/>
              <a:tblGrid>
                <a:gridCol w="4238625">
                  <a:extLst>
                    <a:ext uri="{9D8B030D-6E8A-4147-A177-3AD203B41FA5}">
                      <a16:colId xmlns:a16="http://schemas.microsoft.com/office/drawing/2014/main" val="20000"/>
                    </a:ext>
                  </a:extLst>
                </a:gridCol>
                <a:gridCol w="9629775">
                  <a:extLst>
                    <a:ext uri="{9D8B030D-6E8A-4147-A177-3AD203B41FA5}">
                      <a16:colId xmlns:a16="http://schemas.microsoft.com/office/drawing/2014/main" val="20001"/>
                    </a:ext>
                  </a:extLst>
                </a:gridCol>
              </a:tblGrid>
              <a:tr h="762000">
                <a:tc>
                  <a:txBody>
                    <a:bodyPr/>
                    <a:lstStyle/>
                    <a:p>
                      <a:r>
                        <a:rPr sz="2025" b="1">
                          <a:solidFill>
                            <a:srgbClr val="FFFFFF"/>
                          </a:solidFill>
                          <a:latin typeface="Helvetica Neue"/>
                          <a:ea typeface="Helvetica Neue"/>
                          <a:cs typeface="Helvetica Neue"/>
                        </a:rPr>
                        <a:t>Symptom</a:t>
                      </a:r>
                    </a:p>
                  </a:txBody>
                  <a:tcPr anchor="ctr">
                    <a:solidFill>
                      <a:srgbClr val="242C35"/>
                    </a:solidFill>
                  </a:tcPr>
                </a:tc>
                <a:tc>
                  <a:txBody>
                    <a:bodyPr/>
                    <a:lstStyle/>
                    <a:p>
                      <a:r>
                        <a:rPr sz="2025" b="1">
                          <a:solidFill>
                            <a:srgbClr val="FFFFFF"/>
                          </a:solidFill>
                          <a:latin typeface="Helvetica Neue"/>
                          <a:ea typeface="Helvetica Neue"/>
                          <a:cs typeface="Helvetica Neue"/>
                        </a:rPr>
                        <a:t>Likely check</a:t>
                      </a:r>
                    </a:p>
                  </a:txBody>
                  <a:tcPr anchor="ctr">
                    <a:solidFill>
                      <a:srgbClr val="242C35"/>
                    </a:solidFill>
                  </a:tcPr>
                </a:tc>
                <a:extLst>
                  <a:ext uri="{0D108BD9-81ED-4DB2-BD59-A6C34878D82A}">
                    <a16:rowId xmlns:a16="http://schemas.microsoft.com/office/drawing/2014/main" val="10000"/>
                  </a:ext>
                </a:extLst>
              </a:tr>
              <a:tr h="762000">
                <a:tc>
                  <a:txBody>
                    <a:bodyPr/>
                    <a:lstStyle/>
                    <a:p>
                      <a:r>
                        <a:rPr sz="2025" b="0">
                          <a:solidFill>
                            <a:srgbClr val="242C35"/>
                          </a:solidFill>
                          <a:latin typeface="Helvetica Neue"/>
                          <a:ea typeface="Helvetica Neue"/>
                          <a:cs typeface="Helvetica Neue"/>
                        </a:rPr>
                        <a:t>404 on your route</a:t>
                      </a:r>
                    </a:p>
                  </a:txBody>
                  <a:tcPr anchor="ctr">
                    <a:solidFill>
                      <a:srgbClr val="FFFFFF"/>
                    </a:solidFill>
                  </a:tcPr>
                </a:tc>
                <a:tc>
                  <a:txBody>
                    <a:bodyPr/>
                    <a:lstStyle/>
                    <a:p>
                      <a:r>
                        <a:rPr sz="2025" b="0">
                          <a:solidFill>
                            <a:srgbClr val="242C35"/>
                          </a:solidFill>
                          <a:latin typeface="Helvetica Neue"/>
                          <a:ea typeface="Helvetica Neue"/>
                          <a:cs typeface="Helvetica Neue"/>
                        </a:rPr>
                        <a:t>Project include(), route order and path</a:t>
                      </a:r>
                    </a:p>
                  </a:txBody>
                  <a:tcPr anchor="ctr">
                    <a:solidFill>
                      <a:srgbClr val="FFFFFF"/>
                    </a:solidFill>
                  </a:tcPr>
                </a:tc>
                <a:extLst>
                  <a:ext uri="{0D108BD9-81ED-4DB2-BD59-A6C34878D82A}">
                    <a16:rowId xmlns:a16="http://schemas.microsoft.com/office/drawing/2014/main" val="10001"/>
                  </a:ext>
                </a:extLst>
              </a:tr>
              <a:tr h="762000">
                <a:tc>
                  <a:txBody>
                    <a:bodyPr/>
                    <a:lstStyle/>
                    <a:p>
                      <a:r>
                        <a:rPr sz="2025" b="0">
                          <a:solidFill>
                            <a:srgbClr val="242C35"/>
                          </a:solidFill>
                          <a:latin typeface="Helvetica Neue"/>
                          <a:ea typeface="Helvetica Neue"/>
                          <a:cs typeface="Helvetica Neue"/>
                        </a:rPr>
                        <a:t>TemplateDoesNotExist</a:t>
                      </a:r>
                    </a:p>
                  </a:txBody>
                  <a:tcPr anchor="ctr">
                    <a:solidFill>
                      <a:srgbClr val="F8F5EF"/>
                    </a:solidFill>
                  </a:tcPr>
                </a:tc>
                <a:tc>
                  <a:txBody>
                    <a:bodyPr/>
                    <a:lstStyle/>
                    <a:p>
                      <a:r>
                        <a:rPr sz="2025" b="0">
                          <a:solidFill>
                            <a:srgbClr val="242C35"/>
                          </a:solidFill>
                          <a:latin typeface="Helvetica Neue"/>
                          <a:ea typeface="Helvetica Neue"/>
                          <a:cs typeface="Helvetica Neue"/>
                        </a:rPr>
                        <a:t>Template path, app registration, APP_DIRS</a:t>
                      </a:r>
                    </a:p>
                  </a:txBody>
                  <a:tcPr anchor="ctr">
                    <a:solidFill>
                      <a:srgbClr val="F8F5EF"/>
                    </a:solidFill>
                  </a:tcPr>
                </a:tc>
                <a:extLst>
                  <a:ext uri="{0D108BD9-81ED-4DB2-BD59-A6C34878D82A}">
                    <a16:rowId xmlns:a16="http://schemas.microsoft.com/office/drawing/2014/main" val="10002"/>
                  </a:ext>
                </a:extLst>
              </a:tr>
              <a:tr h="762000">
                <a:tc>
                  <a:txBody>
                    <a:bodyPr/>
                    <a:lstStyle/>
                    <a:p>
                      <a:r>
                        <a:rPr sz="2025" b="0">
                          <a:solidFill>
                            <a:srgbClr val="242C35"/>
                          </a:solidFill>
                          <a:latin typeface="Helvetica Neue"/>
                          <a:ea typeface="Helvetica Neue"/>
                          <a:cs typeface="Helvetica Neue"/>
                        </a:rPr>
                        <a:t>No such table</a:t>
                      </a:r>
                    </a:p>
                  </a:txBody>
                  <a:tcPr anchor="ctr">
                    <a:solidFill>
                      <a:srgbClr val="FFFFFF"/>
                    </a:solidFill>
                  </a:tcPr>
                </a:tc>
                <a:tc>
                  <a:txBody>
                    <a:bodyPr/>
                    <a:lstStyle/>
                    <a:p>
                      <a:r>
                        <a:rPr sz="2025" b="0">
                          <a:solidFill>
                            <a:srgbClr val="242C35"/>
                          </a:solidFill>
                          <a:latin typeface="Helvetica Neue"/>
                          <a:ea typeface="Helvetica Neue"/>
                          <a:cs typeface="Helvetica Neue"/>
                        </a:rPr>
                        <a:t>Correct database and applied migrations</a:t>
                      </a:r>
                    </a:p>
                  </a:txBody>
                  <a:tcPr anchor="ctr">
                    <a:solidFill>
                      <a:srgbClr val="FFFFFF"/>
                    </a:solidFill>
                  </a:tcPr>
                </a:tc>
                <a:extLst>
                  <a:ext uri="{0D108BD9-81ED-4DB2-BD59-A6C34878D82A}">
                    <a16:rowId xmlns:a16="http://schemas.microsoft.com/office/drawing/2014/main" val="10003"/>
                  </a:ext>
                </a:extLst>
              </a:tr>
              <a:tr h="762000">
                <a:tc>
                  <a:txBody>
                    <a:bodyPr/>
                    <a:lstStyle/>
                    <a:p>
                      <a:r>
                        <a:rPr sz="2025" b="0">
                          <a:solidFill>
                            <a:srgbClr val="242C35"/>
                          </a:solidFill>
                          <a:latin typeface="Helvetica Neue"/>
                          <a:ea typeface="Helvetica Neue"/>
                          <a:cs typeface="Helvetica Neue"/>
                        </a:rPr>
                        <a:t>403 on a form POST</a:t>
                      </a:r>
                    </a:p>
                  </a:txBody>
                  <a:tcPr anchor="ctr">
                    <a:solidFill>
                      <a:srgbClr val="F8F5EF"/>
                    </a:solidFill>
                  </a:tcPr>
                </a:tc>
                <a:tc>
                  <a:txBody>
                    <a:bodyPr/>
                    <a:lstStyle/>
                    <a:p>
                      <a:r>
                        <a:rPr sz="2025" b="0">
                          <a:solidFill>
                            <a:srgbClr val="242C35"/>
                          </a:solidFill>
                          <a:latin typeface="Helvetica Neue"/>
                          <a:ea typeface="Helvetica Neue"/>
                          <a:cs typeface="Helvetica Neue"/>
                        </a:rPr>
                        <a:t>CSRF token, origin, cookies and session</a:t>
                      </a:r>
                    </a:p>
                  </a:txBody>
                  <a:tcPr anchor="ctr">
                    <a:solidFill>
                      <a:srgbClr val="F8F5EF"/>
                    </a:solidFill>
                  </a:tcPr>
                </a:tc>
                <a:extLst>
                  <a:ext uri="{0D108BD9-81ED-4DB2-BD59-A6C34878D82A}">
                    <a16:rowId xmlns:a16="http://schemas.microsoft.com/office/drawing/2014/main" val="10004"/>
                  </a:ext>
                </a:extLst>
              </a:tr>
              <a:tr h="762000">
                <a:tc>
                  <a:txBody>
                    <a:bodyPr/>
                    <a:lstStyle/>
                    <a:p>
                      <a:r>
                        <a:rPr sz="2025" b="0">
                          <a:solidFill>
                            <a:srgbClr val="242C35"/>
                          </a:solidFill>
                          <a:latin typeface="Helvetica Neue"/>
                          <a:ea typeface="Helvetica Neue"/>
                          <a:cs typeface="Helvetica Neue"/>
                        </a:rPr>
                        <a:t>DisallowedHost / deployment 500</a:t>
                      </a:r>
                    </a:p>
                  </a:txBody>
                  <a:tcPr anchor="ctr">
                    <a:solidFill>
                      <a:srgbClr val="FFFFFF"/>
                    </a:solidFill>
                  </a:tcPr>
                </a:tc>
                <a:tc>
                  <a:txBody>
                    <a:bodyPr/>
                    <a:lstStyle/>
                    <a:p>
                      <a:r>
                        <a:rPr sz="2025" b="0">
                          <a:solidFill>
                            <a:srgbClr val="242C35"/>
                          </a:solidFill>
                          <a:latin typeface="Helvetica Neue"/>
                          <a:ea typeface="Helvetica Neue"/>
                          <a:cs typeface="Helvetica Neue"/>
                        </a:rPr>
                        <a:t>Actual hosts, environment variables and logs</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6" name="fade-1-takeaway">
            <a:extLst>
              <a:ext uri="{FF2B5EF4-FFF2-40B4-BE49-F238E27FC236}">
                <a16:creationId xmlns:a16="http://schemas.microsoft.com/office/drawing/2014/main" id="{2CDB0A0A-B682-4100-938D-A62377663A36}"/>
              </a:ext>
            </a:extLst>
          </p:cNvPr>
          <p:cNvSpPr>
            <a:spLocks noGrp="1"/>
          </p:cNvSpPr>
          <p:nvPr/>
        </p:nvSpPr>
        <p:spPr>
          <a:xfrm>
            <a:off x="685800" y="7477125"/>
            <a:ext cx="13868400" cy="571500"/>
          </a:xfrm>
          <a:prstGeom prst="rect">
            <a:avLst/>
          </a:prstGeom>
          <a:noFill/>
          <a:ln w="0">
            <a:noFill/>
          </a:ln>
        </p:spPr>
        <p:txBody>
          <a:bodyPr wrap="none" lIns="0" tIns="0" rIns="0" bIns="0" anchor="t">
            <a:noAutofit/>
          </a:bodyPr>
          <a:lstStyle/>
          <a:p>
            <a:pPr algn="l">
              <a:defRPr sz="2025" b="0">
                <a:solidFill>
                  <a:srgbClr val="65717A"/>
                </a:solidFill>
                <a:latin typeface="Helvetica Neue"/>
                <a:ea typeface="Helvetica Neue"/>
                <a:cs typeface="Helvetica Neue"/>
              </a:defRPr>
            </a:pPr>
            <a:r>
              <a:rPr sz="2025" b="0">
                <a:solidFill>
                  <a:srgbClr val="65717A"/>
                </a:solidFill>
                <a:latin typeface="Helvetica Neue"/>
                <a:ea typeface="Helvetica Neue"/>
                <a:cs typeface="Helvetica Neue"/>
              </a:rPr>
              <a:t>Read the error, locate the layer, reproduce the smallest failing request.</a:t>
            </a:r>
          </a:p>
        </p:txBody>
      </p:sp>
    </p:spTree>
    <p:extLst>
      <p:ext uri="{BB962C8B-B14F-4D97-AF65-F5344CB8AC3E}">
        <p14:creationId xmlns:p14="http://schemas.microsoft.com/office/powerpoint/2010/main" val="20992752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fill="hold">
                                          <p:stCondLst>
                                            <p:cond delay="0"/>
                                          </p:stCondLst>
                                        </p:cTn>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1" name="text-482">
            <a:extLst>
              <a:ext uri="{FF2B5EF4-FFF2-40B4-BE49-F238E27FC236}">
                <a16:creationId xmlns:a16="http://schemas.microsoft.com/office/drawing/2014/main" id="{F47E0A95-C5E2-4553-BDF4-9ACCCCF61E49}"/>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Beyond the core workshop</a:t>
            </a:r>
          </a:p>
        </p:txBody>
      </p:sp>
      <p:sp>
        <p:nvSpPr>
          <p:cNvPr id="2" name="text-483">
            <a:extLst>
              <a:ext uri="{FF2B5EF4-FFF2-40B4-BE49-F238E27FC236}">
                <a16:creationId xmlns:a16="http://schemas.microsoft.com/office/drawing/2014/main" id="{F6DCC487-85A7-4A21-A6C6-591EF1834ECE}"/>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What makes PocketDesk a web application</a:t>
            </a:r>
          </a:p>
        </p:txBody>
      </p:sp>
      <p:sp>
        <p:nvSpPr>
          <p:cNvPr id="3" name="text-484">
            <a:extLst>
              <a:ext uri="{FF2B5EF4-FFF2-40B4-BE49-F238E27FC236}">
                <a16:creationId xmlns:a16="http://schemas.microsoft.com/office/drawing/2014/main" id="{2E87F816-8F3B-457F-9208-5EF8130C6939}"/>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485">
            <a:extLst>
              <a:ext uri="{FF2B5EF4-FFF2-40B4-BE49-F238E27FC236}">
                <a16:creationId xmlns:a16="http://schemas.microsoft.com/office/drawing/2014/main" id="{3059EC3B-507E-4322-818E-EDEDDD6AD3CC}"/>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65</a:t>
            </a:r>
          </a:p>
        </p:txBody>
      </p:sp>
      <p:sp>
        <p:nvSpPr>
          <p:cNvPr id="5" name="reveal-1-number">
            <a:extLst>
              <a:ext uri="{FF2B5EF4-FFF2-40B4-BE49-F238E27FC236}">
                <a16:creationId xmlns:a16="http://schemas.microsoft.com/office/drawing/2014/main" id="{E643F0B3-A0A0-4FBF-841C-246D15E05390}"/>
              </a:ext>
            </a:extLst>
          </p:cNvPr>
          <p:cNvSpPr>
            <a:spLocks noGrp="1"/>
          </p:cNvSpPr>
          <p:nvPr/>
        </p:nvSpPr>
        <p:spPr>
          <a:xfrm>
            <a:off x="685800" y="2476500"/>
            <a:ext cx="6000750" cy="714375"/>
          </a:xfrm>
          <a:prstGeom prst="rect">
            <a:avLst/>
          </a:prstGeom>
          <a:noFill/>
          <a:ln w="0">
            <a:noFill/>
          </a:ln>
        </p:spPr>
        <p:txBody>
          <a:bodyPr wrap="none" lIns="0" tIns="0" rIns="0" bIns="0" anchor="t">
            <a:noAutofit/>
          </a:bodyPr>
          <a:lstStyle/>
          <a:p>
            <a:pPr algn="l">
              <a:defRPr sz="4275" b="0">
                <a:solidFill>
                  <a:srgbClr val="D8663D"/>
                </a:solidFill>
                <a:latin typeface="Georgia"/>
                <a:ea typeface="Georgia"/>
                <a:cs typeface="Georgia"/>
              </a:defRPr>
            </a:pPr>
            <a:r>
              <a:rPr sz="4275" b="0">
                <a:solidFill>
                  <a:srgbClr val="D8663D"/>
                </a:solidFill>
                <a:latin typeface="Georgia"/>
                <a:ea typeface="Georgia"/>
                <a:cs typeface="Georgia"/>
              </a:rPr>
              <a:t>01</a:t>
            </a:r>
          </a:p>
        </p:txBody>
      </p:sp>
      <p:sp>
        <p:nvSpPr>
          <p:cNvPr id="6" name="reveal-1-head">
            <a:extLst>
              <a:ext uri="{FF2B5EF4-FFF2-40B4-BE49-F238E27FC236}">
                <a16:creationId xmlns:a16="http://schemas.microsoft.com/office/drawing/2014/main" id="{B2FA9AC2-51F7-4991-8CCA-BCE4009C2359}"/>
              </a:ext>
            </a:extLst>
          </p:cNvPr>
          <p:cNvSpPr>
            <a:spLocks noGrp="1"/>
          </p:cNvSpPr>
          <p:nvPr/>
        </p:nvSpPr>
        <p:spPr>
          <a:xfrm>
            <a:off x="685800" y="3524250"/>
            <a:ext cx="6286500" cy="1047750"/>
          </a:xfrm>
          <a:prstGeom prst="rect">
            <a:avLst/>
          </a:prstGeom>
          <a:noFill/>
          <a:ln w="0">
            <a:noFill/>
          </a:ln>
        </p:spPr>
        <p:txBody>
          <a:bodyPr wrap="none" lIns="0" tIns="0" rIns="0" bIns="0" anchor="t">
            <a:noAutofit/>
          </a:bodyPr>
          <a:lstStyle/>
          <a:p>
            <a:pPr algn="l">
              <a:defRPr sz="2850" b="0">
                <a:solidFill>
                  <a:srgbClr val="242C35"/>
                </a:solidFill>
                <a:latin typeface="Georgia"/>
                <a:ea typeface="Georgia"/>
                <a:cs typeface="Georgia"/>
              </a:defRPr>
            </a:pPr>
            <a:r>
              <a:rPr sz="2850" b="0">
                <a:solidFill>
                  <a:srgbClr val="242C35"/>
                </a:solidFill>
                <a:latin typeface="Georgia"/>
                <a:ea typeface="Georgia"/>
                <a:cs typeface="Georgia"/>
              </a:rPr>
              <a:t>A dependable user workflow</a:t>
            </a:r>
          </a:p>
        </p:txBody>
      </p:sp>
      <p:sp>
        <p:nvSpPr>
          <p:cNvPr id="7" name="reveal-1-body">
            <a:extLst>
              <a:ext uri="{FF2B5EF4-FFF2-40B4-BE49-F238E27FC236}">
                <a16:creationId xmlns:a16="http://schemas.microsoft.com/office/drawing/2014/main" id="{8D44780A-C1F3-4FF0-B726-B57BFEEC2106}"/>
              </a:ext>
            </a:extLst>
          </p:cNvPr>
          <p:cNvSpPr>
            <a:spLocks noGrp="1"/>
          </p:cNvSpPr>
          <p:nvPr/>
        </p:nvSpPr>
        <p:spPr>
          <a:xfrm>
            <a:off x="685800" y="4895850"/>
            <a:ext cx="6096000" cy="2171700"/>
          </a:xfrm>
          <a:prstGeom prst="rect">
            <a:avLst/>
          </a:prstGeom>
          <a:noFill/>
          <a:ln w="0">
            <a:noFill/>
          </a:ln>
        </p:spPr>
        <p:txBody>
          <a:bodyPr wrap="none" lIns="0" tIns="0" rIns="0" bIns="0" anchor="t">
            <a:noAutofit/>
          </a:bodyPr>
          <a:lstStyle/>
          <a:p>
            <a:pPr algn="l">
              <a:defRPr sz="2400" b="0">
                <a:solidFill>
                  <a:srgbClr val="65717A"/>
                </a:solidFill>
                <a:latin typeface="Helvetica Neue"/>
                <a:ea typeface="Helvetica Neue"/>
                <a:cs typeface="Helvetica Neue"/>
              </a:defRPr>
            </a:pPr>
            <a:r>
              <a:rPr sz="2400" b="0">
                <a:solidFill>
                  <a:srgbClr val="65717A"/>
                </a:solidFill>
                <a:latin typeface="Helvetica Neue"/>
                <a:ea typeface="Helvetica Neue"/>
                <a:cs typeface="Helvetica Neue"/>
              </a:rPr>
              <a:t>Useful state survives a page refresh and</a:t>
            </a:r>
          </a:p>
          <a:p>
            <a:pPr algn="l">
              <a:defRPr sz="2400" b="0">
                <a:solidFill>
                  <a:srgbClr val="65717A"/>
                </a:solidFill>
                <a:latin typeface="Helvetica Neue"/>
                <a:ea typeface="Helvetica Neue"/>
                <a:cs typeface="Helvetica Neue"/>
              </a:defRPr>
            </a:pPr>
            <a:r>
              <a:rPr sz="2400" b="0">
                <a:solidFill>
                  <a:srgbClr val="65717A"/>
                </a:solidFill>
                <a:latin typeface="Helvetica Neue"/>
                <a:ea typeface="Helvetica Neue"/>
                <a:cs typeface="Helvetica Neue"/>
              </a:rPr>
              <a:t>access follows the signed-in account.</a:t>
            </a:r>
          </a:p>
        </p:txBody>
      </p:sp>
      <p:sp>
        <p:nvSpPr>
          <p:cNvPr id="8" name="reveal-2-number">
            <a:extLst>
              <a:ext uri="{FF2B5EF4-FFF2-40B4-BE49-F238E27FC236}">
                <a16:creationId xmlns:a16="http://schemas.microsoft.com/office/drawing/2014/main" id="{139F6049-9926-4FDF-A9DC-C86B67CD3444}"/>
              </a:ext>
            </a:extLst>
          </p:cNvPr>
          <p:cNvSpPr>
            <a:spLocks noGrp="1"/>
          </p:cNvSpPr>
          <p:nvPr/>
        </p:nvSpPr>
        <p:spPr>
          <a:xfrm>
            <a:off x="7829550" y="2476500"/>
            <a:ext cx="6000750" cy="714375"/>
          </a:xfrm>
          <a:prstGeom prst="rect">
            <a:avLst/>
          </a:prstGeom>
          <a:noFill/>
          <a:ln w="0">
            <a:noFill/>
          </a:ln>
        </p:spPr>
        <p:txBody>
          <a:bodyPr wrap="none" lIns="0" tIns="0" rIns="0" bIns="0" anchor="t">
            <a:noAutofit/>
          </a:bodyPr>
          <a:lstStyle/>
          <a:p>
            <a:pPr algn="l">
              <a:defRPr sz="4275" b="0">
                <a:solidFill>
                  <a:srgbClr val="D8663D"/>
                </a:solidFill>
                <a:latin typeface="Georgia"/>
                <a:ea typeface="Georgia"/>
                <a:cs typeface="Georgia"/>
              </a:defRPr>
            </a:pPr>
            <a:r>
              <a:rPr sz="4275" b="0">
                <a:solidFill>
                  <a:srgbClr val="D8663D"/>
                </a:solidFill>
                <a:latin typeface="Georgia"/>
                <a:ea typeface="Georgia"/>
                <a:cs typeface="Georgia"/>
              </a:rPr>
              <a:t>02</a:t>
            </a:r>
          </a:p>
        </p:txBody>
      </p:sp>
      <p:sp>
        <p:nvSpPr>
          <p:cNvPr id="9" name="reveal-2-head">
            <a:extLst>
              <a:ext uri="{FF2B5EF4-FFF2-40B4-BE49-F238E27FC236}">
                <a16:creationId xmlns:a16="http://schemas.microsoft.com/office/drawing/2014/main" id="{1AB78ABF-DF0D-479E-8CD5-971068949D72}"/>
              </a:ext>
            </a:extLst>
          </p:cNvPr>
          <p:cNvSpPr>
            <a:spLocks noGrp="1"/>
          </p:cNvSpPr>
          <p:nvPr/>
        </p:nvSpPr>
        <p:spPr>
          <a:xfrm>
            <a:off x="7829550" y="3524250"/>
            <a:ext cx="6286500" cy="1047750"/>
          </a:xfrm>
          <a:prstGeom prst="rect">
            <a:avLst/>
          </a:prstGeom>
          <a:noFill/>
          <a:ln w="0">
            <a:noFill/>
          </a:ln>
        </p:spPr>
        <p:txBody>
          <a:bodyPr wrap="none" lIns="0" tIns="0" rIns="0" bIns="0" anchor="t">
            <a:noAutofit/>
          </a:bodyPr>
          <a:lstStyle/>
          <a:p>
            <a:pPr algn="l">
              <a:defRPr sz="2850" b="0">
                <a:solidFill>
                  <a:srgbClr val="242C35"/>
                </a:solidFill>
                <a:latin typeface="Georgia"/>
                <a:ea typeface="Georgia"/>
                <a:cs typeface="Georgia"/>
              </a:defRPr>
            </a:pPr>
            <a:r>
              <a:rPr sz="2850" b="0">
                <a:solidFill>
                  <a:srgbClr val="242C35"/>
                </a:solidFill>
                <a:latin typeface="Georgia"/>
                <a:ea typeface="Georgia"/>
                <a:cs typeface="Georgia"/>
              </a:rPr>
              <a:t>A maintainable service</a:t>
            </a:r>
          </a:p>
        </p:txBody>
      </p:sp>
      <p:sp>
        <p:nvSpPr>
          <p:cNvPr id="10" name="reveal-2-body">
            <a:extLst>
              <a:ext uri="{FF2B5EF4-FFF2-40B4-BE49-F238E27FC236}">
                <a16:creationId xmlns:a16="http://schemas.microsoft.com/office/drawing/2014/main" id="{B0A869B1-6EF8-458A-914B-62A5B1FC16B4}"/>
              </a:ext>
            </a:extLst>
          </p:cNvPr>
          <p:cNvSpPr>
            <a:spLocks noGrp="1"/>
          </p:cNvSpPr>
          <p:nvPr/>
        </p:nvSpPr>
        <p:spPr>
          <a:xfrm>
            <a:off x="7829550" y="4895850"/>
            <a:ext cx="6096000" cy="2171700"/>
          </a:xfrm>
          <a:prstGeom prst="rect">
            <a:avLst/>
          </a:prstGeom>
          <a:noFill/>
          <a:ln w="0">
            <a:noFill/>
          </a:ln>
        </p:spPr>
        <p:txBody>
          <a:bodyPr wrap="none" lIns="0" tIns="0" rIns="0" bIns="0" anchor="t">
            <a:noAutofit/>
          </a:bodyPr>
          <a:lstStyle/>
          <a:p>
            <a:pPr algn="l">
              <a:defRPr sz="2400" b="0">
                <a:solidFill>
                  <a:srgbClr val="65717A"/>
                </a:solidFill>
                <a:latin typeface="Helvetica Neue"/>
                <a:ea typeface="Helvetica Neue"/>
                <a:cs typeface="Helvetica Neue"/>
              </a:defRPr>
            </a:pPr>
            <a:r>
              <a:rPr sz="2400" b="0">
                <a:solidFill>
                  <a:srgbClr val="65717A"/>
                </a:solidFill>
                <a:latin typeface="Helvetica Neue"/>
                <a:ea typeface="Helvetica Neue"/>
                <a:cs typeface="Helvetica Neue"/>
              </a:rPr>
              <a:t>Validated input, tests and repeatable</a:t>
            </a:r>
          </a:p>
          <a:p>
            <a:pPr algn="l">
              <a:defRPr sz="2400" b="0">
                <a:solidFill>
                  <a:srgbClr val="65717A"/>
                </a:solidFill>
                <a:latin typeface="Helvetica Neue"/>
                <a:ea typeface="Helvetica Neue"/>
                <a:cs typeface="Helvetica Neue"/>
              </a:defRPr>
            </a:pPr>
            <a:r>
              <a:rPr sz="2400" b="0">
                <a:solidFill>
                  <a:srgbClr val="65717A"/>
                </a:solidFill>
                <a:latin typeface="Helvetica Neue"/>
                <a:ea typeface="Helvetica Neue"/>
                <a:cs typeface="Helvetica Neue"/>
              </a:rPr>
              <a:t>deployment keep the behavior</a:t>
            </a:r>
          </a:p>
          <a:p>
            <a:pPr algn="l">
              <a:defRPr sz="2400" b="0">
                <a:solidFill>
                  <a:srgbClr val="65717A"/>
                </a:solidFill>
                <a:latin typeface="Helvetica Neue"/>
                <a:ea typeface="Helvetica Neue"/>
                <a:cs typeface="Helvetica Neue"/>
              </a:defRPr>
            </a:pPr>
            <a:r>
              <a:rPr sz="2400" b="0">
                <a:solidFill>
                  <a:srgbClr val="65717A"/>
                </a:solidFill>
                <a:latin typeface="Helvetica Neue"/>
                <a:ea typeface="Helvetica Neue"/>
                <a:cs typeface="Helvetica Neue"/>
              </a:rPr>
              <a:t>understandable.</a:t>
            </a:r>
          </a:p>
        </p:txBody>
      </p:sp>
    </p:spTree>
    <p:extLst>
      <p:ext uri="{BB962C8B-B14F-4D97-AF65-F5344CB8AC3E}">
        <p14:creationId xmlns:p14="http://schemas.microsoft.com/office/powerpoint/2010/main" val="11245017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242C35"/>
        </a:solidFill>
        <a:effectLst/>
      </p:bgPr>
    </p:bg>
    <p:spTree>
      <p:nvGrpSpPr>
        <p:cNvPr id="1" name=""/>
        <p:cNvGrpSpPr/>
        <p:nvPr/>
      </p:nvGrpSpPr>
      <p:grpSpPr>
        <a:xfrm>
          <a:off x="0" y="0"/>
          <a:ext cx="0" cy="0"/>
          <a:chOff x="0" y="0"/>
          <a:chExt cx="0" cy="0"/>
        </a:xfrm>
      </p:grpSpPr>
      <p:sp>
        <p:nvSpPr>
          <p:cNvPr id="11" name="text-486">
            <a:extLst>
              <a:ext uri="{FF2B5EF4-FFF2-40B4-BE49-F238E27FC236}">
                <a16:creationId xmlns:a16="http://schemas.microsoft.com/office/drawing/2014/main" id="{CEDF157A-F378-479B-94C5-7E9C8406E310}"/>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CDD4DD"/>
                </a:solidFill>
                <a:latin typeface="Helvetica Neue"/>
                <a:ea typeface="Helvetica Neue"/>
                <a:cs typeface="Helvetica Neue"/>
              </a:defRPr>
            </a:pPr>
            <a:r>
              <a:rPr sz="1500" b="0">
                <a:solidFill>
                  <a:srgbClr val="CDD4DD"/>
                </a:solidFill>
                <a:latin typeface="Helvetica Neue"/>
                <a:ea typeface="Helvetica Neue"/>
                <a:cs typeface="Helvetica Neue"/>
              </a:rPr>
              <a:t>Final practical</a:t>
            </a:r>
          </a:p>
        </p:txBody>
      </p:sp>
      <p:sp>
        <p:nvSpPr>
          <p:cNvPr id="2" name="text-487">
            <a:extLst>
              <a:ext uri="{FF2B5EF4-FFF2-40B4-BE49-F238E27FC236}">
                <a16:creationId xmlns:a16="http://schemas.microsoft.com/office/drawing/2014/main" id="{681E7749-4CBE-4CE3-B5F5-C244576EF7B0}"/>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F8F5EF"/>
                </a:solidFill>
                <a:latin typeface="Georgia"/>
                <a:ea typeface="Georgia"/>
                <a:cs typeface="Georgia"/>
              </a:defRPr>
            </a:pPr>
            <a:r>
              <a:rPr sz="3525" b="0">
                <a:solidFill>
                  <a:srgbClr val="F8F5EF"/>
                </a:solidFill>
                <a:latin typeface="Georgia"/>
                <a:ea typeface="Georgia"/>
                <a:cs typeface="Georgia"/>
              </a:rPr>
              <a:t>Final lab: your own useful feature</a:t>
            </a:r>
          </a:p>
        </p:txBody>
      </p:sp>
      <p:sp>
        <p:nvSpPr>
          <p:cNvPr id="3" name="text-488">
            <a:extLst>
              <a:ext uri="{FF2B5EF4-FFF2-40B4-BE49-F238E27FC236}">
                <a16:creationId xmlns:a16="http://schemas.microsoft.com/office/drawing/2014/main" id="{C750FB5A-D2F0-4333-A760-414F5D5BAF49}"/>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BAC3CF"/>
                </a:solidFill>
                <a:latin typeface="Helvetica Neue"/>
                <a:ea typeface="Helvetica Neue"/>
                <a:cs typeface="Helvetica Neue"/>
              </a:defRPr>
            </a:pPr>
            <a:r>
              <a:rPr sz="1125" b="0">
                <a:solidFill>
                  <a:srgbClr val="BAC3CF"/>
                </a:solidFill>
                <a:latin typeface="Helvetica Neue"/>
                <a:ea typeface="Helvetica Neue"/>
                <a:cs typeface="Helvetica Neue"/>
              </a:rPr>
              <a:t>BHAVYA SHAH / DJANGO WORKSHOP</a:t>
            </a:r>
          </a:p>
        </p:txBody>
      </p:sp>
      <p:sp>
        <p:nvSpPr>
          <p:cNvPr id="4" name="text-489">
            <a:extLst>
              <a:ext uri="{FF2B5EF4-FFF2-40B4-BE49-F238E27FC236}">
                <a16:creationId xmlns:a16="http://schemas.microsoft.com/office/drawing/2014/main" id="{C3127DE8-1A04-4F15-9807-93E9E6B57596}"/>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BAC3CF"/>
                </a:solidFill>
                <a:latin typeface="Helvetica Neue"/>
                <a:ea typeface="Helvetica Neue"/>
                <a:cs typeface="Helvetica Neue"/>
              </a:defRPr>
            </a:pPr>
            <a:r>
              <a:rPr sz="1575" b="0">
                <a:solidFill>
                  <a:srgbClr val="BAC3CF"/>
                </a:solidFill>
                <a:latin typeface="Helvetica Neue"/>
                <a:ea typeface="Helvetica Neue"/>
                <a:cs typeface="Helvetica Neue"/>
              </a:rPr>
              <a:t>66</a:t>
            </a:r>
          </a:p>
        </p:txBody>
      </p:sp>
      <p:sp>
        <p:nvSpPr>
          <p:cNvPr id="5" name="text-490">
            <a:extLst>
              <a:ext uri="{FF2B5EF4-FFF2-40B4-BE49-F238E27FC236}">
                <a16:creationId xmlns:a16="http://schemas.microsoft.com/office/drawing/2014/main" id="{5C4C204A-7896-42AF-81D5-8BC0394AED7F}"/>
              </a:ext>
            </a:extLst>
          </p:cNvPr>
          <p:cNvSpPr>
            <a:spLocks noGrp="1"/>
          </p:cNvSpPr>
          <p:nvPr/>
        </p:nvSpPr>
        <p:spPr>
          <a:xfrm>
            <a:off x="685800" y="2228850"/>
            <a:ext cx="13573125" cy="1123950"/>
          </a:xfrm>
          <a:prstGeom prst="rect">
            <a:avLst/>
          </a:prstGeom>
          <a:noFill/>
          <a:ln w="0">
            <a:noFill/>
          </a:ln>
        </p:spPr>
        <p:txBody>
          <a:bodyPr wrap="none" lIns="0" tIns="0" rIns="0" bIns="0" anchor="t">
            <a:noAutofit/>
          </a:bodyPr>
          <a:lstStyle/>
          <a:p>
            <a:pPr algn="l">
              <a:defRPr sz="2850" b="0">
                <a:solidFill>
                  <a:srgbClr val="F8F5EF"/>
                </a:solidFill>
                <a:latin typeface="Georgia"/>
                <a:ea typeface="Georgia"/>
                <a:cs typeface="Georgia"/>
              </a:defRPr>
            </a:pPr>
            <a:r>
              <a:rPr sz="2850" b="0">
                <a:solidFill>
                  <a:srgbClr val="F8F5EF"/>
                </a:solidFill>
                <a:latin typeface="Georgia"/>
                <a:ea typeface="Georgia"/>
                <a:cs typeface="Georgia"/>
              </a:rPr>
              <a:t>Deliver an Open/Done task filter and a working Entry API.</a:t>
            </a:r>
          </a:p>
        </p:txBody>
      </p:sp>
      <p:sp>
        <p:nvSpPr>
          <p:cNvPr id="6" name="reveal-1-number">
            <a:extLst>
              <a:ext uri="{FF2B5EF4-FFF2-40B4-BE49-F238E27FC236}">
                <a16:creationId xmlns:a16="http://schemas.microsoft.com/office/drawing/2014/main" id="{978C628D-FE6C-46D0-9CF3-4DE65DC753A6}"/>
              </a:ext>
            </a:extLst>
          </p:cNvPr>
          <p:cNvSpPr>
            <a:spLocks noGrp="1"/>
          </p:cNvSpPr>
          <p:nvPr/>
        </p:nvSpPr>
        <p:spPr>
          <a:xfrm>
            <a:off x="685800" y="3876675"/>
            <a:ext cx="714375" cy="581025"/>
          </a:xfrm>
          <a:prstGeom prst="rect">
            <a:avLst/>
          </a:prstGeom>
          <a:noFill/>
          <a:ln w="0">
            <a:noFill/>
          </a:ln>
        </p:spPr>
        <p:txBody>
          <a:bodyPr wrap="none" lIns="0" tIns="0" rIns="0" bIns="0" anchor="t">
            <a:noAutofit/>
          </a:bodyPr>
          <a:lstStyle/>
          <a:p>
            <a:pPr algn="l">
              <a:defRPr sz="3075" b="0">
                <a:solidFill>
                  <a:srgbClr val="ED9D7C"/>
                </a:solidFill>
                <a:latin typeface="Georgia"/>
                <a:ea typeface="Georgia"/>
                <a:cs typeface="Georgia"/>
              </a:defRPr>
            </a:pPr>
            <a:r>
              <a:rPr sz="3075" b="0">
                <a:solidFill>
                  <a:srgbClr val="ED9D7C"/>
                </a:solidFill>
                <a:latin typeface="Georgia"/>
                <a:ea typeface="Georgia"/>
                <a:cs typeface="Georgia"/>
              </a:rPr>
              <a:t>1</a:t>
            </a:r>
          </a:p>
        </p:txBody>
      </p:sp>
      <p:sp>
        <p:nvSpPr>
          <p:cNvPr id="7" name="reveal-1-task">
            <a:extLst>
              <a:ext uri="{FF2B5EF4-FFF2-40B4-BE49-F238E27FC236}">
                <a16:creationId xmlns:a16="http://schemas.microsoft.com/office/drawing/2014/main" id="{5FBE8A0D-DE8F-4410-B539-EAE868BD9A5D}"/>
              </a:ext>
            </a:extLst>
          </p:cNvPr>
          <p:cNvSpPr>
            <a:spLocks noGrp="1"/>
          </p:cNvSpPr>
          <p:nvPr/>
        </p:nvSpPr>
        <p:spPr>
          <a:xfrm>
            <a:off x="1733550" y="3905250"/>
            <a:ext cx="12801600" cy="857250"/>
          </a:xfrm>
          <a:prstGeom prst="rect">
            <a:avLst/>
          </a:prstGeom>
          <a:noFill/>
          <a:ln w="0">
            <a:noFill/>
          </a:ln>
        </p:spPr>
        <p:txBody>
          <a:bodyPr wrap="none" lIns="0" tIns="0" rIns="0" bIns="0" anchor="t">
            <a:noAutofit/>
          </a:bodyPr>
          <a:lstStyle/>
          <a:p>
            <a:pPr algn="l">
              <a:defRPr sz="2325" b="0">
                <a:solidFill>
                  <a:srgbClr val="F8F5EF"/>
                </a:solidFill>
                <a:latin typeface="Helvetica Neue"/>
                <a:ea typeface="Helvetica Neue"/>
                <a:cs typeface="Helvetica Neue"/>
              </a:defRPr>
            </a:pPr>
            <a:r>
              <a:rPr sz="2325" b="0">
                <a:solidFill>
                  <a:srgbClr val="F8F5EF"/>
                </a:solidFill>
                <a:latin typeface="Helvetica Neue"/>
                <a:ea typeface="Helvetica Neue"/>
                <a:cs typeface="Helvetica Neue"/>
              </a:rPr>
              <a:t>Test search, status filtering and isolation between accounts.</a:t>
            </a:r>
          </a:p>
        </p:txBody>
      </p:sp>
      <p:sp>
        <p:nvSpPr>
          <p:cNvPr id="8" name="reveal-2-number">
            <a:extLst>
              <a:ext uri="{FF2B5EF4-FFF2-40B4-BE49-F238E27FC236}">
                <a16:creationId xmlns:a16="http://schemas.microsoft.com/office/drawing/2014/main" id="{66430441-47A2-4F46-B9C1-89B96BD3E5D0}"/>
              </a:ext>
            </a:extLst>
          </p:cNvPr>
          <p:cNvSpPr>
            <a:spLocks noGrp="1"/>
          </p:cNvSpPr>
          <p:nvPr/>
        </p:nvSpPr>
        <p:spPr>
          <a:xfrm>
            <a:off x="685800" y="4838700"/>
            <a:ext cx="714375" cy="581025"/>
          </a:xfrm>
          <a:prstGeom prst="rect">
            <a:avLst/>
          </a:prstGeom>
          <a:noFill/>
          <a:ln w="0">
            <a:noFill/>
          </a:ln>
        </p:spPr>
        <p:txBody>
          <a:bodyPr wrap="none" lIns="0" tIns="0" rIns="0" bIns="0" anchor="t">
            <a:noAutofit/>
          </a:bodyPr>
          <a:lstStyle/>
          <a:p>
            <a:pPr algn="l">
              <a:defRPr sz="3075" b="0">
                <a:solidFill>
                  <a:srgbClr val="ED9D7C"/>
                </a:solidFill>
                <a:latin typeface="Georgia"/>
                <a:ea typeface="Georgia"/>
                <a:cs typeface="Georgia"/>
              </a:defRPr>
            </a:pPr>
            <a:r>
              <a:rPr sz="3075" b="0">
                <a:solidFill>
                  <a:srgbClr val="ED9D7C"/>
                </a:solidFill>
                <a:latin typeface="Georgia"/>
                <a:ea typeface="Georgia"/>
                <a:cs typeface="Georgia"/>
              </a:rPr>
              <a:t>2</a:t>
            </a:r>
          </a:p>
        </p:txBody>
      </p:sp>
      <p:sp>
        <p:nvSpPr>
          <p:cNvPr id="9" name="reveal-2-task">
            <a:extLst>
              <a:ext uri="{FF2B5EF4-FFF2-40B4-BE49-F238E27FC236}">
                <a16:creationId xmlns:a16="http://schemas.microsoft.com/office/drawing/2014/main" id="{3DD05679-0811-470C-BEA3-7034C8FAFBB8}"/>
              </a:ext>
            </a:extLst>
          </p:cNvPr>
          <p:cNvSpPr>
            <a:spLocks noGrp="1"/>
          </p:cNvSpPr>
          <p:nvPr/>
        </p:nvSpPr>
        <p:spPr>
          <a:xfrm>
            <a:off x="1733550" y="4867275"/>
            <a:ext cx="12801600" cy="857250"/>
          </a:xfrm>
          <a:prstGeom prst="rect">
            <a:avLst/>
          </a:prstGeom>
          <a:noFill/>
          <a:ln w="0">
            <a:noFill/>
          </a:ln>
        </p:spPr>
        <p:txBody>
          <a:bodyPr wrap="none" lIns="0" tIns="0" rIns="0" bIns="0" anchor="t">
            <a:noAutofit/>
          </a:bodyPr>
          <a:lstStyle/>
          <a:p>
            <a:pPr algn="l">
              <a:defRPr sz="2325" b="0">
                <a:solidFill>
                  <a:srgbClr val="F8F5EF"/>
                </a:solidFill>
                <a:latin typeface="Helvetica Neue"/>
                <a:ea typeface="Helvetica Neue"/>
                <a:cs typeface="Helvetica Neue"/>
              </a:defRPr>
            </a:pPr>
            <a:r>
              <a:rPr sz="2325" b="0">
                <a:solidFill>
                  <a:srgbClr val="F8F5EF"/>
                </a:solidFill>
                <a:latin typeface="Helvetica Neue"/>
                <a:ea typeface="Helvetica Neue"/>
                <a:cs typeface="Helvetica Neue"/>
              </a:rPr>
              <a:t>Create a useful note through Postman, update its value and verify it after deployment.</a:t>
            </a:r>
          </a:p>
        </p:txBody>
      </p:sp>
      <p:sp>
        <p:nvSpPr>
          <p:cNvPr id="10" name="reveal-4-result">
            <a:extLst>
              <a:ext uri="{FF2B5EF4-FFF2-40B4-BE49-F238E27FC236}">
                <a16:creationId xmlns:a16="http://schemas.microsoft.com/office/drawing/2014/main" id="{7F896E5C-D4C0-42AD-AFD4-8F2D581254F0}"/>
              </a:ext>
            </a:extLst>
          </p:cNvPr>
          <p:cNvSpPr>
            <a:spLocks noGrp="1"/>
          </p:cNvSpPr>
          <p:nvPr/>
        </p:nvSpPr>
        <p:spPr>
          <a:xfrm>
            <a:off x="685800" y="7353300"/>
            <a:ext cx="13868400" cy="657225"/>
          </a:xfrm>
          <a:prstGeom prst="rect">
            <a:avLst/>
          </a:prstGeom>
          <a:noFill/>
          <a:ln w="0">
            <a:noFill/>
          </a:ln>
        </p:spPr>
        <p:txBody>
          <a:bodyPr wrap="none" lIns="0" tIns="0" rIns="0" bIns="0" anchor="t">
            <a:noAutofit/>
          </a:bodyPr>
          <a:lstStyle/>
          <a:p>
            <a:pPr algn="l">
              <a:defRPr sz="1950" b="0">
                <a:solidFill>
                  <a:srgbClr val="BED0FF"/>
                </a:solidFill>
                <a:latin typeface="Helvetica Neue"/>
                <a:ea typeface="Helvetica Neue"/>
                <a:cs typeface="Helvetica Neue"/>
              </a:defRPr>
            </a:pPr>
            <a:r>
              <a:rPr sz="1950" b="0">
                <a:solidFill>
                  <a:srgbClr val="BED0FF"/>
                </a:solidFill>
                <a:latin typeface="Helvetica Neue"/>
                <a:ea typeface="Helvetica Neue"/>
                <a:cs typeface="Helvetica Neue"/>
              </a:rPr>
              <a:t>Evidence: a working URL, tests and a small reviewable change.</a:t>
            </a:r>
          </a:p>
        </p:txBody>
      </p:sp>
    </p:spTree>
    <p:extLst>
      <p:ext uri="{BB962C8B-B14F-4D97-AF65-F5344CB8AC3E}">
        <p14:creationId xmlns:p14="http://schemas.microsoft.com/office/powerpoint/2010/main" val="18949853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1" name="text-491">
            <a:extLst>
              <a:ext uri="{FF2B5EF4-FFF2-40B4-BE49-F238E27FC236}">
                <a16:creationId xmlns:a16="http://schemas.microsoft.com/office/drawing/2014/main" id="{3F648221-24B0-4C6D-BFA7-AFF0647801C3}"/>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Recap</a:t>
            </a:r>
          </a:p>
        </p:txBody>
      </p:sp>
      <p:sp>
        <p:nvSpPr>
          <p:cNvPr id="2" name="text-492">
            <a:extLst>
              <a:ext uri="{FF2B5EF4-FFF2-40B4-BE49-F238E27FC236}">
                <a16:creationId xmlns:a16="http://schemas.microsoft.com/office/drawing/2014/main" id="{4E0FD979-4140-4AE8-9EB2-F34C773BB6C8}"/>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PocketDesk, end to end</a:t>
            </a:r>
          </a:p>
        </p:txBody>
      </p:sp>
      <p:sp>
        <p:nvSpPr>
          <p:cNvPr id="3" name="text-493">
            <a:extLst>
              <a:ext uri="{FF2B5EF4-FFF2-40B4-BE49-F238E27FC236}">
                <a16:creationId xmlns:a16="http://schemas.microsoft.com/office/drawing/2014/main" id="{A9E4A06A-29E5-4386-980E-0A8B8FE1F8DA}"/>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494">
            <a:extLst>
              <a:ext uri="{FF2B5EF4-FFF2-40B4-BE49-F238E27FC236}">
                <a16:creationId xmlns:a16="http://schemas.microsoft.com/office/drawing/2014/main" id="{21C236A1-7C5B-4522-8945-EB152FA6F33C}"/>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67</a:t>
            </a:r>
          </a:p>
        </p:txBody>
      </p:sp>
      <p:sp>
        <p:nvSpPr>
          <p:cNvPr id="5" name="reveal-1-number">
            <a:extLst>
              <a:ext uri="{FF2B5EF4-FFF2-40B4-BE49-F238E27FC236}">
                <a16:creationId xmlns:a16="http://schemas.microsoft.com/office/drawing/2014/main" id="{4AFA5788-902F-419A-AF1F-31345EBA8324}"/>
              </a:ext>
            </a:extLst>
          </p:cNvPr>
          <p:cNvSpPr>
            <a:spLocks noGrp="1"/>
          </p:cNvSpPr>
          <p:nvPr/>
        </p:nvSpPr>
        <p:spPr>
          <a:xfrm>
            <a:off x="685800" y="2476500"/>
            <a:ext cx="6000750" cy="714375"/>
          </a:xfrm>
          <a:prstGeom prst="rect">
            <a:avLst/>
          </a:prstGeom>
          <a:noFill/>
          <a:ln w="0">
            <a:noFill/>
          </a:ln>
        </p:spPr>
        <p:txBody>
          <a:bodyPr wrap="none" lIns="0" tIns="0" rIns="0" bIns="0" anchor="t">
            <a:noAutofit/>
          </a:bodyPr>
          <a:lstStyle/>
          <a:p>
            <a:pPr algn="l">
              <a:defRPr sz="4275" b="0">
                <a:solidFill>
                  <a:srgbClr val="D8663D"/>
                </a:solidFill>
                <a:latin typeface="Georgia"/>
                <a:ea typeface="Georgia"/>
                <a:cs typeface="Georgia"/>
              </a:defRPr>
            </a:pPr>
            <a:r>
              <a:rPr sz="4275" b="0">
                <a:solidFill>
                  <a:srgbClr val="D8663D"/>
                </a:solidFill>
                <a:latin typeface="Georgia"/>
                <a:ea typeface="Georgia"/>
                <a:cs typeface="Georgia"/>
              </a:rPr>
              <a:t>01</a:t>
            </a:r>
          </a:p>
        </p:txBody>
      </p:sp>
      <p:sp>
        <p:nvSpPr>
          <p:cNvPr id="6" name="reveal-1-head">
            <a:extLst>
              <a:ext uri="{FF2B5EF4-FFF2-40B4-BE49-F238E27FC236}">
                <a16:creationId xmlns:a16="http://schemas.microsoft.com/office/drawing/2014/main" id="{C534403A-12E7-40D4-A0A2-87A7EF4ED16C}"/>
              </a:ext>
            </a:extLst>
          </p:cNvPr>
          <p:cNvSpPr>
            <a:spLocks noGrp="1"/>
          </p:cNvSpPr>
          <p:nvPr/>
        </p:nvSpPr>
        <p:spPr>
          <a:xfrm>
            <a:off x="685800" y="3524250"/>
            <a:ext cx="6286500" cy="1047750"/>
          </a:xfrm>
          <a:prstGeom prst="rect">
            <a:avLst/>
          </a:prstGeom>
          <a:noFill/>
          <a:ln w="0">
            <a:noFill/>
          </a:ln>
        </p:spPr>
        <p:txBody>
          <a:bodyPr wrap="none" lIns="0" tIns="0" rIns="0" bIns="0" anchor="t">
            <a:noAutofit/>
          </a:bodyPr>
          <a:lstStyle/>
          <a:p>
            <a:pPr algn="l">
              <a:defRPr sz="2850" b="0">
                <a:solidFill>
                  <a:srgbClr val="242C35"/>
                </a:solidFill>
                <a:latin typeface="Georgia"/>
                <a:ea typeface="Georgia"/>
                <a:cs typeface="Georgia"/>
              </a:defRPr>
            </a:pPr>
            <a:r>
              <a:rPr sz="2850" b="0">
                <a:solidFill>
                  <a:srgbClr val="242C35"/>
                </a:solidFill>
                <a:latin typeface="Georgia"/>
                <a:ea typeface="Georgia"/>
                <a:cs typeface="Georgia"/>
              </a:rPr>
              <a:t>One feature, two clients</a:t>
            </a:r>
          </a:p>
        </p:txBody>
      </p:sp>
      <p:sp>
        <p:nvSpPr>
          <p:cNvPr id="7" name="reveal-1-body">
            <a:extLst>
              <a:ext uri="{FF2B5EF4-FFF2-40B4-BE49-F238E27FC236}">
                <a16:creationId xmlns:a16="http://schemas.microsoft.com/office/drawing/2014/main" id="{434BA09F-B32D-4F4E-8481-87DF9B5955D4}"/>
              </a:ext>
            </a:extLst>
          </p:cNvPr>
          <p:cNvSpPr>
            <a:spLocks noGrp="1"/>
          </p:cNvSpPr>
          <p:nvPr/>
        </p:nvSpPr>
        <p:spPr>
          <a:xfrm>
            <a:off x="685800" y="4895850"/>
            <a:ext cx="6096000" cy="2171700"/>
          </a:xfrm>
          <a:prstGeom prst="rect">
            <a:avLst/>
          </a:prstGeom>
          <a:noFill/>
          <a:ln w="0">
            <a:noFill/>
          </a:ln>
        </p:spPr>
        <p:txBody>
          <a:bodyPr wrap="none" lIns="0" tIns="0" rIns="0" bIns="0" anchor="t">
            <a:noAutofit/>
          </a:bodyPr>
          <a:lstStyle/>
          <a:p>
            <a:pPr algn="l">
              <a:defRPr sz="2400" b="0">
                <a:solidFill>
                  <a:srgbClr val="65717A"/>
                </a:solidFill>
                <a:latin typeface="Helvetica Neue"/>
                <a:ea typeface="Helvetica Neue"/>
                <a:cs typeface="Helvetica Neue"/>
              </a:defRPr>
            </a:pPr>
            <a:r>
              <a:rPr sz="2400" b="0">
                <a:solidFill>
                  <a:srgbClr val="65717A"/>
                </a:solidFill>
                <a:latin typeface="Helvetica Neue"/>
                <a:ea typeface="Helvetica Neue"/>
                <a:cs typeface="Helvetica Neue"/>
              </a:rPr>
              <a:t>A browser page and a REST client work with</a:t>
            </a:r>
          </a:p>
          <a:p>
            <a:pPr algn="l">
              <a:defRPr sz="2400" b="0">
                <a:solidFill>
                  <a:srgbClr val="65717A"/>
                </a:solidFill>
                <a:latin typeface="Helvetica Neue"/>
                <a:ea typeface="Helvetica Neue"/>
                <a:cs typeface="Helvetica Neue"/>
              </a:defRPr>
            </a:pPr>
            <a:r>
              <a:rPr sz="2400" b="0">
                <a:solidFill>
                  <a:srgbClr val="65717A"/>
                </a:solidFill>
                <a:latin typeface="Helvetica Neue"/>
                <a:ea typeface="Helvetica Neue"/>
                <a:cs typeface="Helvetica Neue"/>
              </a:rPr>
              <a:t>the same task records.</a:t>
            </a:r>
          </a:p>
        </p:txBody>
      </p:sp>
      <p:sp>
        <p:nvSpPr>
          <p:cNvPr id="8" name="reveal-2-number">
            <a:extLst>
              <a:ext uri="{FF2B5EF4-FFF2-40B4-BE49-F238E27FC236}">
                <a16:creationId xmlns:a16="http://schemas.microsoft.com/office/drawing/2014/main" id="{6AB814B2-737A-4136-8DF7-3FF3E92658C1}"/>
              </a:ext>
            </a:extLst>
          </p:cNvPr>
          <p:cNvSpPr>
            <a:spLocks noGrp="1"/>
          </p:cNvSpPr>
          <p:nvPr/>
        </p:nvSpPr>
        <p:spPr>
          <a:xfrm>
            <a:off x="7829550" y="2476500"/>
            <a:ext cx="6000750" cy="714375"/>
          </a:xfrm>
          <a:prstGeom prst="rect">
            <a:avLst/>
          </a:prstGeom>
          <a:noFill/>
          <a:ln w="0">
            <a:noFill/>
          </a:ln>
        </p:spPr>
        <p:txBody>
          <a:bodyPr wrap="none" lIns="0" tIns="0" rIns="0" bIns="0" anchor="t">
            <a:noAutofit/>
          </a:bodyPr>
          <a:lstStyle/>
          <a:p>
            <a:pPr algn="l">
              <a:defRPr sz="4275" b="0">
                <a:solidFill>
                  <a:srgbClr val="D8663D"/>
                </a:solidFill>
                <a:latin typeface="Georgia"/>
                <a:ea typeface="Georgia"/>
                <a:cs typeface="Georgia"/>
              </a:defRPr>
            </a:pPr>
            <a:r>
              <a:rPr sz="4275" b="0">
                <a:solidFill>
                  <a:srgbClr val="D8663D"/>
                </a:solidFill>
                <a:latin typeface="Georgia"/>
                <a:ea typeface="Georgia"/>
                <a:cs typeface="Georgia"/>
              </a:rPr>
              <a:t>02</a:t>
            </a:r>
          </a:p>
        </p:txBody>
      </p:sp>
      <p:sp>
        <p:nvSpPr>
          <p:cNvPr id="9" name="reveal-2-head">
            <a:extLst>
              <a:ext uri="{FF2B5EF4-FFF2-40B4-BE49-F238E27FC236}">
                <a16:creationId xmlns:a16="http://schemas.microsoft.com/office/drawing/2014/main" id="{4F400016-CA76-48D7-9DA9-E1BAAA1A1588}"/>
              </a:ext>
            </a:extLst>
          </p:cNvPr>
          <p:cNvSpPr>
            <a:spLocks noGrp="1"/>
          </p:cNvSpPr>
          <p:nvPr/>
        </p:nvSpPr>
        <p:spPr>
          <a:xfrm>
            <a:off x="7829550" y="3524250"/>
            <a:ext cx="6286500" cy="1047750"/>
          </a:xfrm>
          <a:prstGeom prst="rect">
            <a:avLst/>
          </a:prstGeom>
          <a:noFill/>
          <a:ln w="0">
            <a:noFill/>
          </a:ln>
        </p:spPr>
        <p:txBody>
          <a:bodyPr wrap="none" lIns="0" tIns="0" rIns="0" bIns="0" anchor="t">
            <a:noAutofit/>
          </a:bodyPr>
          <a:lstStyle/>
          <a:p>
            <a:pPr algn="l">
              <a:defRPr sz="2850" b="0">
                <a:solidFill>
                  <a:srgbClr val="242C35"/>
                </a:solidFill>
                <a:latin typeface="Georgia"/>
                <a:ea typeface="Georgia"/>
                <a:cs typeface="Georgia"/>
              </a:defRPr>
            </a:pPr>
            <a:r>
              <a:rPr sz="2850" b="0">
                <a:solidFill>
                  <a:srgbClr val="242C35"/>
                </a:solidFill>
                <a:latin typeface="Georgia"/>
                <a:ea typeface="Georgia"/>
                <a:cs typeface="Georgia"/>
              </a:rPr>
              <a:t>A clear responsibility in each layer</a:t>
            </a:r>
          </a:p>
        </p:txBody>
      </p:sp>
      <p:sp>
        <p:nvSpPr>
          <p:cNvPr id="10" name="reveal-2-body">
            <a:extLst>
              <a:ext uri="{FF2B5EF4-FFF2-40B4-BE49-F238E27FC236}">
                <a16:creationId xmlns:a16="http://schemas.microsoft.com/office/drawing/2014/main" id="{CA802621-CCCE-4941-A56C-B7B949FABCBF}"/>
              </a:ext>
            </a:extLst>
          </p:cNvPr>
          <p:cNvSpPr>
            <a:spLocks noGrp="1"/>
          </p:cNvSpPr>
          <p:nvPr/>
        </p:nvSpPr>
        <p:spPr>
          <a:xfrm>
            <a:off x="7829550" y="4895850"/>
            <a:ext cx="6096000" cy="2171700"/>
          </a:xfrm>
          <a:prstGeom prst="rect">
            <a:avLst/>
          </a:prstGeom>
          <a:noFill/>
          <a:ln w="0">
            <a:noFill/>
          </a:ln>
        </p:spPr>
        <p:txBody>
          <a:bodyPr wrap="none" lIns="0" tIns="0" rIns="0" bIns="0" anchor="t">
            <a:noAutofit/>
          </a:bodyPr>
          <a:lstStyle/>
          <a:p>
            <a:pPr algn="l">
              <a:defRPr sz="2400" b="0">
                <a:solidFill>
                  <a:srgbClr val="65717A"/>
                </a:solidFill>
                <a:latin typeface="Helvetica Neue"/>
                <a:ea typeface="Helvetica Neue"/>
                <a:cs typeface="Helvetica Neue"/>
              </a:defRPr>
            </a:pPr>
            <a:r>
              <a:rPr sz="2400" b="0">
                <a:solidFill>
                  <a:srgbClr val="65717A"/>
                </a:solidFill>
                <a:latin typeface="Helvetica Neue"/>
                <a:ea typeface="Helvetica Neue"/>
                <a:cs typeface="Helvetica Neue"/>
              </a:rPr>
              <a:t>Models describe data. Views enforce</a:t>
            </a:r>
          </a:p>
          <a:p>
            <a:pPr algn="l">
              <a:defRPr sz="2400" b="0">
                <a:solidFill>
                  <a:srgbClr val="65717A"/>
                </a:solidFill>
                <a:latin typeface="Helvetica Neue"/>
                <a:ea typeface="Helvetica Neue"/>
                <a:cs typeface="Helvetica Neue"/>
              </a:defRPr>
            </a:pPr>
            <a:r>
              <a:rPr sz="2400" b="0">
                <a:solidFill>
                  <a:srgbClr val="65717A"/>
                </a:solidFill>
                <a:latin typeface="Helvetica Neue"/>
                <a:ea typeface="Helvetica Neue"/>
                <a:cs typeface="Helvetica Neue"/>
              </a:rPr>
              <a:t>access. Templates and serializers present it.</a:t>
            </a:r>
          </a:p>
        </p:txBody>
      </p:sp>
    </p:spTree>
    <p:extLst>
      <p:ext uri="{BB962C8B-B14F-4D97-AF65-F5344CB8AC3E}">
        <p14:creationId xmlns:p14="http://schemas.microsoft.com/office/powerpoint/2010/main" val="17397715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7" name="text-495">
            <a:extLst>
              <a:ext uri="{FF2B5EF4-FFF2-40B4-BE49-F238E27FC236}">
                <a16:creationId xmlns:a16="http://schemas.microsoft.com/office/drawing/2014/main" id="{D95AE283-C7F1-417B-BD46-DB9E8195257D}"/>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Further learning</a:t>
            </a:r>
          </a:p>
        </p:txBody>
      </p:sp>
      <p:sp>
        <p:nvSpPr>
          <p:cNvPr id="2" name="text-496">
            <a:extLst>
              <a:ext uri="{FF2B5EF4-FFF2-40B4-BE49-F238E27FC236}">
                <a16:creationId xmlns:a16="http://schemas.microsoft.com/office/drawing/2014/main" id="{DF821CBB-01BA-48D0-A218-E26203AF867B}"/>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Documentation for the next practical</a:t>
            </a:r>
          </a:p>
        </p:txBody>
      </p:sp>
      <p:sp>
        <p:nvSpPr>
          <p:cNvPr id="3" name="text-497">
            <a:extLst>
              <a:ext uri="{FF2B5EF4-FFF2-40B4-BE49-F238E27FC236}">
                <a16:creationId xmlns:a16="http://schemas.microsoft.com/office/drawing/2014/main" id="{3605C23C-9A1B-44FA-B4B8-AF5F397A842F}"/>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498">
            <a:extLst>
              <a:ext uri="{FF2B5EF4-FFF2-40B4-BE49-F238E27FC236}">
                <a16:creationId xmlns:a16="http://schemas.microsoft.com/office/drawing/2014/main" id="{B7907C9A-3B42-4DCD-B350-9EDCC14F0BFE}"/>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68</a:t>
            </a:r>
          </a:p>
        </p:txBody>
      </p:sp>
      <p:sp>
        <p:nvSpPr>
          <p:cNvPr id="5" name="text-499">
            <a:extLst>
              <a:ext uri="{FF2B5EF4-FFF2-40B4-BE49-F238E27FC236}">
                <a16:creationId xmlns:a16="http://schemas.microsoft.com/office/drawing/2014/main" id="{5679E016-83C0-4C90-B505-6BE8E45501C6}"/>
              </a:ext>
            </a:extLst>
          </p:cNvPr>
          <p:cNvSpPr>
            <a:spLocks noGrp="1"/>
          </p:cNvSpPr>
          <p:nvPr/>
        </p:nvSpPr>
        <p:spPr>
          <a:xfrm>
            <a:off x="685800" y="2238375"/>
            <a:ext cx="7572375" cy="542925"/>
          </a:xfrm>
          <a:prstGeom prst="rect">
            <a:avLst/>
          </a:prstGeom>
          <a:noFill/>
          <a:ln w="0">
            <a:noFill/>
          </a:ln>
        </p:spPr>
        <p:txBody>
          <a:bodyPr wrap="none" lIns="0" tIns="0" rIns="0" bIns="0" anchor="t">
            <a:noAutofit/>
          </a:bodyPr>
          <a:lstStyle/>
          <a:p>
            <a:pPr algn="l">
              <a:defRPr sz="2400" b="0">
                <a:solidFill>
                  <a:srgbClr val="242C35"/>
                </a:solidFill>
                <a:latin typeface="Georgia"/>
                <a:ea typeface="Georgia"/>
                <a:cs typeface="Georgia"/>
              </a:defRPr>
            </a:pPr>
            <a:r>
              <a:rPr sz="2400" b="0">
                <a:solidFill>
                  <a:srgbClr val="242C35"/>
                </a:solidFill>
                <a:latin typeface="Georgia"/>
                <a:ea typeface="Georgia"/>
                <a:cs typeface="Georgia"/>
                <a:hlinkClick r:id="rId3"/>
              </a:rPr>
              <a:t>Django 5.2 tutorial</a:t>
            </a:r>
          </a:p>
        </p:txBody>
      </p:sp>
      <p:sp>
        <p:nvSpPr>
          <p:cNvPr id="6" name="text-500">
            <a:extLst>
              <a:ext uri="{FF2B5EF4-FFF2-40B4-BE49-F238E27FC236}">
                <a16:creationId xmlns:a16="http://schemas.microsoft.com/office/drawing/2014/main" id="{A4510C0B-61EC-4A52-AFEA-CB029A630CF6}"/>
              </a:ext>
            </a:extLst>
          </p:cNvPr>
          <p:cNvSpPr>
            <a:spLocks noGrp="1"/>
          </p:cNvSpPr>
          <p:nvPr/>
        </p:nvSpPr>
        <p:spPr>
          <a:xfrm>
            <a:off x="8905875" y="2324100"/>
            <a:ext cx="5629275" cy="438150"/>
          </a:xfrm>
          <a:prstGeom prst="rect">
            <a:avLst/>
          </a:prstGeom>
          <a:noFill/>
          <a:ln w="0">
            <a:noFill/>
          </a:ln>
        </p:spPr>
        <p:txBody>
          <a:bodyPr wrap="none" lIns="0" tIns="0" rIns="0" bIns="0" anchor="t">
            <a:noAutofit/>
          </a:bodyPr>
          <a:lstStyle/>
          <a:p>
            <a:pPr algn="l">
              <a:defRPr sz="1725" b="0">
                <a:solidFill>
                  <a:srgbClr val="315BCD"/>
                </a:solidFill>
                <a:latin typeface="Helvetica Neue"/>
                <a:ea typeface="Helvetica Neue"/>
                <a:cs typeface="Helvetica Neue"/>
              </a:defRPr>
            </a:pPr>
            <a:r>
              <a:rPr sz="1725" b="0">
                <a:solidFill>
                  <a:srgbClr val="315BCD"/>
                </a:solidFill>
                <a:latin typeface="Helvetica Neue"/>
                <a:ea typeface="Helvetica Neue"/>
                <a:cs typeface="Helvetica Neue"/>
                <a:hlinkClick r:id="rId3"/>
              </a:rPr>
              <a:t>docs.djangoproject.com</a:t>
            </a:r>
          </a:p>
        </p:txBody>
      </p:sp>
      <p:sp>
        <p:nvSpPr>
          <p:cNvPr id="7" name="text-501">
            <a:extLst>
              <a:ext uri="{FF2B5EF4-FFF2-40B4-BE49-F238E27FC236}">
                <a16:creationId xmlns:a16="http://schemas.microsoft.com/office/drawing/2014/main" id="{0BE27E3D-6E69-4C1F-88EC-9F9B471E72DB}"/>
              </a:ext>
            </a:extLst>
          </p:cNvPr>
          <p:cNvSpPr>
            <a:spLocks noGrp="1"/>
          </p:cNvSpPr>
          <p:nvPr/>
        </p:nvSpPr>
        <p:spPr>
          <a:xfrm>
            <a:off x="685800" y="3105150"/>
            <a:ext cx="7572375" cy="542925"/>
          </a:xfrm>
          <a:prstGeom prst="rect">
            <a:avLst/>
          </a:prstGeom>
          <a:noFill/>
          <a:ln w="0">
            <a:noFill/>
          </a:ln>
        </p:spPr>
        <p:txBody>
          <a:bodyPr wrap="none" lIns="0" tIns="0" rIns="0" bIns="0" anchor="t">
            <a:noAutofit/>
          </a:bodyPr>
          <a:lstStyle/>
          <a:p>
            <a:pPr algn="l">
              <a:defRPr sz="2400" b="0">
                <a:solidFill>
                  <a:srgbClr val="242C35"/>
                </a:solidFill>
                <a:latin typeface="Georgia"/>
                <a:ea typeface="Georgia"/>
                <a:cs typeface="Georgia"/>
              </a:defRPr>
            </a:pPr>
            <a:r>
              <a:rPr sz="2400" b="0">
                <a:solidFill>
                  <a:srgbClr val="242C35"/>
                </a:solidFill>
                <a:latin typeface="Georgia"/>
                <a:ea typeface="Georgia"/>
                <a:cs typeface="Georgia"/>
                <a:hlinkClick r:id="rId4"/>
              </a:rPr>
              <a:t>Models and QuerySets</a:t>
            </a:r>
          </a:p>
        </p:txBody>
      </p:sp>
      <p:sp>
        <p:nvSpPr>
          <p:cNvPr id="8" name="text-502">
            <a:extLst>
              <a:ext uri="{FF2B5EF4-FFF2-40B4-BE49-F238E27FC236}">
                <a16:creationId xmlns:a16="http://schemas.microsoft.com/office/drawing/2014/main" id="{77CE7E88-5ABE-4D24-BFAE-A0EB28D5C038}"/>
              </a:ext>
            </a:extLst>
          </p:cNvPr>
          <p:cNvSpPr>
            <a:spLocks noGrp="1"/>
          </p:cNvSpPr>
          <p:nvPr/>
        </p:nvSpPr>
        <p:spPr>
          <a:xfrm>
            <a:off x="8905875" y="3190875"/>
            <a:ext cx="5629275" cy="438150"/>
          </a:xfrm>
          <a:prstGeom prst="rect">
            <a:avLst/>
          </a:prstGeom>
          <a:noFill/>
          <a:ln w="0">
            <a:noFill/>
          </a:ln>
        </p:spPr>
        <p:txBody>
          <a:bodyPr wrap="none" lIns="0" tIns="0" rIns="0" bIns="0" anchor="t">
            <a:noAutofit/>
          </a:bodyPr>
          <a:lstStyle/>
          <a:p>
            <a:pPr algn="l">
              <a:defRPr sz="1725" b="0">
                <a:solidFill>
                  <a:srgbClr val="315BCD"/>
                </a:solidFill>
                <a:latin typeface="Helvetica Neue"/>
                <a:ea typeface="Helvetica Neue"/>
                <a:cs typeface="Helvetica Neue"/>
              </a:defRPr>
            </a:pPr>
            <a:r>
              <a:rPr sz="1725" b="0">
                <a:solidFill>
                  <a:srgbClr val="315BCD"/>
                </a:solidFill>
                <a:latin typeface="Helvetica Neue"/>
                <a:ea typeface="Helvetica Neue"/>
                <a:cs typeface="Helvetica Neue"/>
                <a:hlinkClick r:id="rId4"/>
              </a:rPr>
              <a:t>docs.djangoproject.com</a:t>
            </a:r>
          </a:p>
        </p:txBody>
      </p:sp>
      <p:sp>
        <p:nvSpPr>
          <p:cNvPr id="9" name="text-503">
            <a:extLst>
              <a:ext uri="{FF2B5EF4-FFF2-40B4-BE49-F238E27FC236}">
                <a16:creationId xmlns:a16="http://schemas.microsoft.com/office/drawing/2014/main" id="{44DAE8E9-0F54-46AF-9B0F-60A3549ADE54}"/>
              </a:ext>
            </a:extLst>
          </p:cNvPr>
          <p:cNvSpPr>
            <a:spLocks noGrp="1"/>
          </p:cNvSpPr>
          <p:nvPr/>
        </p:nvSpPr>
        <p:spPr>
          <a:xfrm>
            <a:off x="685800" y="3971925"/>
            <a:ext cx="7572375" cy="542925"/>
          </a:xfrm>
          <a:prstGeom prst="rect">
            <a:avLst/>
          </a:prstGeom>
          <a:noFill/>
          <a:ln w="0">
            <a:noFill/>
          </a:ln>
        </p:spPr>
        <p:txBody>
          <a:bodyPr wrap="none" lIns="0" tIns="0" rIns="0" bIns="0" anchor="t">
            <a:noAutofit/>
          </a:bodyPr>
          <a:lstStyle/>
          <a:p>
            <a:pPr algn="l">
              <a:defRPr sz="2400" b="0">
                <a:solidFill>
                  <a:srgbClr val="242C35"/>
                </a:solidFill>
                <a:latin typeface="Georgia"/>
                <a:ea typeface="Georgia"/>
                <a:cs typeface="Georgia"/>
              </a:defRPr>
            </a:pPr>
            <a:r>
              <a:rPr sz="2400" b="0">
                <a:solidFill>
                  <a:srgbClr val="242C35"/>
                </a:solidFill>
                <a:latin typeface="Georgia"/>
                <a:ea typeface="Georgia"/>
                <a:cs typeface="Georgia"/>
                <a:hlinkClick r:id="rId5"/>
              </a:rPr>
              <a:t>Forms and authentication</a:t>
            </a:r>
          </a:p>
        </p:txBody>
      </p:sp>
      <p:sp>
        <p:nvSpPr>
          <p:cNvPr id="10" name="text-504">
            <a:extLst>
              <a:ext uri="{FF2B5EF4-FFF2-40B4-BE49-F238E27FC236}">
                <a16:creationId xmlns:a16="http://schemas.microsoft.com/office/drawing/2014/main" id="{AEDB3F82-7128-4A0A-A227-BA37F902AD8A}"/>
              </a:ext>
            </a:extLst>
          </p:cNvPr>
          <p:cNvSpPr>
            <a:spLocks noGrp="1"/>
          </p:cNvSpPr>
          <p:nvPr/>
        </p:nvSpPr>
        <p:spPr>
          <a:xfrm>
            <a:off x="8905875" y="4057650"/>
            <a:ext cx="5629275" cy="438150"/>
          </a:xfrm>
          <a:prstGeom prst="rect">
            <a:avLst/>
          </a:prstGeom>
          <a:noFill/>
          <a:ln w="0">
            <a:noFill/>
          </a:ln>
        </p:spPr>
        <p:txBody>
          <a:bodyPr wrap="none" lIns="0" tIns="0" rIns="0" bIns="0" anchor="t">
            <a:noAutofit/>
          </a:bodyPr>
          <a:lstStyle/>
          <a:p>
            <a:pPr algn="l">
              <a:defRPr sz="1725" b="0">
                <a:solidFill>
                  <a:srgbClr val="315BCD"/>
                </a:solidFill>
                <a:latin typeface="Helvetica Neue"/>
                <a:ea typeface="Helvetica Neue"/>
                <a:cs typeface="Helvetica Neue"/>
              </a:defRPr>
            </a:pPr>
            <a:r>
              <a:rPr sz="1725" b="0">
                <a:solidFill>
                  <a:srgbClr val="315BCD"/>
                </a:solidFill>
                <a:latin typeface="Helvetica Neue"/>
                <a:ea typeface="Helvetica Neue"/>
                <a:cs typeface="Helvetica Neue"/>
                <a:hlinkClick r:id="rId5"/>
              </a:rPr>
              <a:t>docs.djangoproject.com</a:t>
            </a:r>
          </a:p>
        </p:txBody>
      </p:sp>
      <p:sp>
        <p:nvSpPr>
          <p:cNvPr id="11" name="text-505">
            <a:extLst>
              <a:ext uri="{FF2B5EF4-FFF2-40B4-BE49-F238E27FC236}">
                <a16:creationId xmlns:a16="http://schemas.microsoft.com/office/drawing/2014/main" id="{5294C835-37CD-4574-AD08-EB0DD5279965}"/>
              </a:ext>
            </a:extLst>
          </p:cNvPr>
          <p:cNvSpPr>
            <a:spLocks noGrp="1"/>
          </p:cNvSpPr>
          <p:nvPr/>
        </p:nvSpPr>
        <p:spPr>
          <a:xfrm>
            <a:off x="685800" y="4838700"/>
            <a:ext cx="7572375" cy="542925"/>
          </a:xfrm>
          <a:prstGeom prst="rect">
            <a:avLst/>
          </a:prstGeom>
          <a:noFill/>
          <a:ln w="0">
            <a:noFill/>
          </a:ln>
        </p:spPr>
        <p:txBody>
          <a:bodyPr wrap="none" lIns="0" tIns="0" rIns="0" bIns="0" anchor="t">
            <a:noAutofit/>
          </a:bodyPr>
          <a:lstStyle/>
          <a:p>
            <a:pPr algn="l">
              <a:defRPr sz="2400" b="0">
                <a:solidFill>
                  <a:srgbClr val="242C35"/>
                </a:solidFill>
                <a:latin typeface="Georgia"/>
                <a:ea typeface="Georgia"/>
                <a:cs typeface="Georgia"/>
              </a:defRPr>
            </a:pPr>
            <a:r>
              <a:rPr sz="2400" b="0">
                <a:solidFill>
                  <a:srgbClr val="242C35"/>
                </a:solidFill>
                <a:latin typeface="Georgia"/>
                <a:ea typeface="Georgia"/>
                <a:cs typeface="Georgia"/>
                <a:hlinkClick r:id="rId6"/>
              </a:rPr>
              <a:t>Django REST Framework</a:t>
            </a:r>
          </a:p>
        </p:txBody>
      </p:sp>
      <p:sp>
        <p:nvSpPr>
          <p:cNvPr id="12" name="text-506">
            <a:extLst>
              <a:ext uri="{FF2B5EF4-FFF2-40B4-BE49-F238E27FC236}">
                <a16:creationId xmlns:a16="http://schemas.microsoft.com/office/drawing/2014/main" id="{EACC7472-70AF-46BC-896D-61018E9F872B}"/>
              </a:ext>
            </a:extLst>
          </p:cNvPr>
          <p:cNvSpPr>
            <a:spLocks noGrp="1"/>
          </p:cNvSpPr>
          <p:nvPr/>
        </p:nvSpPr>
        <p:spPr>
          <a:xfrm>
            <a:off x="8905875" y="4924425"/>
            <a:ext cx="5629275" cy="438150"/>
          </a:xfrm>
          <a:prstGeom prst="rect">
            <a:avLst/>
          </a:prstGeom>
          <a:noFill/>
          <a:ln w="0">
            <a:noFill/>
          </a:ln>
        </p:spPr>
        <p:txBody>
          <a:bodyPr wrap="none" lIns="0" tIns="0" rIns="0" bIns="0" anchor="t">
            <a:noAutofit/>
          </a:bodyPr>
          <a:lstStyle/>
          <a:p>
            <a:pPr algn="l">
              <a:defRPr sz="1725" b="0">
                <a:solidFill>
                  <a:srgbClr val="315BCD"/>
                </a:solidFill>
                <a:latin typeface="Helvetica Neue"/>
                <a:ea typeface="Helvetica Neue"/>
                <a:cs typeface="Helvetica Neue"/>
              </a:defRPr>
            </a:pPr>
            <a:r>
              <a:rPr sz="1725" b="0">
                <a:solidFill>
                  <a:srgbClr val="315BCD"/>
                </a:solidFill>
                <a:latin typeface="Helvetica Neue"/>
                <a:ea typeface="Helvetica Neue"/>
                <a:cs typeface="Helvetica Neue"/>
                <a:hlinkClick r:id="rId6"/>
              </a:rPr>
              <a:t>www.django-rest-framework.org</a:t>
            </a:r>
          </a:p>
        </p:txBody>
      </p:sp>
      <p:sp>
        <p:nvSpPr>
          <p:cNvPr id="13" name="text-507">
            <a:extLst>
              <a:ext uri="{FF2B5EF4-FFF2-40B4-BE49-F238E27FC236}">
                <a16:creationId xmlns:a16="http://schemas.microsoft.com/office/drawing/2014/main" id="{07307AB6-F0EF-40C9-9429-046AE5B25A91}"/>
              </a:ext>
            </a:extLst>
          </p:cNvPr>
          <p:cNvSpPr>
            <a:spLocks noGrp="1"/>
          </p:cNvSpPr>
          <p:nvPr/>
        </p:nvSpPr>
        <p:spPr>
          <a:xfrm>
            <a:off x="685800" y="5705475"/>
            <a:ext cx="7572375" cy="542925"/>
          </a:xfrm>
          <a:prstGeom prst="rect">
            <a:avLst/>
          </a:prstGeom>
          <a:noFill/>
          <a:ln w="0">
            <a:noFill/>
          </a:ln>
        </p:spPr>
        <p:txBody>
          <a:bodyPr wrap="none" lIns="0" tIns="0" rIns="0" bIns="0" anchor="t">
            <a:noAutofit/>
          </a:bodyPr>
          <a:lstStyle/>
          <a:p>
            <a:pPr algn="l">
              <a:defRPr sz="2400" b="0">
                <a:solidFill>
                  <a:srgbClr val="242C35"/>
                </a:solidFill>
                <a:latin typeface="Georgia"/>
                <a:ea typeface="Georgia"/>
                <a:cs typeface="Georgia"/>
              </a:defRPr>
            </a:pPr>
            <a:r>
              <a:rPr sz="2400" b="0">
                <a:solidFill>
                  <a:srgbClr val="242C35"/>
                </a:solidFill>
                <a:latin typeface="Georgia"/>
                <a:ea typeface="Georgia"/>
                <a:cs typeface="Georgia"/>
                <a:hlinkClick r:id="rId7"/>
              </a:rPr>
              <a:t>Django deployment checklist</a:t>
            </a:r>
          </a:p>
        </p:txBody>
      </p:sp>
      <p:sp>
        <p:nvSpPr>
          <p:cNvPr id="14" name="text-508">
            <a:extLst>
              <a:ext uri="{FF2B5EF4-FFF2-40B4-BE49-F238E27FC236}">
                <a16:creationId xmlns:a16="http://schemas.microsoft.com/office/drawing/2014/main" id="{FD76B45D-036E-41B7-8A95-B00DAB5C424D}"/>
              </a:ext>
            </a:extLst>
          </p:cNvPr>
          <p:cNvSpPr>
            <a:spLocks noGrp="1"/>
          </p:cNvSpPr>
          <p:nvPr/>
        </p:nvSpPr>
        <p:spPr>
          <a:xfrm>
            <a:off x="8905875" y="5791200"/>
            <a:ext cx="5629275" cy="438150"/>
          </a:xfrm>
          <a:prstGeom prst="rect">
            <a:avLst/>
          </a:prstGeom>
          <a:noFill/>
          <a:ln w="0">
            <a:noFill/>
          </a:ln>
        </p:spPr>
        <p:txBody>
          <a:bodyPr wrap="none" lIns="0" tIns="0" rIns="0" bIns="0" anchor="t">
            <a:noAutofit/>
          </a:bodyPr>
          <a:lstStyle/>
          <a:p>
            <a:pPr algn="l">
              <a:defRPr sz="1725" b="0">
                <a:solidFill>
                  <a:srgbClr val="315BCD"/>
                </a:solidFill>
                <a:latin typeface="Helvetica Neue"/>
                <a:ea typeface="Helvetica Neue"/>
                <a:cs typeface="Helvetica Neue"/>
              </a:defRPr>
            </a:pPr>
            <a:r>
              <a:rPr sz="1725" b="0">
                <a:solidFill>
                  <a:srgbClr val="315BCD"/>
                </a:solidFill>
                <a:latin typeface="Helvetica Neue"/>
                <a:ea typeface="Helvetica Neue"/>
                <a:cs typeface="Helvetica Neue"/>
                <a:hlinkClick r:id="rId7"/>
              </a:rPr>
              <a:t>docs.djangoproject.com</a:t>
            </a:r>
          </a:p>
        </p:txBody>
      </p:sp>
      <p:sp>
        <p:nvSpPr>
          <p:cNvPr id="15" name="text-509">
            <a:extLst>
              <a:ext uri="{FF2B5EF4-FFF2-40B4-BE49-F238E27FC236}">
                <a16:creationId xmlns:a16="http://schemas.microsoft.com/office/drawing/2014/main" id="{09004901-F09A-4D56-96B1-933D12DBAAE0}"/>
              </a:ext>
            </a:extLst>
          </p:cNvPr>
          <p:cNvSpPr>
            <a:spLocks noGrp="1"/>
          </p:cNvSpPr>
          <p:nvPr/>
        </p:nvSpPr>
        <p:spPr>
          <a:xfrm>
            <a:off x="685800" y="6572250"/>
            <a:ext cx="7572375" cy="542925"/>
          </a:xfrm>
          <a:prstGeom prst="rect">
            <a:avLst/>
          </a:prstGeom>
          <a:noFill/>
          <a:ln w="0">
            <a:noFill/>
          </a:ln>
        </p:spPr>
        <p:txBody>
          <a:bodyPr wrap="none" lIns="0" tIns="0" rIns="0" bIns="0" anchor="t">
            <a:noAutofit/>
          </a:bodyPr>
          <a:lstStyle/>
          <a:p>
            <a:pPr algn="l">
              <a:defRPr sz="2400" b="0">
                <a:solidFill>
                  <a:srgbClr val="242C35"/>
                </a:solidFill>
                <a:latin typeface="Georgia"/>
                <a:ea typeface="Georgia"/>
                <a:cs typeface="Georgia"/>
              </a:defRPr>
            </a:pPr>
            <a:r>
              <a:rPr sz="2400" b="0">
                <a:solidFill>
                  <a:srgbClr val="242C35"/>
                </a:solidFill>
                <a:latin typeface="Georgia"/>
                <a:ea typeface="Georgia"/>
                <a:cs typeface="Georgia"/>
                <a:hlinkClick r:id="rId8"/>
              </a:rPr>
              <a:t>Django on Vercel</a:t>
            </a:r>
          </a:p>
        </p:txBody>
      </p:sp>
      <p:sp>
        <p:nvSpPr>
          <p:cNvPr id="16" name="text-510">
            <a:extLst>
              <a:ext uri="{FF2B5EF4-FFF2-40B4-BE49-F238E27FC236}">
                <a16:creationId xmlns:a16="http://schemas.microsoft.com/office/drawing/2014/main" id="{851710F4-92EE-482D-8848-044040166CBE}"/>
              </a:ext>
            </a:extLst>
          </p:cNvPr>
          <p:cNvSpPr>
            <a:spLocks noGrp="1"/>
          </p:cNvSpPr>
          <p:nvPr/>
        </p:nvSpPr>
        <p:spPr>
          <a:xfrm>
            <a:off x="8905875" y="6657975"/>
            <a:ext cx="5629275" cy="438150"/>
          </a:xfrm>
          <a:prstGeom prst="rect">
            <a:avLst/>
          </a:prstGeom>
          <a:noFill/>
          <a:ln w="0">
            <a:noFill/>
          </a:ln>
        </p:spPr>
        <p:txBody>
          <a:bodyPr wrap="none" lIns="0" tIns="0" rIns="0" bIns="0" anchor="t">
            <a:noAutofit/>
          </a:bodyPr>
          <a:lstStyle/>
          <a:p>
            <a:pPr algn="l">
              <a:defRPr sz="1725" b="0">
                <a:solidFill>
                  <a:srgbClr val="315BCD"/>
                </a:solidFill>
                <a:latin typeface="Helvetica Neue"/>
                <a:ea typeface="Helvetica Neue"/>
                <a:cs typeface="Helvetica Neue"/>
              </a:defRPr>
            </a:pPr>
            <a:r>
              <a:rPr sz="1725" b="0">
                <a:solidFill>
                  <a:srgbClr val="315BCD"/>
                </a:solidFill>
                <a:latin typeface="Helvetica Neue"/>
                <a:ea typeface="Helvetica Neue"/>
                <a:cs typeface="Helvetica Neue"/>
                <a:hlinkClick r:id="rId8"/>
              </a:rPr>
              <a:t>vercel.com</a:t>
            </a:r>
          </a:p>
        </p:txBody>
      </p:sp>
    </p:spTree>
    <p:extLst>
      <p:ext uri="{BB962C8B-B14F-4D97-AF65-F5344CB8AC3E}">
        <p14:creationId xmlns:p14="http://schemas.microsoft.com/office/powerpoint/2010/main" val="1738210528"/>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6" name="text-511">
            <a:extLst>
              <a:ext uri="{FF2B5EF4-FFF2-40B4-BE49-F238E27FC236}">
                <a16:creationId xmlns:a16="http://schemas.microsoft.com/office/drawing/2014/main" id="{7520E264-35D6-4612-AC7A-34660A9F3A4E}"/>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Reference material</a:t>
            </a:r>
          </a:p>
        </p:txBody>
      </p:sp>
      <p:sp>
        <p:nvSpPr>
          <p:cNvPr id="2" name="text-512">
            <a:extLst>
              <a:ext uri="{FF2B5EF4-FFF2-40B4-BE49-F238E27FC236}">
                <a16:creationId xmlns:a16="http://schemas.microsoft.com/office/drawing/2014/main" id="{895000BE-A763-46CA-95E9-77E976B8E81A}"/>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242C35"/>
                </a:solidFill>
                <a:latin typeface="Georgia"/>
                <a:ea typeface="Georgia"/>
                <a:cs typeface="Georgia"/>
              </a:defRPr>
            </a:pPr>
            <a:r>
              <a:rPr sz="3525" b="0">
                <a:solidFill>
                  <a:srgbClr val="242C35"/>
                </a:solidFill>
                <a:latin typeface="Georgia"/>
                <a:ea typeface="Georgia"/>
                <a:cs typeface="Georgia"/>
              </a:rPr>
              <a:t>Sources behind the teaching sequence</a:t>
            </a:r>
          </a:p>
        </p:txBody>
      </p:sp>
      <p:sp>
        <p:nvSpPr>
          <p:cNvPr id="3" name="text-513">
            <a:extLst>
              <a:ext uri="{FF2B5EF4-FFF2-40B4-BE49-F238E27FC236}">
                <a16:creationId xmlns:a16="http://schemas.microsoft.com/office/drawing/2014/main" id="{396919EF-2991-4A12-8A82-3A17C5ACE576}"/>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text-514">
            <a:extLst>
              <a:ext uri="{FF2B5EF4-FFF2-40B4-BE49-F238E27FC236}">
                <a16:creationId xmlns:a16="http://schemas.microsoft.com/office/drawing/2014/main" id="{F7B4CB3A-2E7F-4872-8D7D-B44F9AA4F322}"/>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69</a:t>
            </a:r>
          </a:p>
        </p:txBody>
      </p:sp>
      <p:sp>
        <p:nvSpPr>
          <p:cNvPr id="5" name="text-515">
            <a:extLst>
              <a:ext uri="{FF2B5EF4-FFF2-40B4-BE49-F238E27FC236}">
                <a16:creationId xmlns:a16="http://schemas.microsoft.com/office/drawing/2014/main" id="{DA127282-742B-4A21-A238-44C7FFF6A6A2}"/>
              </a:ext>
            </a:extLst>
          </p:cNvPr>
          <p:cNvSpPr>
            <a:spLocks noGrp="1"/>
          </p:cNvSpPr>
          <p:nvPr/>
        </p:nvSpPr>
        <p:spPr>
          <a:xfrm>
            <a:off x="685800" y="2219325"/>
            <a:ext cx="13868400" cy="447675"/>
          </a:xfrm>
          <a:prstGeom prst="rect">
            <a:avLst/>
          </a:prstGeom>
          <a:noFill/>
          <a:ln w="0">
            <a:noFill/>
          </a:ln>
        </p:spPr>
        <p:txBody>
          <a:bodyPr wrap="none" lIns="0" tIns="0" rIns="0" bIns="0" anchor="t">
            <a:noAutofit/>
          </a:bodyPr>
          <a:lstStyle/>
          <a:p>
            <a:pPr algn="l">
              <a:defRPr sz="2250" b="0">
                <a:solidFill>
                  <a:srgbClr val="242C35"/>
                </a:solidFill>
                <a:latin typeface="Georgia"/>
                <a:ea typeface="Georgia"/>
                <a:cs typeface="Georgia"/>
              </a:defRPr>
            </a:pPr>
            <a:r>
              <a:rPr sz="2250" b="0">
                <a:solidFill>
                  <a:srgbClr val="242C35"/>
                </a:solidFill>
                <a:latin typeface="Georgia"/>
                <a:ea typeface="Georgia"/>
                <a:cs typeface="Georgia"/>
              </a:rPr>
              <a:t>Supplied teaching references</a:t>
            </a:r>
          </a:p>
        </p:txBody>
      </p:sp>
      <p:sp>
        <p:nvSpPr>
          <p:cNvPr id="6" name="text-516">
            <a:extLst>
              <a:ext uri="{FF2B5EF4-FFF2-40B4-BE49-F238E27FC236}">
                <a16:creationId xmlns:a16="http://schemas.microsoft.com/office/drawing/2014/main" id="{AE9FBE58-FFA0-4FCA-9889-228AA28D5A4E}"/>
              </a:ext>
            </a:extLst>
          </p:cNvPr>
          <p:cNvSpPr>
            <a:spLocks noGrp="1"/>
          </p:cNvSpPr>
          <p:nvPr/>
        </p:nvSpPr>
        <p:spPr>
          <a:xfrm>
            <a:off x="685800" y="2686050"/>
            <a:ext cx="13868400" cy="419100"/>
          </a:xfrm>
          <a:prstGeom prst="rect">
            <a:avLst/>
          </a:prstGeom>
          <a:noFill/>
          <a:ln w="0">
            <a:noFill/>
          </a:ln>
        </p:spPr>
        <p:txBody>
          <a:bodyPr wrap="none" lIns="0" tIns="0" rIns="0" bIns="0" anchor="t">
            <a:noAutofit/>
          </a:bodyPr>
          <a:lstStyle/>
          <a:p>
            <a:pPr algn="l">
              <a:defRPr sz="1875" b="0">
                <a:solidFill>
                  <a:srgbClr val="65717A"/>
                </a:solidFill>
                <a:latin typeface="Helvetica Neue"/>
                <a:ea typeface="Helvetica Neue"/>
                <a:cs typeface="Helvetica Neue"/>
              </a:defRPr>
            </a:pPr>
            <a:r>
              <a:rPr sz="1875" b="0">
                <a:solidFill>
                  <a:srgbClr val="65717A"/>
                </a:solidFill>
                <a:latin typeface="Helvetica Neue"/>
                <a:ea typeface="Helvetica Neue"/>
                <a:cs typeface="Helvetica Neue"/>
              </a:rPr>
              <a:t>Topic Flow.jpg · Session Content Document.docx</a:t>
            </a:r>
          </a:p>
        </p:txBody>
      </p:sp>
      <p:sp>
        <p:nvSpPr>
          <p:cNvPr id="7" name="text-517">
            <a:extLst>
              <a:ext uri="{FF2B5EF4-FFF2-40B4-BE49-F238E27FC236}">
                <a16:creationId xmlns:a16="http://schemas.microsoft.com/office/drawing/2014/main" id="{2AA8F717-C158-449A-A765-9C1AB539E78A}"/>
              </a:ext>
            </a:extLst>
          </p:cNvPr>
          <p:cNvSpPr>
            <a:spLocks noGrp="1"/>
          </p:cNvSpPr>
          <p:nvPr/>
        </p:nvSpPr>
        <p:spPr>
          <a:xfrm>
            <a:off x="685800" y="3228975"/>
            <a:ext cx="13868400" cy="447675"/>
          </a:xfrm>
          <a:prstGeom prst="rect">
            <a:avLst/>
          </a:prstGeom>
          <a:noFill/>
          <a:ln w="0">
            <a:noFill/>
          </a:ln>
        </p:spPr>
        <p:txBody>
          <a:bodyPr wrap="none" lIns="0" tIns="0" rIns="0" bIns="0" anchor="t">
            <a:noAutofit/>
          </a:bodyPr>
          <a:lstStyle/>
          <a:p>
            <a:pPr algn="l">
              <a:defRPr sz="2250" b="0">
                <a:solidFill>
                  <a:srgbClr val="242C35"/>
                </a:solidFill>
                <a:latin typeface="Georgia"/>
                <a:ea typeface="Georgia"/>
                <a:cs typeface="Georgia"/>
              </a:defRPr>
            </a:pPr>
            <a:r>
              <a:rPr sz="2250" b="0">
                <a:solidFill>
                  <a:srgbClr val="242C35"/>
                </a:solidFill>
                <a:latin typeface="Georgia"/>
                <a:ea typeface="Georgia"/>
                <a:cs typeface="Georgia"/>
              </a:rPr>
              <a:t>Introduction to Django Framework</a:t>
            </a:r>
          </a:p>
        </p:txBody>
      </p:sp>
      <p:sp>
        <p:nvSpPr>
          <p:cNvPr id="8" name="text-518">
            <a:extLst>
              <a:ext uri="{FF2B5EF4-FFF2-40B4-BE49-F238E27FC236}">
                <a16:creationId xmlns:a16="http://schemas.microsoft.com/office/drawing/2014/main" id="{EA48CBA6-B618-48C2-9EAA-D400AE1939FC}"/>
              </a:ext>
            </a:extLst>
          </p:cNvPr>
          <p:cNvSpPr>
            <a:spLocks noGrp="1"/>
          </p:cNvSpPr>
          <p:nvPr/>
        </p:nvSpPr>
        <p:spPr>
          <a:xfrm>
            <a:off x="685800" y="3695700"/>
            <a:ext cx="13868400" cy="419100"/>
          </a:xfrm>
          <a:prstGeom prst="rect">
            <a:avLst/>
          </a:prstGeom>
          <a:noFill/>
          <a:ln w="0">
            <a:noFill/>
          </a:ln>
        </p:spPr>
        <p:txBody>
          <a:bodyPr wrap="none" lIns="0" tIns="0" rIns="0" bIns="0" anchor="t">
            <a:noAutofit/>
          </a:bodyPr>
          <a:lstStyle/>
          <a:p>
            <a:pPr algn="l">
              <a:defRPr sz="1875" b="0">
                <a:solidFill>
                  <a:srgbClr val="65717A"/>
                </a:solidFill>
                <a:latin typeface="Helvetica Neue"/>
                <a:ea typeface="Helvetica Neue"/>
                <a:cs typeface="Helvetica Neue"/>
              </a:defRPr>
            </a:pPr>
            <a:r>
              <a:rPr sz="1875" b="0">
                <a:solidFill>
                  <a:srgbClr val="65717A"/>
                </a:solidFill>
                <a:latin typeface="Helvetica Neue"/>
                <a:ea typeface="Helvetica Neue"/>
                <a:cs typeface="Helvetica Neue"/>
              </a:rPr>
              <a:t>Knoldus / Sanjay Rathore — SlideShare</a:t>
            </a:r>
          </a:p>
        </p:txBody>
      </p:sp>
      <p:sp>
        <p:nvSpPr>
          <p:cNvPr id="9" name="text-519">
            <a:extLst>
              <a:ext uri="{FF2B5EF4-FFF2-40B4-BE49-F238E27FC236}">
                <a16:creationId xmlns:a16="http://schemas.microsoft.com/office/drawing/2014/main" id="{60454C11-1F2D-486E-8DCF-8FD1A9F662B4}"/>
              </a:ext>
            </a:extLst>
          </p:cNvPr>
          <p:cNvSpPr>
            <a:spLocks noGrp="1"/>
          </p:cNvSpPr>
          <p:nvPr/>
        </p:nvSpPr>
        <p:spPr>
          <a:xfrm>
            <a:off x="685800" y="4238625"/>
            <a:ext cx="13868400" cy="447675"/>
          </a:xfrm>
          <a:prstGeom prst="rect">
            <a:avLst/>
          </a:prstGeom>
          <a:noFill/>
          <a:ln w="0">
            <a:noFill/>
          </a:ln>
        </p:spPr>
        <p:txBody>
          <a:bodyPr wrap="none" lIns="0" tIns="0" rIns="0" bIns="0" anchor="t">
            <a:noAutofit/>
          </a:bodyPr>
          <a:lstStyle/>
          <a:p>
            <a:pPr algn="l">
              <a:defRPr sz="2250" b="0">
                <a:solidFill>
                  <a:srgbClr val="242C35"/>
                </a:solidFill>
                <a:latin typeface="Georgia"/>
                <a:ea typeface="Georgia"/>
                <a:cs typeface="Georgia"/>
              </a:defRPr>
            </a:pPr>
            <a:r>
              <a:rPr sz="2250" b="0">
                <a:solidFill>
                  <a:srgbClr val="242C35"/>
                </a:solidFill>
                <a:latin typeface="Georgia"/>
                <a:ea typeface="Georgia"/>
                <a:cs typeface="Georgia"/>
              </a:rPr>
              <a:t>Web Development with Python and Django</a:t>
            </a:r>
          </a:p>
        </p:txBody>
      </p:sp>
      <p:sp>
        <p:nvSpPr>
          <p:cNvPr id="10" name="text-520">
            <a:extLst>
              <a:ext uri="{FF2B5EF4-FFF2-40B4-BE49-F238E27FC236}">
                <a16:creationId xmlns:a16="http://schemas.microsoft.com/office/drawing/2014/main" id="{2B1E1B45-F990-4F05-8C90-70D4E345840F}"/>
              </a:ext>
            </a:extLst>
          </p:cNvPr>
          <p:cNvSpPr>
            <a:spLocks noGrp="1"/>
          </p:cNvSpPr>
          <p:nvPr/>
        </p:nvSpPr>
        <p:spPr>
          <a:xfrm>
            <a:off x="685800" y="4705350"/>
            <a:ext cx="13868400" cy="419100"/>
          </a:xfrm>
          <a:prstGeom prst="rect">
            <a:avLst/>
          </a:prstGeom>
          <a:noFill/>
          <a:ln w="0">
            <a:noFill/>
          </a:ln>
        </p:spPr>
        <p:txBody>
          <a:bodyPr wrap="none" lIns="0" tIns="0" rIns="0" bIns="0" anchor="t">
            <a:noAutofit/>
          </a:bodyPr>
          <a:lstStyle/>
          <a:p>
            <a:pPr algn="l">
              <a:defRPr sz="1875" b="0">
                <a:solidFill>
                  <a:srgbClr val="65717A"/>
                </a:solidFill>
                <a:latin typeface="Helvetica Neue"/>
                <a:ea typeface="Helvetica Neue"/>
                <a:cs typeface="Helvetica Neue"/>
              </a:defRPr>
            </a:pPr>
            <a:r>
              <a:rPr sz="1875" b="0">
                <a:solidFill>
                  <a:srgbClr val="65717A"/>
                </a:solidFill>
                <a:latin typeface="Helvetica Neue"/>
                <a:ea typeface="Helvetica Neue"/>
                <a:cs typeface="Helvetica Neue"/>
              </a:rPr>
              <a:t>Michael Pirnat — SlideShare</a:t>
            </a:r>
          </a:p>
        </p:txBody>
      </p:sp>
      <p:sp>
        <p:nvSpPr>
          <p:cNvPr id="11" name="text-521">
            <a:extLst>
              <a:ext uri="{FF2B5EF4-FFF2-40B4-BE49-F238E27FC236}">
                <a16:creationId xmlns:a16="http://schemas.microsoft.com/office/drawing/2014/main" id="{59EC8C59-7EC4-4445-9FB6-70E3E4041CEA}"/>
              </a:ext>
            </a:extLst>
          </p:cNvPr>
          <p:cNvSpPr>
            <a:spLocks noGrp="1"/>
          </p:cNvSpPr>
          <p:nvPr/>
        </p:nvSpPr>
        <p:spPr>
          <a:xfrm>
            <a:off x="685800" y="5248275"/>
            <a:ext cx="13868400" cy="447675"/>
          </a:xfrm>
          <a:prstGeom prst="rect">
            <a:avLst/>
          </a:prstGeom>
          <a:noFill/>
          <a:ln w="0">
            <a:noFill/>
          </a:ln>
        </p:spPr>
        <p:txBody>
          <a:bodyPr wrap="none" lIns="0" tIns="0" rIns="0" bIns="0" anchor="t">
            <a:noAutofit/>
          </a:bodyPr>
          <a:lstStyle/>
          <a:p>
            <a:pPr algn="l">
              <a:defRPr sz="2250" b="0">
                <a:solidFill>
                  <a:srgbClr val="242C35"/>
                </a:solidFill>
                <a:latin typeface="Georgia"/>
                <a:ea typeface="Georgia"/>
                <a:cs typeface="Georgia"/>
              </a:defRPr>
            </a:pPr>
            <a:r>
              <a:rPr sz="2250" b="0">
                <a:solidFill>
                  <a:srgbClr val="242C35"/>
                </a:solidFill>
                <a:latin typeface="Georgia"/>
                <a:ea typeface="Georgia"/>
                <a:cs typeface="Georgia"/>
              </a:rPr>
              <a:t>Introduction to Django</a:t>
            </a:r>
          </a:p>
        </p:txBody>
      </p:sp>
      <p:sp>
        <p:nvSpPr>
          <p:cNvPr id="12" name="text-522">
            <a:extLst>
              <a:ext uri="{FF2B5EF4-FFF2-40B4-BE49-F238E27FC236}">
                <a16:creationId xmlns:a16="http://schemas.microsoft.com/office/drawing/2014/main" id="{D51B054D-BC2E-4881-B3AD-877C9F68C4AC}"/>
              </a:ext>
            </a:extLst>
          </p:cNvPr>
          <p:cNvSpPr>
            <a:spLocks noGrp="1"/>
          </p:cNvSpPr>
          <p:nvPr/>
        </p:nvSpPr>
        <p:spPr>
          <a:xfrm>
            <a:off x="685800" y="5715000"/>
            <a:ext cx="13868400" cy="419100"/>
          </a:xfrm>
          <a:prstGeom prst="rect">
            <a:avLst/>
          </a:prstGeom>
          <a:noFill/>
          <a:ln w="0">
            <a:noFill/>
          </a:ln>
        </p:spPr>
        <p:txBody>
          <a:bodyPr wrap="none" lIns="0" tIns="0" rIns="0" bIns="0" anchor="t">
            <a:noAutofit/>
          </a:bodyPr>
          <a:lstStyle/>
          <a:p>
            <a:pPr algn="l">
              <a:defRPr sz="1875" b="0">
                <a:solidFill>
                  <a:srgbClr val="65717A"/>
                </a:solidFill>
                <a:latin typeface="Helvetica Neue"/>
                <a:ea typeface="Helvetica Neue"/>
                <a:cs typeface="Helvetica Neue"/>
              </a:defRPr>
            </a:pPr>
            <a:r>
              <a:rPr sz="1875" b="0">
                <a:solidFill>
                  <a:srgbClr val="65717A"/>
                </a:solidFill>
                <a:latin typeface="Helvetica Neue"/>
                <a:ea typeface="Helvetica Neue"/>
                <a:cs typeface="Helvetica Neue"/>
              </a:rPr>
              <a:t>James Casey — SlideShare</a:t>
            </a:r>
          </a:p>
        </p:txBody>
      </p:sp>
      <p:sp>
        <p:nvSpPr>
          <p:cNvPr id="13" name="text-523">
            <a:extLst>
              <a:ext uri="{FF2B5EF4-FFF2-40B4-BE49-F238E27FC236}">
                <a16:creationId xmlns:a16="http://schemas.microsoft.com/office/drawing/2014/main" id="{D9BB3EB6-0638-4CFE-AB1B-D605EC914AF2}"/>
              </a:ext>
            </a:extLst>
          </p:cNvPr>
          <p:cNvSpPr>
            <a:spLocks noGrp="1"/>
          </p:cNvSpPr>
          <p:nvPr/>
        </p:nvSpPr>
        <p:spPr>
          <a:xfrm>
            <a:off x="685800" y="6257925"/>
            <a:ext cx="13868400" cy="447675"/>
          </a:xfrm>
          <a:prstGeom prst="rect">
            <a:avLst/>
          </a:prstGeom>
          <a:noFill/>
          <a:ln w="0">
            <a:noFill/>
          </a:ln>
        </p:spPr>
        <p:txBody>
          <a:bodyPr wrap="none" lIns="0" tIns="0" rIns="0" bIns="0" anchor="t">
            <a:noAutofit/>
          </a:bodyPr>
          <a:lstStyle/>
          <a:p>
            <a:pPr algn="l">
              <a:defRPr sz="2250" b="0">
                <a:solidFill>
                  <a:srgbClr val="242C35"/>
                </a:solidFill>
                <a:latin typeface="Georgia"/>
                <a:ea typeface="Georgia"/>
                <a:cs typeface="Georgia"/>
              </a:defRPr>
            </a:pPr>
            <a:r>
              <a:rPr sz="2250" b="0">
                <a:solidFill>
                  <a:srgbClr val="242C35"/>
                </a:solidFill>
                <a:latin typeface="Georgia"/>
                <a:ea typeface="Georgia"/>
                <a:cs typeface="Georgia"/>
              </a:rPr>
              <a:t>Django Powerpoint</a:t>
            </a:r>
          </a:p>
        </p:txBody>
      </p:sp>
      <p:sp>
        <p:nvSpPr>
          <p:cNvPr id="14" name="text-524">
            <a:extLst>
              <a:ext uri="{FF2B5EF4-FFF2-40B4-BE49-F238E27FC236}">
                <a16:creationId xmlns:a16="http://schemas.microsoft.com/office/drawing/2014/main" id="{113E3672-09E1-4990-8ED6-FF82707AED21}"/>
              </a:ext>
            </a:extLst>
          </p:cNvPr>
          <p:cNvSpPr>
            <a:spLocks noGrp="1"/>
          </p:cNvSpPr>
          <p:nvPr/>
        </p:nvSpPr>
        <p:spPr>
          <a:xfrm>
            <a:off x="685800" y="6724650"/>
            <a:ext cx="13868400" cy="419100"/>
          </a:xfrm>
          <a:prstGeom prst="rect">
            <a:avLst/>
          </a:prstGeom>
          <a:noFill/>
          <a:ln w="0">
            <a:noFill/>
          </a:ln>
        </p:spPr>
        <p:txBody>
          <a:bodyPr wrap="none" lIns="0" tIns="0" rIns="0" bIns="0" anchor="t">
            <a:noAutofit/>
          </a:bodyPr>
          <a:lstStyle/>
          <a:p>
            <a:pPr algn="l">
              <a:defRPr sz="1875" b="0">
                <a:solidFill>
                  <a:srgbClr val="65717A"/>
                </a:solidFill>
                <a:latin typeface="Helvetica Neue"/>
                <a:ea typeface="Helvetica Neue"/>
                <a:cs typeface="Helvetica Neue"/>
              </a:defRPr>
            </a:pPr>
            <a:r>
              <a:rPr sz="1875" b="0">
                <a:solidFill>
                  <a:srgbClr val="65717A"/>
                </a:solidFill>
                <a:latin typeface="Helvetica Neue"/>
                <a:ea typeface="Helvetica Neue"/>
                <a:cs typeface="Helvetica Neue"/>
              </a:rPr>
              <a:t>Scribd reference presentation</a:t>
            </a:r>
          </a:p>
        </p:txBody>
      </p:sp>
      <p:sp>
        <p:nvSpPr>
          <p:cNvPr id="15" name="text-525">
            <a:extLst>
              <a:ext uri="{FF2B5EF4-FFF2-40B4-BE49-F238E27FC236}">
                <a16:creationId xmlns:a16="http://schemas.microsoft.com/office/drawing/2014/main" id="{0783D726-2F5E-46C6-8025-72505BF26B6D}"/>
              </a:ext>
            </a:extLst>
          </p:cNvPr>
          <p:cNvSpPr>
            <a:spLocks noGrp="1"/>
          </p:cNvSpPr>
          <p:nvPr/>
        </p:nvSpPr>
        <p:spPr>
          <a:xfrm>
            <a:off x="685800" y="7524750"/>
            <a:ext cx="13868400" cy="428625"/>
          </a:xfrm>
          <a:prstGeom prst="rect">
            <a:avLst/>
          </a:prstGeom>
          <a:noFill/>
          <a:ln w="0">
            <a:noFill/>
          </a:ln>
        </p:spPr>
        <p:txBody>
          <a:bodyPr wrap="none" lIns="0" tIns="0" rIns="0" bIns="0" anchor="t">
            <a:noAutofit/>
          </a:bodyPr>
          <a:lstStyle/>
          <a:p>
            <a:pPr algn="l">
              <a:defRPr sz="1800" b="0">
                <a:solidFill>
                  <a:srgbClr val="315BCD"/>
                </a:solidFill>
                <a:latin typeface="Helvetica Neue"/>
                <a:ea typeface="Helvetica Neue"/>
                <a:cs typeface="Helvetica Neue"/>
              </a:defRPr>
            </a:pPr>
            <a:r>
              <a:rPr sz="1800" b="0">
                <a:solidFill>
                  <a:srgbClr val="315BCD"/>
                </a:solidFill>
                <a:latin typeface="Helvetica Neue"/>
                <a:ea typeface="Helvetica Neue"/>
                <a:cs typeface="Helvetica Neue"/>
              </a:rPr>
              <a:t>Current syntax, image credits and platform guidance are cited in the slide notes.</a:t>
            </a:r>
          </a:p>
        </p:txBody>
      </p:sp>
    </p:spTree>
    <p:extLst>
      <p:ext uri="{BB962C8B-B14F-4D97-AF65-F5344CB8AC3E}">
        <p14:creationId xmlns:p14="http://schemas.microsoft.com/office/powerpoint/2010/main" val="1350982304"/>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242C35"/>
        </a:solidFill>
        <a:effectLst/>
      </p:bgPr>
    </p:bg>
    <p:spTree>
      <p:nvGrpSpPr>
        <p:cNvPr id="1" name=""/>
        <p:cNvGrpSpPr/>
        <p:nvPr/>
      </p:nvGrpSpPr>
      <p:grpSpPr>
        <a:xfrm>
          <a:off x="0" y="0"/>
          <a:ext cx="0" cy="0"/>
          <a:chOff x="0" y="0"/>
          <a:chExt cx="0" cy="0"/>
        </a:xfrm>
      </p:grpSpPr>
      <p:sp>
        <p:nvSpPr>
          <p:cNvPr id="10" name="text-526">
            <a:extLst>
              <a:ext uri="{FF2B5EF4-FFF2-40B4-BE49-F238E27FC236}">
                <a16:creationId xmlns:a16="http://schemas.microsoft.com/office/drawing/2014/main" id="{3085D257-992A-481A-9A5D-603EB6C9544B}"/>
              </a:ext>
            </a:extLst>
          </p:cNvPr>
          <p:cNvSpPr>
            <a:spLocks noGrp="1"/>
          </p:cNvSpPr>
          <p:nvPr/>
        </p:nvSpPr>
        <p:spPr>
          <a:xfrm>
            <a:off x="685800" y="381000"/>
            <a:ext cx="12763500" cy="323850"/>
          </a:xfrm>
          <a:prstGeom prst="rect">
            <a:avLst/>
          </a:prstGeom>
          <a:noFill/>
          <a:ln w="0">
            <a:noFill/>
          </a:ln>
        </p:spPr>
        <p:txBody>
          <a:bodyPr wrap="none" lIns="0" tIns="0" rIns="0" bIns="0" anchor="t">
            <a:noAutofit/>
          </a:bodyPr>
          <a:lstStyle/>
          <a:p>
            <a:pPr algn="l">
              <a:defRPr sz="1500" b="0">
                <a:solidFill>
                  <a:srgbClr val="CDD4DD"/>
                </a:solidFill>
                <a:latin typeface="Helvetica Neue"/>
                <a:ea typeface="Helvetica Neue"/>
                <a:cs typeface="Helvetica Neue"/>
              </a:defRPr>
            </a:pPr>
            <a:r>
              <a:rPr sz="1500" b="0">
                <a:solidFill>
                  <a:srgbClr val="CDD4DD"/>
                </a:solidFill>
                <a:latin typeface="Helvetica Neue"/>
                <a:ea typeface="Helvetica Neue"/>
                <a:cs typeface="Helvetica Neue"/>
              </a:rPr>
              <a:t>Questions and discussion</a:t>
            </a:r>
          </a:p>
        </p:txBody>
      </p:sp>
      <p:sp>
        <p:nvSpPr>
          <p:cNvPr id="2" name="text-527">
            <a:extLst>
              <a:ext uri="{FF2B5EF4-FFF2-40B4-BE49-F238E27FC236}">
                <a16:creationId xmlns:a16="http://schemas.microsoft.com/office/drawing/2014/main" id="{F5C1AAAF-001A-46B5-A478-F1956AD98065}"/>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lgn="l">
              <a:defRPr sz="3525" b="0">
                <a:solidFill>
                  <a:srgbClr val="F8F5EF"/>
                </a:solidFill>
                <a:latin typeface="Georgia"/>
                <a:ea typeface="Georgia"/>
                <a:cs typeface="Georgia"/>
              </a:defRPr>
            </a:pPr>
            <a:r>
              <a:rPr sz="3525" b="0">
                <a:solidFill>
                  <a:srgbClr val="F8F5EF"/>
                </a:solidFill>
                <a:latin typeface="Georgia"/>
                <a:ea typeface="Georgia"/>
                <a:cs typeface="Georgia"/>
              </a:rPr>
              <a:t>What will you build next?</a:t>
            </a:r>
          </a:p>
        </p:txBody>
      </p:sp>
      <p:sp>
        <p:nvSpPr>
          <p:cNvPr id="3" name="text-528">
            <a:extLst>
              <a:ext uri="{FF2B5EF4-FFF2-40B4-BE49-F238E27FC236}">
                <a16:creationId xmlns:a16="http://schemas.microsoft.com/office/drawing/2014/main" id="{97A0A604-CFAB-4C8B-9689-0CB607696A3E}"/>
              </a:ext>
            </a:extLst>
          </p:cNvPr>
          <p:cNvSpPr>
            <a:spLocks noGrp="1"/>
          </p:cNvSpPr>
          <p:nvPr/>
        </p:nvSpPr>
        <p:spPr>
          <a:xfrm>
            <a:off x="685800" y="8086725"/>
            <a:ext cx="12382500" cy="247650"/>
          </a:xfrm>
          <a:prstGeom prst="rect">
            <a:avLst/>
          </a:prstGeom>
          <a:noFill/>
          <a:ln w="0">
            <a:noFill/>
          </a:ln>
        </p:spPr>
        <p:txBody>
          <a:bodyPr wrap="none" lIns="0" tIns="0" rIns="0" bIns="0" anchor="t">
            <a:noAutofit/>
          </a:bodyPr>
          <a:lstStyle/>
          <a:p>
            <a:pPr algn="l">
              <a:defRPr sz="1125" b="0">
                <a:solidFill>
                  <a:srgbClr val="BAC3CF"/>
                </a:solidFill>
                <a:latin typeface="Helvetica Neue"/>
                <a:ea typeface="Helvetica Neue"/>
                <a:cs typeface="Helvetica Neue"/>
              </a:defRPr>
            </a:pPr>
            <a:r>
              <a:rPr sz="1125" b="0">
                <a:solidFill>
                  <a:srgbClr val="BAC3CF"/>
                </a:solidFill>
                <a:latin typeface="Helvetica Neue"/>
                <a:ea typeface="Helvetica Neue"/>
                <a:cs typeface="Helvetica Neue"/>
              </a:rPr>
              <a:t>BHAVYA SHAH / DJANGO WORKSHOP</a:t>
            </a:r>
          </a:p>
        </p:txBody>
      </p:sp>
      <p:sp>
        <p:nvSpPr>
          <p:cNvPr id="4" name="text-529">
            <a:extLst>
              <a:ext uri="{FF2B5EF4-FFF2-40B4-BE49-F238E27FC236}">
                <a16:creationId xmlns:a16="http://schemas.microsoft.com/office/drawing/2014/main" id="{0C7AB6ED-EDF8-4778-AD0B-A3E19A6AC063}"/>
              </a:ext>
            </a:extLst>
          </p:cNvPr>
          <p:cNvSpPr>
            <a:spLocks noGrp="1"/>
          </p:cNvSpPr>
          <p:nvPr/>
        </p:nvSpPr>
        <p:spPr>
          <a:xfrm>
            <a:off x="13696950" y="8020050"/>
            <a:ext cx="838200" cy="333375"/>
          </a:xfrm>
          <a:prstGeom prst="rect">
            <a:avLst/>
          </a:prstGeom>
          <a:noFill/>
          <a:ln w="0">
            <a:noFill/>
          </a:ln>
        </p:spPr>
        <p:txBody>
          <a:bodyPr wrap="none" lIns="0" tIns="0" rIns="0" bIns="0" anchor="t">
            <a:noAutofit/>
          </a:bodyPr>
          <a:lstStyle/>
          <a:p>
            <a:pPr algn="r">
              <a:defRPr sz="1575" b="0">
                <a:solidFill>
                  <a:srgbClr val="BAC3CF"/>
                </a:solidFill>
                <a:latin typeface="Helvetica Neue"/>
                <a:ea typeface="Helvetica Neue"/>
                <a:cs typeface="Helvetica Neue"/>
              </a:defRPr>
            </a:pPr>
            <a:r>
              <a:rPr sz="1575" b="0">
                <a:solidFill>
                  <a:srgbClr val="BAC3CF"/>
                </a:solidFill>
                <a:latin typeface="Helvetica Neue"/>
                <a:ea typeface="Helvetica Neue"/>
                <a:cs typeface="Helvetica Neue"/>
              </a:rPr>
              <a:t>70</a:t>
            </a:r>
          </a:p>
        </p:txBody>
      </p:sp>
      <p:sp>
        <p:nvSpPr>
          <p:cNvPr id="5" name="text-530">
            <a:extLst>
              <a:ext uri="{FF2B5EF4-FFF2-40B4-BE49-F238E27FC236}">
                <a16:creationId xmlns:a16="http://schemas.microsoft.com/office/drawing/2014/main" id="{7218024D-6375-415B-B050-820B290E49E7}"/>
              </a:ext>
            </a:extLst>
          </p:cNvPr>
          <p:cNvSpPr>
            <a:spLocks noGrp="1"/>
          </p:cNvSpPr>
          <p:nvPr/>
        </p:nvSpPr>
        <p:spPr>
          <a:xfrm>
            <a:off x="685800" y="2590800"/>
            <a:ext cx="12382500" cy="1428750"/>
          </a:xfrm>
          <a:prstGeom prst="rect">
            <a:avLst/>
          </a:prstGeom>
          <a:noFill/>
          <a:ln w="0">
            <a:noFill/>
          </a:ln>
        </p:spPr>
        <p:txBody>
          <a:bodyPr wrap="none" lIns="0" tIns="0" rIns="0" bIns="0" anchor="t">
            <a:noAutofit/>
          </a:bodyPr>
          <a:lstStyle/>
          <a:p>
            <a:pPr algn="l">
              <a:defRPr sz="4500" b="0">
                <a:solidFill>
                  <a:srgbClr val="F8F5EF"/>
                </a:solidFill>
                <a:latin typeface="Georgia"/>
                <a:ea typeface="Georgia"/>
                <a:cs typeface="Georgia"/>
              </a:defRPr>
            </a:pPr>
            <a:r>
              <a:rPr sz="4500" b="0">
                <a:solidFill>
                  <a:srgbClr val="F8F5EF"/>
                </a:solidFill>
                <a:latin typeface="Georgia"/>
                <a:ea typeface="Georgia"/>
                <a:cs typeface="Georgia"/>
              </a:rPr>
              <a:t>Build something you will use tomorrow.</a:t>
            </a:r>
          </a:p>
        </p:txBody>
      </p:sp>
      <p:sp>
        <p:nvSpPr>
          <p:cNvPr id="6" name="text-531">
            <a:extLst>
              <a:ext uri="{FF2B5EF4-FFF2-40B4-BE49-F238E27FC236}">
                <a16:creationId xmlns:a16="http://schemas.microsoft.com/office/drawing/2014/main" id="{0A64D884-E536-43A4-8ABB-95ED7EB36DBE}"/>
              </a:ext>
            </a:extLst>
          </p:cNvPr>
          <p:cNvSpPr>
            <a:spLocks noGrp="1"/>
          </p:cNvSpPr>
          <p:nvPr/>
        </p:nvSpPr>
        <p:spPr>
          <a:xfrm>
            <a:off x="685800" y="4762500"/>
            <a:ext cx="12858750" cy="619125"/>
          </a:xfrm>
          <a:prstGeom prst="rect">
            <a:avLst/>
          </a:prstGeom>
          <a:noFill/>
          <a:ln w="0">
            <a:noFill/>
          </a:ln>
        </p:spPr>
        <p:txBody>
          <a:bodyPr wrap="none" lIns="0" tIns="0" rIns="0" bIns="0" anchor="t">
            <a:noAutofit/>
          </a:bodyPr>
          <a:lstStyle/>
          <a:p>
            <a:pPr algn="l">
              <a:defRPr sz="3000" b="1">
                <a:solidFill>
                  <a:srgbClr val="F8F5EF"/>
                </a:solidFill>
                <a:latin typeface="Helvetica Neue"/>
                <a:ea typeface="Helvetica Neue"/>
                <a:cs typeface="Helvetica Neue"/>
              </a:defRPr>
            </a:pPr>
            <a:r>
              <a:rPr sz="3000" b="1">
                <a:solidFill>
                  <a:srgbClr val="F8F5EF"/>
                </a:solidFill>
                <a:latin typeface="Helvetica Neue"/>
                <a:ea typeface="Helvetica Neue"/>
                <a:cs typeface="Helvetica Neue"/>
              </a:rPr>
              <a:t>Bhavya Shah</a:t>
            </a:r>
          </a:p>
        </p:txBody>
      </p:sp>
      <p:sp>
        <p:nvSpPr>
          <p:cNvPr id="7" name="text-532">
            <a:extLst>
              <a:ext uri="{FF2B5EF4-FFF2-40B4-BE49-F238E27FC236}">
                <a16:creationId xmlns:a16="http://schemas.microsoft.com/office/drawing/2014/main" id="{A744FDAD-3490-452F-98A2-D882BC8C1579}"/>
              </a:ext>
            </a:extLst>
          </p:cNvPr>
          <p:cNvSpPr>
            <a:spLocks noGrp="1"/>
          </p:cNvSpPr>
          <p:nvPr/>
        </p:nvSpPr>
        <p:spPr>
          <a:xfrm>
            <a:off x="685800" y="5905500"/>
            <a:ext cx="12858750" cy="552450"/>
          </a:xfrm>
          <a:prstGeom prst="rect">
            <a:avLst/>
          </a:prstGeom>
          <a:noFill/>
          <a:ln w="0">
            <a:noFill/>
          </a:ln>
        </p:spPr>
        <p:txBody>
          <a:bodyPr wrap="none" lIns="0" tIns="0" rIns="0" bIns="0" anchor="t">
            <a:noAutofit/>
          </a:bodyPr>
          <a:lstStyle/>
          <a:p>
            <a:pPr algn="l">
              <a:defRPr sz="2325" b="0">
                <a:solidFill>
                  <a:srgbClr val="BED0FF"/>
                </a:solidFill>
                <a:latin typeface="Helvetica Neue"/>
                <a:ea typeface="Helvetica Neue"/>
                <a:cs typeface="Helvetica Neue"/>
              </a:defRPr>
            </a:pPr>
            <a:r>
              <a:rPr sz="2325" b="0">
                <a:solidFill>
                  <a:srgbClr val="BED0FF"/>
                </a:solidFill>
                <a:latin typeface="Helvetica Neue"/>
                <a:ea typeface="Helvetica Neue"/>
                <a:cs typeface="Helvetica Neue"/>
                <a:hlinkClick r:id="rId3"/>
              </a:rPr>
              <a:t>shahbhavya5800@gmail.com</a:t>
            </a:r>
          </a:p>
        </p:txBody>
      </p:sp>
      <p:sp>
        <p:nvSpPr>
          <p:cNvPr id="8" name="text-533">
            <a:extLst>
              <a:ext uri="{FF2B5EF4-FFF2-40B4-BE49-F238E27FC236}">
                <a16:creationId xmlns:a16="http://schemas.microsoft.com/office/drawing/2014/main" id="{5741A00E-F799-4F02-A5A9-28BDF84F4965}"/>
              </a:ext>
            </a:extLst>
          </p:cNvPr>
          <p:cNvSpPr>
            <a:spLocks noGrp="1"/>
          </p:cNvSpPr>
          <p:nvPr/>
        </p:nvSpPr>
        <p:spPr>
          <a:xfrm>
            <a:off x="685800" y="6553200"/>
            <a:ext cx="12858750" cy="523875"/>
          </a:xfrm>
          <a:prstGeom prst="rect">
            <a:avLst/>
          </a:prstGeom>
          <a:noFill/>
          <a:ln w="0">
            <a:noFill/>
          </a:ln>
        </p:spPr>
        <p:txBody>
          <a:bodyPr wrap="none" lIns="0" tIns="0" rIns="0" bIns="0" anchor="t">
            <a:noAutofit/>
          </a:bodyPr>
          <a:lstStyle/>
          <a:p>
            <a:pPr algn="l">
              <a:defRPr sz="2325" b="0">
                <a:solidFill>
                  <a:srgbClr val="F8F5EF"/>
                </a:solidFill>
                <a:latin typeface="Helvetica Neue"/>
                <a:ea typeface="Helvetica Neue"/>
                <a:cs typeface="Helvetica Neue"/>
              </a:defRPr>
            </a:pPr>
            <a:r>
              <a:rPr sz="2325" b="0">
                <a:solidFill>
                  <a:srgbClr val="F8F5EF"/>
                </a:solidFill>
                <a:latin typeface="Helvetica Neue"/>
                <a:ea typeface="Helvetica Neue"/>
                <a:cs typeface="Helvetica Neue"/>
                <a:hlinkClick r:id="rId4"/>
              </a:rPr>
              <a:t>9106724858</a:t>
            </a:r>
          </a:p>
        </p:txBody>
      </p:sp>
      <p:sp>
        <p:nvSpPr>
          <p:cNvPr id="9" name="text-534">
            <a:extLst>
              <a:ext uri="{FF2B5EF4-FFF2-40B4-BE49-F238E27FC236}">
                <a16:creationId xmlns:a16="http://schemas.microsoft.com/office/drawing/2014/main" id="{2BE26F69-A7C8-43A0-B05F-6E86C89012DB}"/>
              </a:ext>
            </a:extLst>
          </p:cNvPr>
          <p:cNvSpPr>
            <a:spLocks noGrp="1"/>
          </p:cNvSpPr>
          <p:nvPr/>
        </p:nvSpPr>
        <p:spPr>
          <a:xfrm>
            <a:off x="685800" y="7200900"/>
            <a:ext cx="12858750" cy="552450"/>
          </a:xfrm>
          <a:prstGeom prst="rect">
            <a:avLst/>
          </a:prstGeom>
          <a:noFill/>
          <a:ln w="0">
            <a:noFill/>
          </a:ln>
        </p:spPr>
        <p:txBody>
          <a:bodyPr wrap="none" lIns="0" tIns="0" rIns="0" bIns="0" anchor="t">
            <a:noAutofit/>
          </a:bodyPr>
          <a:lstStyle/>
          <a:p>
            <a:pPr algn="l">
              <a:defRPr sz="2325" b="0">
                <a:solidFill>
                  <a:srgbClr val="F8F5EF"/>
                </a:solidFill>
                <a:latin typeface="Helvetica Neue"/>
                <a:ea typeface="Helvetica Neue"/>
                <a:cs typeface="Helvetica Neue"/>
              </a:defRPr>
            </a:pPr>
            <a:r>
              <a:rPr sz="2325" b="0">
                <a:solidFill>
                  <a:srgbClr val="F8F5EF"/>
                </a:solidFill>
                <a:latin typeface="Helvetica Neue"/>
                <a:ea typeface="Helvetica Neue"/>
                <a:cs typeface="Helvetica Neue"/>
                <a:hlinkClick r:id="rId5"/>
              </a:rPr>
              <a:t>linkedin.com/in/shahbhavyak/</a:t>
            </a:r>
          </a:p>
        </p:txBody>
      </p:sp>
    </p:spTree>
    <p:extLst>
      <p:ext uri="{BB962C8B-B14F-4D97-AF65-F5344CB8AC3E}">
        <p14:creationId xmlns:p14="http://schemas.microsoft.com/office/powerpoint/2010/main" val="1727791011"/>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0" name="live-text-0">
            <a:extLst>
              <a:ext uri="{FF2B5EF4-FFF2-40B4-BE49-F238E27FC236}">
                <a16:creationId xmlns:a16="http://schemas.microsoft.com/office/drawing/2014/main" id="{518AC1BD-0B80-4D94-913D-A563B546FCC1}"/>
              </a:ext>
            </a:extLst>
          </p:cNvPr>
          <p:cNvSpPr>
            <a:spLocks noGrp="1"/>
          </p:cNvSpPr>
          <p:nvPr/>
        </p:nvSpPr>
        <p:spPr>
          <a:xfrm>
            <a:off x="685800" y="381000"/>
            <a:ext cx="13335000" cy="333375"/>
          </a:xfrm>
          <a:prstGeom prst="rect">
            <a:avLst/>
          </a:prstGeom>
          <a:noFill/>
          <a:ln w="0">
            <a:noFill/>
          </a:ln>
        </p:spPr>
        <p:txBody>
          <a:bodyPr wrap="none" lIns="0" tIns="0" rIns="0" bIns="0" anchor="t">
            <a:noAutofit/>
          </a:bodyPr>
          <a:lstStyle/>
          <a:p>
            <a:pPr>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07 / Live project companion</a:t>
            </a:r>
          </a:p>
        </p:txBody>
      </p:sp>
      <p:sp>
        <p:nvSpPr>
          <p:cNvPr id="2" name="live-text-1">
            <a:extLst>
              <a:ext uri="{FF2B5EF4-FFF2-40B4-BE49-F238E27FC236}">
                <a16:creationId xmlns:a16="http://schemas.microsoft.com/office/drawing/2014/main" id="{F3FD1550-99CD-4A75-B643-5D5157061817}"/>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defRPr sz="3525" b="0">
                <a:solidFill>
                  <a:srgbClr val="242C35"/>
                </a:solidFill>
                <a:latin typeface="Georgia"/>
                <a:ea typeface="Georgia"/>
                <a:cs typeface="Georgia"/>
              </a:defRPr>
            </a:pPr>
            <a:r>
              <a:rPr sz="3525" b="0">
                <a:solidFill>
                  <a:srgbClr val="242C35"/>
                </a:solidFill>
                <a:latin typeface="Georgia"/>
                <a:ea typeface="Georgia"/>
                <a:cs typeface="Georgia"/>
              </a:rPr>
              <a:t>PocketDesk, now a working application</a:t>
            </a:r>
          </a:p>
        </p:txBody>
      </p:sp>
      <p:sp>
        <p:nvSpPr>
          <p:cNvPr id="3" name="live-text-2">
            <a:extLst>
              <a:ext uri="{FF2B5EF4-FFF2-40B4-BE49-F238E27FC236}">
                <a16:creationId xmlns:a16="http://schemas.microsoft.com/office/drawing/2014/main" id="{6285CEB2-CF59-4B48-8605-5811CE15D74A}"/>
              </a:ext>
            </a:extLst>
          </p:cNvPr>
          <p:cNvSpPr>
            <a:spLocks noGrp="1"/>
          </p:cNvSpPr>
          <p:nvPr/>
        </p:nvSpPr>
        <p:spPr>
          <a:xfrm>
            <a:off x="685800" y="8086725"/>
            <a:ext cx="12573000" cy="257175"/>
          </a:xfrm>
          <a:prstGeom prst="rect">
            <a:avLst/>
          </a:prstGeom>
          <a:noFill/>
          <a:ln w="0">
            <a:noFill/>
          </a:ln>
        </p:spPr>
        <p:txBody>
          <a:bodyPr wrap="none" lIns="0" tIns="0" rIns="0" bIns="0" anchor="t">
            <a:noAutofit/>
          </a:bodyPr>
          <a:lstStyle/>
          <a:p>
            <a:pPr>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live-text-3">
            <a:extLst>
              <a:ext uri="{FF2B5EF4-FFF2-40B4-BE49-F238E27FC236}">
                <a16:creationId xmlns:a16="http://schemas.microsoft.com/office/drawing/2014/main" id="{542D8CF0-E5BE-4634-8850-9B3FCEB5386B}"/>
              </a:ext>
            </a:extLst>
          </p:cNvPr>
          <p:cNvSpPr>
            <a:spLocks noGrp="1"/>
          </p:cNvSpPr>
          <p:nvPr/>
        </p:nvSpPr>
        <p:spPr>
          <a:xfrm>
            <a:off x="13906500" y="8020050"/>
            <a:ext cx="647700" cy="342900"/>
          </a:xfrm>
          <a:prstGeom prst="rect">
            <a:avLst/>
          </a:prstGeom>
          <a:noFill/>
          <a:ln w="0">
            <a:noFill/>
          </a:ln>
        </p:spPr>
        <p:txBody>
          <a:bodyPr wrap="none" lIns="0" tIns="0" rIns="0" bIns="0" anchor="t">
            <a:noAutofit/>
          </a:bodyPr>
          <a:lstStyle/>
          <a:p>
            <a:pP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71</a:t>
            </a:r>
          </a:p>
        </p:txBody>
      </p:sp>
      <p:sp>
        <p:nvSpPr>
          <p:cNvPr id="5" name="live-text-4">
            <a:extLst>
              <a:ext uri="{FF2B5EF4-FFF2-40B4-BE49-F238E27FC236}">
                <a16:creationId xmlns:a16="http://schemas.microsoft.com/office/drawing/2014/main" id="{A0722D6B-89FF-4AEF-96A7-82F9CBAB21D0}"/>
              </a:ext>
            </a:extLst>
          </p:cNvPr>
          <p:cNvSpPr>
            <a:spLocks noGrp="1"/>
          </p:cNvSpPr>
          <p:nvPr/>
        </p:nvSpPr>
        <p:spPr>
          <a:xfrm>
            <a:off x="685800" y="2324100"/>
            <a:ext cx="4762500" cy="514350"/>
          </a:xfrm>
          <a:prstGeom prst="rect">
            <a:avLst/>
          </a:prstGeom>
          <a:noFill/>
          <a:ln w="0">
            <a:noFill/>
          </a:ln>
        </p:spPr>
        <p:txBody>
          <a:bodyPr wrap="none" lIns="0" tIns="0" rIns="0" bIns="0" anchor="t">
            <a:noAutofit/>
          </a:bodyPr>
          <a:lstStyle/>
          <a:p>
            <a:pPr>
              <a:defRPr sz="2250" b="1">
                <a:solidFill>
                  <a:srgbClr val="315BCD"/>
                </a:solidFill>
                <a:latin typeface="Helvetica Neue"/>
                <a:ea typeface="Helvetica Neue"/>
                <a:cs typeface="Helvetica Neue"/>
              </a:defRPr>
            </a:pPr>
            <a:r>
              <a:rPr sz="2250" b="1">
                <a:solidFill>
                  <a:srgbClr val="315BCD"/>
                </a:solidFill>
                <a:latin typeface="Helvetica Neue"/>
                <a:ea typeface="Helvetica Neue"/>
                <a:cs typeface="Helvetica Neue"/>
              </a:rPr>
              <a:t>The project you can run</a:t>
            </a:r>
          </a:p>
        </p:txBody>
      </p:sp>
      <p:sp>
        <p:nvSpPr>
          <p:cNvPr id="6" name="live-text-5">
            <a:extLst>
              <a:ext uri="{FF2B5EF4-FFF2-40B4-BE49-F238E27FC236}">
                <a16:creationId xmlns:a16="http://schemas.microsoft.com/office/drawing/2014/main" id="{D2204166-6F88-42C9-9B3D-DE7568630D11}"/>
              </a:ext>
            </a:extLst>
          </p:cNvPr>
          <p:cNvSpPr>
            <a:spLocks noGrp="1"/>
          </p:cNvSpPr>
          <p:nvPr/>
        </p:nvSpPr>
        <p:spPr>
          <a:xfrm>
            <a:off x="685800" y="3067050"/>
            <a:ext cx="5143500" cy="2286000"/>
          </a:xfrm>
          <a:prstGeom prst="rect">
            <a:avLst/>
          </a:prstGeom>
          <a:noFill/>
          <a:ln w="0">
            <a:noFill/>
          </a:ln>
        </p:spPr>
        <p:txBody>
          <a:bodyPr wrap="none" lIns="0" tIns="0" rIns="0" bIns="0" anchor="t">
            <a:noAutofit/>
          </a:bodyPr>
          <a:lstStyle/>
          <a:p>
            <a:pPr>
              <a:defRPr sz="2175" b="0">
                <a:solidFill>
                  <a:srgbClr val="242C35"/>
                </a:solidFill>
                <a:latin typeface="Helvetica Neue"/>
                <a:ea typeface="Helvetica Neue"/>
                <a:cs typeface="Helvetica Neue"/>
              </a:defRPr>
            </a:pPr>
            <a:r>
              <a:rPr sz="2175" b="0">
                <a:solidFill>
                  <a:srgbClr val="242C35"/>
                </a:solidFill>
                <a:latin typeface="Helvetica Neue"/>
                <a:ea typeface="Helvetica Neue"/>
                <a:cs typeface="Helvetica Neue"/>
              </a:rPr>
              <a:t>Personal tasks</a:t>
            </a:r>
          </a:p>
          <a:p>
            <a:pPr>
              <a:defRPr sz="2175" b="0">
                <a:solidFill>
                  <a:srgbClr val="242C35"/>
                </a:solidFill>
                <a:latin typeface="Helvetica Neue"/>
                <a:ea typeface="Helvetica Neue"/>
                <a:cs typeface="Helvetica Neue"/>
              </a:defRPr>
            </a:pPr>
            <a:r>
              <a:rPr sz="2175" b="0">
                <a:solidFill>
                  <a:srgbClr val="242C35"/>
                </a:solidFill>
                <a:latin typeface="Helvetica Neue"/>
                <a:ea typeface="Helvetica Neue"/>
                <a:cs typeface="Helvetica Neue"/>
              </a:rPr>
              <a:t>Saved key-value notes</a:t>
            </a:r>
          </a:p>
          <a:p>
            <a:pPr>
              <a:defRPr sz="2175" b="0">
                <a:solidFill>
                  <a:srgbClr val="242C35"/>
                </a:solidFill>
                <a:latin typeface="Helvetica Neue"/>
                <a:ea typeface="Helvetica Neue"/>
                <a:cs typeface="Helvetica Neue"/>
              </a:defRPr>
            </a:pPr>
            <a:r>
              <a:rPr sz="2175" b="0">
                <a:solidFill>
                  <a:srgbClr val="242C35"/>
                </a:solidFill>
                <a:latin typeface="Helvetica Neue"/>
                <a:ea typeface="Helvetica Neue"/>
                <a:cs typeface="Helvetica Neue"/>
              </a:rPr>
              <a:t>Session login and token REST</a:t>
            </a:r>
          </a:p>
          <a:p>
            <a:pPr>
              <a:defRPr sz="2175" b="0">
                <a:solidFill>
                  <a:srgbClr val="242C35"/>
                </a:solidFill>
                <a:latin typeface="Helvetica Neue"/>
                <a:ea typeface="Helvetica Neue"/>
                <a:cs typeface="Helvetica Neue"/>
              </a:defRPr>
            </a:pPr>
            <a:r>
              <a:rPr sz="2175" b="0">
                <a:solidFill>
                  <a:srgbClr val="242C35"/>
                </a:solidFill>
                <a:latin typeface="Helvetica Neue"/>
                <a:ea typeface="Helvetica Neue"/>
                <a:cs typeface="Helvetica Neue"/>
              </a:rPr>
              <a:t>Owner-protected data</a:t>
            </a:r>
          </a:p>
        </p:txBody>
      </p:sp>
      <p:sp>
        <p:nvSpPr>
          <p:cNvPr id="7" name="live-text-6">
            <a:extLst>
              <a:ext uri="{FF2B5EF4-FFF2-40B4-BE49-F238E27FC236}">
                <a16:creationId xmlns:a16="http://schemas.microsoft.com/office/drawing/2014/main" id="{390C6E82-5BDA-4FE3-8BD1-AA1F7EE6B90D}"/>
              </a:ext>
            </a:extLst>
          </p:cNvPr>
          <p:cNvSpPr>
            <a:spLocks noGrp="1"/>
          </p:cNvSpPr>
          <p:nvPr/>
        </p:nvSpPr>
        <p:spPr>
          <a:xfrm>
            <a:off x="685800" y="5791200"/>
            <a:ext cx="5143500" cy="1333500"/>
          </a:xfrm>
          <a:prstGeom prst="rect">
            <a:avLst/>
          </a:prstGeom>
          <a:noFill/>
          <a:ln w="0">
            <a:noFill/>
          </a:ln>
        </p:spPr>
        <p:txBody>
          <a:bodyPr wrap="none" lIns="0" tIns="0" rIns="0" bIns="0" anchor="t">
            <a:noAutofit/>
          </a:bodyPr>
          <a:lstStyle/>
          <a:p>
            <a:pPr>
              <a:defRPr sz="1875" b="0">
                <a:solidFill>
                  <a:srgbClr val="65717A"/>
                </a:solidFill>
                <a:latin typeface="Helvetica Neue"/>
                <a:ea typeface="Helvetica Neue"/>
                <a:cs typeface="Helvetica Neue"/>
              </a:defRPr>
            </a:pPr>
            <a:r>
              <a:rPr sz="1875" b="0">
                <a:solidFill>
                  <a:srgbClr val="65717A"/>
                </a:solidFill>
                <a:latin typeface="Helvetica Neue"/>
                <a:ea typeface="Helvetica Neue"/>
                <a:cs typeface="Helvetica Neue"/>
              </a:rPr>
              <a:t>Complete Python source</a:t>
            </a:r>
          </a:p>
          <a:p>
            <a:pPr>
              <a:defRPr sz="1875" b="0">
                <a:solidFill>
                  <a:srgbClr val="65717A"/>
                </a:solidFill>
                <a:latin typeface="Helvetica Neue"/>
                <a:ea typeface="Helvetica Neue"/>
                <a:cs typeface="Helvetica Neue"/>
              </a:defRPr>
            </a:pPr>
            <a:r>
              <a:rPr sz="1875" b="0">
                <a:solidFill>
                  <a:srgbClr val="65717A"/>
                </a:solidFill>
                <a:latin typeface="Helvetica Neue"/>
                <a:ea typeface="Helvetica Neue"/>
                <a:cs typeface="Helvetica Neue"/>
              </a:rPr>
              <a:t>README and deployment guide</a:t>
            </a:r>
          </a:p>
          <a:p>
            <a:pPr>
              <a:defRPr sz="1875" b="0">
                <a:solidFill>
                  <a:srgbClr val="65717A"/>
                </a:solidFill>
                <a:latin typeface="Helvetica Neue"/>
                <a:ea typeface="Helvetica Neue"/>
                <a:cs typeface="Helvetica Neue"/>
              </a:defRPr>
            </a:pPr>
            <a:r>
              <a:rPr sz="1875" b="0">
                <a:solidFill>
                  <a:srgbClr val="65717A"/>
                </a:solidFill>
                <a:latin typeface="Helvetica Neue"/>
                <a:ea typeface="Helvetica Neue"/>
                <a:cs typeface="Helvetica Neue"/>
              </a:rPr>
              <a:t>Tests and database migrations</a:t>
            </a:r>
          </a:p>
        </p:txBody>
      </p:sp>
      <p:pic>
        <p:nvPicPr>
          <p:cNvPr id="17" name="Picture 16"/>
          <p:cNvPicPr>
            <a:picLocks noChangeAspect="1"/>
          </p:cNvPicPr>
          <p:nvPr/>
        </p:nvPicPr>
        <p:blipFill>
          <a:blip r:embed="rId3"/>
          <a:stretch/>
        </p:blipFill>
        <p:spPr>
          <a:xfrm>
            <a:off x="8347543" y="2219325"/>
            <a:ext cx="4050363" cy="5076825"/>
          </a:xfrm>
          <a:prstGeom prst="rect">
            <a:avLst/>
          </a:prstGeom>
        </p:spPr>
      </p:pic>
      <p:sp>
        <p:nvSpPr>
          <p:cNvPr id="9" name="live-text-7">
            <a:extLst>
              <a:ext uri="{FF2B5EF4-FFF2-40B4-BE49-F238E27FC236}">
                <a16:creationId xmlns:a16="http://schemas.microsoft.com/office/drawing/2014/main" id="{D3B860C6-0790-4B2F-A4B2-389C8D997CEB}"/>
              </a:ext>
            </a:extLst>
          </p:cNvPr>
          <p:cNvSpPr>
            <a:spLocks noGrp="1"/>
          </p:cNvSpPr>
          <p:nvPr/>
        </p:nvSpPr>
        <p:spPr>
          <a:xfrm>
            <a:off x="6191250" y="7410450"/>
            <a:ext cx="8362950" cy="419100"/>
          </a:xfrm>
          <a:prstGeom prst="rect">
            <a:avLst/>
          </a:prstGeom>
          <a:noFill/>
          <a:ln w="0">
            <a:noFill/>
          </a:ln>
        </p:spPr>
        <p:txBody>
          <a:bodyPr wrap="none" lIns="0" tIns="0" rIns="0" bIns="0" anchor="t">
            <a:noAutofit/>
          </a:bodyPr>
          <a:lstStyle/>
          <a:p>
            <a:pPr>
              <a:defRPr sz="1650" b="0">
                <a:solidFill>
                  <a:srgbClr val="65717A"/>
                </a:solidFill>
                <a:latin typeface="Helvetica Neue"/>
                <a:ea typeface="Helvetica Neue"/>
                <a:cs typeface="Helvetica Neue"/>
              </a:defRPr>
            </a:pPr>
            <a:r>
              <a:rPr sz="1650" b="0">
                <a:solidFill>
                  <a:srgbClr val="65717A"/>
                </a:solidFill>
                <a:latin typeface="Helvetica Neue"/>
                <a:ea typeface="Helvetica Neue"/>
                <a:cs typeface="Helvetica Neue"/>
              </a:rPr>
              <a:t>Actual local application with fictional demo records</a:t>
            </a:r>
          </a:p>
        </p:txBody>
      </p:sp>
    </p:spTree>
    <p:extLst>
      <p:ext uri="{BB962C8B-B14F-4D97-AF65-F5344CB8AC3E}">
        <p14:creationId xmlns:p14="http://schemas.microsoft.com/office/powerpoint/2010/main" val="4578968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7" name="live-text-8">
            <a:extLst>
              <a:ext uri="{FF2B5EF4-FFF2-40B4-BE49-F238E27FC236}">
                <a16:creationId xmlns:a16="http://schemas.microsoft.com/office/drawing/2014/main" id="{FBA6D9DF-D18E-48A2-A123-E85D039998DF}"/>
              </a:ext>
            </a:extLst>
          </p:cNvPr>
          <p:cNvSpPr>
            <a:spLocks noGrp="1"/>
          </p:cNvSpPr>
          <p:nvPr/>
        </p:nvSpPr>
        <p:spPr>
          <a:xfrm>
            <a:off x="685800" y="381000"/>
            <a:ext cx="13335000" cy="333375"/>
          </a:xfrm>
          <a:prstGeom prst="rect">
            <a:avLst/>
          </a:prstGeom>
          <a:noFill/>
          <a:ln w="0">
            <a:noFill/>
          </a:ln>
        </p:spPr>
        <p:txBody>
          <a:bodyPr wrap="none" lIns="0" tIns="0" rIns="0" bIns="0" anchor="t">
            <a:noAutofit/>
          </a:bodyPr>
          <a:lstStyle/>
          <a:p>
            <a:pPr>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07 / Live project companion</a:t>
            </a:r>
          </a:p>
        </p:txBody>
      </p:sp>
      <p:sp>
        <p:nvSpPr>
          <p:cNvPr id="2" name="live-text-9">
            <a:extLst>
              <a:ext uri="{FF2B5EF4-FFF2-40B4-BE49-F238E27FC236}">
                <a16:creationId xmlns:a16="http://schemas.microsoft.com/office/drawing/2014/main" id="{45E3DE96-185B-47FB-933F-5412A9E4E7D1}"/>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defRPr sz="3525" b="0">
                <a:solidFill>
                  <a:srgbClr val="242C35"/>
                </a:solidFill>
                <a:latin typeface="Georgia"/>
                <a:ea typeface="Georgia"/>
                <a:cs typeface="Georgia"/>
              </a:defRPr>
            </a:pPr>
            <a:r>
              <a:rPr sz="3525" b="0">
                <a:solidFill>
                  <a:srgbClr val="242C35"/>
                </a:solidFill>
                <a:latin typeface="Georgia"/>
                <a:ea typeface="Georgia"/>
                <a:cs typeface="Georgia"/>
              </a:rPr>
              <a:t>The delivered project structure</a:t>
            </a:r>
          </a:p>
        </p:txBody>
      </p:sp>
      <p:sp>
        <p:nvSpPr>
          <p:cNvPr id="3" name="live-text-10">
            <a:extLst>
              <a:ext uri="{FF2B5EF4-FFF2-40B4-BE49-F238E27FC236}">
                <a16:creationId xmlns:a16="http://schemas.microsoft.com/office/drawing/2014/main" id="{B0F52344-88E0-49B5-8CA6-9C2740EED0BD}"/>
              </a:ext>
            </a:extLst>
          </p:cNvPr>
          <p:cNvSpPr>
            <a:spLocks noGrp="1"/>
          </p:cNvSpPr>
          <p:nvPr/>
        </p:nvSpPr>
        <p:spPr>
          <a:xfrm>
            <a:off x="685800" y="8086725"/>
            <a:ext cx="12573000" cy="257175"/>
          </a:xfrm>
          <a:prstGeom prst="rect">
            <a:avLst/>
          </a:prstGeom>
          <a:noFill/>
          <a:ln w="0">
            <a:noFill/>
          </a:ln>
        </p:spPr>
        <p:txBody>
          <a:bodyPr wrap="none" lIns="0" tIns="0" rIns="0" bIns="0" anchor="t">
            <a:noAutofit/>
          </a:bodyPr>
          <a:lstStyle/>
          <a:p>
            <a:pPr>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live-text-11">
            <a:extLst>
              <a:ext uri="{FF2B5EF4-FFF2-40B4-BE49-F238E27FC236}">
                <a16:creationId xmlns:a16="http://schemas.microsoft.com/office/drawing/2014/main" id="{1C9680AB-ADB3-45CA-A2FC-CB9FB163FDE9}"/>
              </a:ext>
            </a:extLst>
          </p:cNvPr>
          <p:cNvSpPr>
            <a:spLocks noGrp="1"/>
          </p:cNvSpPr>
          <p:nvPr/>
        </p:nvSpPr>
        <p:spPr>
          <a:xfrm>
            <a:off x="13906500" y="8020050"/>
            <a:ext cx="647700" cy="342900"/>
          </a:xfrm>
          <a:prstGeom prst="rect">
            <a:avLst/>
          </a:prstGeom>
          <a:noFill/>
          <a:ln w="0">
            <a:noFill/>
          </a:ln>
        </p:spPr>
        <p:txBody>
          <a:bodyPr wrap="none" lIns="0" tIns="0" rIns="0" bIns="0" anchor="t">
            <a:noAutofit/>
          </a:bodyPr>
          <a:lstStyle/>
          <a:p>
            <a:pP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72</a:t>
            </a:r>
          </a:p>
        </p:txBody>
      </p:sp>
      <p:graphicFrame>
        <p:nvGraphicFramePr>
          <p:cNvPr id="11" name="Table 10"/>
          <p:cNvGraphicFramePr/>
          <p:nvPr/>
        </p:nvGraphicFramePr>
        <p:xfrm>
          <a:off x="685800" y="2343150"/>
          <a:ext cx="13868400" cy="5095875"/>
        </p:xfrm>
        <a:graphic>
          <a:graphicData uri="http://schemas.openxmlformats.org/drawingml/2006/table">
            <a:tbl>
              <a:tblPr/>
              <a:tblGrid>
                <a:gridCol w="4714875">
                  <a:extLst>
                    <a:ext uri="{9D8B030D-6E8A-4147-A177-3AD203B41FA5}">
                      <a16:colId xmlns:a16="http://schemas.microsoft.com/office/drawing/2014/main" val="20000"/>
                    </a:ext>
                  </a:extLst>
                </a:gridCol>
                <a:gridCol w="9153525">
                  <a:extLst>
                    <a:ext uri="{9D8B030D-6E8A-4147-A177-3AD203B41FA5}">
                      <a16:colId xmlns:a16="http://schemas.microsoft.com/office/drawing/2014/main" val="20001"/>
                    </a:ext>
                  </a:extLst>
                </a:gridCol>
              </a:tblGrid>
              <a:tr h="636984">
                <a:tc>
                  <a:txBody>
                    <a:bodyPr/>
                    <a:lstStyle/>
                    <a:p>
                      <a:r>
                        <a:rPr sz="1875" b="1">
                          <a:solidFill>
                            <a:srgbClr val="FFFFFF"/>
                          </a:solidFill>
                          <a:latin typeface="Helvetica Neue"/>
                          <a:ea typeface="Helvetica Neue"/>
                          <a:cs typeface="Helvetica Neue"/>
                        </a:rPr>
                        <a:t>Directory or file</a:t>
                      </a:r>
                    </a:p>
                  </a:txBody>
                  <a:tcPr>
                    <a:solidFill>
                      <a:srgbClr val="242C35"/>
                    </a:solidFill>
                  </a:tcPr>
                </a:tc>
                <a:tc>
                  <a:txBody>
                    <a:bodyPr/>
                    <a:lstStyle/>
                    <a:p>
                      <a:r>
                        <a:rPr sz="1875" b="1">
                          <a:solidFill>
                            <a:srgbClr val="FFFFFF"/>
                          </a:solidFill>
                          <a:latin typeface="Helvetica Neue"/>
                          <a:ea typeface="Helvetica Neue"/>
                          <a:cs typeface="Helvetica Neue"/>
                        </a:rPr>
                        <a:t>Responsibility</a:t>
                      </a:r>
                    </a:p>
                  </a:txBody>
                  <a:tcPr>
                    <a:solidFill>
                      <a:srgbClr val="242C35"/>
                    </a:solidFill>
                  </a:tcPr>
                </a:tc>
                <a:extLst>
                  <a:ext uri="{0D108BD9-81ED-4DB2-BD59-A6C34878D82A}">
                    <a16:rowId xmlns:a16="http://schemas.microsoft.com/office/drawing/2014/main" val="10000"/>
                  </a:ext>
                </a:extLst>
              </a:tr>
              <a:tr h="636984">
                <a:tc>
                  <a:txBody>
                    <a:bodyPr/>
                    <a:lstStyle/>
                    <a:p>
                      <a:r>
                        <a:rPr sz="1875" b="0">
                          <a:solidFill>
                            <a:srgbClr val="242C35"/>
                          </a:solidFill>
                          <a:latin typeface="Helvetica Neue"/>
                          <a:ea typeface="Helvetica Neue"/>
                          <a:cs typeface="Helvetica Neue"/>
                        </a:rPr>
                        <a:t>manage.py and config/</a:t>
                      </a:r>
                    </a:p>
                  </a:txBody>
                  <a:tcPr>
                    <a:solidFill>
                      <a:srgbClr val="FFFFFF"/>
                    </a:solidFill>
                  </a:tcPr>
                </a:tc>
                <a:tc>
                  <a:txBody>
                    <a:bodyPr/>
                    <a:lstStyle/>
                    <a:p>
                      <a:r>
                        <a:rPr sz="1875" b="0">
                          <a:solidFill>
                            <a:srgbClr val="242C35"/>
                          </a:solidFill>
                          <a:latin typeface="Helvetica Neue"/>
                          <a:ea typeface="Helvetica Neue"/>
                          <a:cs typeface="Helvetica Neue"/>
                        </a:rPr>
                        <a:t>Commands, settings, routes, WSGI and middleware</a:t>
                      </a:r>
                    </a:p>
                  </a:txBody>
                  <a:tcPr>
                    <a:solidFill>
                      <a:srgbClr val="FFFFFF"/>
                    </a:solidFill>
                  </a:tcPr>
                </a:tc>
                <a:extLst>
                  <a:ext uri="{0D108BD9-81ED-4DB2-BD59-A6C34878D82A}">
                    <a16:rowId xmlns:a16="http://schemas.microsoft.com/office/drawing/2014/main" val="10001"/>
                  </a:ext>
                </a:extLst>
              </a:tr>
              <a:tr h="636984">
                <a:tc>
                  <a:txBody>
                    <a:bodyPr/>
                    <a:lstStyle/>
                    <a:p>
                      <a:r>
                        <a:rPr sz="1875" b="0">
                          <a:solidFill>
                            <a:srgbClr val="242C35"/>
                          </a:solidFill>
                          <a:latin typeface="Helvetica Neue"/>
                          <a:ea typeface="Helvetica Neue"/>
                          <a:cs typeface="Helvetica Neue"/>
                        </a:rPr>
                        <a:t>accounts/</a:t>
                      </a:r>
                    </a:p>
                  </a:txBody>
                  <a:tcPr>
                    <a:solidFill>
                      <a:srgbClr val="F8F5EF"/>
                    </a:solidFill>
                  </a:tcPr>
                </a:tc>
                <a:tc>
                  <a:txBody>
                    <a:bodyPr/>
                    <a:lstStyle/>
                    <a:p>
                      <a:r>
                        <a:rPr sz="1875" b="0">
                          <a:solidFill>
                            <a:srgbClr val="242C35"/>
                          </a:solidFill>
                          <a:latin typeface="Helvetica Neue"/>
                          <a:ea typeface="Helvetica Neue"/>
                          <a:cs typeface="Helvetica Neue"/>
                        </a:rPr>
                        <a:t>Account creation and login-related behavior</a:t>
                      </a:r>
                    </a:p>
                  </a:txBody>
                  <a:tcPr>
                    <a:solidFill>
                      <a:srgbClr val="F8F5EF"/>
                    </a:solidFill>
                  </a:tcPr>
                </a:tc>
                <a:extLst>
                  <a:ext uri="{0D108BD9-81ED-4DB2-BD59-A6C34878D82A}">
                    <a16:rowId xmlns:a16="http://schemas.microsoft.com/office/drawing/2014/main" val="10002"/>
                  </a:ext>
                </a:extLst>
              </a:tr>
              <a:tr h="636984">
                <a:tc>
                  <a:txBody>
                    <a:bodyPr/>
                    <a:lstStyle/>
                    <a:p>
                      <a:r>
                        <a:rPr sz="1875" b="0">
                          <a:solidFill>
                            <a:srgbClr val="242C35"/>
                          </a:solidFill>
                          <a:latin typeface="Helvetica Neue"/>
                          <a:ea typeface="Helvetica Neue"/>
                          <a:cs typeface="Helvetica Neue"/>
                        </a:rPr>
                        <a:t>tasks/</a:t>
                      </a:r>
                    </a:p>
                  </a:txBody>
                  <a:tcPr>
                    <a:solidFill>
                      <a:srgbClr val="FFFFFF"/>
                    </a:solidFill>
                  </a:tcPr>
                </a:tc>
                <a:tc>
                  <a:txBody>
                    <a:bodyPr/>
                    <a:lstStyle/>
                    <a:p>
                      <a:r>
                        <a:rPr sz="1875" b="0">
                          <a:solidFill>
                            <a:srgbClr val="242C35"/>
                          </a:solidFill>
                          <a:latin typeface="Helvetica Neue"/>
                          <a:ea typeface="Helvetica Neue"/>
                          <a:cs typeface="Helvetica Neue"/>
                        </a:rPr>
                        <a:t>TODO model, forms, HTML views, API and tests</a:t>
                      </a:r>
                    </a:p>
                  </a:txBody>
                  <a:tcPr>
                    <a:solidFill>
                      <a:srgbClr val="FFFFFF"/>
                    </a:solidFill>
                  </a:tcPr>
                </a:tc>
                <a:extLst>
                  <a:ext uri="{0D108BD9-81ED-4DB2-BD59-A6C34878D82A}">
                    <a16:rowId xmlns:a16="http://schemas.microsoft.com/office/drawing/2014/main" val="10003"/>
                  </a:ext>
                </a:extLst>
              </a:tr>
              <a:tr h="636984">
                <a:tc>
                  <a:txBody>
                    <a:bodyPr/>
                    <a:lstStyle/>
                    <a:p>
                      <a:r>
                        <a:rPr sz="1875" b="0">
                          <a:solidFill>
                            <a:srgbClr val="242C35"/>
                          </a:solidFill>
                          <a:latin typeface="Helvetica Neue"/>
                          <a:ea typeface="Helvetica Neue"/>
                          <a:cs typeface="Helvetica Neue"/>
                        </a:rPr>
                        <a:t>entries/</a:t>
                      </a:r>
                    </a:p>
                  </a:txBody>
                  <a:tcPr>
                    <a:solidFill>
                      <a:srgbClr val="F8F5EF"/>
                    </a:solidFill>
                  </a:tcPr>
                </a:tc>
                <a:tc>
                  <a:txBody>
                    <a:bodyPr/>
                    <a:lstStyle/>
                    <a:p>
                      <a:r>
                        <a:rPr sz="1875" b="0">
                          <a:solidFill>
                            <a:srgbClr val="242C35"/>
                          </a:solidFill>
                          <a:latin typeface="Helvetica Neue"/>
                          <a:ea typeface="Helvetica Neue"/>
                          <a:cs typeface="Helvetica Neue"/>
                        </a:rPr>
                        <a:t>Key-value model, validation, HTML views and API</a:t>
                      </a:r>
                    </a:p>
                  </a:txBody>
                  <a:tcPr>
                    <a:solidFill>
                      <a:srgbClr val="F8F5EF"/>
                    </a:solidFill>
                  </a:tcPr>
                </a:tc>
                <a:extLst>
                  <a:ext uri="{0D108BD9-81ED-4DB2-BD59-A6C34878D82A}">
                    <a16:rowId xmlns:a16="http://schemas.microsoft.com/office/drawing/2014/main" val="10004"/>
                  </a:ext>
                </a:extLst>
              </a:tr>
              <a:tr h="636984">
                <a:tc>
                  <a:txBody>
                    <a:bodyPr/>
                    <a:lstStyle/>
                    <a:p>
                      <a:r>
                        <a:rPr sz="1875" b="0">
                          <a:solidFill>
                            <a:srgbClr val="242C35"/>
                          </a:solidFill>
                          <a:latin typeface="Helvetica Neue"/>
                          <a:ea typeface="Helvetica Neue"/>
                          <a:cs typeface="Helvetica Neue"/>
                        </a:rPr>
                        <a:t>templates/ and static/</a:t>
                      </a:r>
                    </a:p>
                  </a:txBody>
                  <a:tcPr>
                    <a:solidFill>
                      <a:srgbClr val="FFFFFF"/>
                    </a:solidFill>
                  </a:tcPr>
                </a:tc>
                <a:tc>
                  <a:txBody>
                    <a:bodyPr/>
                    <a:lstStyle/>
                    <a:p>
                      <a:r>
                        <a:rPr sz="1875" b="0">
                          <a:solidFill>
                            <a:srgbClr val="242C35"/>
                          </a:solidFill>
                          <a:latin typeface="Helvetica Neue"/>
                          <a:ea typeface="Helvetica Neue"/>
                          <a:cs typeface="Helvetica Neue"/>
                        </a:rPr>
                        <a:t>Shared layout, responsive pages and local assets</a:t>
                      </a:r>
                    </a:p>
                  </a:txBody>
                  <a:tcPr>
                    <a:solidFill>
                      <a:srgbClr val="FFFFFF"/>
                    </a:solidFill>
                  </a:tcPr>
                </a:tc>
                <a:extLst>
                  <a:ext uri="{0D108BD9-81ED-4DB2-BD59-A6C34878D82A}">
                    <a16:rowId xmlns:a16="http://schemas.microsoft.com/office/drawing/2014/main" val="10005"/>
                  </a:ext>
                </a:extLst>
              </a:tr>
              <a:tr h="636984">
                <a:tc>
                  <a:txBody>
                    <a:bodyPr/>
                    <a:lstStyle/>
                    <a:p>
                      <a:r>
                        <a:rPr sz="1875" b="0">
                          <a:solidFill>
                            <a:srgbClr val="242C35"/>
                          </a:solidFill>
                          <a:latin typeface="Helvetica Neue"/>
                          <a:ea typeface="Helvetica Neue"/>
                          <a:cs typeface="Helvetica Neue"/>
                        </a:rPr>
                        <a:t>docs/</a:t>
                      </a:r>
                    </a:p>
                  </a:txBody>
                  <a:tcPr>
                    <a:solidFill>
                      <a:srgbClr val="F8F5EF"/>
                    </a:solidFill>
                  </a:tcPr>
                </a:tc>
                <a:tc>
                  <a:txBody>
                    <a:bodyPr/>
                    <a:lstStyle/>
                    <a:p>
                      <a:r>
                        <a:rPr sz="1875" b="0">
                          <a:solidFill>
                            <a:srgbClr val="242C35"/>
                          </a:solidFill>
                          <a:latin typeface="Helvetica Neue"/>
                          <a:ea typeface="Helvetica Neue"/>
                          <a:cs typeface="Helvetica Neue"/>
                        </a:rPr>
                        <a:t>Screenshots, API, architecture and deployment</a:t>
                      </a:r>
                    </a:p>
                  </a:txBody>
                  <a:tcPr>
                    <a:solidFill>
                      <a:srgbClr val="F8F5EF"/>
                    </a:solidFill>
                  </a:tcPr>
                </a:tc>
                <a:extLst>
                  <a:ext uri="{0D108BD9-81ED-4DB2-BD59-A6C34878D82A}">
                    <a16:rowId xmlns:a16="http://schemas.microsoft.com/office/drawing/2014/main" val="10006"/>
                  </a:ext>
                </a:extLst>
              </a:tr>
              <a:tr h="636984">
                <a:tc>
                  <a:txBody>
                    <a:bodyPr/>
                    <a:lstStyle/>
                    <a:p>
                      <a:r>
                        <a:rPr sz="1875" b="0">
                          <a:solidFill>
                            <a:srgbClr val="242C35"/>
                          </a:solidFill>
                          <a:latin typeface="Helvetica Neue"/>
                          <a:ea typeface="Helvetica Neue"/>
                          <a:cs typeface="Helvetica Neue"/>
                        </a:rPr>
                        <a:t>requirements.txt and vercel.json</a:t>
                      </a:r>
                    </a:p>
                  </a:txBody>
                  <a:tcPr>
                    <a:solidFill>
                      <a:srgbClr val="FFFFFF"/>
                    </a:solidFill>
                  </a:tcPr>
                </a:tc>
                <a:tc>
                  <a:txBody>
                    <a:bodyPr/>
                    <a:lstStyle/>
                    <a:p>
                      <a:r>
                        <a:rPr sz="1875" b="0">
                          <a:solidFill>
                            <a:srgbClr val="242C35"/>
                          </a:solidFill>
                          <a:latin typeface="Helvetica Neue"/>
                          <a:ea typeface="Helvetica Neue"/>
                          <a:cs typeface="Helvetica Neue"/>
                        </a:rPr>
                        <a:t>Runtime dependencies and deployment configuration</a:t>
                      </a:r>
                    </a:p>
                  </a:txBody>
                  <a:tcPr>
                    <a:solidFill>
                      <a:srgbClr val="FFFFFF"/>
                    </a:solidFill>
                  </a:tcPr>
                </a:tc>
                <a:extLst>
                  <a:ext uri="{0D108BD9-81ED-4DB2-BD59-A6C34878D82A}">
                    <a16:rowId xmlns:a16="http://schemas.microsoft.com/office/drawing/2014/main" val="10007"/>
                  </a:ext>
                </a:extLst>
              </a:tr>
            </a:tbl>
          </a:graphicData>
        </a:graphic>
      </p:graphicFrame>
      <p:sp>
        <p:nvSpPr>
          <p:cNvPr id="6" name="live-text-12">
            <a:extLst>
              <a:ext uri="{FF2B5EF4-FFF2-40B4-BE49-F238E27FC236}">
                <a16:creationId xmlns:a16="http://schemas.microsoft.com/office/drawing/2014/main" id="{070EA72E-60AD-42C9-B518-18659C41753B}"/>
              </a:ext>
            </a:extLst>
          </p:cNvPr>
          <p:cNvSpPr>
            <a:spLocks noGrp="1"/>
          </p:cNvSpPr>
          <p:nvPr/>
        </p:nvSpPr>
        <p:spPr>
          <a:xfrm>
            <a:off x="685800" y="7639050"/>
            <a:ext cx="13868400" cy="400050"/>
          </a:xfrm>
          <a:prstGeom prst="rect">
            <a:avLst/>
          </a:prstGeom>
          <a:noFill/>
          <a:ln w="0">
            <a:noFill/>
          </a:ln>
        </p:spPr>
        <p:txBody>
          <a:bodyPr wrap="none" lIns="0" tIns="0" rIns="0" bIns="0" anchor="t">
            <a:noAutofit/>
          </a:bodyPr>
          <a:lstStyle/>
          <a:p>
            <a:pPr>
              <a:defRPr sz="1950" b="0">
                <a:solidFill>
                  <a:srgbClr val="65717A"/>
                </a:solidFill>
                <a:latin typeface="Helvetica Neue"/>
                <a:ea typeface="Helvetica Neue"/>
                <a:cs typeface="Helvetica Neue"/>
              </a:defRPr>
            </a:pPr>
            <a:r>
              <a:rPr sz="1950" b="0">
                <a:solidFill>
                  <a:srgbClr val="65717A"/>
                </a:solidFill>
                <a:latin typeface="Helvetica Neue"/>
                <a:ea typeface="Helvetica Neue"/>
                <a:cs typeface="Helvetica Neue"/>
              </a:rPr>
              <a:t>Each app keeps data, browser behavior and REST code in separate files.</a:t>
            </a:r>
          </a:p>
        </p:txBody>
      </p:sp>
    </p:spTree>
    <p:extLst>
      <p:ext uri="{BB962C8B-B14F-4D97-AF65-F5344CB8AC3E}">
        <p14:creationId xmlns:p14="http://schemas.microsoft.com/office/powerpoint/2010/main" val="10582114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1" name="live-text-13">
            <a:extLst>
              <a:ext uri="{FF2B5EF4-FFF2-40B4-BE49-F238E27FC236}">
                <a16:creationId xmlns:a16="http://schemas.microsoft.com/office/drawing/2014/main" id="{3826AFE8-1B52-4D67-B214-79B11DDD02D1}"/>
              </a:ext>
            </a:extLst>
          </p:cNvPr>
          <p:cNvSpPr>
            <a:spLocks noGrp="1"/>
          </p:cNvSpPr>
          <p:nvPr/>
        </p:nvSpPr>
        <p:spPr>
          <a:xfrm>
            <a:off x="685800" y="381000"/>
            <a:ext cx="13335000" cy="333375"/>
          </a:xfrm>
          <a:prstGeom prst="rect">
            <a:avLst/>
          </a:prstGeom>
          <a:noFill/>
          <a:ln w="0">
            <a:noFill/>
          </a:ln>
        </p:spPr>
        <p:txBody>
          <a:bodyPr wrap="none" lIns="0" tIns="0" rIns="0" bIns="0" anchor="t">
            <a:noAutofit/>
          </a:bodyPr>
          <a:lstStyle/>
          <a:p>
            <a:pPr>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07 / Live project companion</a:t>
            </a:r>
          </a:p>
        </p:txBody>
      </p:sp>
      <p:sp>
        <p:nvSpPr>
          <p:cNvPr id="2" name="live-text-14">
            <a:extLst>
              <a:ext uri="{FF2B5EF4-FFF2-40B4-BE49-F238E27FC236}">
                <a16:creationId xmlns:a16="http://schemas.microsoft.com/office/drawing/2014/main" id="{C59CA965-39DC-46EC-82E6-6234B7A04B65}"/>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defRPr sz="3525" b="0">
                <a:solidFill>
                  <a:srgbClr val="242C35"/>
                </a:solidFill>
                <a:latin typeface="Georgia"/>
                <a:ea typeface="Georgia"/>
                <a:cs typeface="Georgia"/>
              </a:defRPr>
            </a:pPr>
            <a:r>
              <a:rPr sz="3525" b="0">
                <a:solidFill>
                  <a:srgbClr val="242C35"/>
                </a:solidFill>
                <a:latin typeface="Georgia"/>
                <a:ea typeface="Georgia"/>
                <a:cs typeface="Georgia"/>
              </a:rPr>
              <a:t>Local setup and your first login</a:t>
            </a:r>
          </a:p>
        </p:txBody>
      </p:sp>
      <p:sp>
        <p:nvSpPr>
          <p:cNvPr id="3" name="live-text-15">
            <a:extLst>
              <a:ext uri="{FF2B5EF4-FFF2-40B4-BE49-F238E27FC236}">
                <a16:creationId xmlns:a16="http://schemas.microsoft.com/office/drawing/2014/main" id="{FC6014A5-7EC5-421A-8F2E-E4476EB1FD25}"/>
              </a:ext>
            </a:extLst>
          </p:cNvPr>
          <p:cNvSpPr>
            <a:spLocks noGrp="1"/>
          </p:cNvSpPr>
          <p:nvPr/>
        </p:nvSpPr>
        <p:spPr>
          <a:xfrm>
            <a:off x="685800" y="8086725"/>
            <a:ext cx="12573000" cy="257175"/>
          </a:xfrm>
          <a:prstGeom prst="rect">
            <a:avLst/>
          </a:prstGeom>
          <a:noFill/>
          <a:ln w="0">
            <a:noFill/>
          </a:ln>
        </p:spPr>
        <p:txBody>
          <a:bodyPr wrap="none" lIns="0" tIns="0" rIns="0" bIns="0" anchor="t">
            <a:noAutofit/>
          </a:bodyPr>
          <a:lstStyle/>
          <a:p>
            <a:pPr>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live-text-16">
            <a:extLst>
              <a:ext uri="{FF2B5EF4-FFF2-40B4-BE49-F238E27FC236}">
                <a16:creationId xmlns:a16="http://schemas.microsoft.com/office/drawing/2014/main" id="{9C90AE0E-D6FF-4904-804B-C23A4CF47DD6}"/>
              </a:ext>
            </a:extLst>
          </p:cNvPr>
          <p:cNvSpPr>
            <a:spLocks noGrp="1"/>
          </p:cNvSpPr>
          <p:nvPr/>
        </p:nvSpPr>
        <p:spPr>
          <a:xfrm>
            <a:off x="13906500" y="8020050"/>
            <a:ext cx="647700" cy="342900"/>
          </a:xfrm>
          <a:prstGeom prst="rect">
            <a:avLst/>
          </a:prstGeom>
          <a:noFill/>
          <a:ln w="0">
            <a:noFill/>
          </a:ln>
        </p:spPr>
        <p:txBody>
          <a:bodyPr wrap="none" lIns="0" tIns="0" rIns="0" bIns="0" anchor="t">
            <a:noAutofit/>
          </a:bodyPr>
          <a:lstStyle/>
          <a:p>
            <a:pP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73</a:t>
            </a:r>
          </a:p>
        </p:txBody>
      </p:sp>
      <p:sp>
        <p:nvSpPr>
          <p:cNvPr id="5" name="live-text-17">
            <a:extLst>
              <a:ext uri="{FF2B5EF4-FFF2-40B4-BE49-F238E27FC236}">
                <a16:creationId xmlns:a16="http://schemas.microsoft.com/office/drawing/2014/main" id="{38EE1354-B156-4DBC-AF91-B8DEE56C7399}"/>
              </a:ext>
            </a:extLst>
          </p:cNvPr>
          <p:cNvSpPr>
            <a:spLocks noGrp="1"/>
          </p:cNvSpPr>
          <p:nvPr/>
        </p:nvSpPr>
        <p:spPr>
          <a:xfrm>
            <a:off x="685800" y="2286000"/>
            <a:ext cx="8001000" cy="361950"/>
          </a:xfrm>
          <a:prstGeom prst="rect">
            <a:avLst/>
          </a:prstGeom>
          <a:noFill/>
          <a:ln w="0">
            <a:noFill/>
          </a:ln>
        </p:spPr>
        <p:txBody>
          <a:bodyPr wrap="none" lIns="0" tIns="0" rIns="0" bIns="0" anchor="t">
            <a:noAutofit/>
          </a:bodyPr>
          <a:lstStyle/>
          <a:p>
            <a:pPr>
              <a:defRPr sz="1650" b="0">
                <a:solidFill>
                  <a:srgbClr val="65717A"/>
                </a:solidFill>
                <a:latin typeface="Menlo"/>
                <a:ea typeface="Menlo"/>
                <a:cs typeface="Menlo"/>
              </a:defRPr>
            </a:pPr>
            <a:r>
              <a:rPr sz="1650" b="0">
                <a:solidFill>
                  <a:srgbClr val="65717A"/>
                </a:solidFill>
                <a:latin typeface="Menlo"/>
                <a:ea typeface="Menlo"/>
                <a:cs typeface="Menlo"/>
              </a:rPr>
              <a:t>Terminal inside pocketdesk/</a:t>
            </a:r>
          </a:p>
        </p:txBody>
      </p:sp>
      <p:sp>
        <p:nvSpPr>
          <p:cNvPr id="6" name="live-code-background-18">
            <a:extLst>
              <a:ext uri="{FF2B5EF4-FFF2-40B4-BE49-F238E27FC236}">
                <a16:creationId xmlns:a16="http://schemas.microsoft.com/office/drawing/2014/main" id="{D94B739A-D0CB-4C13-A0E1-0D2094D78C3A}"/>
              </a:ext>
            </a:extLst>
          </p:cNvPr>
          <p:cNvSpPr>
            <a:spLocks noGrp="1"/>
          </p:cNvSpPr>
          <p:nvPr/>
        </p:nvSpPr>
        <p:spPr>
          <a:xfrm>
            <a:off x="685800" y="2781300"/>
            <a:ext cx="8401050" cy="3219450"/>
          </a:xfrm>
          <a:prstGeom prst="rect">
            <a:avLst/>
          </a:prstGeom>
          <a:solidFill>
            <a:srgbClr val="242C35"/>
          </a:solidFill>
          <a:ln w="0">
            <a:noFill/>
          </a:ln>
        </p:spPr>
      </p:sp>
      <p:sp>
        <p:nvSpPr>
          <p:cNvPr id="7" name="live-text-19">
            <a:extLst>
              <a:ext uri="{FF2B5EF4-FFF2-40B4-BE49-F238E27FC236}">
                <a16:creationId xmlns:a16="http://schemas.microsoft.com/office/drawing/2014/main" id="{474E092D-78FF-4456-8549-DA5A42A5D344}"/>
              </a:ext>
            </a:extLst>
          </p:cNvPr>
          <p:cNvSpPr>
            <a:spLocks noGrp="1"/>
          </p:cNvSpPr>
          <p:nvPr/>
        </p:nvSpPr>
        <p:spPr>
          <a:xfrm>
            <a:off x="923925" y="3009900"/>
            <a:ext cx="7924800" cy="2762250"/>
          </a:xfrm>
          <a:prstGeom prst="rect">
            <a:avLst/>
          </a:prstGeom>
          <a:noFill/>
          <a:ln w="0">
            <a:noFill/>
          </a:ln>
        </p:spPr>
        <p:txBody>
          <a:bodyPr wrap="none" lIns="0" tIns="0" rIns="0" bIns="0" anchor="t">
            <a:noAutofit/>
          </a:bodyPr>
          <a:lstStyle/>
          <a:p>
            <a:pPr>
              <a:defRPr sz="1800" b="0">
                <a:solidFill>
                  <a:srgbClr val="F8F5EF"/>
                </a:solidFill>
                <a:latin typeface="Menlo"/>
                <a:ea typeface="Menlo"/>
                <a:cs typeface="Menlo"/>
              </a:defRPr>
            </a:pPr>
            <a:r>
              <a:rPr sz="1800" b="0">
                <a:solidFill>
                  <a:srgbClr val="F8F5EF"/>
                </a:solidFill>
                <a:latin typeface="Menlo"/>
                <a:ea typeface="Menlo"/>
                <a:cs typeface="Menlo"/>
              </a:rPr>
              <a:t>python3.13 -m venv .venv</a:t>
            </a:r>
          </a:p>
          <a:p>
            <a:pPr>
              <a:defRPr sz="1800" b="0">
                <a:solidFill>
                  <a:srgbClr val="F8F5EF"/>
                </a:solidFill>
                <a:latin typeface="Menlo"/>
                <a:ea typeface="Menlo"/>
                <a:cs typeface="Menlo"/>
              </a:defRPr>
            </a:pPr>
            <a:r>
              <a:rPr sz="1800" b="0">
                <a:solidFill>
                  <a:srgbClr val="F8F5EF"/>
                </a:solidFill>
                <a:latin typeface="Menlo"/>
                <a:ea typeface="Menlo"/>
                <a:cs typeface="Menlo"/>
              </a:rPr>
              <a:t>source .venv/bin/activate</a:t>
            </a:r>
          </a:p>
          <a:p>
            <a:pPr>
              <a:defRPr sz="1800" b="0">
                <a:solidFill>
                  <a:srgbClr val="F8F5EF"/>
                </a:solidFill>
                <a:latin typeface="Menlo"/>
                <a:ea typeface="Menlo"/>
                <a:cs typeface="Menlo"/>
              </a:defRPr>
            </a:pPr>
            <a:r>
              <a:rPr sz="1800" b="0">
                <a:solidFill>
                  <a:srgbClr val="F8F5EF"/>
                </a:solidFill>
                <a:latin typeface="Menlo"/>
                <a:ea typeface="Menlo"/>
                <a:cs typeface="Menlo"/>
              </a:rPr>
              <a:t>python -m pip install -r requirements-dev.txt</a:t>
            </a:r>
          </a:p>
          <a:p>
            <a:pPr>
              <a:defRPr sz="1800" b="0">
                <a:solidFill>
                  <a:srgbClr val="F8F5EF"/>
                </a:solidFill>
                <a:latin typeface="Menlo"/>
                <a:ea typeface="Menlo"/>
                <a:cs typeface="Menlo"/>
              </a:defRPr>
            </a:pPr>
            <a:r>
              <a:rPr sz="1800" b="0">
                <a:solidFill>
                  <a:srgbClr val="F8F5EF"/>
                </a:solidFill>
                <a:latin typeface="Menlo"/>
                <a:ea typeface="Menlo"/>
                <a:cs typeface="Menlo"/>
              </a:rPr>
              <a:t>python scripts/init_local.py</a:t>
            </a:r>
          </a:p>
          <a:p>
            <a:pPr>
              <a:defRPr sz="1800" b="0">
                <a:solidFill>
                  <a:srgbClr val="F8F5EF"/>
                </a:solidFill>
                <a:latin typeface="Menlo"/>
                <a:ea typeface="Menlo"/>
                <a:cs typeface="Menlo"/>
              </a:defRPr>
            </a:pPr>
            <a:r>
              <a:rPr sz="1800" b="0">
                <a:solidFill>
                  <a:srgbClr val="F8F5EF"/>
                </a:solidFill>
                <a:latin typeface="Menlo"/>
                <a:ea typeface="Menlo"/>
                <a:cs typeface="Menlo"/>
              </a:rPr>
              <a:t>python manage.py migrate</a:t>
            </a:r>
          </a:p>
          <a:p>
            <a:pPr>
              <a:defRPr sz="1800" b="0">
                <a:solidFill>
                  <a:srgbClr val="F8F5EF"/>
                </a:solidFill>
                <a:latin typeface="Menlo"/>
                <a:ea typeface="Menlo"/>
                <a:cs typeface="Menlo"/>
              </a:defRPr>
            </a:pPr>
            <a:r>
              <a:rPr sz="1800" b="0">
                <a:solidFill>
                  <a:srgbClr val="F8F5EF"/>
                </a:solidFill>
                <a:latin typeface="Menlo"/>
                <a:ea typeface="Menlo"/>
                <a:cs typeface="Menlo"/>
              </a:rPr>
              <a:t>python manage.py runserver</a:t>
            </a:r>
          </a:p>
        </p:txBody>
      </p:sp>
      <p:sp>
        <p:nvSpPr>
          <p:cNvPr id="8" name="live-text-20">
            <a:extLst>
              <a:ext uri="{FF2B5EF4-FFF2-40B4-BE49-F238E27FC236}">
                <a16:creationId xmlns:a16="http://schemas.microsoft.com/office/drawing/2014/main" id="{20C53530-41D5-4CC5-825C-4BBA8A446E80}"/>
              </a:ext>
            </a:extLst>
          </p:cNvPr>
          <p:cNvSpPr>
            <a:spLocks noGrp="1"/>
          </p:cNvSpPr>
          <p:nvPr/>
        </p:nvSpPr>
        <p:spPr>
          <a:xfrm>
            <a:off x="685800" y="6372225"/>
            <a:ext cx="8382000" cy="904875"/>
          </a:xfrm>
          <a:prstGeom prst="rect">
            <a:avLst/>
          </a:prstGeom>
          <a:noFill/>
          <a:ln w="0">
            <a:noFill/>
          </a:ln>
        </p:spPr>
        <p:txBody>
          <a:bodyPr wrap="none" lIns="0" tIns="0" rIns="0" bIns="0" anchor="t">
            <a:noAutofit/>
          </a:bodyPr>
          <a:lstStyle/>
          <a:p>
            <a:pPr>
              <a:defRPr sz="2175" b="1">
                <a:solidFill>
                  <a:srgbClr val="315BCD"/>
                </a:solidFill>
                <a:latin typeface="Helvetica Neue"/>
                <a:ea typeface="Helvetica Neue"/>
                <a:cs typeface="Helvetica Neue"/>
              </a:defRPr>
            </a:pPr>
            <a:r>
              <a:rPr sz="2175" b="1">
                <a:solidFill>
                  <a:srgbClr val="315BCD"/>
                </a:solidFill>
                <a:latin typeface="Helvetica Neue"/>
                <a:ea typeface="Helvetica Neue"/>
                <a:cs typeface="Helvetica Neue"/>
              </a:rPr>
              <a:t>Open http://127.0.0.1:8000/</a:t>
            </a:r>
          </a:p>
          <a:p>
            <a:pPr>
              <a:defRPr sz="2175" b="1">
                <a:solidFill>
                  <a:srgbClr val="315BCD"/>
                </a:solidFill>
                <a:latin typeface="Helvetica Neue"/>
                <a:ea typeface="Helvetica Neue"/>
                <a:cs typeface="Helvetica Neue"/>
              </a:defRPr>
            </a:pPr>
            <a:r>
              <a:rPr sz="2175" b="1">
                <a:solidFill>
                  <a:srgbClr val="315BCD"/>
                </a:solidFill>
                <a:latin typeface="Helvetica Neue"/>
                <a:ea typeface="Helvetica Neue"/>
                <a:cs typeface="Helvetica Neue"/>
              </a:rPr>
              <a:t>Create a local account, then sign in.</a:t>
            </a:r>
          </a:p>
        </p:txBody>
      </p:sp>
      <p:pic>
        <p:nvPicPr>
          <p:cNvPr id="19" name="Picture 18"/>
          <p:cNvPicPr>
            <a:picLocks noChangeAspect="1"/>
          </p:cNvPicPr>
          <p:nvPr/>
        </p:nvPicPr>
        <p:blipFill>
          <a:blip r:embed="rId3"/>
          <a:stretch/>
        </p:blipFill>
        <p:spPr>
          <a:xfrm>
            <a:off x="10144463" y="2447925"/>
            <a:ext cx="3771223" cy="4095750"/>
          </a:xfrm>
          <a:prstGeom prst="rect">
            <a:avLst/>
          </a:prstGeom>
        </p:spPr>
      </p:pic>
      <p:sp>
        <p:nvSpPr>
          <p:cNvPr id="10" name="live-text-21">
            <a:extLst>
              <a:ext uri="{FF2B5EF4-FFF2-40B4-BE49-F238E27FC236}">
                <a16:creationId xmlns:a16="http://schemas.microsoft.com/office/drawing/2014/main" id="{E2B909A0-5990-42FD-8404-08B73AC431CF}"/>
              </a:ext>
            </a:extLst>
          </p:cNvPr>
          <p:cNvSpPr>
            <a:spLocks noGrp="1"/>
          </p:cNvSpPr>
          <p:nvPr/>
        </p:nvSpPr>
        <p:spPr>
          <a:xfrm>
            <a:off x="9505950" y="6953250"/>
            <a:ext cx="5048250" cy="723900"/>
          </a:xfrm>
          <a:prstGeom prst="rect">
            <a:avLst/>
          </a:prstGeom>
          <a:noFill/>
          <a:ln w="0">
            <a:noFill/>
          </a:ln>
        </p:spPr>
        <p:txBody>
          <a:bodyPr wrap="none" lIns="0" tIns="0" rIns="0" bIns="0" anchor="t">
            <a:noAutofit/>
          </a:bodyPr>
          <a:lstStyle/>
          <a:p>
            <a:pPr>
              <a:defRPr sz="1800" b="0">
                <a:solidFill>
                  <a:srgbClr val="65717A"/>
                </a:solidFill>
                <a:latin typeface="Helvetica Neue"/>
                <a:ea typeface="Helvetica Neue"/>
                <a:cs typeface="Helvetica Neue"/>
              </a:defRPr>
            </a:pPr>
            <a:r>
              <a:rPr sz="1800" b="0">
                <a:solidFill>
                  <a:srgbClr val="65717A"/>
                </a:solidFill>
                <a:latin typeface="Helvetica Neue"/>
                <a:ea typeface="Helvetica Neue"/>
                <a:cs typeface="Helvetica Neue"/>
              </a:rPr>
              <a:t>Full Windows commands and environment</a:t>
            </a:r>
          </a:p>
          <a:p>
            <a:pPr>
              <a:defRPr sz="1800" b="0">
                <a:solidFill>
                  <a:srgbClr val="65717A"/>
                </a:solidFill>
                <a:latin typeface="Helvetica Neue"/>
                <a:ea typeface="Helvetica Neue"/>
                <a:cs typeface="Helvetica Neue"/>
              </a:defRPr>
            </a:pPr>
            <a:r>
              <a:rPr sz="1800" b="0">
                <a:solidFill>
                  <a:srgbClr val="65717A"/>
                </a:solidFill>
                <a:latin typeface="Helvetica Neue"/>
                <a:ea typeface="Helvetica Neue"/>
                <a:cs typeface="Helvetica Neue"/>
              </a:rPr>
              <a:t>explanations are in README.md.</a:t>
            </a:r>
          </a:p>
        </p:txBody>
      </p:sp>
    </p:spTree>
    <p:extLst>
      <p:ext uri="{BB962C8B-B14F-4D97-AF65-F5344CB8AC3E}">
        <p14:creationId xmlns:p14="http://schemas.microsoft.com/office/powerpoint/2010/main" val="14028738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0" name="live-text-22">
            <a:extLst>
              <a:ext uri="{FF2B5EF4-FFF2-40B4-BE49-F238E27FC236}">
                <a16:creationId xmlns:a16="http://schemas.microsoft.com/office/drawing/2014/main" id="{3CA13A4E-2FE7-4138-9BE9-EA8D16B7081A}"/>
              </a:ext>
            </a:extLst>
          </p:cNvPr>
          <p:cNvSpPr>
            <a:spLocks noGrp="1"/>
          </p:cNvSpPr>
          <p:nvPr/>
        </p:nvSpPr>
        <p:spPr>
          <a:xfrm>
            <a:off x="685800" y="381000"/>
            <a:ext cx="13335000" cy="333375"/>
          </a:xfrm>
          <a:prstGeom prst="rect">
            <a:avLst/>
          </a:prstGeom>
          <a:noFill/>
          <a:ln w="0">
            <a:noFill/>
          </a:ln>
        </p:spPr>
        <p:txBody>
          <a:bodyPr wrap="none" lIns="0" tIns="0" rIns="0" bIns="0" anchor="t">
            <a:noAutofit/>
          </a:bodyPr>
          <a:lstStyle/>
          <a:p>
            <a:pPr>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07 / Live project companion</a:t>
            </a:r>
          </a:p>
        </p:txBody>
      </p:sp>
      <p:sp>
        <p:nvSpPr>
          <p:cNvPr id="2" name="live-text-23">
            <a:extLst>
              <a:ext uri="{FF2B5EF4-FFF2-40B4-BE49-F238E27FC236}">
                <a16:creationId xmlns:a16="http://schemas.microsoft.com/office/drawing/2014/main" id="{23E81998-EC03-495C-A365-125AC66A6514}"/>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defRPr sz="3525" b="0">
                <a:solidFill>
                  <a:srgbClr val="242C35"/>
                </a:solidFill>
                <a:latin typeface="Georgia"/>
                <a:ea typeface="Georgia"/>
                <a:cs typeface="Georgia"/>
              </a:defRPr>
            </a:pPr>
            <a:r>
              <a:rPr sz="3525" b="0">
                <a:solidFill>
                  <a:srgbClr val="242C35"/>
                </a:solidFill>
                <a:latin typeface="Georgia"/>
                <a:ea typeface="Georgia"/>
                <a:cs typeface="Georgia"/>
              </a:rPr>
              <a:t>Saved notes in the browser and REST</a:t>
            </a:r>
          </a:p>
        </p:txBody>
      </p:sp>
      <p:sp>
        <p:nvSpPr>
          <p:cNvPr id="3" name="live-text-24">
            <a:extLst>
              <a:ext uri="{FF2B5EF4-FFF2-40B4-BE49-F238E27FC236}">
                <a16:creationId xmlns:a16="http://schemas.microsoft.com/office/drawing/2014/main" id="{9EA63787-3917-4F19-80C3-66498F401706}"/>
              </a:ext>
            </a:extLst>
          </p:cNvPr>
          <p:cNvSpPr>
            <a:spLocks noGrp="1"/>
          </p:cNvSpPr>
          <p:nvPr/>
        </p:nvSpPr>
        <p:spPr>
          <a:xfrm>
            <a:off x="685800" y="8086725"/>
            <a:ext cx="12573000" cy="257175"/>
          </a:xfrm>
          <a:prstGeom prst="rect">
            <a:avLst/>
          </a:prstGeom>
          <a:noFill/>
          <a:ln w="0">
            <a:noFill/>
          </a:ln>
        </p:spPr>
        <p:txBody>
          <a:bodyPr wrap="none" lIns="0" tIns="0" rIns="0" bIns="0" anchor="t">
            <a:noAutofit/>
          </a:bodyPr>
          <a:lstStyle/>
          <a:p>
            <a:pPr>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live-text-25">
            <a:extLst>
              <a:ext uri="{FF2B5EF4-FFF2-40B4-BE49-F238E27FC236}">
                <a16:creationId xmlns:a16="http://schemas.microsoft.com/office/drawing/2014/main" id="{1FC2A77D-1946-42E2-BA49-2F3D07B7ABD6}"/>
              </a:ext>
            </a:extLst>
          </p:cNvPr>
          <p:cNvSpPr>
            <a:spLocks noGrp="1"/>
          </p:cNvSpPr>
          <p:nvPr/>
        </p:nvSpPr>
        <p:spPr>
          <a:xfrm>
            <a:off x="13906500" y="8020050"/>
            <a:ext cx="647700" cy="342900"/>
          </a:xfrm>
          <a:prstGeom prst="rect">
            <a:avLst/>
          </a:prstGeom>
          <a:noFill/>
          <a:ln w="0">
            <a:noFill/>
          </a:ln>
        </p:spPr>
        <p:txBody>
          <a:bodyPr wrap="none" lIns="0" tIns="0" rIns="0" bIns="0" anchor="t">
            <a:noAutofit/>
          </a:bodyPr>
          <a:lstStyle/>
          <a:p>
            <a:pP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74</a:t>
            </a:r>
          </a:p>
        </p:txBody>
      </p:sp>
      <p:sp>
        <p:nvSpPr>
          <p:cNvPr id="5" name="live-text-26">
            <a:extLst>
              <a:ext uri="{FF2B5EF4-FFF2-40B4-BE49-F238E27FC236}">
                <a16:creationId xmlns:a16="http://schemas.microsoft.com/office/drawing/2014/main" id="{7235298E-675E-4507-9C3C-061381F10384}"/>
              </a:ext>
            </a:extLst>
          </p:cNvPr>
          <p:cNvSpPr>
            <a:spLocks noGrp="1"/>
          </p:cNvSpPr>
          <p:nvPr/>
        </p:nvSpPr>
        <p:spPr>
          <a:xfrm>
            <a:off x="685800" y="2324100"/>
            <a:ext cx="5048250" cy="457200"/>
          </a:xfrm>
          <a:prstGeom prst="rect">
            <a:avLst/>
          </a:prstGeom>
          <a:noFill/>
          <a:ln w="0">
            <a:noFill/>
          </a:ln>
        </p:spPr>
        <p:txBody>
          <a:bodyPr wrap="none" lIns="0" tIns="0" rIns="0" bIns="0" anchor="t">
            <a:noAutofit/>
          </a:bodyPr>
          <a:lstStyle/>
          <a:p>
            <a:pPr>
              <a:defRPr sz="2250" b="1">
                <a:solidFill>
                  <a:srgbClr val="315BCD"/>
                </a:solidFill>
                <a:latin typeface="Helvetica Neue"/>
                <a:ea typeface="Helvetica Neue"/>
                <a:cs typeface="Helvetica Neue"/>
              </a:defRPr>
            </a:pPr>
            <a:r>
              <a:rPr sz="2250" b="1">
                <a:solidFill>
                  <a:srgbClr val="315BCD"/>
                </a:solidFill>
                <a:latin typeface="Helvetica Neue"/>
                <a:ea typeface="Helvetica Neue"/>
                <a:cs typeface="Helvetica Neue"/>
              </a:rPr>
              <a:t>One useful key</a:t>
            </a:r>
          </a:p>
        </p:txBody>
      </p:sp>
      <p:sp>
        <p:nvSpPr>
          <p:cNvPr id="6" name="live-code-background-27">
            <a:extLst>
              <a:ext uri="{FF2B5EF4-FFF2-40B4-BE49-F238E27FC236}">
                <a16:creationId xmlns:a16="http://schemas.microsoft.com/office/drawing/2014/main" id="{F4026DD7-AF85-401C-A597-36669676694A}"/>
              </a:ext>
            </a:extLst>
          </p:cNvPr>
          <p:cNvSpPr>
            <a:spLocks noGrp="1"/>
          </p:cNvSpPr>
          <p:nvPr/>
        </p:nvSpPr>
        <p:spPr>
          <a:xfrm>
            <a:off x="685800" y="2962275"/>
            <a:ext cx="5391150" cy="3448050"/>
          </a:xfrm>
          <a:prstGeom prst="rect">
            <a:avLst/>
          </a:prstGeom>
          <a:solidFill>
            <a:srgbClr val="242C35"/>
          </a:solidFill>
          <a:ln w="0">
            <a:noFill/>
          </a:ln>
        </p:spPr>
      </p:sp>
      <p:sp>
        <p:nvSpPr>
          <p:cNvPr id="7" name="live-text-28">
            <a:extLst>
              <a:ext uri="{FF2B5EF4-FFF2-40B4-BE49-F238E27FC236}">
                <a16:creationId xmlns:a16="http://schemas.microsoft.com/office/drawing/2014/main" id="{274C18B6-72B2-4821-BC85-8C753B14EFB7}"/>
              </a:ext>
            </a:extLst>
          </p:cNvPr>
          <p:cNvSpPr>
            <a:spLocks noGrp="1"/>
          </p:cNvSpPr>
          <p:nvPr/>
        </p:nvSpPr>
        <p:spPr>
          <a:xfrm>
            <a:off x="923925" y="3190875"/>
            <a:ext cx="4914900" cy="2990850"/>
          </a:xfrm>
          <a:prstGeom prst="rect">
            <a:avLst/>
          </a:prstGeom>
          <a:noFill/>
          <a:ln w="0">
            <a:noFill/>
          </a:ln>
        </p:spPr>
        <p:txBody>
          <a:bodyPr wrap="none" lIns="0" tIns="0" rIns="0" bIns="0" anchor="t">
            <a:noAutofit/>
          </a:bodyPr>
          <a:lstStyle/>
          <a:p>
            <a:pPr>
              <a:defRPr sz="1800" b="0">
                <a:solidFill>
                  <a:srgbClr val="F8F5EF"/>
                </a:solidFill>
                <a:latin typeface="Menlo"/>
                <a:ea typeface="Menlo"/>
                <a:cs typeface="Menlo"/>
              </a:defRPr>
            </a:pPr>
            <a:r>
              <a:rPr sz="1800" b="0">
                <a:solidFill>
                  <a:srgbClr val="F8F5EF"/>
                </a:solidFill>
                <a:latin typeface="Menlo"/>
                <a:ea typeface="Menlo"/>
                <a:cs typeface="Menlo"/>
              </a:rPr>
              <a:t>POST /api/entries/</a:t>
            </a:r>
          </a:p>
          <a:p>
            <a:endParaRPr sz="1800" b="0">
              <a:solidFill>
                <a:srgbClr val="F8F5EF"/>
              </a:solidFill>
              <a:latin typeface="Menlo"/>
              <a:ea typeface="Menlo"/>
              <a:cs typeface="Menlo"/>
            </a:endParaRPr>
          </a:p>
          <a:p>
            <a:pPr>
              <a:defRPr sz="1800" b="0">
                <a:solidFill>
                  <a:srgbClr val="F8F5EF"/>
                </a:solidFill>
                <a:latin typeface="Menlo"/>
                <a:ea typeface="Menlo"/>
                <a:cs typeface="Menlo"/>
              </a:defRPr>
            </a:pPr>
            <a:r>
              <a:rPr sz="1800" b="0">
                <a:solidFill>
                  <a:srgbClr val="F8F5EF"/>
                </a:solidFill>
                <a:latin typeface="Menlo"/>
                <a:ea typeface="Menlo"/>
                <a:cs typeface="Menlo"/>
              </a:rPr>
              <a:t>{</a:t>
            </a:r>
          </a:p>
          <a:p>
            <a:pPr>
              <a:defRPr sz="1800" b="0">
                <a:solidFill>
                  <a:srgbClr val="F8F5EF"/>
                </a:solidFill>
                <a:latin typeface="Menlo"/>
                <a:ea typeface="Menlo"/>
                <a:cs typeface="Menlo"/>
              </a:defRPr>
            </a:pPr>
            <a:r>
              <a:rPr sz="1800" b="0">
                <a:solidFill>
                  <a:srgbClr val="F8F5EF"/>
                </a:solidFill>
                <a:latin typeface="Menlo"/>
                <a:ea typeface="Menlo"/>
                <a:cs typeface="Menlo"/>
              </a:rPr>
              <a:t>  "key": "course_link",</a:t>
            </a:r>
          </a:p>
          <a:p>
            <a:pPr>
              <a:defRPr sz="1800" b="0">
                <a:solidFill>
                  <a:srgbClr val="F8F5EF"/>
                </a:solidFill>
                <a:latin typeface="Menlo"/>
                <a:ea typeface="Menlo"/>
                <a:cs typeface="Menlo"/>
              </a:defRPr>
            </a:pPr>
            <a:r>
              <a:rPr sz="1800" b="0">
                <a:solidFill>
                  <a:srgbClr val="F8F5EF"/>
                </a:solidFill>
                <a:latin typeface="Menlo"/>
                <a:ea typeface="Menlo"/>
                <a:cs typeface="Menlo"/>
              </a:rPr>
              <a:t>  "value": "Django workshop"</a:t>
            </a:r>
          </a:p>
          <a:p>
            <a:pPr>
              <a:defRPr sz="1800" b="0">
                <a:solidFill>
                  <a:srgbClr val="F8F5EF"/>
                </a:solidFill>
                <a:latin typeface="Menlo"/>
                <a:ea typeface="Menlo"/>
                <a:cs typeface="Menlo"/>
              </a:defRPr>
            </a:pPr>
            <a:r>
              <a:rPr sz="1800" b="0">
                <a:solidFill>
                  <a:srgbClr val="F8F5EF"/>
                </a:solidFill>
                <a:latin typeface="Menlo"/>
                <a:ea typeface="Menlo"/>
                <a:cs typeface="Menlo"/>
              </a:rPr>
              <a:t>}</a:t>
            </a:r>
          </a:p>
          <a:p>
            <a:endParaRPr sz="1800" b="0">
              <a:solidFill>
                <a:srgbClr val="F8F5EF"/>
              </a:solidFill>
              <a:latin typeface="Menlo"/>
              <a:ea typeface="Menlo"/>
              <a:cs typeface="Menlo"/>
            </a:endParaRPr>
          </a:p>
          <a:p>
            <a:pPr>
              <a:defRPr sz="1800" b="0">
                <a:solidFill>
                  <a:srgbClr val="F8F5EF"/>
                </a:solidFill>
                <a:latin typeface="Menlo"/>
                <a:ea typeface="Menlo"/>
                <a:cs typeface="Menlo"/>
              </a:defRPr>
            </a:pPr>
            <a:r>
              <a:rPr sz="1800" b="0">
                <a:solidFill>
                  <a:srgbClr val="F8F5EF"/>
                </a:solidFill>
                <a:latin typeface="Menlo"/>
                <a:ea typeface="Menlo"/>
                <a:cs typeface="Menlo"/>
              </a:rPr>
              <a:t>GET /api/entries/by-key/</a:t>
            </a:r>
          </a:p>
          <a:p>
            <a:pPr>
              <a:defRPr sz="1800" b="0">
                <a:solidFill>
                  <a:srgbClr val="F8F5EF"/>
                </a:solidFill>
                <a:latin typeface="Menlo"/>
                <a:ea typeface="Menlo"/>
                <a:cs typeface="Menlo"/>
              </a:defRPr>
            </a:pPr>
            <a:r>
              <a:rPr sz="1800" b="0">
                <a:solidFill>
                  <a:srgbClr val="F8F5EF"/>
                </a:solidFill>
                <a:latin typeface="Menlo"/>
                <a:ea typeface="Menlo"/>
                <a:cs typeface="Menlo"/>
              </a:rPr>
              <a:t>    ?key=course_link</a:t>
            </a:r>
          </a:p>
        </p:txBody>
      </p:sp>
      <p:sp>
        <p:nvSpPr>
          <p:cNvPr id="8" name="live-text-29">
            <a:extLst>
              <a:ext uri="{FF2B5EF4-FFF2-40B4-BE49-F238E27FC236}">
                <a16:creationId xmlns:a16="http://schemas.microsoft.com/office/drawing/2014/main" id="{BC838578-3C28-4EAE-A784-F6824CFBBC33}"/>
              </a:ext>
            </a:extLst>
          </p:cNvPr>
          <p:cNvSpPr>
            <a:spLocks noGrp="1"/>
          </p:cNvSpPr>
          <p:nvPr/>
        </p:nvSpPr>
        <p:spPr>
          <a:xfrm>
            <a:off x="685800" y="6800850"/>
            <a:ext cx="5391150" cy="1076325"/>
          </a:xfrm>
          <a:prstGeom prst="rect">
            <a:avLst/>
          </a:prstGeom>
          <a:noFill/>
          <a:ln w="0">
            <a:noFill/>
          </a:ln>
        </p:spPr>
        <p:txBody>
          <a:bodyPr wrap="none" lIns="0" tIns="0" rIns="0" bIns="0" anchor="t">
            <a:noAutofit/>
          </a:bodyPr>
          <a:lstStyle/>
          <a:p>
            <a:pPr>
              <a:defRPr sz="1875" b="0">
                <a:solidFill>
                  <a:srgbClr val="65717A"/>
                </a:solidFill>
                <a:latin typeface="Helvetica Neue"/>
                <a:ea typeface="Helvetica Neue"/>
                <a:cs typeface="Helvetica Neue"/>
              </a:defRPr>
            </a:pPr>
            <a:r>
              <a:rPr sz="1875" b="0">
                <a:solidFill>
                  <a:srgbClr val="65717A"/>
                </a:solidFill>
                <a:latin typeface="Helvetica Neue"/>
                <a:ea typeface="Helvetica Neue"/>
                <a:cs typeface="Helvetica Neue"/>
              </a:rPr>
              <a:t>Keys are unique per account.</a:t>
            </a:r>
          </a:p>
          <a:p>
            <a:pPr>
              <a:defRPr sz="1875" b="0">
                <a:solidFill>
                  <a:srgbClr val="65717A"/>
                </a:solidFill>
                <a:latin typeface="Helvetica Neue"/>
                <a:ea typeface="Helvetica Neue"/>
                <a:cs typeface="Helvetica Neue"/>
              </a:defRPr>
            </a:pPr>
            <a:r>
              <a:rPr sz="1875" b="0">
                <a:solidFill>
                  <a:srgbClr val="65717A"/>
                </a:solidFill>
                <a:latin typeface="Helvetica Neue"/>
                <a:ea typeface="Helvetica Neue"/>
                <a:cs typeface="Helvetica Neue"/>
              </a:rPr>
              <a:t>Values are ordinary text.</a:t>
            </a:r>
          </a:p>
          <a:p>
            <a:pPr>
              <a:defRPr sz="1875" b="0">
                <a:solidFill>
                  <a:srgbClr val="65717A"/>
                </a:solidFill>
                <a:latin typeface="Helvetica Neue"/>
                <a:ea typeface="Helvetica Neue"/>
                <a:cs typeface="Helvetica Neue"/>
              </a:defRPr>
            </a:pPr>
            <a:r>
              <a:rPr sz="1875" b="0">
                <a:solidFill>
                  <a:srgbClr val="65717A"/>
                </a:solidFill>
                <a:latin typeface="Helvetica Neue"/>
                <a:ea typeface="Helvetica Neue"/>
                <a:cs typeface="Helvetica Neue"/>
              </a:rPr>
              <a:t>No passwords or API secrets.</a:t>
            </a:r>
          </a:p>
        </p:txBody>
      </p:sp>
      <p:pic>
        <p:nvPicPr>
          <p:cNvPr id="18" name="Picture 17"/>
          <p:cNvPicPr>
            <a:picLocks noChangeAspect="1"/>
          </p:cNvPicPr>
          <p:nvPr/>
        </p:nvPicPr>
        <p:blipFill>
          <a:blip r:embed="rId3"/>
          <a:stretch/>
        </p:blipFill>
        <p:spPr>
          <a:xfrm>
            <a:off x="8536924" y="2324100"/>
            <a:ext cx="3928776" cy="4924425"/>
          </a:xfrm>
          <a:prstGeom prst="rect">
            <a:avLst/>
          </a:prstGeom>
        </p:spPr>
      </p:pic>
    </p:spTree>
    <p:extLst>
      <p:ext uri="{BB962C8B-B14F-4D97-AF65-F5344CB8AC3E}">
        <p14:creationId xmlns:p14="http://schemas.microsoft.com/office/powerpoint/2010/main" val="16464824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1" name="live-text-30">
            <a:extLst>
              <a:ext uri="{FF2B5EF4-FFF2-40B4-BE49-F238E27FC236}">
                <a16:creationId xmlns:a16="http://schemas.microsoft.com/office/drawing/2014/main" id="{EE577D3E-B773-464A-A094-39F0C0802781}"/>
              </a:ext>
            </a:extLst>
          </p:cNvPr>
          <p:cNvSpPr>
            <a:spLocks noGrp="1"/>
          </p:cNvSpPr>
          <p:nvPr/>
        </p:nvSpPr>
        <p:spPr>
          <a:xfrm>
            <a:off x="685800" y="381000"/>
            <a:ext cx="13335000" cy="333375"/>
          </a:xfrm>
          <a:prstGeom prst="rect">
            <a:avLst/>
          </a:prstGeom>
          <a:noFill/>
          <a:ln w="0">
            <a:noFill/>
          </a:ln>
        </p:spPr>
        <p:txBody>
          <a:bodyPr wrap="none" lIns="0" tIns="0" rIns="0" bIns="0" anchor="t">
            <a:noAutofit/>
          </a:bodyPr>
          <a:lstStyle/>
          <a:p>
            <a:pPr>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07 / Live project companion</a:t>
            </a:r>
          </a:p>
        </p:txBody>
      </p:sp>
      <p:sp>
        <p:nvSpPr>
          <p:cNvPr id="2" name="live-text-31">
            <a:extLst>
              <a:ext uri="{FF2B5EF4-FFF2-40B4-BE49-F238E27FC236}">
                <a16:creationId xmlns:a16="http://schemas.microsoft.com/office/drawing/2014/main" id="{6758EF81-4A27-4B9F-96FF-A22DABA85E7A}"/>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defRPr sz="3525" b="0">
                <a:solidFill>
                  <a:srgbClr val="242C35"/>
                </a:solidFill>
                <a:latin typeface="Georgia"/>
                <a:ea typeface="Georgia"/>
                <a:cs typeface="Georgia"/>
              </a:defRPr>
            </a:pPr>
            <a:r>
              <a:rPr sz="3525" b="0">
                <a:solidFill>
                  <a:srgbClr val="242C35"/>
                </a:solidFill>
                <a:latin typeface="Georgia"/>
                <a:ea typeface="Georgia"/>
                <a:cs typeface="Georgia"/>
              </a:rPr>
              <a:t>The real API contract</a:t>
            </a:r>
          </a:p>
        </p:txBody>
      </p:sp>
      <p:sp>
        <p:nvSpPr>
          <p:cNvPr id="3" name="live-text-32">
            <a:extLst>
              <a:ext uri="{FF2B5EF4-FFF2-40B4-BE49-F238E27FC236}">
                <a16:creationId xmlns:a16="http://schemas.microsoft.com/office/drawing/2014/main" id="{BAEAEB69-4E7B-4946-863A-23E95250A63B}"/>
              </a:ext>
            </a:extLst>
          </p:cNvPr>
          <p:cNvSpPr>
            <a:spLocks noGrp="1"/>
          </p:cNvSpPr>
          <p:nvPr/>
        </p:nvSpPr>
        <p:spPr>
          <a:xfrm>
            <a:off x="685800" y="8086725"/>
            <a:ext cx="12573000" cy="257175"/>
          </a:xfrm>
          <a:prstGeom prst="rect">
            <a:avLst/>
          </a:prstGeom>
          <a:noFill/>
          <a:ln w="0">
            <a:noFill/>
          </a:ln>
        </p:spPr>
        <p:txBody>
          <a:bodyPr wrap="none" lIns="0" tIns="0" rIns="0" bIns="0" anchor="t">
            <a:noAutofit/>
          </a:bodyPr>
          <a:lstStyle/>
          <a:p>
            <a:pPr>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live-text-33">
            <a:extLst>
              <a:ext uri="{FF2B5EF4-FFF2-40B4-BE49-F238E27FC236}">
                <a16:creationId xmlns:a16="http://schemas.microsoft.com/office/drawing/2014/main" id="{9468FB6D-E9C9-4E41-92A2-BC7426CCF0A8}"/>
              </a:ext>
            </a:extLst>
          </p:cNvPr>
          <p:cNvSpPr>
            <a:spLocks noGrp="1"/>
          </p:cNvSpPr>
          <p:nvPr/>
        </p:nvSpPr>
        <p:spPr>
          <a:xfrm>
            <a:off x="13906500" y="8020050"/>
            <a:ext cx="647700" cy="342900"/>
          </a:xfrm>
          <a:prstGeom prst="rect">
            <a:avLst/>
          </a:prstGeom>
          <a:noFill/>
          <a:ln w="0">
            <a:noFill/>
          </a:ln>
        </p:spPr>
        <p:txBody>
          <a:bodyPr wrap="none" lIns="0" tIns="0" rIns="0" bIns="0" anchor="t">
            <a:noAutofit/>
          </a:bodyPr>
          <a:lstStyle/>
          <a:p>
            <a:pP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75</a:t>
            </a:r>
          </a:p>
        </p:txBody>
      </p:sp>
      <p:sp>
        <p:nvSpPr>
          <p:cNvPr id="5" name="live-text-34">
            <a:extLst>
              <a:ext uri="{FF2B5EF4-FFF2-40B4-BE49-F238E27FC236}">
                <a16:creationId xmlns:a16="http://schemas.microsoft.com/office/drawing/2014/main" id="{5B784251-B902-40AF-92E3-A4127A6A5BFB}"/>
              </a:ext>
            </a:extLst>
          </p:cNvPr>
          <p:cNvSpPr>
            <a:spLocks noGrp="1"/>
          </p:cNvSpPr>
          <p:nvPr/>
        </p:nvSpPr>
        <p:spPr>
          <a:xfrm>
            <a:off x="685800" y="2324100"/>
            <a:ext cx="6191250" cy="428625"/>
          </a:xfrm>
          <a:prstGeom prst="rect">
            <a:avLst/>
          </a:prstGeom>
          <a:noFill/>
          <a:ln w="0">
            <a:noFill/>
          </a:ln>
        </p:spPr>
        <p:txBody>
          <a:bodyPr wrap="none" lIns="0" tIns="0" rIns="0" bIns="0" anchor="t">
            <a:noAutofit/>
          </a:bodyPr>
          <a:lstStyle/>
          <a:p>
            <a:pPr>
              <a:defRPr sz="2250" b="1">
                <a:solidFill>
                  <a:srgbClr val="315BCD"/>
                </a:solidFill>
                <a:latin typeface="Helvetica Neue"/>
                <a:ea typeface="Helvetica Neue"/>
                <a:cs typeface="Helvetica Neue"/>
              </a:defRPr>
            </a:pPr>
            <a:r>
              <a:rPr sz="2250" b="1">
                <a:solidFill>
                  <a:srgbClr val="315BCD"/>
                </a:solidFill>
                <a:latin typeface="Helvetica Neue"/>
                <a:ea typeface="Helvetica Neue"/>
                <a:cs typeface="Helvetica Neue"/>
              </a:rPr>
              <a:t>Private client token</a:t>
            </a:r>
          </a:p>
        </p:txBody>
      </p:sp>
      <p:sp>
        <p:nvSpPr>
          <p:cNvPr id="6" name="live-code-background-35">
            <a:extLst>
              <a:ext uri="{FF2B5EF4-FFF2-40B4-BE49-F238E27FC236}">
                <a16:creationId xmlns:a16="http://schemas.microsoft.com/office/drawing/2014/main" id="{C9F6C507-9484-4B9D-BEF5-88CFB5D69931}"/>
              </a:ext>
            </a:extLst>
          </p:cNvPr>
          <p:cNvSpPr>
            <a:spLocks noGrp="1"/>
          </p:cNvSpPr>
          <p:nvPr/>
        </p:nvSpPr>
        <p:spPr>
          <a:xfrm>
            <a:off x="685800" y="2971800"/>
            <a:ext cx="7362825" cy="2667000"/>
          </a:xfrm>
          <a:prstGeom prst="rect">
            <a:avLst/>
          </a:prstGeom>
          <a:solidFill>
            <a:srgbClr val="242C35"/>
          </a:solidFill>
          <a:ln w="0">
            <a:noFill/>
          </a:ln>
        </p:spPr>
      </p:sp>
      <p:sp>
        <p:nvSpPr>
          <p:cNvPr id="7" name="live-text-36">
            <a:extLst>
              <a:ext uri="{FF2B5EF4-FFF2-40B4-BE49-F238E27FC236}">
                <a16:creationId xmlns:a16="http://schemas.microsoft.com/office/drawing/2014/main" id="{73710A6A-135C-4555-A126-492FCE7BB585}"/>
              </a:ext>
            </a:extLst>
          </p:cNvPr>
          <p:cNvSpPr>
            <a:spLocks noGrp="1"/>
          </p:cNvSpPr>
          <p:nvPr/>
        </p:nvSpPr>
        <p:spPr>
          <a:xfrm>
            <a:off x="923925" y="3200400"/>
            <a:ext cx="6886575" cy="2209800"/>
          </a:xfrm>
          <a:prstGeom prst="rect">
            <a:avLst/>
          </a:prstGeom>
          <a:noFill/>
          <a:ln w="0">
            <a:noFill/>
          </a:ln>
        </p:spPr>
        <p:txBody>
          <a:bodyPr wrap="none" lIns="0" tIns="0" rIns="0" bIns="0" anchor="t">
            <a:noAutofit/>
          </a:bodyPr>
          <a:lstStyle/>
          <a:p>
            <a:pPr>
              <a:defRPr sz="1650" b="0">
                <a:solidFill>
                  <a:srgbClr val="F8F5EF"/>
                </a:solidFill>
                <a:latin typeface="Menlo"/>
                <a:ea typeface="Menlo"/>
                <a:cs typeface="Menlo"/>
              </a:defRPr>
            </a:pPr>
            <a:r>
              <a:rPr sz="1650" b="0">
                <a:solidFill>
                  <a:srgbClr val="F8F5EF"/>
                </a:solidFill>
                <a:latin typeface="Menlo"/>
                <a:ea typeface="Menlo"/>
                <a:cs typeface="Menlo"/>
              </a:rPr>
              <a:t>python manage.py drf_create_token asha</a:t>
            </a:r>
          </a:p>
          <a:p>
            <a:endParaRPr sz="1650" b="0">
              <a:solidFill>
                <a:srgbClr val="F8F5EF"/>
              </a:solidFill>
              <a:latin typeface="Menlo"/>
              <a:ea typeface="Menlo"/>
              <a:cs typeface="Menlo"/>
            </a:endParaRPr>
          </a:p>
          <a:p>
            <a:pPr>
              <a:defRPr sz="1650" b="0">
                <a:solidFill>
                  <a:srgbClr val="F8F5EF"/>
                </a:solidFill>
                <a:latin typeface="Menlo"/>
                <a:ea typeface="Menlo"/>
                <a:cs typeface="Menlo"/>
              </a:defRPr>
            </a:pPr>
            <a:r>
              <a:rPr sz="1650" b="0">
                <a:solidFill>
                  <a:srgbClr val="F8F5EF"/>
                </a:solidFill>
                <a:latin typeface="Menlo"/>
                <a:ea typeface="Menlo"/>
                <a:cs typeface="Menlo"/>
              </a:rPr>
              <a:t>Authorization: Token &lt;private-token&gt;</a:t>
            </a:r>
          </a:p>
          <a:p>
            <a:pPr>
              <a:defRPr sz="1650" b="0">
                <a:solidFill>
                  <a:srgbClr val="F8F5EF"/>
                </a:solidFill>
                <a:latin typeface="Menlo"/>
                <a:ea typeface="Menlo"/>
                <a:cs typeface="Menlo"/>
              </a:defRPr>
            </a:pPr>
            <a:r>
              <a:rPr sz="1650" b="0">
                <a:solidFill>
                  <a:srgbClr val="F8F5EF"/>
                </a:solidFill>
                <a:latin typeface="Menlo"/>
                <a:ea typeface="Menlo"/>
                <a:cs typeface="Menlo"/>
              </a:rPr>
              <a:t>GET /api/tasks/?search=django</a:t>
            </a:r>
          </a:p>
          <a:p>
            <a:pPr>
              <a:defRPr sz="1650" b="0">
                <a:solidFill>
                  <a:srgbClr val="F8F5EF"/>
                </a:solidFill>
                <a:latin typeface="Menlo"/>
                <a:ea typeface="Menlo"/>
                <a:cs typeface="Menlo"/>
              </a:defRPr>
            </a:pPr>
            <a:r>
              <a:rPr sz="1650" b="0">
                <a:solidFill>
                  <a:srgbClr val="F8F5EF"/>
                </a:solidFill>
                <a:latin typeface="Menlo"/>
                <a:ea typeface="Menlo"/>
                <a:cs typeface="Menlo"/>
              </a:rPr>
              <a:t>PATCH /api/tasks/&lt;id&gt;/</a:t>
            </a:r>
          </a:p>
          <a:p>
            <a:pPr>
              <a:defRPr sz="1650" b="0">
                <a:solidFill>
                  <a:srgbClr val="F8F5EF"/>
                </a:solidFill>
                <a:latin typeface="Menlo"/>
                <a:ea typeface="Menlo"/>
                <a:cs typeface="Menlo"/>
              </a:defRPr>
            </a:pPr>
            <a:r>
              <a:rPr sz="1650" b="0">
                <a:solidFill>
                  <a:srgbClr val="F8F5EF"/>
                </a:solidFill>
                <a:latin typeface="Menlo"/>
                <a:ea typeface="Menlo"/>
                <a:cs typeface="Menlo"/>
              </a:rPr>
              <a:t>{"completed": true}</a:t>
            </a:r>
          </a:p>
        </p:txBody>
      </p:sp>
      <p:sp>
        <p:nvSpPr>
          <p:cNvPr id="8" name="live-text-37">
            <a:extLst>
              <a:ext uri="{FF2B5EF4-FFF2-40B4-BE49-F238E27FC236}">
                <a16:creationId xmlns:a16="http://schemas.microsoft.com/office/drawing/2014/main" id="{FB3CACE2-3322-4FA6-A2D6-9B96418D04C0}"/>
              </a:ext>
            </a:extLst>
          </p:cNvPr>
          <p:cNvSpPr>
            <a:spLocks noGrp="1"/>
          </p:cNvSpPr>
          <p:nvPr/>
        </p:nvSpPr>
        <p:spPr>
          <a:xfrm>
            <a:off x="685800" y="6000750"/>
            <a:ext cx="7048500" cy="1685925"/>
          </a:xfrm>
          <a:prstGeom prst="rect">
            <a:avLst/>
          </a:prstGeom>
          <a:noFill/>
          <a:ln w="0">
            <a:noFill/>
          </a:ln>
        </p:spPr>
        <p:txBody>
          <a:bodyPr wrap="none" lIns="0" tIns="0" rIns="0" bIns="0" anchor="t">
            <a:noAutofit/>
          </a:bodyPr>
          <a:lstStyle/>
          <a:p>
            <a:pPr>
              <a:defRPr sz="1875" b="0">
                <a:solidFill>
                  <a:srgbClr val="242C35"/>
                </a:solidFill>
                <a:latin typeface="Helvetica Neue"/>
                <a:ea typeface="Helvetica Neue"/>
                <a:cs typeface="Helvetica Neue"/>
              </a:defRPr>
            </a:pPr>
            <a:r>
              <a:rPr sz="1875" b="0">
                <a:solidFill>
                  <a:srgbClr val="242C35"/>
                </a:solidFill>
                <a:latin typeface="Helvetica Neue"/>
                <a:ea typeface="Helvetica Neue"/>
                <a:cs typeface="Helvetica Neue"/>
              </a:rPr>
              <a:t>201  Created</a:t>
            </a:r>
          </a:p>
          <a:p>
            <a:pPr>
              <a:defRPr sz="1875" b="0">
                <a:solidFill>
                  <a:srgbClr val="242C35"/>
                </a:solidFill>
                <a:latin typeface="Helvetica Neue"/>
                <a:ea typeface="Helvetica Neue"/>
                <a:cs typeface="Helvetica Neue"/>
              </a:defRPr>
            </a:pPr>
            <a:r>
              <a:rPr sz="1875" b="0">
                <a:solidFill>
                  <a:srgbClr val="242C35"/>
                </a:solidFill>
                <a:latin typeface="Helvetica Neue"/>
                <a:ea typeface="Helvetica Neue"/>
                <a:cs typeface="Helvetica Neue"/>
              </a:rPr>
              <a:t>400  Invalid input</a:t>
            </a:r>
          </a:p>
          <a:p>
            <a:pPr>
              <a:defRPr sz="1875" b="0">
                <a:solidFill>
                  <a:srgbClr val="242C35"/>
                </a:solidFill>
                <a:latin typeface="Helvetica Neue"/>
                <a:ea typeface="Helvetica Neue"/>
                <a:cs typeface="Helvetica Neue"/>
              </a:defRPr>
            </a:pPr>
            <a:r>
              <a:rPr sz="1875" b="0">
                <a:solidFill>
                  <a:srgbClr val="242C35"/>
                </a:solidFill>
                <a:latin typeface="Helvetica Neue"/>
                <a:ea typeface="Helvetica Neue"/>
                <a:cs typeface="Helvetica Neue"/>
              </a:rPr>
              <a:t>401  No usable credentials</a:t>
            </a:r>
          </a:p>
          <a:p>
            <a:pPr>
              <a:defRPr sz="1875" b="0">
                <a:solidFill>
                  <a:srgbClr val="242C35"/>
                </a:solidFill>
                <a:latin typeface="Helvetica Neue"/>
                <a:ea typeface="Helvetica Neue"/>
                <a:cs typeface="Helvetica Neue"/>
              </a:defRPr>
            </a:pPr>
            <a:r>
              <a:rPr sz="1875" b="0">
                <a:solidFill>
                  <a:srgbClr val="242C35"/>
                </a:solidFill>
                <a:latin typeface="Helvetica Neue"/>
                <a:ea typeface="Helvetica Neue"/>
                <a:cs typeface="Helvetica Neue"/>
              </a:rPr>
              <a:t>404  No owned record</a:t>
            </a:r>
          </a:p>
          <a:p>
            <a:pPr>
              <a:defRPr sz="1875" b="0">
                <a:solidFill>
                  <a:srgbClr val="242C35"/>
                </a:solidFill>
                <a:latin typeface="Helvetica Neue"/>
                <a:ea typeface="Helvetica Neue"/>
                <a:cs typeface="Helvetica Neue"/>
              </a:defRPr>
            </a:pPr>
            <a:r>
              <a:rPr sz="1875" b="0">
                <a:solidFill>
                  <a:srgbClr val="242C35"/>
                </a:solidFill>
                <a:latin typeface="Helvetica Neue"/>
                <a:ea typeface="Helvetica Neue"/>
                <a:cs typeface="Helvetica Neue"/>
              </a:rPr>
              <a:t>204  Deleted, no response body</a:t>
            </a:r>
          </a:p>
        </p:txBody>
      </p:sp>
      <p:pic>
        <p:nvPicPr>
          <p:cNvPr id="19" name="Picture 18"/>
          <p:cNvPicPr>
            <a:picLocks noChangeAspect="1"/>
          </p:cNvPicPr>
          <p:nvPr/>
        </p:nvPicPr>
        <p:blipFill>
          <a:blip r:embed="rId3"/>
          <a:stretch/>
        </p:blipFill>
        <p:spPr>
          <a:xfrm>
            <a:off x="9376152" y="2371725"/>
            <a:ext cx="4288670" cy="4657725"/>
          </a:xfrm>
          <a:prstGeom prst="rect">
            <a:avLst/>
          </a:prstGeom>
        </p:spPr>
      </p:pic>
      <p:sp>
        <p:nvSpPr>
          <p:cNvPr id="10" name="live-text-38">
            <a:extLst>
              <a:ext uri="{FF2B5EF4-FFF2-40B4-BE49-F238E27FC236}">
                <a16:creationId xmlns:a16="http://schemas.microsoft.com/office/drawing/2014/main" id="{261F7CE7-1F89-4BFB-9CEA-18F899ADA3EB}"/>
              </a:ext>
            </a:extLst>
          </p:cNvPr>
          <p:cNvSpPr>
            <a:spLocks noGrp="1"/>
          </p:cNvSpPr>
          <p:nvPr/>
        </p:nvSpPr>
        <p:spPr>
          <a:xfrm>
            <a:off x="8486775" y="7334250"/>
            <a:ext cx="6067425" cy="381000"/>
          </a:xfrm>
          <a:prstGeom prst="rect">
            <a:avLst/>
          </a:prstGeom>
          <a:noFill/>
          <a:ln w="0">
            <a:noFill/>
          </a:ln>
        </p:spPr>
        <p:txBody>
          <a:bodyPr wrap="none" lIns="0" tIns="0" rIns="0" bIns="0" anchor="t">
            <a:noAutofit/>
          </a:bodyPr>
          <a:lstStyle/>
          <a:p>
            <a:pPr>
              <a:defRPr sz="1725" b="0">
                <a:solidFill>
                  <a:srgbClr val="65717A"/>
                </a:solidFill>
                <a:latin typeface="Helvetica Neue"/>
                <a:ea typeface="Helvetica Neue"/>
                <a:cs typeface="Helvetica Neue"/>
              </a:defRPr>
            </a:pPr>
            <a:r>
              <a:rPr sz="1725" b="0">
                <a:solidFill>
                  <a:srgbClr val="65717A"/>
                </a:solidFill>
                <a:latin typeface="Helvetica Neue"/>
                <a:ea typeface="Helvetica Neue"/>
                <a:cs typeface="Helvetica Neue"/>
              </a:rPr>
              <a:t>Paginated lists include count and results.</a:t>
            </a:r>
          </a:p>
        </p:txBody>
      </p:sp>
    </p:spTree>
    <p:extLst>
      <p:ext uri="{BB962C8B-B14F-4D97-AF65-F5344CB8AC3E}">
        <p14:creationId xmlns:p14="http://schemas.microsoft.com/office/powerpoint/2010/main" val="3546274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8" name="live-text-39">
            <a:extLst>
              <a:ext uri="{FF2B5EF4-FFF2-40B4-BE49-F238E27FC236}">
                <a16:creationId xmlns:a16="http://schemas.microsoft.com/office/drawing/2014/main" id="{3EA60CB9-ECB0-42E3-82B3-1AD3C1409CEB}"/>
              </a:ext>
            </a:extLst>
          </p:cNvPr>
          <p:cNvSpPr>
            <a:spLocks noGrp="1"/>
          </p:cNvSpPr>
          <p:nvPr/>
        </p:nvSpPr>
        <p:spPr>
          <a:xfrm>
            <a:off x="685800" y="381000"/>
            <a:ext cx="13335000" cy="333375"/>
          </a:xfrm>
          <a:prstGeom prst="rect">
            <a:avLst/>
          </a:prstGeom>
          <a:noFill/>
          <a:ln w="0">
            <a:noFill/>
          </a:ln>
        </p:spPr>
        <p:txBody>
          <a:bodyPr wrap="none" lIns="0" tIns="0" rIns="0" bIns="0" anchor="t">
            <a:noAutofit/>
          </a:bodyPr>
          <a:lstStyle/>
          <a:p>
            <a:pPr>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07 / Live project companion</a:t>
            </a:r>
          </a:p>
        </p:txBody>
      </p:sp>
      <p:sp>
        <p:nvSpPr>
          <p:cNvPr id="2" name="live-text-40">
            <a:extLst>
              <a:ext uri="{FF2B5EF4-FFF2-40B4-BE49-F238E27FC236}">
                <a16:creationId xmlns:a16="http://schemas.microsoft.com/office/drawing/2014/main" id="{A7DB5D2A-6EAA-4037-8BA2-008FD0A8846A}"/>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defRPr sz="3525" b="0">
                <a:solidFill>
                  <a:srgbClr val="242C35"/>
                </a:solidFill>
                <a:latin typeface="Georgia"/>
                <a:ea typeface="Georgia"/>
                <a:cs typeface="Georgia"/>
              </a:defRPr>
            </a:pPr>
            <a:r>
              <a:rPr sz="3525" b="0">
                <a:solidFill>
                  <a:srgbClr val="242C35"/>
                </a:solidFill>
                <a:latin typeface="Georgia"/>
                <a:ea typeface="Georgia"/>
                <a:cs typeface="Georgia"/>
              </a:rPr>
              <a:t>Vercel configuration and persistent data</a:t>
            </a:r>
          </a:p>
        </p:txBody>
      </p:sp>
      <p:sp>
        <p:nvSpPr>
          <p:cNvPr id="3" name="live-text-41">
            <a:extLst>
              <a:ext uri="{FF2B5EF4-FFF2-40B4-BE49-F238E27FC236}">
                <a16:creationId xmlns:a16="http://schemas.microsoft.com/office/drawing/2014/main" id="{5FF8F17C-081B-40BD-9978-1C020026F90E}"/>
              </a:ext>
            </a:extLst>
          </p:cNvPr>
          <p:cNvSpPr>
            <a:spLocks noGrp="1"/>
          </p:cNvSpPr>
          <p:nvPr/>
        </p:nvSpPr>
        <p:spPr>
          <a:xfrm>
            <a:off x="685800" y="8086725"/>
            <a:ext cx="12573000" cy="257175"/>
          </a:xfrm>
          <a:prstGeom prst="rect">
            <a:avLst/>
          </a:prstGeom>
          <a:noFill/>
          <a:ln w="0">
            <a:noFill/>
          </a:ln>
        </p:spPr>
        <p:txBody>
          <a:bodyPr wrap="none" lIns="0" tIns="0" rIns="0" bIns="0" anchor="t">
            <a:noAutofit/>
          </a:bodyPr>
          <a:lstStyle/>
          <a:p>
            <a:pPr>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live-text-42">
            <a:extLst>
              <a:ext uri="{FF2B5EF4-FFF2-40B4-BE49-F238E27FC236}">
                <a16:creationId xmlns:a16="http://schemas.microsoft.com/office/drawing/2014/main" id="{6186AFE8-7D87-40AD-B697-0602628EDC3C}"/>
              </a:ext>
            </a:extLst>
          </p:cNvPr>
          <p:cNvSpPr>
            <a:spLocks noGrp="1"/>
          </p:cNvSpPr>
          <p:nvPr/>
        </p:nvSpPr>
        <p:spPr>
          <a:xfrm>
            <a:off x="13906500" y="8020050"/>
            <a:ext cx="647700" cy="342900"/>
          </a:xfrm>
          <a:prstGeom prst="rect">
            <a:avLst/>
          </a:prstGeom>
          <a:noFill/>
          <a:ln w="0">
            <a:noFill/>
          </a:ln>
        </p:spPr>
        <p:txBody>
          <a:bodyPr wrap="none" lIns="0" tIns="0" rIns="0" bIns="0" anchor="t">
            <a:noAutofit/>
          </a:bodyPr>
          <a:lstStyle/>
          <a:p>
            <a:pP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76</a:t>
            </a:r>
          </a:p>
        </p:txBody>
      </p:sp>
      <p:graphicFrame>
        <p:nvGraphicFramePr>
          <p:cNvPr id="12" name="Table 11"/>
          <p:cNvGraphicFramePr/>
          <p:nvPr/>
        </p:nvGraphicFramePr>
        <p:xfrm>
          <a:off x="685800" y="2343150"/>
          <a:ext cx="13868400" cy="4629150"/>
        </p:xfrm>
        <a:graphic>
          <a:graphicData uri="http://schemas.openxmlformats.org/drawingml/2006/table">
            <a:tbl>
              <a:tblPr/>
              <a:tblGrid>
                <a:gridCol w="5810250">
                  <a:extLst>
                    <a:ext uri="{9D8B030D-6E8A-4147-A177-3AD203B41FA5}">
                      <a16:colId xmlns:a16="http://schemas.microsoft.com/office/drawing/2014/main" val="20000"/>
                    </a:ext>
                  </a:extLst>
                </a:gridCol>
                <a:gridCol w="8058150">
                  <a:extLst>
                    <a:ext uri="{9D8B030D-6E8A-4147-A177-3AD203B41FA5}">
                      <a16:colId xmlns:a16="http://schemas.microsoft.com/office/drawing/2014/main" val="20001"/>
                    </a:ext>
                  </a:extLst>
                </a:gridCol>
              </a:tblGrid>
              <a:tr h="661307">
                <a:tc>
                  <a:txBody>
                    <a:bodyPr/>
                    <a:lstStyle/>
                    <a:p>
                      <a:r>
                        <a:rPr sz="1875" b="1">
                          <a:solidFill>
                            <a:srgbClr val="FFFFFF"/>
                          </a:solidFill>
                          <a:latin typeface="Helvetica Neue"/>
                          <a:ea typeface="Helvetica Neue"/>
                          <a:cs typeface="Helvetica Neue"/>
                        </a:rPr>
                        <a:t>Production setting</a:t>
                      </a:r>
                    </a:p>
                  </a:txBody>
                  <a:tcPr>
                    <a:solidFill>
                      <a:srgbClr val="242C35"/>
                    </a:solidFill>
                  </a:tcPr>
                </a:tc>
                <a:tc>
                  <a:txBody>
                    <a:bodyPr/>
                    <a:lstStyle/>
                    <a:p>
                      <a:r>
                        <a:rPr sz="1875" b="1">
                          <a:solidFill>
                            <a:srgbClr val="FFFFFF"/>
                          </a:solidFill>
                          <a:latin typeface="Helvetica Neue"/>
                          <a:ea typeface="Helvetica Neue"/>
                          <a:cs typeface="Helvetica Neue"/>
                        </a:rPr>
                        <a:t>Purpose</a:t>
                      </a:r>
                    </a:p>
                  </a:txBody>
                  <a:tcPr>
                    <a:solidFill>
                      <a:srgbClr val="242C35"/>
                    </a:solidFill>
                  </a:tcPr>
                </a:tc>
                <a:extLst>
                  <a:ext uri="{0D108BD9-81ED-4DB2-BD59-A6C34878D82A}">
                    <a16:rowId xmlns:a16="http://schemas.microsoft.com/office/drawing/2014/main" val="10000"/>
                  </a:ext>
                </a:extLst>
              </a:tr>
              <a:tr h="661307">
                <a:tc>
                  <a:txBody>
                    <a:bodyPr/>
                    <a:lstStyle/>
                    <a:p>
                      <a:r>
                        <a:rPr sz="1875" b="0">
                          <a:solidFill>
                            <a:srgbClr val="242C35"/>
                          </a:solidFill>
                          <a:latin typeface="Helvetica Neue"/>
                          <a:ea typeface="Helvetica Neue"/>
                          <a:cs typeface="Helvetica Neue"/>
                        </a:rPr>
                        <a:t>DEBUG=False</a:t>
                      </a:r>
                    </a:p>
                  </a:txBody>
                  <a:tcPr>
                    <a:solidFill>
                      <a:srgbClr val="FFFFFF"/>
                    </a:solidFill>
                  </a:tcPr>
                </a:tc>
                <a:tc>
                  <a:txBody>
                    <a:bodyPr/>
                    <a:lstStyle/>
                    <a:p>
                      <a:r>
                        <a:rPr sz="1875" b="0">
                          <a:solidFill>
                            <a:srgbClr val="242C35"/>
                          </a:solidFill>
                          <a:latin typeface="Helvetica Neue"/>
                          <a:ea typeface="Helvetica Neue"/>
                          <a:cs typeface="Helvetica Neue"/>
                        </a:rPr>
                        <a:t>Disable debug error pages</a:t>
                      </a:r>
                    </a:p>
                  </a:txBody>
                  <a:tcPr>
                    <a:solidFill>
                      <a:srgbClr val="FFFFFF"/>
                    </a:solidFill>
                  </a:tcPr>
                </a:tc>
                <a:extLst>
                  <a:ext uri="{0D108BD9-81ED-4DB2-BD59-A6C34878D82A}">
                    <a16:rowId xmlns:a16="http://schemas.microsoft.com/office/drawing/2014/main" val="10001"/>
                  </a:ext>
                </a:extLst>
              </a:tr>
              <a:tr h="661307">
                <a:tc>
                  <a:txBody>
                    <a:bodyPr/>
                    <a:lstStyle/>
                    <a:p>
                      <a:r>
                        <a:rPr sz="1875" b="0">
                          <a:solidFill>
                            <a:srgbClr val="242C35"/>
                          </a:solidFill>
                          <a:latin typeface="Helvetica Neue"/>
                          <a:ea typeface="Helvetica Neue"/>
                          <a:cs typeface="Helvetica Neue"/>
                        </a:rPr>
                        <a:t>DJANGO_SECRET_KEY</a:t>
                      </a:r>
                    </a:p>
                  </a:txBody>
                  <a:tcPr>
                    <a:solidFill>
                      <a:srgbClr val="F8F5EF"/>
                    </a:solidFill>
                  </a:tcPr>
                </a:tc>
                <a:tc>
                  <a:txBody>
                    <a:bodyPr/>
                    <a:lstStyle/>
                    <a:p>
                      <a:r>
                        <a:rPr sz="1875" b="0">
                          <a:solidFill>
                            <a:srgbClr val="242C35"/>
                          </a:solidFill>
                          <a:latin typeface="Helvetica Neue"/>
                          <a:ea typeface="Helvetica Neue"/>
                          <a:cs typeface="Helvetica Neue"/>
                        </a:rPr>
                        <a:t>A fresh private signing key</a:t>
                      </a:r>
                    </a:p>
                  </a:txBody>
                  <a:tcPr>
                    <a:solidFill>
                      <a:srgbClr val="F8F5EF"/>
                    </a:solidFill>
                  </a:tcPr>
                </a:tc>
                <a:extLst>
                  <a:ext uri="{0D108BD9-81ED-4DB2-BD59-A6C34878D82A}">
                    <a16:rowId xmlns:a16="http://schemas.microsoft.com/office/drawing/2014/main" val="10002"/>
                  </a:ext>
                </a:extLst>
              </a:tr>
              <a:tr h="661307">
                <a:tc>
                  <a:txBody>
                    <a:bodyPr/>
                    <a:lstStyle/>
                    <a:p>
                      <a:r>
                        <a:rPr sz="1875" b="0">
                          <a:solidFill>
                            <a:srgbClr val="242C35"/>
                          </a:solidFill>
                          <a:latin typeface="Helvetica Neue"/>
                          <a:ea typeface="Helvetica Neue"/>
                          <a:cs typeface="Helvetica Neue"/>
                        </a:rPr>
                        <a:t>DATABASE_URL</a:t>
                      </a:r>
                    </a:p>
                  </a:txBody>
                  <a:tcPr>
                    <a:solidFill>
                      <a:srgbClr val="FFFFFF"/>
                    </a:solidFill>
                  </a:tcPr>
                </a:tc>
                <a:tc>
                  <a:txBody>
                    <a:bodyPr/>
                    <a:lstStyle/>
                    <a:p>
                      <a:r>
                        <a:rPr sz="1875" b="0">
                          <a:solidFill>
                            <a:srgbClr val="242C35"/>
                          </a:solidFill>
                          <a:latin typeface="Helvetica Neue"/>
                          <a:ea typeface="Helvetica Neue"/>
                          <a:cs typeface="Helvetica Neue"/>
                        </a:rPr>
                        <a:t>External PostgreSQL connection using SSL</a:t>
                      </a:r>
                    </a:p>
                  </a:txBody>
                  <a:tcPr>
                    <a:solidFill>
                      <a:srgbClr val="FFFFFF"/>
                    </a:solidFill>
                  </a:tcPr>
                </a:tc>
                <a:extLst>
                  <a:ext uri="{0D108BD9-81ED-4DB2-BD59-A6C34878D82A}">
                    <a16:rowId xmlns:a16="http://schemas.microsoft.com/office/drawing/2014/main" val="10003"/>
                  </a:ext>
                </a:extLst>
              </a:tr>
              <a:tr h="661307">
                <a:tc>
                  <a:txBody>
                    <a:bodyPr/>
                    <a:lstStyle/>
                    <a:p>
                      <a:r>
                        <a:rPr sz="1875" b="0">
                          <a:solidFill>
                            <a:srgbClr val="242C35"/>
                          </a:solidFill>
                          <a:latin typeface="Helvetica Neue"/>
                          <a:ea typeface="Helvetica Neue"/>
                          <a:cs typeface="Helvetica Neue"/>
                        </a:rPr>
                        <a:t>DJANGO_ALLOWED_HOSTS</a:t>
                      </a:r>
                    </a:p>
                  </a:txBody>
                  <a:tcPr>
                    <a:solidFill>
                      <a:srgbClr val="F8F5EF"/>
                    </a:solidFill>
                  </a:tcPr>
                </a:tc>
                <a:tc>
                  <a:txBody>
                    <a:bodyPr/>
                    <a:lstStyle/>
                    <a:p>
                      <a:r>
                        <a:rPr sz="1875" b="0">
                          <a:solidFill>
                            <a:srgbClr val="242C35"/>
                          </a:solidFill>
                          <a:latin typeface="Helvetica Neue"/>
                          <a:ea typeface="Helvetica Neue"/>
                          <a:cs typeface="Helvetica Neue"/>
                        </a:rPr>
                        <a:t>Exact deployment and custom-domain hostnames</a:t>
                      </a:r>
                    </a:p>
                  </a:txBody>
                  <a:tcPr>
                    <a:solidFill>
                      <a:srgbClr val="F8F5EF"/>
                    </a:solidFill>
                  </a:tcPr>
                </a:tc>
                <a:extLst>
                  <a:ext uri="{0D108BD9-81ED-4DB2-BD59-A6C34878D82A}">
                    <a16:rowId xmlns:a16="http://schemas.microsoft.com/office/drawing/2014/main" val="10004"/>
                  </a:ext>
                </a:extLst>
              </a:tr>
              <a:tr h="661307">
                <a:tc>
                  <a:txBody>
                    <a:bodyPr/>
                    <a:lstStyle/>
                    <a:p>
                      <a:r>
                        <a:rPr sz="1875" b="0">
                          <a:solidFill>
                            <a:srgbClr val="242C35"/>
                          </a:solidFill>
                          <a:latin typeface="Helvetica Neue"/>
                          <a:ea typeface="Helvetica Neue"/>
                          <a:cs typeface="Helvetica Neue"/>
                        </a:rPr>
                        <a:t>DJANGO_CSRF_TRUSTED_ORIGINS</a:t>
                      </a:r>
                    </a:p>
                  </a:txBody>
                  <a:tcPr>
                    <a:solidFill>
                      <a:srgbClr val="FFFFFF"/>
                    </a:solidFill>
                  </a:tcPr>
                </a:tc>
                <a:tc>
                  <a:txBody>
                    <a:bodyPr/>
                    <a:lstStyle/>
                    <a:p>
                      <a:r>
                        <a:rPr sz="1875" b="0">
                          <a:solidFill>
                            <a:srgbClr val="242C35"/>
                          </a:solidFill>
                          <a:latin typeface="Helvetica Neue"/>
                          <a:ea typeface="Helvetica Neue"/>
                          <a:cs typeface="Helvetica Neue"/>
                        </a:rPr>
                        <a:t>Exact HTTPS origins for browser form submissions</a:t>
                      </a:r>
                    </a:p>
                  </a:txBody>
                  <a:tcPr>
                    <a:solidFill>
                      <a:srgbClr val="FFFFFF"/>
                    </a:solidFill>
                  </a:tcPr>
                </a:tc>
                <a:extLst>
                  <a:ext uri="{0D108BD9-81ED-4DB2-BD59-A6C34878D82A}">
                    <a16:rowId xmlns:a16="http://schemas.microsoft.com/office/drawing/2014/main" val="10005"/>
                  </a:ext>
                </a:extLst>
              </a:tr>
              <a:tr h="661307">
                <a:tc>
                  <a:txBody>
                    <a:bodyPr/>
                    <a:lstStyle/>
                    <a:p>
                      <a:r>
                        <a:rPr sz="1875" b="0">
                          <a:solidFill>
                            <a:srgbClr val="242C35"/>
                          </a:solidFill>
                          <a:latin typeface="Helvetica Neue"/>
                          <a:ea typeface="Helvetica Neue"/>
                          <a:cs typeface="Helvetica Neue"/>
                        </a:rPr>
                        <a:t>PUBLIC_SIGNUP_ENABLED=False</a:t>
                      </a:r>
                    </a:p>
                  </a:txBody>
                  <a:tcPr>
                    <a:solidFill>
                      <a:srgbClr val="F8F5EF"/>
                    </a:solidFill>
                  </a:tcPr>
                </a:tc>
                <a:tc>
                  <a:txBody>
                    <a:bodyPr/>
                    <a:lstStyle/>
                    <a:p>
                      <a:r>
                        <a:rPr sz="1875" b="0">
                          <a:solidFill>
                            <a:srgbClr val="242C35"/>
                          </a:solidFill>
                          <a:latin typeface="Helvetica Neue"/>
                          <a:ea typeface="Helvetica Neue"/>
                          <a:cs typeface="Helvetica Neue"/>
                        </a:rPr>
                        <a:t>Provision intended users before opening registration</a:t>
                      </a:r>
                    </a:p>
                  </a:txBody>
                  <a:tcPr>
                    <a:solidFill>
                      <a:srgbClr val="F8F5EF"/>
                    </a:solidFill>
                  </a:tcPr>
                </a:tc>
                <a:extLst>
                  <a:ext uri="{0D108BD9-81ED-4DB2-BD59-A6C34878D82A}">
                    <a16:rowId xmlns:a16="http://schemas.microsoft.com/office/drawing/2014/main" val="10006"/>
                  </a:ext>
                </a:extLst>
              </a:tr>
            </a:tbl>
          </a:graphicData>
        </a:graphic>
      </p:graphicFrame>
      <p:sp>
        <p:nvSpPr>
          <p:cNvPr id="6" name="live-text-43">
            <a:extLst>
              <a:ext uri="{FF2B5EF4-FFF2-40B4-BE49-F238E27FC236}">
                <a16:creationId xmlns:a16="http://schemas.microsoft.com/office/drawing/2014/main" id="{2303C0E7-5839-48D3-9496-6851B9617F07}"/>
              </a:ext>
            </a:extLst>
          </p:cNvPr>
          <p:cNvSpPr>
            <a:spLocks noGrp="1"/>
          </p:cNvSpPr>
          <p:nvPr/>
        </p:nvSpPr>
        <p:spPr>
          <a:xfrm>
            <a:off x="685800" y="7219950"/>
            <a:ext cx="13868400" cy="419100"/>
          </a:xfrm>
          <a:prstGeom prst="rect">
            <a:avLst/>
          </a:prstGeom>
          <a:noFill/>
          <a:ln w="0">
            <a:noFill/>
          </a:ln>
        </p:spPr>
        <p:txBody>
          <a:bodyPr wrap="none" lIns="0" tIns="0" rIns="0" bIns="0" anchor="t">
            <a:noAutofit/>
          </a:bodyPr>
          <a:lstStyle/>
          <a:p>
            <a:pPr>
              <a:defRPr sz="1950" b="1">
                <a:solidFill>
                  <a:srgbClr val="315BCD"/>
                </a:solidFill>
                <a:latin typeface="Helvetica Neue"/>
                <a:ea typeface="Helvetica Neue"/>
                <a:cs typeface="Helvetica Neue"/>
              </a:defRPr>
            </a:pPr>
            <a:r>
              <a:rPr sz="1950" b="1">
                <a:solidFill>
                  <a:srgbClr val="315BCD"/>
                </a:solidFill>
                <a:latin typeface="Helvetica Neue"/>
                <a:ea typeface="Helvetica Neue"/>
                <a:cs typeface="Helvetica Neue"/>
              </a:rPr>
              <a:t>Root Directory: pocketdesk     Python: 3.13     Entry: config.wsgi:application</a:t>
            </a:r>
          </a:p>
        </p:txBody>
      </p:sp>
      <p:sp>
        <p:nvSpPr>
          <p:cNvPr id="7" name="live-text-44">
            <a:extLst>
              <a:ext uri="{FF2B5EF4-FFF2-40B4-BE49-F238E27FC236}">
                <a16:creationId xmlns:a16="http://schemas.microsoft.com/office/drawing/2014/main" id="{F7DDE279-9E83-4227-9A79-5A7B226664DA}"/>
              </a:ext>
            </a:extLst>
          </p:cNvPr>
          <p:cNvSpPr>
            <a:spLocks noGrp="1"/>
          </p:cNvSpPr>
          <p:nvPr/>
        </p:nvSpPr>
        <p:spPr>
          <a:xfrm>
            <a:off x="685800" y="7667625"/>
            <a:ext cx="13868400" cy="361950"/>
          </a:xfrm>
          <a:prstGeom prst="rect">
            <a:avLst/>
          </a:prstGeom>
          <a:noFill/>
          <a:ln w="0">
            <a:noFill/>
          </a:ln>
        </p:spPr>
        <p:txBody>
          <a:bodyPr wrap="none" lIns="0" tIns="0" rIns="0" bIns="0" anchor="t">
            <a:noAutofit/>
          </a:bodyPr>
          <a:lstStyle/>
          <a:p>
            <a:pPr>
              <a:defRPr sz="1875" b="0">
                <a:solidFill>
                  <a:srgbClr val="65717A"/>
                </a:solidFill>
                <a:latin typeface="Helvetica Neue"/>
                <a:ea typeface="Helvetica Neue"/>
                <a:cs typeface="Helvetica Neue"/>
              </a:defRPr>
            </a:pPr>
            <a:r>
              <a:rPr sz="1875" b="0">
                <a:solidFill>
                  <a:srgbClr val="65717A"/>
                </a:solidFill>
                <a:latin typeface="Helvetica Neue"/>
                <a:ea typeface="Helvetica Neue"/>
                <a:cs typeface="Helvetica Neue"/>
              </a:rPr>
              <a:t>Vercel serves collected static assets. PostgreSQL stores application state.</a:t>
            </a:r>
          </a:p>
        </p:txBody>
      </p:sp>
    </p:spTree>
    <p:extLst>
      <p:ext uri="{BB962C8B-B14F-4D97-AF65-F5344CB8AC3E}">
        <p14:creationId xmlns:p14="http://schemas.microsoft.com/office/powerpoint/2010/main" val="31356282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8" name="live-text-45">
            <a:extLst>
              <a:ext uri="{FF2B5EF4-FFF2-40B4-BE49-F238E27FC236}">
                <a16:creationId xmlns:a16="http://schemas.microsoft.com/office/drawing/2014/main" id="{3C7D0218-2EE4-4AB5-8EFA-A67FF6B72E78}"/>
              </a:ext>
            </a:extLst>
          </p:cNvPr>
          <p:cNvSpPr>
            <a:spLocks noGrp="1"/>
          </p:cNvSpPr>
          <p:nvPr/>
        </p:nvSpPr>
        <p:spPr>
          <a:xfrm>
            <a:off x="685800" y="381000"/>
            <a:ext cx="13335000" cy="333375"/>
          </a:xfrm>
          <a:prstGeom prst="rect">
            <a:avLst/>
          </a:prstGeom>
          <a:noFill/>
          <a:ln w="0">
            <a:noFill/>
          </a:ln>
        </p:spPr>
        <p:txBody>
          <a:bodyPr wrap="none" lIns="0" tIns="0" rIns="0" bIns="0" anchor="t">
            <a:noAutofit/>
          </a:bodyPr>
          <a:lstStyle/>
          <a:p>
            <a:pPr>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07 / Live project companion</a:t>
            </a:r>
          </a:p>
        </p:txBody>
      </p:sp>
      <p:sp>
        <p:nvSpPr>
          <p:cNvPr id="2" name="live-text-46">
            <a:extLst>
              <a:ext uri="{FF2B5EF4-FFF2-40B4-BE49-F238E27FC236}">
                <a16:creationId xmlns:a16="http://schemas.microsoft.com/office/drawing/2014/main" id="{B0CFCB85-E1A2-4772-875C-EE3ABB22EE58}"/>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defRPr sz="3525" b="0">
                <a:solidFill>
                  <a:srgbClr val="242C35"/>
                </a:solidFill>
                <a:latin typeface="Georgia"/>
                <a:ea typeface="Georgia"/>
                <a:cs typeface="Georgia"/>
              </a:defRPr>
            </a:pPr>
            <a:r>
              <a:rPr sz="3525" b="0">
                <a:solidFill>
                  <a:srgbClr val="242C35"/>
                </a:solidFill>
                <a:latin typeface="Georgia"/>
                <a:ea typeface="Georgia"/>
                <a:cs typeface="Georgia"/>
              </a:rPr>
              <a:t>A controlled deployment lifecycle</a:t>
            </a:r>
          </a:p>
        </p:txBody>
      </p:sp>
      <p:sp>
        <p:nvSpPr>
          <p:cNvPr id="3" name="live-text-47">
            <a:extLst>
              <a:ext uri="{FF2B5EF4-FFF2-40B4-BE49-F238E27FC236}">
                <a16:creationId xmlns:a16="http://schemas.microsoft.com/office/drawing/2014/main" id="{0CE90516-5837-4D29-A875-43C031E25ED7}"/>
              </a:ext>
            </a:extLst>
          </p:cNvPr>
          <p:cNvSpPr>
            <a:spLocks noGrp="1"/>
          </p:cNvSpPr>
          <p:nvPr/>
        </p:nvSpPr>
        <p:spPr>
          <a:xfrm>
            <a:off x="685800" y="8086725"/>
            <a:ext cx="12573000" cy="257175"/>
          </a:xfrm>
          <a:prstGeom prst="rect">
            <a:avLst/>
          </a:prstGeom>
          <a:noFill/>
          <a:ln w="0">
            <a:noFill/>
          </a:ln>
        </p:spPr>
        <p:txBody>
          <a:bodyPr wrap="none" lIns="0" tIns="0" rIns="0" bIns="0" anchor="t">
            <a:noAutofit/>
          </a:bodyPr>
          <a:lstStyle/>
          <a:p>
            <a:pPr>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live-text-48">
            <a:extLst>
              <a:ext uri="{FF2B5EF4-FFF2-40B4-BE49-F238E27FC236}">
                <a16:creationId xmlns:a16="http://schemas.microsoft.com/office/drawing/2014/main" id="{84BBA2E6-532F-43C2-8343-466D1403D4EA}"/>
              </a:ext>
            </a:extLst>
          </p:cNvPr>
          <p:cNvSpPr>
            <a:spLocks noGrp="1"/>
          </p:cNvSpPr>
          <p:nvPr/>
        </p:nvSpPr>
        <p:spPr>
          <a:xfrm>
            <a:off x="13906500" y="8020050"/>
            <a:ext cx="647700" cy="342900"/>
          </a:xfrm>
          <a:prstGeom prst="rect">
            <a:avLst/>
          </a:prstGeom>
          <a:noFill/>
          <a:ln w="0">
            <a:noFill/>
          </a:ln>
        </p:spPr>
        <p:txBody>
          <a:bodyPr wrap="none" lIns="0" tIns="0" rIns="0" bIns="0" anchor="t">
            <a:noAutofit/>
          </a:bodyPr>
          <a:lstStyle/>
          <a:p>
            <a:pP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77</a:t>
            </a:r>
          </a:p>
        </p:txBody>
      </p:sp>
      <p:sp>
        <p:nvSpPr>
          <p:cNvPr id="5" name="live-text-49">
            <a:extLst>
              <a:ext uri="{FF2B5EF4-FFF2-40B4-BE49-F238E27FC236}">
                <a16:creationId xmlns:a16="http://schemas.microsoft.com/office/drawing/2014/main" id="{5E52BC6A-207F-4E14-A6FD-D53145978564}"/>
              </a:ext>
            </a:extLst>
          </p:cNvPr>
          <p:cNvSpPr>
            <a:spLocks noGrp="1"/>
          </p:cNvSpPr>
          <p:nvPr/>
        </p:nvSpPr>
        <p:spPr>
          <a:xfrm>
            <a:off x="685800" y="2343150"/>
            <a:ext cx="876300" cy="628650"/>
          </a:xfrm>
          <a:prstGeom prst="rect">
            <a:avLst/>
          </a:prstGeom>
          <a:noFill/>
          <a:ln w="0">
            <a:noFill/>
          </a:ln>
        </p:spPr>
        <p:txBody>
          <a:bodyPr wrap="none" lIns="0" tIns="0" rIns="0" bIns="0" anchor="t">
            <a:noAutofit/>
          </a:bodyPr>
          <a:lstStyle/>
          <a:p>
            <a:pPr>
              <a:defRPr sz="2925" b="0">
                <a:solidFill>
                  <a:srgbClr val="D8663D"/>
                </a:solidFill>
                <a:latin typeface="Georgia"/>
                <a:ea typeface="Georgia"/>
                <a:cs typeface="Georgia"/>
              </a:defRPr>
            </a:pPr>
            <a:r>
              <a:rPr sz="2925" b="0">
                <a:solidFill>
                  <a:srgbClr val="D8663D"/>
                </a:solidFill>
                <a:latin typeface="Georgia"/>
                <a:ea typeface="Georgia"/>
                <a:cs typeface="Georgia"/>
              </a:rPr>
              <a:t>01</a:t>
            </a:r>
          </a:p>
        </p:txBody>
      </p:sp>
      <p:sp>
        <p:nvSpPr>
          <p:cNvPr id="6" name="live-text-50">
            <a:extLst>
              <a:ext uri="{FF2B5EF4-FFF2-40B4-BE49-F238E27FC236}">
                <a16:creationId xmlns:a16="http://schemas.microsoft.com/office/drawing/2014/main" id="{D0A6AEF6-9491-4641-B730-38111F7DF99C}"/>
              </a:ext>
            </a:extLst>
          </p:cNvPr>
          <p:cNvSpPr>
            <a:spLocks noGrp="1"/>
          </p:cNvSpPr>
          <p:nvPr/>
        </p:nvSpPr>
        <p:spPr>
          <a:xfrm>
            <a:off x="1809750" y="2362200"/>
            <a:ext cx="12744450" cy="419100"/>
          </a:xfrm>
          <a:prstGeom prst="rect">
            <a:avLst/>
          </a:prstGeom>
          <a:noFill/>
          <a:ln w="0">
            <a:noFill/>
          </a:ln>
        </p:spPr>
        <p:txBody>
          <a:bodyPr wrap="none" lIns="0" tIns="0" rIns="0" bIns="0" anchor="t">
            <a:noAutofit/>
          </a:bodyPr>
          <a:lstStyle/>
          <a:p>
            <a:pPr>
              <a:defRPr sz="2250" b="1">
                <a:solidFill>
                  <a:srgbClr val="242C35"/>
                </a:solidFill>
                <a:latin typeface="Helvetica Neue"/>
                <a:ea typeface="Helvetica Neue"/>
                <a:cs typeface="Helvetica Neue"/>
              </a:defRPr>
            </a:pPr>
            <a:r>
              <a:rPr sz="2250" b="1">
                <a:solidFill>
                  <a:srgbClr val="242C35"/>
                </a:solidFill>
                <a:latin typeface="Helvetica Neue"/>
                <a:ea typeface="Helvetica Neue"/>
                <a:cs typeface="Helvetica Neue"/>
              </a:rPr>
              <a:t>Configure</a:t>
            </a:r>
          </a:p>
        </p:txBody>
      </p:sp>
      <p:sp>
        <p:nvSpPr>
          <p:cNvPr id="7" name="live-text-51">
            <a:extLst>
              <a:ext uri="{FF2B5EF4-FFF2-40B4-BE49-F238E27FC236}">
                <a16:creationId xmlns:a16="http://schemas.microsoft.com/office/drawing/2014/main" id="{B3A3B4B6-9F2E-4ED6-8515-B4EAF6A3AF6B}"/>
              </a:ext>
            </a:extLst>
          </p:cNvPr>
          <p:cNvSpPr>
            <a:spLocks noGrp="1"/>
          </p:cNvSpPr>
          <p:nvPr/>
        </p:nvSpPr>
        <p:spPr>
          <a:xfrm>
            <a:off x="1809750" y="2847975"/>
            <a:ext cx="12744450" cy="495300"/>
          </a:xfrm>
          <a:prstGeom prst="rect">
            <a:avLst/>
          </a:prstGeom>
          <a:noFill/>
          <a:ln w="0">
            <a:noFill/>
          </a:ln>
        </p:spPr>
        <p:txBody>
          <a:bodyPr wrap="none" lIns="0" tIns="0" rIns="0" bIns="0" anchor="t">
            <a:noAutofit/>
          </a:bodyPr>
          <a:lstStyle/>
          <a:p>
            <a:pPr>
              <a:defRPr sz="2025" b="0">
                <a:solidFill>
                  <a:srgbClr val="65717A"/>
                </a:solidFill>
                <a:latin typeface="Helvetica Neue"/>
                <a:ea typeface="Helvetica Neue"/>
                <a:cs typeface="Helvetica Neue"/>
              </a:defRPr>
            </a:pPr>
            <a:r>
              <a:rPr sz="2025" b="0">
                <a:solidFill>
                  <a:srgbClr val="65717A"/>
                </a:solidFill>
                <a:latin typeface="Helvetica Neue"/>
                <a:ea typeface="Helvetica Neue"/>
                <a:cs typeface="Helvetica Neue"/>
              </a:rPr>
              <a:t>Link the project. Add exact hosts, secrets and PostgreSQL.</a:t>
            </a:r>
          </a:p>
        </p:txBody>
      </p:sp>
      <p:sp>
        <p:nvSpPr>
          <p:cNvPr id="8" name="live-text-52">
            <a:extLst>
              <a:ext uri="{FF2B5EF4-FFF2-40B4-BE49-F238E27FC236}">
                <a16:creationId xmlns:a16="http://schemas.microsoft.com/office/drawing/2014/main" id="{E7C79EE4-44CD-4042-AD33-9D69391DF532}"/>
              </a:ext>
            </a:extLst>
          </p:cNvPr>
          <p:cNvSpPr>
            <a:spLocks noGrp="1"/>
          </p:cNvSpPr>
          <p:nvPr/>
        </p:nvSpPr>
        <p:spPr>
          <a:xfrm>
            <a:off x="685800" y="3514725"/>
            <a:ext cx="876300" cy="628650"/>
          </a:xfrm>
          <a:prstGeom prst="rect">
            <a:avLst/>
          </a:prstGeom>
          <a:noFill/>
          <a:ln w="0">
            <a:noFill/>
          </a:ln>
        </p:spPr>
        <p:txBody>
          <a:bodyPr wrap="none" lIns="0" tIns="0" rIns="0" bIns="0" anchor="t">
            <a:noAutofit/>
          </a:bodyPr>
          <a:lstStyle/>
          <a:p>
            <a:pPr>
              <a:defRPr sz="2925" b="0">
                <a:solidFill>
                  <a:srgbClr val="D8663D"/>
                </a:solidFill>
                <a:latin typeface="Georgia"/>
                <a:ea typeface="Georgia"/>
                <a:cs typeface="Georgia"/>
              </a:defRPr>
            </a:pPr>
            <a:r>
              <a:rPr sz="2925" b="0">
                <a:solidFill>
                  <a:srgbClr val="D8663D"/>
                </a:solidFill>
                <a:latin typeface="Georgia"/>
                <a:ea typeface="Georgia"/>
                <a:cs typeface="Georgia"/>
              </a:rPr>
              <a:t>02</a:t>
            </a:r>
          </a:p>
        </p:txBody>
      </p:sp>
      <p:sp>
        <p:nvSpPr>
          <p:cNvPr id="9" name="live-text-53">
            <a:extLst>
              <a:ext uri="{FF2B5EF4-FFF2-40B4-BE49-F238E27FC236}">
                <a16:creationId xmlns:a16="http://schemas.microsoft.com/office/drawing/2014/main" id="{C133C3A8-7E13-40CB-94AC-79C20436B139}"/>
              </a:ext>
            </a:extLst>
          </p:cNvPr>
          <p:cNvSpPr>
            <a:spLocks noGrp="1"/>
          </p:cNvSpPr>
          <p:nvPr/>
        </p:nvSpPr>
        <p:spPr>
          <a:xfrm>
            <a:off x="1809750" y="3533775"/>
            <a:ext cx="12744450" cy="419100"/>
          </a:xfrm>
          <a:prstGeom prst="rect">
            <a:avLst/>
          </a:prstGeom>
          <a:noFill/>
          <a:ln w="0">
            <a:noFill/>
          </a:ln>
        </p:spPr>
        <p:txBody>
          <a:bodyPr wrap="none" lIns="0" tIns="0" rIns="0" bIns="0" anchor="t">
            <a:noAutofit/>
          </a:bodyPr>
          <a:lstStyle/>
          <a:p>
            <a:pPr>
              <a:defRPr sz="2250" b="1">
                <a:solidFill>
                  <a:srgbClr val="242C35"/>
                </a:solidFill>
                <a:latin typeface="Helvetica Neue"/>
                <a:ea typeface="Helvetica Neue"/>
                <a:cs typeface="Helvetica Neue"/>
              </a:defRPr>
            </a:pPr>
            <a:r>
              <a:rPr sz="2250" b="1">
                <a:solidFill>
                  <a:srgbClr val="242C35"/>
                </a:solidFill>
                <a:latin typeface="Helvetica Neue"/>
                <a:ea typeface="Helvetica Neue"/>
                <a:cs typeface="Helvetica Neue"/>
              </a:rPr>
              <a:t>Prepare the database</a:t>
            </a:r>
          </a:p>
        </p:txBody>
      </p:sp>
      <p:sp>
        <p:nvSpPr>
          <p:cNvPr id="10" name="live-text-54">
            <a:extLst>
              <a:ext uri="{FF2B5EF4-FFF2-40B4-BE49-F238E27FC236}">
                <a16:creationId xmlns:a16="http://schemas.microsoft.com/office/drawing/2014/main" id="{F651A46E-1C13-445C-A3D2-B193AE6AB99B}"/>
              </a:ext>
            </a:extLst>
          </p:cNvPr>
          <p:cNvSpPr>
            <a:spLocks noGrp="1"/>
          </p:cNvSpPr>
          <p:nvPr/>
        </p:nvSpPr>
        <p:spPr>
          <a:xfrm>
            <a:off x="1809750" y="4019550"/>
            <a:ext cx="12744450" cy="495300"/>
          </a:xfrm>
          <a:prstGeom prst="rect">
            <a:avLst/>
          </a:prstGeom>
          <a:noFill/>
          <a:ln w="0">
            <a:noFill/>
          </a:ln>
        </p:spPr>
        <p:txBody>
          <a:bodyPr wrap="none" lIns="0" tIns="0" rIns="0" bIns="0" anchor="t">
            <a:noAutofit/>
          </a:bodyPr>
          <a:lstStyle/>
          <a:p>
            <a:pPr>
              <a:defRPr sz="2025" b="0">
                <a:solidFill>
                  <a:srgbClr val="65717A"/>
                </a:solidFill>
                <a:latin typeface="Helvetica Neue"/>
                <a:ea typeface="Helvetica Neue"/>
                <a:cs typeface="Helvetica Neue"/>
              </a:defRPr>
            </a:pPr>
            <a:r>
              <a:rPr sz="2025" b="0">
                <a:solidFill>
                  <a:srgbClr val="65717A"/>
                </a:solidFill>
                <a:latin typeface="Helvetica Neue"/>
                <a:ea typeface="Helvetica Neue"/>
                <a:cs typeface="Helvetica Neue"/>
              </a:rPr>
              <a:t>Review migrations and apply them to the intended environment.</a:t>
            </a:r>
          </a:p>
        </p:txBody>
      </p:sp>
      <p:sp>
        <p:nvSpPr>
          <p:cNvPr id="11" name="live-text-55">
            <a:extLst>
              <a:ext uri="{FF2B5EF4-FFF2-40B4-BE49-F238E27FC236}">
                <a16:creationId xmlns:a16="http://schemas.microsoft.com/office/drawing/2014/main" id="{8DC80ADF-F374-4F84-948F-7C64A0CD789A}"/>
              </a:ext>
            </a:extLst>
          </p:cNvPr>
          <p:cNvSpPr>
            <a:spLocks noGrp="1"/>
          </p:cNvSpPr>
          <p:nvPr/>
        </p:nvSpPr>
        <p:spPr>
          <a:xfrm>
            <a:off x="685800" y="4686300"/>
            <a:ext cx="876300" cy="628650"/>
          </a:xfrm>
          <a:prstGeom prst="rect">
            <a:avLst/>
          </a:prstGeom>
          <a:noFill/>
          <a:ln w="0">
            <a:noFill/>
          </a:ln>
        </p:spPr>
        <p:txBody>
          <a:bodyPr wrap="none" lIns="0" tIns="0" rIns="0" bIns="0" anchor="t">
            <a:noAutofit/>
          </a:bodyPr>
          <a:lstStyle/>
          <a:p>
            <a:pPr>
              <a:defRPr sz="2925" b="0">
                <a:solidFill>
                  <a:srgbClr val="D8663D"/>
                </a:solidFill>
                <a:latin typeface="Georgia"/>
                <a:ea typeface="Georgia"/>
                <a:cs typeface="Georgia"/>
              </a:defRPr>
            </a:pPr>
            <a:r>
              <a:rPr sz="2925" b="0">
                <a:solidFill>
                  <a:srgbClr val="D8663D"/>
                </a:solidFill>
                <a:latin typeface="Georgia"/>
                <a:ea typeface="Georgia"/>
                <a:cs typeface="Georgia"/>
              </a:rPr>
              <a:t>03</a:t>
            </a:r>
          </a:p>
        </p:txBody>
      </p:sp>
      <p:sp>
        <p:nvSpPr>
          <p:cNvPr id="12" name="live-text-56">
            <a:extLst>
              <a:ext uri="{FF2B5EF4-FFF2-40B4-BE49-F238E27FC236}">
                <a16:creationId xmlns:a16="http://schemas.microsoft.com/office/drawing/2014/main" id="{68F2D207-3A9C-4D27-B909-C6DA0377D201}"/>
              </a:ext>
            </a:extLst>
          </p:cNvPr>
          <p:cNvSpPr>
            <a:spLocks noGrp="1"/>
          </p:cNvSpPr>
          <p:nvPr/>
        </p:nvSpPr>
        <p:spPr>
          <a:xfrm>
            <a:off x="1809750" y="4705350"/>
            <a:ext cx="12744450" cy="419100"/>
          </a:xfrm>
          <a:prstGeom prst="rect">
            <a:avLst/>
          </a:prstGeom>
          <a:noFill/>
          <a:ln w="0">
            <a:noFill/>
          </a:ln>
        </p:spPr>
        <p:txBody>
          <a:bodyPr wrap="none" lIns="0" tIns="0" rIns="0" bIns="0" anchor="t">
            <a:noAutofit/>
          </a:bodyPr>
          <a:lstStyle/>
          <a:p>
            <a:pPr>
              <a:defRPr sz="2250" b="1">
                <a:solidFill>
                  <a:srgbClr val="242C35"/>
                </a:solidFill>
                <a:latin typeface="Helvetica Neue"/>
                <a:ea typeface="Helvetica Neue"/>
                <a:cs typeface="Helvetica Neue"/>
              </a:defRPr>
            </a:pPr>
            <a:r>
              <a:rPr sz="2250" b="1">
                <a:solidFill>
                  <a:srgbClr val="242C35"/>
                </a:solidFill>
                <a:latin typeface="Helvetica Neue"/>
                <a:ea typeface="Helvetica Neue"/>
                <a:cs typeface="Helvetica Neue"/>
              </a:rPr>
              <a:t>Deploy</a:t>
            </a:r>
          </a:p>
        </p:txBody>
      </p:sp>
      <p:sp>
        <p:nvSpPr>
          <p:cNvPr id="13" name="live-text-57">
            <a:extLst>
              <a:ext uri="{FF2B5EF4-FFF2-40B4-BE49-F238E27FC236}">
                <a16:creationId xmlns:a16="http://schemas.microsoft.com/office/drawing/2014/main" id="{A7B620E8-26B8-4077-8F2D-E01C7FA48B54}"/>
              </a:ext>
            </a:extLst>
          </p:cNvPr>
          <p:cNvSpPr>
            <a:spLocks noGrp="1"/>
          </p:cNvSpPr>
          <p:nvPr/>
        </p:nvSpPr>
        <p:spPr>
          <a:xfrm>
            <a:off x="1809750" y="5191125"/>
            <a:ext cx="12744450" cy="495300"/>
          </a:xfrm>
          <a:prstGeom prst="rect">
            <a:avLst/>
          </a:prstGeom>
          <a:noFill/>
          <a:ln w="0">
            <a:noFill/>
          </a:ln>
        </p:spPr>
        <p:txBody>
          <a:bodyPr wrap="none" lIns="0" tIns="0" rIns="0" bIns="0" anchor="t">
            <a:noAutofit/>
          </a:bodyPr>
          <a:lstStyle/>
          <a:p>
            <a:pPr>
              <a:defRPr sz="2025" b="0">
                <a:solidFill>
                  <a:srgbClr val="65717A"/>
                </a:solidFill>
                <a:latin typeface="Helvetica Neue"/>
                <a:ea typeface="Helvetica Neue"/>
                <a:cs typeface="Helvetica Neue"/>
              </a:defRPr>
            </a:pPr>
            <a:r>
              <a:rPr sz="2025" b="0">
                <a:solidFill>
                  <a:srgbClr val="65717A"/>
                </a:solidFill>
                <a:latin typeface="Helvetica Neue"/>
                <a:ea typeface="Helvetica Neue"/>
                <a:cs typeface="Helvetica Neue"/>
              </a:rPr>
              <a:t>Build the Django function and collect static assets.</a:t>
            </a:r>
          </a:p>
        </p:txBody>
      </p:sp>
      <p:sp>
        <p:nvSpPr>
          <p:cNvPr id="14" name="live-text-58">
            <a:extLst>
              <a:ext uri="{FF2B5EF4-FFF2-40B4-BE49-F238E27FC236}">
                <a16:creationId xmlns:a16="http://schemas.microsoft.com/office/drawing/2014/main" id="{B618DB70-ABA9-4A4D-995A-D6A2FFDD8951}"/>
              </a:ext>
            </a:extLst>
          </p:cNvPr>
          <p:cNvSpPr>
            <a:spLocks noGrp="1"/>
          </p:cNvSpPr>
          <p:nvPr/>
        </p:nvSpPr>
        <p:spPr>
          <a:xfrm>
            <a:off x="685800" y="5857875"/>
            <a:ext cx="876300" cy="628650"/>
          </a:xfrm>
          <a:prstGeom prst="rect">
            <a:avLst/>
          </a:prstGeom>
          <a:noFill/>
          <a:ln w="0">
            <a:noFill/>
          </a:ln>
        </p:spPr>
        <p:txBody>
          <a:bodyPr wrap="none" lIns="0" tIns="0" rIns="0" bIns="0" anchor="t">
            <a:noAutofit/>
          </a:bodyPr>
          <a:lstStyle/>
          <a:p>
            <a:pPr>
              <a:defRPr sz="2925" b="0">
                <a:solidFill>
                  <a:srgbClr val="D8663D"/>
                </a:solidFill>
                <a:latin typeface="Georgia"/>
                <a:ea typeface="Georgia"/>
                <a:cs typeface="Georgia"/>
              </a:defRPr>
            </a:pPr>
            <a:r>
              <a:rPr sz="2925" b="0">
                <a:solidFill>
                  <a:srgbClr val="D8663D"/>
                </a:solidFill>
                <a:latin typeface="Georgia"/>
                <a:ea typeface="Georgia"/>
                <a:cs typeface="Georgia"/>
              </a:rPr>
              <a:t>04</a:t>
            </a:r>
          </a:p>
        </p:txBody>
      </p:sp>
      <p:sp>
        <p:nvSpPr>
          <p:cNvPr id="15" name="live-text-59">
            <a:extLst>
              <a:ext uri="{FF2B5EF4-FFF2-40B4-BE49-F238E27FC236}">
                <a16:creationId xmlns:a16="http://schemas.microsoft.com/office/drawing/2014/main" id="{3304C67E-2184-49D9-AE5D-6711914E7B6B}"/>
              </a:ext>
            </a:extLst>
          </p:cNvPr>
          <p:cNvSpPr>
            <a:spLocks noGrp="1"/>
          </p:cNvSpPr>
          <p:nvPr/>
        </p:nvSpPr>
        <p:spPr>
          <a:xfrm>
            <a:off x="1809750" y="5876925"/>
            <a:ext cx="12744450" cy="419100"/>
          </a:xfrm>
          <a:prstGeom prst="rect">
            <a:avLst/>
          </a:prstGeom>
          <a:noFill/>
          <a:ln w="0">
            <a:noFill/>
          </a:ln>
        </p:spPr>
        <p:txBody>
          <a:bodyPr wrap="none" lIns="0" tIns="0" rIns="0" bIns="0" anchor="t">
            <a:noAutofit/>
          </a:bodyPr>
          <a:lstStyle/>
          <a:p>
            <a:pPr>
              <a:defRPr sz="2250" b="1">
                <a:solidFill>
                  <a:srgbClr val="242C35"/>
                </a:solidFill>
                <a:latin typeface="Helvetica Neue"/>
                <a:ea typeface="Helvetica Neue"/>
                <a:cs typeface="Helvetica Neue"/>
              </a:defRPr>
            </a:pPr>
            <a:r>
              <a:rPr sz="2250" b="1">
                <a:solidFill>
                  <a:srgbClr val="242C35"/>
                </a:solidFill>
                <a:latin typeface="Helvetica Neue"/>
                <a:ea typeface="Helvetica Neue"/>
                <a:cs typeface="Helvetica Neue"/>
              </a:rPr>
              <a:t>Verify</a:t>
            </a:r>
          </a:p>
        </p:txBody>
      </p:sp>
      <p:sp>
        <p:nvSpPr>
          <p:cNvPr id="16" name="live-text-60">
            <a:extLst>
              <a:ext uri="{FF2B5EF4-FFF2-40B4-BE49-F238E27FC236}">
                <a16:creationId xmlns:a16="http://schemas.microsoft.com/office/drawing/2014/main" id="{F4357AEE-0DB5-4C30-92B1-F96C0CFF03D7}"/>
              </a:ext>
            </a:extLst>
          </p:cNvPr>
          <p:cNvSpPr>
            <a:spLocks noGrp="1"/>
          </p:cNvSpPr>
          <p:nvPr/>
        </p:nvSpPr>
        <p:spPr>
          <a:xfrm>
            <a:off x="1809750" y="6362700"/>
            <a:ext cx="12744450" cy="495300"/>
          </a:xfrm>
          <a:prstGeom prst="rect">
            <a:avLst/>
          </a:prstGeom>
          <a:noFill/>
          <a:ln w="0">
            <a:noFill/>
          </a:ln>
        </p:spPr>
        <p:txBody>
          <a:bodyPr wrap="none" lIns="0" tIns="0" rIns="0" bIns="0" anchor="t">
            <a:noAutofit/>
          </a:bodyPr>
          <a:lstStyle/>
          <a:p>
            <a:pPr>
              <a:defRPr sz="2025" b="0">
                <a:solidFill>
                  <a:srgbClr val="65717A"/>
                </a:solidFill>
                <a:latin typeface="Helvetica Neue"/>
                <a:ea typeface="Helvetica Neue"/>
                <a:cs typeface="Helvetica Neue"/>
              </a:defRPr>
            </a:pPr>
            <a:r>
              <a:rPr sz="2025" b="0">
                <a:solidFill>
                  <a:srgbClr val="65717A"/>
                </a:solidFill>
                <a:latin typeface="Helvetica Neue"/>
                <a:ea typeface="Helvetica Neue"/>
                <a:cs typeface="Helvetica Neue"/>
              </a:rPr>
              <a:t>Test login, private CRUD, REST, CSS and persistence.</a:t>
            </a:r>
          </a:p>
        </p:txBody>
      </p:sp>
      <p:sp>
        <p:nvSpPr>
          <p:cNvPr id="17" name="live-text-61">
            <a:extLst>
              <a:ext uri="{FF2B5EF4-FFF2-40B4-BE49-F238E27FC236}">
                <a16:creationId xmlns:a16="http://schemas.microsoft.com/office/drawing/2014/main" id="{D8269AC5-B18E-49A4-B9CF-123BE7DF7D6F}"/>
              </a:ext>
            </a:extLst>
          </p:cNvPr>
          <p:cNvSpPr>
            <a:spLocks noGrp="1"/>
          </p:cNvSpPr>
          <p:nvPr/>
        </p:nvSpPr>
        <p:spPr>
          <a:xfrm>
            <a:off x="685800" y="7543800"/>
            <a:ext cx="13868400" cy="419100"/>
          </a:xfrm>
          <a:prstGeom prst="rect">
            <a:avLst/>
          </a:prstGeom>
          <a:noFill/>
          <a:ln w="0">
            <a:noFill/>
          </a:ln>
        </p:spPr>
        <p:txBody>
          <a:bodyPr wrap="none" lIns="0" tIns="0" rIns="0" bIns="0" anchor="t">
            <a:noAutofit/>
          </a:bodyPr>
          <a:lstStyle/>
          <a:p>
            <a:pPr>
              <a:defRPr sz="2025" b="1">
                <a:solidFill>
                  <a:srgbClr val="315BCD"/>
                </a:solidFill>
                <a:latin typeface="Helvetica Neue"/>
                <a:ea typeface="Helvetica Neue"/>
                <a:cs typeface="Helvetica Neue"/>
              </a:defRPr>
            </a:pPr>
            <a:r>
              <a:rPr sz="2025" b="1">
                <a:solidFill>
                  <a:srgbClr val="315BCD"/>
                </a:solidFill>
                <a:latin typeface="Helvetica Neue"/>
                <a:ea typeface="Helvetica Neue"/>
                <a:cs typeface="Helvetica Neue"/>
              </a:rPr>
              <a:t>No migrations at request time. No production database in preview builds.</a:t>
            </a:r>
          </a:p>
        </p:txBody>
      </p:sp>
    </p:spTree>
    <p:extLst>
      <p:ext uri="{BB962C8B-B14F-4D97-AF65-F5344CB8AC3E}">
        <p14:creationId xmlns:p14="http://schemas.microsoft.com/office/powerpoint/2010/main" val="4515781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11" name="live-text-62">
            <a:extLst>
              <a:ext uri="{FF2B5EF4-FFF2-40B4-BE49-F238E27FC236}">
                <a16:creationId xmlns:a16="http://schemas.microsoft.com/office/drawing/2014/main" id="{C1AECE37-8D31-44E4-95A2-E7F759287DC9}"/>
              </a:ext>
            </a:extLst>
          </p:cNvPr>
          <p:cNvSpPr>
            <a:spLocks noGrp="1"/>
          </p:cNvSpPr>
          <p:nvPr/>
        </p:nvSpPr>
        <p:spPr>
          <a:xfrm>
            <a:off x="685800" y="381000"/>
            <a:ext cx="13335000" cy="333375"/>
          </a:xfrm>
          <a:prstGeom prst="rect">
            <a:avLst/>
          </a:prstGeom>
          <a:noFill/>
          <a:ln w="0">
            <a:noFill/>
          </a:ln>
        </p:spPr>
        <p:txBody>
          <a:bodyPr wrap="none" lIns="0" tIns="0" rIns="0" bIns="0" anchor="t">
            <a:noAutofit/>
          </a:bodyPr>
          <a:lstStyle/>
          <a:p>
            <a:pPr>
              <a:defRPr sz="1500" b="0">
                <a:solidFill>
                  <a:srgbClr val="65717A"/>
                </a:solidFill>
                <a:latin typeface="Helvetica Neue"/>
                <a:ea typeface="Helvetica Neue"/>
                <a:cs typeface="Helvetica Neue"/>
              </a:defRPr>
            </a:pPr>
            <a:r>
              <a:rPr sz="1500" b="0">
                <a:solidFill>
                  <a:srgbClr val="65717A"/>
                </a:solidFill>
                <a:latin typeface="Helvetica Neue"/>
                <a:ea typeface="Helvetica Neue"/>
                <a:cs typeface="Helvetica Neue"/>
              </a:rPr>
              <a:t>07 / Live project companion</a:t>
            </a:r>
          </a:p>
        </p:txBody>
      </p:sp>
      <p:sp>
        <p:nvSpPr>
          <p:cNvPr id="2" name="live-text-63">
            <a:extLst>
              <a:ext uri="{FF2B5EF4-FFF2-40B4-BE49-F238E27FC236}">
                <a16:creationId xmlns:a16="http://schemas.microsoft.com/office/drawing/2014/main" id="{9C7D2269-7C33-459D-8181-D959C22526C4}"/>
              </a:ext>
            </a:extLst>
          </p:cNvPr>
          <p:cNvSpPr>
            <a:spLocks noGrp="1"/>
          </p:cNvSpPr>
          <p:nvPr/>
        </p:nvSpPr>
        <p:spPr>
          <a:xfrm>
            <a:off x="685800" y="990600"/>
            <a:ext cx="13868400" cy="1162050"/>
          </a:xfrm>
          <a:prstGeom prst="rect">
            <a:avLst/>
          </a:prstGeom>
          <a:noFill/>
          <a:ln w="0">
            <a:noFill/>
          </a:ln>
        </p:spPr>
        <p:txBody>
          <a:bodyPr wrap="none" lIns="0" tIns="0" rIns="0" bIns="0" anchor="t">
            <a:noAutofit/>
          </a:bodyPr>
          <a:lstStyle/>
          <a:p>
            <a:pPr>
              <a:defRPr sz="3525" b="0">
                <a:solidFill>
                  <a:srgbClr val="242C35"/>
                </a:solidFill>
                <a:latin typeface="Georgia"/>
                <a:ea typeface="Georgia"/>
                <a:cs typeface="Georgia"/>
              </a:defRPr>
            </a:pPr>
            <a:r>
              <a:rPr sz="3525" b="0">
                <a:solidFill>
                  <a:srgbClr val="242C35"/>
                </a:solidFill>
                <a:latin typeface="Georgia"/>
                <a:ea typeface="Georgia"/>
                <a:cs typeface="Georgia"/>
              </a:rPr>
              <a:t>A repeatable live demonstration</a:t>
            </a:r>
          </a:p>
        </p:txBody>
      </p:sp>
      <p:sp>
        <p:nvSpPr>
          <p:cNvPr id="3" name="live-text-64">
            <a:extLst>
              <a:ext uri="{FF2B5EF4-FFF2-40B4-BE49-F238E27FC236}">
                <a16:creationId xmlns:a16="http://schemas.microsoft.com/office/drawing/2014/main" id="{BB92862B-78A5-445F-8EEE-05408DB19186}"/>
              </a:ext>
            </a:extLst>
          </p:cNvPr>
          <p:cNvSpPr>
            <a:spLocks noGrp="1"/>
          </p:cNvSpPr>
          <p:nvPr/>
        </p:nvSpPr>
        <p:spPr>
          <a:xfrm>
            <a:off x="685800" y="8086725"/>
            <a:ext cx="12573000" cy="257175"/>
          </a:xfrm>
          <a:prstGeom prst="rect">
            <a:avLst/>
          </a:prstGeom>
          <a:noFill/>
          <a:ln w="0">
            <a:noFill/>
          </a:ln>
        </p:spPr>
        <p:txBody>
          <a:bodyPr wrap="none" lIns="0" tIns="0" rIns="0" bIns="0" anchor="t">
            <a:noAutofit/>
          </a:bodyPr>
          <a:lstStyle/>
          <a:p>
            <a:pPr>
              <a:defRPr sz="1125" b="0">
                <a:solidFill>
                  <a:srgbClr val="65717A"/>
                </a:solidFill>
                <a:latin typeface="Helvetica Neue"/>
                <a:ea typeface="Helvetica Neue"/>
                <a:cs typeface="Helvetica Neue"/>
              </a:defRPr>
            </a:pPr>
            <a:r>
              <a:rPr sz="1125" b="0">
                <a:solidFill>
                  <a:srgbClr val="65717A"/>
                </a:solidFill>
                <a:latin typeface="Helvetica Neue"/>
                <a:ea typeface="Helvetica Neue"/>
                <a:cs typeface="Helvetica Neue"/>
              </a:rPr>
              <a:t>BHAVYA SHAH  /  DJANGO WORKSHOP</a:t>
            </a:r>
          </a:p>
        </p:txBody>
      </p:sp>
      <p:sp>
        <p:nvSpPr>
          <p:cNvPr id="4" name="live-text-65">
            <a:extLst>
              <a:ext uri="{FF2B5EF4-FFF2-40B4-BE49-F238E27FC236}">
                <a16:creationId xmlns:a16="http://schemas.microsoft.com/office/drawing/2014/main" id="{91B48EBA-E0B8-4E82-A0D2-F31863DDCD50}"/>
              </a:ext>
            </a:extLst>
          </p:cNvPr>
          <p:cNvSpPr>
            <a:spLocks noGrp="1"/>
          </p:cNvSpPr>
          <p:nvPr/>
        </p:nvSpPr>
        <p:spPr>
          <a:xfrm>
            <a:off x="13906500" y="8020050"/>
            <a:ext cx="647700" cy="342900"/>
          </a:xfrm>
          <a:prstGeom prst="rect">
            <a:avLst/>
          </a:prstGeom>
          <a:noFill/>
          <a:ln w="0">
            <a:noFill/>
          </a:ln>
        </p:spPr>
        <p:txBody>
          <a:bodyPr wrap="none" lIns="0" tIns="0" rIns="0" bIns="0" anchor="t">
            <a:noAutofit/>
          </a:bodyPr>
          <a:lstStyle/>
          <a:p>
            <a:pPr>
              <a:defRPr sz="1575" b="0">
                <a:solidFill>
                  <a:srgbClr val="65717A"/>
                </a:solidFill>
                <a:latin typeface="Helvetica Neue"/>
                <a:ea typeface="Helvetica Neue"/>
                <a:cs typeface="Helvetica Neue"/>
              </a:defRPr>
            </a:pPr>
            <a:r>
              <a:rPr sz="1575" b="0">
                <a:solidFill>
                  <a:srgbClr val="65717A"/>
                </a:solidFill>
                <a:latin typeface="Helvetica Neue"/>
                <a:ea typeface="Helvetica Neue"/>
                <a:cs typeface="Helvetica Neue"/>
              </a:rPr>
              <a:t>78</a:t>
            </a:r>
          </a:p>
        </p:txBody>
      </p:sp>
      <p:sp>
        <p:nvSpPr>
          <p:cNvPr id="5" name="live-text-66">
            <a:extLst>
              <a:ext uri="{FF2B5EF4-FFF2-40B4-BE49-F238E27FC236}">
                <a16:creationId xmlns:a16="http://schemas.microsoft.com/office/drawing/2014/main" id="{4229FEB2-AA30-4118-9394-8BC21CFC0FE3}"/>
              </a:ext>
            </a:extLst>
          </p:cNvPr>
          <p:cNvSpPr>
            <a:spLocks noGrp="1"/>
          </p:cNvSpPr>
          <p:nvPr/>
        </p:nvSpPr>
        <p:spPr>
          <a:xfrm>
            <a:off x="685800" y="2305050"/>
            <a:ext cx="7048500" cy="419100"/>
          </a:xfrm>
          <a:prstGeom prst="rect">
            <a:avLst/>
          </a:prstGeom>
          <a:noFill/>
          <a:ln w="0">
            <a:noFill/>
          </a:ln>
        </p:spPr>
        <p:txBody>
          <a:bodyPr wrap="none" lIns="0" tIns="0" rIns="0" bIns="0" anchor="t">
            <a:noAutofit/>
          </a:bodyPr>
          <a:lstStyle/>
          <a:p>
            <a:pPr>
              <a:defRPr sz="2250" b="1">
                <a:solidFill>
                  <a:srgbClr val="315BCD"/>
                </a:solidFill>
                <a:latin typeface="Helvetica Neue"/>
                <a:ea typeface="Helvetica Neue"/>
                <a:cs typeface="Helvetica Neue"/>
              </a:defRPr>
            </a:pPr>
            <a:r>
              <a:rPr sz="2250" b="1">
                <a:solidFill>
                  <a:srgbClr val="315BCD"/>
                </a:solidFill>
                <a:latin typeface="Helvetica Neue"/>
                <a:ea typeface="Helvetica Neue"/>
                <a:cs typeface="Helvetica Neue"/>
              </a:rPr>
              <a:t>Run the checks</a:t>
            </a:r>
          </a:p>
        </p:txBody>
      </p:sp>
      <p:sp>
        <p:nvSpPr>
          <p:cNvPr id="6" name="live-code-background-67">
            <a:extLst>
              <a:ext uri="{FF2B5EF4-FFF2-40B4-BE49-F238E27FC236}">
                <a16:creationId xmlns:a16="http://schemas.microsoft.com/office/drawing/2014/main" id="{2965F689-C500-413A-8B74-E829556818BA}"/>
              </a:ext>
            </a:extLst>
          </p:cNvPr>
          <p:cNvSpPr>
            <a:spLocks noGrp="1"/>
          </p:cNvSpPr>
          <p:nvPr/>
        </p:nvSpPr>
        <p:spPr>
          <a:xfrm>
            <a:off x="685800" y="2924175"/>
            <a:ext cx="7524750" cy="2190750"/>
          </a:xfrm>
          <a:prstGeom prst="rect">
            <a:avLst/>
          </a:prstGeom>
          <a:solidFill>
            <a:srgbClr val="242C35"/>
          </a:solidFill>
          <a:ln w="0">
            <a:noFill/>
          </a:ln>
        </p:spPr>
      </p:sp>
      <p:sp>
        <p:nvSpPr>
          <p:cNvPr id="7" name="live-text-68">
            <a:extLst>
              <a:ext uri="{FF2B5EF4-FFF2-40B4-BE49-F238E27FC236}">
                <a16:creationId xmlns:a16="http://schemas.microsoft.com/office/drawing/2014/main" id="{4A609992-B602-4185-A5AB-478AA415A216}"/>
              </a:ext>
            </a:extLst>
          </p:cNvPr>
          <p:cNvSpPr>
            <a:spLocks noGrp="1"/>
          </p:cNvSpPr>
          <p:nvPr/>
        </p:nvSpPr>
        <p:spPr>
          <a:xfrm>
            <a:off x="923925" y="3152775"/>
            <a:ext cx="7048500" cy="1733550"/>
          </a:xfrm>
          <a:prstGeom prst="rect">
            <a:avLst/>
          </a:prstGeom>
          <a:noFill/>
          <a:ln w="0">
            <a:noFill/>
          </a:ln>
        </p:spPr>
        <p:txBody>
          <a:bodyPr wrap="none" lIns="0" tIns="0" rIns="0" bIns="0" anchor="t">
            <a:noAutofit/>
          </a:bodyPr>
          <a:lstStyle/>
          <a:p>
            <a:pPr>
              <a:defRPr sz="1725" b="0">
                <a:solidFill>
                  <a:srgbClr val="F8F5EF"/>
                </a:solidFill>
                <a:latin typeface="Menlo"/>
                <a:ea typeface="Menlo"/>
                <a:cs typeface="Menlo"/>
              </a:defRPr>
            </a:pPr>
            <a:r>
              <a:rPr sz="1725" b="0">
                <a:solidFill>
                  <a:srgbClr val="F8F5EF"/>
                </a:solidFill>
                <a:latin typeface="Menlo"/>
                <a:ea typeface="Menlo"/>
                <a:cs typeface="Menlo"/>
              </a:rPr>
              <a:t>python manage.py check</a:t>
            </a:r>
          </a:p>
          <a:p>
            <a:pPr>
              <a:defRPr sz="1725" b="0">
                <a:solidFill>
                  <a:srgbClr val="F8F5EF"/>
                </a:solidFill>
                <a:latin typeface="Menlo"/>
                <a:ea typeface="Menlo"/>
                <a:cs typeface="Menlo"/>
              </a:defRPr>
            </a:pPr>
            <a:r>
              <a:rPr sz="1725" b="0">
                <a:solidFill>
                  <a:srgbClr val="F8F5EF"/>
                </a:solidFill>
                <a:latin typeface="Menlo"/>
                <a:ea typeface="Menlo"/>
                <a:cs typeface="Menlo"/>
              </a:rPr>
              <a:t>python manage.py makemigrations --check</a:t>
            </a:r>
          </a:p>
          <a:p>
            <a:pPr>
              <a:defRPr sz="1725" b="0">
                <a:solidFill>
                  <a:srgbClr val="F8F5EF"/>
                </a:solidFill>
                <a:latin typeface="Menlo"/>
                <a:ea typeface="Menlo"/>
                <a:cs typeface="Menlo"/>
              </a:defRPr>
            </a:pPr>
            <a:r>
              <a:rPr sz="1725" b="0">
                <a:solidFill>
                  <a:srgbClr val="F8F5EF"/>
                </a:solidFill>
                <a:latin typeface="Menlo"/>
                <a:ea typeface="Menlo"/>
                <a:cs typeface="Menlo"/>
              </a:rPr>
              <a:t>python manage.py test \</a:t>
            </a:r>
          </a:p>
          <a:p>
            <a:pPr>
              <a:defRPr sz="1725" b="0">
                <a:solidFill>
                  <a:srgbClr val="F8F5EF"/>
                </a:solidFill>
                <a:latin typeface="Menlo"/>
                <a:ea typeface="Menlo"/>
                <a:cs typeface="Menlo"/>
              </a:defRPr>
            </a:pPr>
            <a:r>
              <a:rPr sz="1725" b="0">
                <a:solidFill>
                  <a:srgbClr val="F8F5EF"/>
                </a:solidFill>
                <a:latin typeface="Menlo"/>
                <a:ea typeface="Menlo"/>
                <a:cs typeface="Menlo"/>
              </a:rPr>
              <a:t>  --settings=config.test_settings</a:t>
            </a:r>
          </a:p>
          <a:p>
            <a:pPr>
              <a:defRPr sz="1725" b="0">
                <a:solidFill>
                  <a:srgbClr val="F8F5EF"/>
                </a:solidFill>
                <a:latin typeface="Menlo"/>
                <a:ea typeface="Menlo"/>
                <a:cs typeface="Menlo"/>
              </a:defRPr>
            </a:pPr>
            <a:r>
              <a:rPr sz="1725" b="0">
                <a:solidFill>
                  <a:srgbClr val="F8F5EF"/>
                </a:solidFill>
                <a:latin typeface="Menlo"/>
                <a:ea typeface="Menlo"/>
                <a:cs typeface="Menlo"/>
              </a:rPr>
              <a:t>ruff check .</a:t>
            </a:r>
          </a:p>
        </p:txBody>
      </p:sp>
      <p:sp>
        <p:nvSpPr>
          <p:cNvPr id="8" name="live-text-69">
            <a:extLst>
              <a:ext uri="{FF2B5EF4-FFF2-40B4-BE49-F238E27FC236}">
                <a16:creationId xmlns:a16="http://schemas.microsoft.com/office/drawing/2014/main" id="{BB0199DE-EC86-4DA4-99A6-7FCA2A700EFD}"/>
              </a:ext>
            </a:extLst>
          </p:cNvPr>
          <p:cNvSpPr>
            <a:spLocks noGrp="1"/>
          </p:cNvSpPr>
          <p:nvPr/>
        </p:nvSpPr>
        <p:spPr>
          <a:xfrm>
            <a:off x="685800" y="5553075"/>
            <a:ext cx="7524750" cy="1704975"/>
          </a:xfrm>
          <a:prstGeom prst="rect">
            <a:avLst/>
          </a:prstGeom>
          <a:noFill/>
          <a:ln w="0">
            <a:noFill/>
          </a:ln>
        </p:spPr>
        <p:txBody>
          <a:bodyPr wrap="none" lIns="0" tIns="0" rIns="0" bIns="0" anchor="t">
            <a:noAutofit/>
          </a:bodyPr>
          <a:lstStyle/>
          <a:p>
            <a:pPr>
              <a:defRPr sz="2175" b="0">
                <a:solidFill>
                  <a:srgbClr val="242C35"/>
                </a:solidFill>
                <a:latin typeface="Helvetica Neue"/>
                <a:ea typeface="Helvetica Neue"/>
                <a:cs typeface="Helvetica Neue"/>
              </a:defRPr>
            </a:pPr>
            <a:r>
              <a:rPr sz="2175" b="0">
                <a:solidFill>
                  <a:srgbClr val="242C35"/>
                </a:solidFill>
                <a:latin typeface="Helvetica Neue"/>
                <a:ea typeface="Helvetica Neue"/>
                <a:cs typeface="Helvetica Neue"/>
              </a:rPr>
              <a:t>Asha creates a task.</a:t>
            </a:r>
          </a:p>
          <a:p>
            <a:pPr>
              <a:defRPr sz="2175" b="0">
                <a:solidFill>
                  <a:srgbClr val="242C35"/>
                </a:solidFill>
                <a:latin typeface="Helvetica Neue"/>
                <a:ea typeface="Helvetica Neue"/>
                <a:cs typeface="Helvetica Neue"/>
              </a:defRPr>
            </a:pPr>
            <a:r>
              <a:rPr sz="2175" b="0">
                <a:solidFill>
                  <a:srgbClr val="242C35"/>
                </a:solidFill>
                <a:latin typeface="Helvetica Neue"/>
                <a:ea typeface="Helvetica Neue"/>
                <a:cs typeface="Helvetica Neue"/>
              </a:rPr>
              <a:t>The API marks it completed.</a:t>
            </a:r>
          </a:p>
          <a:p>
            <a:pPr>
              <a:defRPr sz="2175" b="0">
                <a:solidFill>
                  <a:srgbClr val="242C35"/>
                </a:solidFill>
                <a:latin typeface="Helvetica Neue"/>
                <a:ea typeface="Helvetica Neue"/>
                <a:cs typeface="Helvetica Neue"/>
              </a:defRPr>
            </a:pPr>
            <a:r>
              <a:rPr sz="2175" b="0">
                <a:solidFill>
                  <a:srgbClr val="242C35"/>
                </a:solidFill>
                <a:latin typeface="Helvetica Neue"/>
                <a:ea typeface="Helvetica Neue"/>
                <a:cs typeface="Helvetica Neue"/>
              </a:rPr>
              <a:t>The browser shows the new state.</a:t>
            </a:r>
          </a:p>
          <a:p>
            <a:pPr>
              <a:defRPr sz="2175" b="0">
                <a:solidFill>
                  <a:srgbClr val="242C35"/>
                </a:solidFill>
                <a:latin typeface="Helvetica Neue"/>
                <a:ea typeface="Helvetica Neue"/>
                <a:cs typeface="Helvetica Neue"/>
              </a:defRPr>
            </a:pPr>
            <a:r>
              <a:rPr sz="2175" b="0">
                <a:solidFill>
                  <a:srgbClr val="242C35"/>
                </a:solidFill>
                <a:latin typeface="Helvetica Neue"/>
                <a:ea typeface="Helvetica Neue"/>
                <a:cs typeface="Helvetica Neue"/>
              </a:rPr>
              <a:t>Bob cannot access Asha’s record.</a:t>
            </a:r>
          </a:p>
        </p:txBody>
      </p:sp>
      <p:pic>
        <p:nvPicPr>
          <p:cNvPr id="19" name="Picture 18"/>
          <p:cNvPicPr>
            <a:picLocks noChangeAspect="1"/>
          </p:cNvPicPr>
          <p:nvPr/>
        </p:nvPicPr>
        <p:blipFill>
          <a:blip r:embed="rId3"/>
          <a:stretch/>
        </p:blipFill>
        <p:spPr>
          <a:xfrm>
            <a:off x="9509737" y="2343150"/>
            <a:ext cx="4183427" cy="4543425"/>
          </a:xfrm>
          <a:prstGeom prst="rect">
            <a:avLst/>
          </a:prstGeom>
        </p:spPr>
      </p:pic>
      <p:sp>
        <p:nvSpPr>
          <p:cNvPr id="10" name="live-text-70">
            <a:extLst>
              <a:ext uri="{FF2B5EF4-FFF2-40B4-BE49-F238E27FC236}">
                <a16:creationId xmlns:a16="http://schemas.microsoft.com/office/drawing/2014/main" id="{D0C8DECA-1F67-4BDE-A465-E67C78BF83DD}"/>
              </a:ext>
            </a:extLst>
          </p:cNvPr>
          <p:cNvSpPr>
            <a:spLocks noGrp="1"/>
          </p:cNvSpPr>
          <p:nvPr/>
        </p:nvSpPr>
        <p:spPr>
          <a:xfrm>
            <a:off x="8648700" y="7239000"/>
            <a:ext cx="5905500" cy="657225"/>
          </a:xfrm>
          <a:prstGeom prst="rect">
            <a:avLst/>
          </a:prstGeom>
          <a:noFill/>
          <a:ln w="0">
            <a:noFill/>
          </a:ln>
        </p:spPr>
        <p:txBody>
          <a:bodyPr wrap="none" lIns="0" tIns="0" rIns="0" bIns="0" anchor="t">
            <a:noAutofit/>
          </a:bodyPr>
          <a:lstStyle/>
          <a:p>
            <a:pPr>
              <a:defRPr sz="1725" b="0">
                <a:solidFill>
                  <a:srgbClr val="65717A"/>
                </a:solidFill>
                <a:latin typeface="Helvetica Neue"/>
                <a:ea typeface="Helvetica Neue"/>
                <a:cs typeface="Helvetica Neue"/>
              </a:defRPr>
            </a:pPr>
            <a:r>
              <a:rPr sz="1725" b="0">
                <a:solidFill>
                  <a:srgbClr val="65717A"/>
                </a:solidFill>
                <a:latin typeface="Helvetica Neue"/>
                <a:ea typeface="Helvetica Neue"/>
                <a:cs typeface="Helvetica Neue"/>
              </a:rPr>
              <a:t>README.md, docs/API.md and docs/VERCEL.md</a:t>
            </a:r>
          </a:p>
          <a:p>
            <a:pPr>
              <a:defRPr sz="1725" b="0">
                <a:solidFill>
                  <a:srgbClr val="65717A"/>
                </a:solidFill>
                <a:latin typeface="Helvetica Neue"/>
                <a:ea typeface="Helvetica Neue"/>
                <a:cs typeface="Helvetica Neue"/>
              </a:defRPr>
            </a:pPr>
            <a:r>
              <a:rPr sz="1725" b="0">
                <a:solidFill>
                  <a:srgbClr val="65717A"/>
                </a:solidFill>
                <a:latin typeface="Helvetica Neue"/>
                <a:ea typeface="Helvetica Neue"/>
                <a:cs typeface="Helvetica Neue"/>
              </a:rPr>
              <a:t>contain the full commands and troubleshooting.</a:t>
            </a:r>
          </a:p>
        </p:txBody>
      </p:sp>
    </p:spTree>
    <p:extLst>
      <p:ext uri="{BB962C8B-B14F-4D97-AF65-F5344CB8AC3E}">
        <p14:creationId xmlns:p14="http://schemas.microsoft.com/office/powerpoint/2010/main" val="9518927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24845</Words>
  <Application>Microsoft Office PowerPoint</Application>
  <DocSecurity>0</DocSecurity>
  <PresentationFormat>Custom</PresentationFormat>
  <Paragraphs>2983</Paragraphs>
  <Slides>78</Slides>
  <Notes>78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78</vt:i4>
      </vt:variant>
    </vt:vector>
  </HeadingPairs>
  <TitlesOfParts>
    <vt:vector size="84" baseType="lpstr">
      <vt:lpstr>Calibri</vt:lpstr>
      <vt:lpstr>Georgia</vt:lpstr>
      <vt:lpstr>Helvetica Neue</vt:lpstr>
      <vt:lpstr>Menlo</vt:lpstr>
      <vt:lpstr>ChatGPT</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Bhavya Shah</cp:lastModifiedBy>
  <cp:revision>2</cp:revision>
  <dcterms:created xsi:type="dcterms:W3CDTF">2026-09-30T10:01:22Z</dcterms:created>
  <dcterms:modified xsi:type="dcterms:W3CDTF">2026-10-01T16:46:03Z</dcterms:modified>
</cp:coreProperties>
</file>